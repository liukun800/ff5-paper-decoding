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5.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3566160" cy="274320"/>
          </a:xfrm>
          <a:prstGeom prst="rect">
            <a:avLst/>
          </a:prstGeom>
          <a:noFill/>
        </p:spPr>
        <p:txBody>
          <a:bodyPr wrap="square" lIns="25400" rIns="25400" tIns="0" bIns="0" anchor="t">
            <a:spAutoFit/>
          </a:bodyPr>
          <a:lstStyle/>
          <a:p>
            <a:pPr algn="l">
              <a:spcBef>
                <a:spcPts val="0"/>
              </a:spcBef>
              <a:spcAft>
                <a:spcPts val="400"/>
              </a:spcAft>
            </a:pPr>
            <a:r>
              <a:rPr sz="1200" b="1">
                <a:solidFill>
                  <a:srgbClr val="D8B45A"/>
                </a:solidFill>
                <a:latin typeface="微软雅黑"/>
              </a:rPr>
              <a:t>文献三维结构法 · 实战拆解</a:t>
            </a:r>
          </a:p>
        </p:txBody>
      </p:sp>
      <p:sp>
        <p:nvSpPr>
          <p:cNvPr id="5" name="Rectangle 4"/>
          <p:cNvSpPr/>
          <p:nvPr/>
        </p:nvSpPr>
        <p:spPr>
          <a:xfrm>
            <a:off x="640080" y="1600200"/>
            <a:ext cx="7772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3611880" cy="2377440"/>
          </a:xfrm>
          <a:prstGeom prst="rect">
            <a:avLst/>
          </a:prstGeom>
          <a:noFill/>
        </p:spPr>
        <p:txBody>
          <a:bodyPr wrap="square" lIns="25400" rIns="25400" tIns="0" bIns="0" anchor="t">
            <a:spAutoFit/>
          </a:bodyPr>
          <a:lstStyle/>
          <a:p>
            <a:pPr algn="l">
              <a:lnSpc>
                <a:spcPct val="122000"/>
              </a:lnSpc>
              <a:spcBef>
                <a:spcPts val="0"/>
              </a:spcBef>
              <a:spcAft>
                <a:spcPts val="400"/>
              </a:spcAft>
            </a:pPr>
            <a:r>
              <a:rPr sz="2700" b="1">
                <a:solidFill>
                  <a:srgbClr val="FFFFFF"/>
                </a:solidFill>
                <a:latin typeface="微软雅黑"/>
              </a:rPr>
              <a:t>一篇 16 页的
中文顶刊，
能挖出几个
可发的 ID？</a:t>
            </a:r>
          </a:p>
        </p:txBody>
      </p:sp>
      <p:sp>
        <p:nvSpPr>
          <p:cNvPr id="7" name="TextBox 6"/>
          <p:cNvSpPr txBox="1"/>
          <p:nvPr/>
        </p:nvSpPr>
        <p:spPr>
          <a:xfrm>
            <a:off x="640080" y="4709160"/>
            <a:ext cx="3611880" cy="1371600"/>
          </a:xfrm>
          <a:prstGeom prst="rect">
            <a:avLst/>
          </a:prstGeom>
          <a:noFill/>
        </p:spPr>
        <p:txBody>
          <a:bodyPr wrap="square" lIns="25400" rIns="25400" tIns="0" bIns="0" anchor="t">
            <a:spAutoFit/>
          </a:bodyPr>
          <a:lstStyle/>
          <a:p>
            <a:pPr algn="l">
              <a:lnSpc>
                <a:spcPct val="150000"/>
              </a:lnSpc>
              <a:spcBef>
                <a:spcPts val="0"/>
              </a:spcBef>
              <a:spcAft>
                <a:spcPts val="400"/>
              </a:spcAft>
            </a:pPr>
            <a:r>
              <a:rPr sz="1250" b="0">
                <a:solidFill>
                  <a:srgbClr val="C9D2E4"/>
                </a:solidFill>
                <a:latin typeface="微软雅黑"/>
              </a:rPr>
              <a:t>读文献的产出不是一个「理解」，
是一个「选题」。</a:t>
            </a:r>
          </a:p>
        </p:txBody>
      </p:sp>
      <p:pic>
        <p:nvPicPr>
          <p:cNvPr id="8" name="Picture 7" descr="cover.png"/>
          <p:cNvPicPr>
            <a:picLocks noChangeAspect="1"/>
          </p:cNvPicPr>
          <p:nvPr/>
        </p:nvPicPr>
        <p:blipFill>
          <a:blip r:embed="rId2"/>
          <a:stretch>
            <a:fillRect/>
          </a:stretch>
        </p:blipFill>
        <p:spPr>
          <a:xfrm>
            <a:off x="5118748" y="502920"/>
            <a:ext cx="6358863" cy="4837176"/>
          </a:xfrm>
          <a:prstGeom prst="rect">
            <a:avLst/>
          </a:prstGeom>
          <a:ln w="9525">
            <a:solidFill>
              <a:srgbClr val="C9C2B2"/>
            </a:solidFill>
          </a:ln>
        </p:spPr>
      </p:pic>
      <p:sp>
        <p:nvSpPr>
          <p:cNvPr id="9" name="Rectangle 8"/>
          <p:cNvSpPr/>
          <p:nvPr/>
        </p:nvSpPr>
        <p:spPr>
          <a:xfrm>
            <a:off x="5118748" y="502920"/>
            <a:ext cx="6358863" cy="483717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5358383"/>
            <a:ext cx="68122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3A4A68"/>
                </a:solidFill>
                <a:latin typeface="微软雅黑"/>
              </a:rPr>
              <a:t>原文 P191 首页：标题 / 作者 / 摘要</a:t>
            </a:r>
          </a:p>
        </p:txBody>
      </p:sp>
      <p:sp>
        <p:nvSpPr>
          <p:cNvPr id="11" name="Rectangle 10"/>
          <p:cNvSpPr/>
          <p:nvPr/>
        </p:nvSpPr>
        <p:spPr>
          <a:xfrm>
            <a:off x="4892040" y="5632704"/>
            <a:ext cx="6812280" cy="96012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92040" y="5632704"/>
            <a:ext cx="45720" cy="960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5751576"/>
            <a:ext cx="6483096" cy="576072"/>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李志冰、杨光艺、冯永昌、景亮｜《金融研究》2017 年第 6 期（总第 444 期）｜pp.191–206｜JEL: G11, G12, G15</a:t>
            </a:r>
          </a:p>
        </p:txBody>
      </p:sp>
      <p:sp>
        <p:nvSpPr>
          <p:cNvPr id="14" name="TextBox 13"/>
          <p:cNvSpPr txBox="1"/>
          <p:nvPr/>
        </p:nvSpPr>
        <p:spPr>
          <a:xfrm>
            <a:off x="5074920" y="6318504"/>
            <a:ext cx="64830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拆解对象（全文 16 页，含表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先立规矩 · 证据边界</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动手之前，先把「我知道什么」和「我以为我知道什么」分开</a:t>
            </a:r>
          </a:p>
        </p:txBody>
      </p:sp>
      <p:sp>
        <p:nvSpPr>
          <p:cNvPr id="5" name="Rectangle 4"/>
          <p:cNvSpPr/>
          <p:nvPr/>
        </p:nvSpPr>
        <p:spPr>
          <a:xfrm>
            <a:off x="502920" y="1243584"/>
            <a:ext cx="3035808" cy="16916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1389888"/>
            <a:ext cx="2743200"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可核验</a:t>
            </a:r>
          </a:p>
        </p:txBody>
      </p:sp>
      <p:sp>
        <p:nvSpPr>
          <p:cNvPr id="8" name="TextBox 7"/>
          <p:cNvSpPr txBox="1"/>
          <p:nvPr/>
        </p:nvSpPr>
        <p:spPr>
          <a:xfrm>
            <a:off x="649224" y="1773936"/>
            <a:ext cx="2743200" cy="103327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原文全文 16 页，正文页 191–206，含表 1–8 与全部脚注。
本拆解中每个数字都标注页码或表号，可回原文逐条对。</a:t>
            </a:r>
          </a:p>
        </p:txBody>
      </p:sp>
      <p:sp>
        <p:nvSpPr>
          <p:cNvPr id="9" name="Rectangle 8"/>
          <p:cNvSpPr/>
          <p:nvPr/>
        </p:nvSpPr>
        <p:spPr>
          <a:xfrm>
            <a:off x="3721608" y="1243584"/>
            <a:ext cx="3035808" cy="16916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21608"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67912" y="1389888"/>
            <a:ext cx="2743200"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二手转述</a:t>
            </a:r>
          </a:p>
        </p:txBody>
      </p:sp>
      <p:sp>
        <p:nvSpPr>
          <p:cNvPr id="12" name="TextBox 11"/>
          <p:cNvSpPr txBox="1"/>
          <p:nvPr/>
        </p:nvSpPr>
        <p:spPr>
          <a:xfrm>
            <a:off x="3867912" y="1773936"/>
            <a:ext cx="2743200" cy="103327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Liu-Stambaugh-Yuan(2019)、Li &amp; Rao(2022) 等他刊结论。
用于定位裂缝，不当作原文的结论引用。</a:t>
            </a:r>
          </a:p>
        </p:txBody>
      </p:sp>
      <p:sp>
        <p:nvSpPr>
          <p:cNvPr id="13" name="Rectangle 12"/>
          <p:cNvSpPr/>
          <p:nvPr/>
        </p:nvSpPr>
        <p:spPr>
          <a:xfrm>
            <a:off x="6940296" y="1243584"/>
            <a:ext cx="3035808" cy="16916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0296"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1389888"/>
            <a:ext cx="2743200"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待核对</a:t>
            </a:r>
          </a:p>
        </p:txBody>
      </p:sp>
      <p:sp>
        <p:nvSpPr>
          <p:cNvPr id="16" name="TextBox 15"/>
          <p:cNvSpPr txBox="1"/>
          <p:nvPr/>
        </p:nvSpPr>
        <p:spPr>
          <a:xfrm>
            <a:off x="7086600" y="1773936"/>
            <a:ext cx="2743200" cy="103327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原文未公开代码；「营业利润/股东权益合计」等口径替换
未在文中论证等价性——这正是 Gap 清单的入口。</a:t>
            </a:r>
          </a:p>
        </p:txBody>
      </p:sp>
      <p:sp>
        <p:nvSpPr>
          <p:cNvPr id="17" name="Rectangle 16"/>
          <p:cNvSpPr/>
          <p:nvPr/>
        </p:nvSpPr>
        <p:spPr>
          <a:xfrm>
            <a:off x="502920" y="3118104"/>
            <a:ext cx="11183112" cy="5669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209544"/>
            <a:ext cx="10744200" cy="384048"/>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铁律：绝不把二手转述写成原文结论。  也不许把「作者已经做过的」当成「作者的空白」——本文已做过邹至庄检验，所以正确姿势是 Chow → 多重未知断点。</a:t>
            </a:r>
          </a:p>
        </p:txBody>
      </p:sp>
      <p:pic>
        <p:nvPicPr>
          <p:cNvPr id="19" name="Picture 18" descr="auth.png"/>
          <p:cNvPicPr>
            <a:picLocks noChangeAspect="1"/>
          </p:cNvPicPr>
          <p:nvPr/>
        </p:nvPicPr>
        <p:blipFill>
          <a:blip r:embed="rId2"/>
          <a:stretch>
            <a:fillRect/>
          </a:stretch>
        </p:blipFill>
        <p:spPr>
          <a:xfrm>
            <a:off x="502920" y="3899336"/>
            <a:ext cx="6903720" cy="1784238"/>
          </a:xfrm>
          <a:prstGeom prst="rect">
            <a:avLst/>
          </a:prstGeom>
          <a:ln w="9525">
            <a:solidFill>
              <a:srgbClr val="C9C2B2"/>
            </a:solidFill>
          </a:ln>
        </p:spPr>
      </p:pic>
      <p:sp>
        <p:nvSpPr>
          <p:cNvPr id="20" name="Rectangle 19"/>
          <p:cNvSpPr/>
          <p:nvPr/>
        </p:nvSpPr>
        <p:spPr>
          <a:xfrm>
            <a:off x="502920" y="3899336"/>
            <a:ext cx="6903720" cy="178423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742431"/>
            <a:ext cx="6903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P191 作者与资助信息（数据来自量邦金融数据库）</a:t>
            </a:r>
          </a:p>
        </p:txBody>
      </p:sp>
      <p:sp>
        <p:nvSpPr>
          <p:cNvPr id="22" name="Rectangle 21"/>
          <p:cNvSpPr/>
          <p:nvPr/>
        </p:nvSpPr>
        <p:spPr>
          <a:xfrm>
            <a:off x="7589520" y="3858768"/>
            <a:ext cx="4096512" cy="210312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9520" y="3858768"/>
            <a:ext cx="45720" cy="210312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3977639"/>
            <a:ext cx="3767328" cy="1719072"/>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「本文使用的数据库是北京量邦科技股份有限公司的金融数据库……本文选取 A 股上市公司 1994 年 7 月至 2015 年 8 月共 254 个月的月度数据作为样本。」</a:t>
            </a:r>
          </a:p>
        </p:txBody>
      </p:sp>
      <p:sp>
        <p:nvSpPr>
          <p:cNvPr id="25" name="TextBox 24"/>
          <p:cNvSpPr txBox="1"/>
          <p:nvPr/>
        </p:nvSpPr>
        <p:spPr>
          <a:xfrm>
            <a:off x="7772400" y="5687568"/>
            <a:ext cx="37673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p.194（样本与数据来源）</a:t>
            </a:r>
          </a:p>
        </p:txBody>
      </p:sp>
      <p:sp>
        <p:nvSpPr>
          <p:cNvPr id="26" name="Rectangle 25"/>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证据等级：全文（非摘要页）· 16 页 · 8 张表 · 26 条参考文献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方法总览</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三维结构法：把「读懂」变成三步可交付的动作</a:t>
            </a:r>
          </a:p>
        </p:txBody>
      </p:sp>
      <p:sp>
        <p:nvSpPr>
          <p:cNvPr id="5" name="Rectangle 4"/>
          <p:cNvSpPr/>
          <p:nvPr/>
        </p:nvSpPr>
        <p:spPr>
          <a:xfrm>
            <a:off x="502920" y="1243584"/>
            <a:ext cx="3035808" cy="26060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9224" y="1371600"/>
            <a:ext cx="475488" cy="23774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426464"/>
            <a:ext cx="475488" cy="201168"/>
          </a:xfrm>
          <a:prstGeom prst="rect">
            <a:avLst/>
          </a:prstGeom>
          <a:noFill/>
        </p:spPr>
        <p:txBody>
          <a:bodyPr wrap="square" lIns="25400" rIns="25400" tIns="0" bIns="0" anchor="t">
            <a:spAutoFit/>
          </a:bodyPr>
          <a:lstStyle/>
          <a:p>
            <a:pPr algn="ctr">
              <a:spcBef>
                <a:spcPts val="0"/>
              </a:spcBef>
              <a:spcAft>
                <a:spcPts val="400"/>
              </a:spcAft>
            </a:pPr>
            <a:r>
              <a:rPr sz="1000" b="1">
                <a:solidFill>
                  <a:srgbClr val="FFFFFF"/>
                </a:solidFill>
                <a:latin typeface="微软雅黑"/>
              </a:rPr>
              <a:t>第一步</a:t>
            </a:r>
          </a:p>
        </p:txBody>
      </p:sp>
      <p:sp>
        <p:nvSpPr>
          <p:cNvPr id="9" name="TextBox 8"/>
          <p:cNvSpPr txBox="1"/>
          <p:nvPr/>
        </p:nvSpPr>
        <p:spPr>
          <a:xfrm>
            <a:off x="649224" y="1700784"/>
            <a:ext cx="2743200" cy="566928"/>
          </a:xfrm>
          <a:prstGeom prst="rect">
            <a:avLst/>
          </a:prstGeom>
          <a:noFill/>
        </p:spPr>
        <p:txBody>
          <a:bodyPr wrap="square" lIns="25400" rIns="25400" tIns="0" bIns="0" anchor="t">
            <a:spAutoFit/>
          </a:bodyPr>
          <a:lstStyle/>
          <a:p>
            <a:pPr algn="l">
              <a:spcBef>
                <a:spcPts val="0"/>
              </a:spcBef>
              <a:spcAft>
                <a:spcPts val="100"/>
              </a:spcAft>
            </a:pPr>
            <a:r>
              <a:rPr sz="1600" b="1">
                <a:solidFill>
                  <a:srgbClr val="1B2A4A"/>
                </a:solidFill>
                <a:latin typeface="微软雅黑"/>
              </a:rPr>
              <a:t>Trace the line</a:t>
            </a:r>
          </a:p>
          <a:p>
            <a:pPr algn="l">
              <a:spcBef>
                <a:spcPts val="0"/>
              </a:spcBef>
              <a:spcAft>
                <a:spcPts val="400"/>
              </a:spcAft>
            </a:pPr>
            <a:r>
              <a:rPr sz="1150" b="0">
                <a:solidFill>
                  <a:srgbClr val="6E7A8C"/>
                </a:solidFill>
                <a:latin typeface="微软雅黑"/>
              </a:rPr>
              <a:t>摸清学术家谱</a:t>
            </a:r>
          </a:p>
        </p:txBody>
      </p:sp>
      <p:sp>
        <p:nvSpPr>
          <p:cNvPr id="10" name="TextBox 9"/>
          <p:cNvSpPr txBox="1"/>
          <p:nvPr/>
        </p:nvSpPr>
        <p:spPr>
          <a:xfrm>
            <a:off x="649224" y="2359152"/>
            <a:ext cx="2743200" cy="1371600"/>
          </a:xfrm>
          <a:prstGeom prst="rect">
            <a:avLst/>
          </a:prstGeom>
          <a:noFill/>
        </p:spPr>
        <p:txBody>
          <a:bodyPr wrap="square" lIns="25400" rIns="25400" tIns="0" bIns="0" anchor="t">
            <a:spAutoFit/>
          </a:bodyPr>
          <a:lstStyle/>
          <a:p>
            <a:pPr algn="l">
              <a:lnSpc>
                <a:spcPct val="138000"/>
              </a:lnSpc>
              <a:spcBef>
                <a:spcPts val="0"/>
              </a:spcBef>
              <a:spcAft>
                <a:spcPts val="400"/>
              </a:spcAft>
            </a:pPr>
            <a:r>
              <a:rPr sz="1150" b="0">
                <a:solidFill>
                  <a:srgbClr val="3A4A68"/>
                </a:solidFill>
                <a:latin typeface="微软雅黑"/>
              </a:rPr>
              <a:t>拉出细分赛道的进化链条：原作者遇到什么瓶颈、后来的人拿什么组件补窟窿。关键动作是找裂缝，不是梳理。
产出 → 一句选题公式</a:t>
            </a:r>
          </a:p>
        </p:txBody>
      </p:sp>
      <p:sp>
        <p:nvSpPr>
          <p:cNvPr id="11" name="Rectangle 10"/>
          <p:cNvSpPr/>
          <p:nvPr/>
        </p:nvSpPr>
        <p:spPr>
          <a:xfrm>
            <a:off x="3721608" y="1243584"/>
            <a:ext cx="3035808" cy="26060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21608"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67912" y="1371600"/>
            <a:ext cx="475488" cy="23774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67912" y="1426464"/>
            <a:ext cx="475488" cy="201168"/>
          </a:xfrm>
          <a:prstGeom prst="rect">
            <a:avLst/>
          </a:prstGeom>
          <a:noFill/>
        </p:spPr>
        <p:txBody>
          <a:bodyPr wrap="square" lIns="25400" rIns="25400" tIns="0" bIns="0" anchor="t">
            <a:spAutoFit/>
          </a:bodyPr>
          <a:lstStyle/>
          <a:p>
            <a:pPr algn="ctr">
              <a:spcBef>
                <a:spcPts val="0"/>
              </a:spcBef>
              <a:spcAft>
                <a:spcPts val="400"/>
              </a:spcAft>
            </a:pPr>
            <a:r>
              <a:rPr sz="1000" b="1">
                <a:solidFill>
                  <a:srgbClr val="FFFFFF"/>
                </a:solidFill>
                <a:latin typeface="微软雅黑"/>
              </a:rPr>
              <a:t>第二步</a:t>
            </a:r>
          </a:p>
        </p:txBody>
      </p:sp>
      <p:sp>
        <p:nvSpPr>
          <p:cNvPr id="15" name="TextBox 14"/>
          <p:cNvSpPr txBox="1"/>
          <p:nvPr/>
        </p:nvSpPr>
        <p:spPr>
          <a:xfrm>
            <a:off x="3867912" y="1700784"/>
            <a:ext cx="2743200" cy="566928"/>
          </a:xfrm>
          <a:prstGeom prst="rect">
            <a:avLst/>
          </a:prstGeom>
          <a:noFill/>
        </p:spPr>
        <p:txBody>
          <a:bodyPr wrap="square" lIns="25400" rIns="25400" tIns="0" bIns="0" anchor="t">
            <a:spAutoFit/>
          </a:bodyPr>
          <a:lstStyle/>
          <a:p>
            <a:pPr algn="l">
              <a:spcBef>
                <a:spcPts val="0"/>
              </a:spcBef>
              <a:spcAft>
                <a:spcPts val="100"/>
              </a:spcAft>
            </a:pPr>
            <a:r>
              <a:rPr sz="1600" b="1">
                <a:solidFill>
                  <a:srgbClr val="1B2A4A"/>
                </a:solidFill>
                <a:latin typeface="微软雅黑"/>
              </a:rPr>
              <a:t>Extract narrative</a:t>
            </a:r>
          </a:p>
          <a:p>
            <a:pPr algn="l">
              <a:spcBef>
                <a:spcPts val="0"/>
              </a:spcBef>
              <a:spcAft>
                <a:spcPts val="400"/>
              </a:spcAft>
            </a:pPr>
            <a:r>
              <a:rPr sz="1150" b="0">
                <a:solidFill>
                  <a:srgbClr val="6E7A8C"/>
                </a:solidFill>
                <a:latin typeface="微软雅黑"/>
              </a:rPr>
              <a:t>提取高阶语料</a:t>
            </a:r>
          </a:p>
        </p:txBody>
      </p:sp>
      <p:sp>
        <p:nvSpPr>
          <p:cNvPr id="16" name="TextBox 15"/>
          <p:cNvSpPr txBox="1"/>
          <p:nvPr/>
        </p:nvSpPr>
        <p:spPr>
          <a:xfrm>
            <a:off x="3867912" y="2359152"/>
            <a:ext cx="2743200" cy="1371600"/>
          </a:xfrm>
          <a:prstGeom prst="rect">
            <a:avLst/>
          </a:prstGeom>
          <a:noFill/>
        </p:spPr>
        <p:txBody>
          <a:bodyPr wrap="square" lIns="25400" rIns="25400" tIns="0" bIns="0" anchor="t">
            <a:spAutoFit/>
          </a:bodyPr>
          <a:lstStyle/>
          <a:p>
            <a:pPr algn="l">
              <a:lnSpc>
                <a:spcPct val="138000"/>
              </a:lnSpc>
              <a:spcBef>
                <a:spcPts val="0"/>
              </a:spcBef>
              <a:spcAft>
                <a:spcPts val="400"/>
              </a:spcAft>
            </a:pPr>
            <a:r>
              <a:rPr sz="1150" b="0">
                <a:solidFill>
                  <a:srgbClr val="3A4A68"/>
                </a:solidFill>
                <a:latin typeface="微软雅黑"/>
              </a:rPr>
              <a:t>只摘五类句子：让步句、机制包装、归因句、方法论建议、自我设限。不摘专业名词、公式本身、整段翻译。
产出 → 带页码的专属语料库</a:t>
            </a:r>
          </a:p>
        </p:txBody>
      </p:sp>
      <p:sp>
        <p:nvSpPr>
          <p:cNvPr id="17" name="Rectangle 16"/>
          <p:cNvSpPr/>
          <p:nvPr/>
        </p:nvSpPr>
        <p:spPr>
          <a:xfrm>
            <a:off x="6940296" y="1243584"/>
            <a:ext cx="3035808" cy="260604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0296" y="1243584"/>
            <a:ext cx="303580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86600" y="1371600"/>
            <a:ext cx="475488" cy="23774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86600" y="1426464"/>
            <a:ext cx="475488" cy="201168"/>
          </a:xfrm>
          <a:prstGeom prst="rect">
            <a:avLst/>
          </a:prstGeom>
          <a:noFill/>
        </p:spPr>
        <p:txBody>
          <a:bodyPr wrap="square" lIns="25400" rIns="25400" tIns="0" bIns="0" anchor="t">
            <a:spAutoFit/>
          </a:bodyPr>
          <a:lstStyle/>
          <a:p>
            <a:pPr algn="ctr">
              <a:spcBef>
                <a:spcPts val="0"/>
              </a:spcBef>
              <a:spcAft>
                <a:spcPts val="400"/>
              </a:spcAft>
            </a:pPr>
            <a:r>
              <a:rPr sz="1000" b="1">
                <a:solidFill>
                  <a:srgbClr val="FFFFFF"/>
                </a:solidFill>
                <a:latin typeface="微软雅黑"/>
              </a:rPr>
              <a:t>第三步</a:t>
            </a:r>
          </a:p>
        </p:txBody>
      </p:sp>
      <p:sp>
        <p:nvSpPr>
          <p:cNvPr id="21" name="TextBox 20"/>
          <p:cNvSpPr txBox="1"/>
          <p:nvPr/>
        </p:nvSpPr>
        <p:spPr>
          <a:xfrm>
            <a:off x="7086600" y="1700784"/>
            <a:ext cx="2743200" cy="566928"/>
          </a:xfrm>
          <a:prstGeom prst="rect">
            <a:avLst/>
          </a:prstGeom>
          <a:noFill/>
        </p:spPr>
        <p:txBody>
          <a:bodyPr wrap="square" lIns="25400" rIns="25400" tIns="0" bIns="0" anchor="t">
            <a:spAutoFit/>
          </a:bodyPr>
          <a:lstStyle/>
          <a:p>
            <a:pPr algn="l">
              <a:spcBef>
                <a:spcPts val="0"/>
              </a:spcBef>
              <a:spcAft>
                <a:spcPts val="100"/>
              </a:spcAft>
            </a:pPr>
            <a:r>
              <a:rPr sz="1600" b="1">
                <a:solidFill>
                  <a:srgbClr val="1B2A4A"/>
                </a:solidFill>
                <a:latin typeface="微软雅黑"/>
              </a:rPr>
              <a:t>Run the code</a:t>
            </a:r>
          </a:p>
          <a:p>
            <a:pPr algn="l">
              <a:spcBef>
                <a:spcPts val="0"/>
              </a:spcBef>
              <a:spcAft>
                <a:spcPts val="400"/>
              </a:spcAft>
            </a:pPr>
            <a:r>
              <a:rPr sz="1150" b="0">
                <a:solidFill>
                  <a:srgbClr val="6E7A8C"/>
                </a:solidFill>
                <a:latin typeface="微软雅黑"/>
              </a:rPr>
              <a:t>跑通灵魂代码</a:t>
            </a:r>
          </a:p>
        </p:txBody>
      </p:sp>
      <p:sp>
        <p:nvSpPr>
          <p:cNvPr id="22" name="TextBox 21"/>
          <p:cNvSpPr txBox="1"/>
          <p:nvPr/>
        </p:nvSpPr>
        <p:spPr>
          <a:xfrm>
            <a:off x="7086600" y="2359152"/>
            <a:ext cx="2743200" cy="1371600"/>
          </a:xfrm>
          <a:prstGeom prst="rect">
            <a:avLst/>
          </a:prstGeom>
          <a:noFill/>
        </p:spPr>
        <p:txBody>
          <a:bodyPr wrap="square" lIns="25400" rIns="25400" tIns="0" bIns="0" anchor="t">
            <a:spAutoFit/>
          </a:bodyPr>
          <a:lstStyle/>
          <a:p>
            <a:pPr algn="l">
              <a:lnSpc>
                <a:spcPct val="138000"/>
              </a:lnSpc>
              <a:spcBef>
                <a:spcPts val="0"/>
              </a:spcBef>
              <a:spcAft>
                <a:spcPts val="400"/>
              </a:spcAft>
            </a:pPr>
            <a:r>
              <a:rPr sz="1150" b="0">
                <a:solidFill>
                  <a:srgbClr val="3A4A68"/>
                </a:solidFill>
                <a:latin typeface="微软雅黑"/>
              </a:rPr>
              <a:t>重建全链路并逐行写注释。公式与代码之间的实现 Gap，往往就是最高分的那个创新点。
产出 → 可运行骨架 + Gap 清单</a:t>
            </a:r>
          </a:p>
        </p:txBody>
      </p:sp>
      <p:pic>
        <p:nvPicPr>
          <p:cNvPr id="23" name="Picture 22" descr="intro.png"/>
          <p:cNvPicPr>
            <a:picLocks noChangeAspect="1"/>
          </p:cNvPicPr>
          <p:nvPr/>
        </p:nvPicPr>
        <p:blipFill>
          <a:blip r:embed="rId2"/>
          <a:stretch>
            <a:fillRect/>
          </a:stretch>
        </p:blipFill>
        <p:spPr>
          <a:xfrm>
            <a:off x="1210933" y="4032504"/>
            <a:ext cx="5487693" cy="1572768"/>
          </a:xfrm>
          <a:prstGeom prst="rect">
            <a:avLst/>
          </a:prstGeom>
          <a:ln w="9525">
            <a:solidFill>
              <a:srgbClr val="C9C2B2"/>
            </a:solidFill>
          </a:ln>
        </p:spPr>
      </p:pic>
      <p:sp>
        <p:nvSpPr>
          <p:cNvPr id="24" name="Rectangle 23"/>
          <p:cNvSpPr/>
          <p:nvPr/>
        </p:nvSpPr>
        <p:spPr>
          <a:xfrm>
            <a:off x="1210933" y="4032504"/>
            <a:ext cx="5487693" cy="157276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623559"/>
            <a:ext cx="6903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P191 引言首段：三因子模型无法解释盈利与投资效应</a:t>
            </a:r>
          </a:p>
        </p:txBody>
      </p:sp>
      <p:sp>
        <p:nvSpPr>
          <p:cNvPr id="26" name="Rectangle 25"/>
          <p:cNvSpPr/>
          <p:nvPr/>
        </p:nvSpPr>
        <p:spPr>
          <a:xfrm>
            <a:off x="7589520" y="4032504"/>
            <a:ext cx="4096512" cy="1810512"/>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032504"/>
            <a:ext cx="45720" cy="181051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51376"/>
            <a:ext cx="3767328" cy="1426464"/>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「近年来有关证据表明，三因子模型并不能解释与盈利能力和投资风格相关的股票平均收益率变化。」</a:t>
            </a:r>
          </a:p>
        </p:txBody>
      </p:sp>
      <p:sp>
        <p:nvSpPr>
          <p:cNvPr id="29" name="TextBox 28"/>
          <p:cNvSpPr txBox="1"/>
          <p:nvPr/>
        </p:nvSpPr>
        <p:spPr>
          <a:xfrm>
            <a:off x="7772400" y="5568696"/>
            <a:ext cx="37673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p.191 —— 裂缝的起点</a:t>
            </a:r>
          </a:p>
        </p:txBody>
      </p:sp>
      <p:sp>
        <p:nvSpPr>
          <p:cNvPr id="30" name="Rectangle 29"/>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三步之间是耦合的：家谱决定你摘什么语料，语料点出你要跑哪段代码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家谱 · 第一条线</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母模型主线：Fama-French 体系内部的自我迭代</a:t>
            </a:r>
          </a:p>
        </p:txBody>
      </p:sp>
      <p:sp>
        <p:nvSpPr>
          <p:cNvPr id="5" name="Rectangle 4"/>
          <p:cNvSpPr/>
          <p:nvPr/>
        </p:nvSpPr>
        <p:spPr>
          <a:xfrm>
            <a:off x="594360" y="1554480"/>
            <a:ext cx="11000232" cy="16459"/>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33133"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19"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1964</a:t>
            </a:r>
          </a:p>
        </p:txBody>
      </p:sp>
      <p:sp>
        <p:nvSpPr>
          <p:cNvPr id="8" name="TextBox 7"/>
          <p:cNvSpPr txBox="1"/>
          <p:nvPr/>
        </p:nvSpPr>
        <p:spPr>
          <a:xfrm>
            <a:off x="502919"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CAPM
单因子</a:t>
            </a:r>
          </a:p>
        </p:txBody>
      </p:sp>
      <p:sp>
        <p:nvSpPr>
          <p:cNvPr id="9" name="Oval 8"/>
          <p:cNvSpPr/>
          <p:nvPr/>
        </p:nvSpPr>
        <p:spPr>
          <a:xfrm>
            <a:off x="2830721"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0507"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1993</a:t>
            </a:r>
          </a:p>
        </p:txBody>
      </p:sp>
      <p:sp>
        <p:nvSpPr>
          <p:cNvPr id="11" name="TextBox 10"/>
          <p:cNvSpPr txBox="1"/>
          <p:nvPr/>
        </p:nvSpPr>
        <p:spPr>
          <a:xfrm>
            <a:off x="2100507"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FF3
+SMB +HML</a:t>
            </a:r>
          </a:p>
        </p:txBody>
      </p:sp>
      <p:sp>
        <p:nvSpPr>
          <p:cNvPr id="12" name="Oval 11"/>
          <p:cNvSpPr/>
          <p:nvPr/>
        </p:nvSpPr>
        <p:spPr>
          <a:xfrm>
            <a:off x="4428308"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98094"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1997</a:t>
            </a:r>
          </a:p>
        </p:txBody>
      </p:sp>
      <p:sp>
        <p:nvSpPr>
          <p:cNvPr id="14" name="TextBox 13"/>
          <p:cNvSpPr txBox="1"/>
          <p:nvPr/>
        </p:nvSpPr>
        <p:spPr>
          <a:xfrm>
            <a:off x="3698094"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Carhart 4
+MOM</a:t>
            </a:r>
          </a:p>
        </p:txBody>
      </p:sp>
      <p:sp>
        <p:nvSpPr>
          <p:cNvPr id="15" name="Oval 14"/>
          <p:cNvSpPr/>
          <p:nvPr/>
        </p:nvSpPr>
        <p:spPr>
          <a:xfrm>
            <a:off x="6025896"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95682"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2013</a:t>
            </a:r>
          </a:p>
        </p:txBody>
      </p:sp>
      <p:sp>
        <p:nvSpPr>
          <p:cNvPr id="17" name="TextBox 16"/>
          <p:cNvSpPr txBox="1"/>
          <p:nvPr/>
        </p:nvSpPr>
        <p:spPr>
          <a:xfrm>
            <a:off x="5295682"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Novy-Marx / Aharoni
盈利与投资</a:t>
            </a:r>
          </a:p>
        </p:txBody>
      </p:sp>
      <p:sp>
        <p:nvSpPr>
          <p:cNvPr id="18" name="Oval 17"/>
          <p:cNvSpPr/>
          <p:nvPr/>
        </p:nvSpPr>
        <p:spPr>
          <a:xfrm>
            <a:off x="7623483" y="1490472"/>
            <a:ext cx="137160" cy="137160"/>
          </a:xfrm>
          <a:prstGeom prst="ellipse">
            <a:avLst/>
          </a:prstGeom>
          <a:solidFill>
            <a:srgbClr val="C0392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93269"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C0392B"/>
                </a:solidFill>
                <a:latin typeface="微软雅黑"/>
              </a:rPr>
              <a:t>2015a</a:t>
            </a:r>
          </a:p>
        </p:txBody>
      </p:sp>
      <p:sp>
        <p:nvSpPr>
          <p:cNvPr id="20" name="TextBox 19"/>
          <p:cNvSpPr txBox="1"/>
          <p:nvPr/>
        </p:nvSpPr>
        <p:spPr>
          <a:xfrm>
            <a:off x="6893269"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1">
                <a:solidFill>
                  <a:srgbClr val="C0392B"/>
                </a:solidFill>
                <a:latin typeface="微软雅黑"/>
              </a:rPr>
              <a:t>FF5
+RMW +CMA</a:t>
            </a:r>
          </a:p>
        </p:txBody>
      </p:sp>
      <p:sp>
        <p:nvSpPr>
          <p:cNvPr id="21" name="Oval 20"/>
          <p:cNvSpPr/>
          <p:nvPr/>
        </p:nvSpPr>
        <p:spPr>
          <a:xfrm>
            <a:off x="9221070"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0857"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2015b</a:t>
            </a:r>
          </a:p>
        </p:txBody>
      </p:sp>
      <p:sp>
        <p:nvSpPr>
          <p:cNvPr id="23" name="TextBox 22"/>
          <p:cNvSpPr txBox="1"/>
          <p:nvPr/>
        </p:nvSpPr>
        <p:spPr>
          <a:xfrm>
            <a:off x="8490857"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FF5
国际检验</a:t>
            </a:r>
          </a:p>
        </p:txBody>
      </p:sp>
      <p:sp>
        <p:nvSpPr>
          <p:cNvPr id="24" name="Oval 23"/>
          <p:cNvSpPr/>
          <p:nvPr/>
        </p:nvSpPr>
        <p:spPr>
          <a:xfrm>
            <a:off x="10818658" y="1490472"/>
            <a:ext cx="137160" cy="137160"/>
          </a:xfrm>
          <a:prstGeom prst="ellipse">
            <a:avLst/>
          </a:prstGeom>
          <a:solidFill>
            <a:srgbClr val="B8860B"/>
          </a:solidFill>
          <a:ln w="254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88444" y="1207008"/>
            <a:ext cx="1597587" cy="237744"/>
          </a:xfrm>
          <a:prstGeom prst="rect">
            <a:avLst/>
          </a:prstGeom>
          <a:noFill/>
        </p:spPr>
        <p:txBody>
          <a:bodyPr wrap="square" lIns="25400" rIns="25400" tIns="0" bIns="0" anchor="t">
            <a:spAutoFit/>
          </a:bodyPr>
          <a:lstStyle/>
          <a:p>
            <a:pPr algn="ctr">
              <a:spcBef>
                <a:spcPts val="0"/>
              </a:spcBef>
              <a:spcAft>
                <a:spcPts val="400"/>
              </a:spcAft>
            </a:pPr>
            <a:r>
              <a:rPr sz="1100" b="1">
                <a:solidFill>
                  <a:srgbClr val="B8860B"/>
                </a:solidFill>
                <a:latin typeface="微软雅黑"/>
              </a:rPr>
              <a:t>2016</a:t>
            </a:r>
          </a:p>
        </p:txBody>
      </p:sp>
      <p:sp>
        <p:nvSpPr>
          <p:cNvPr id="26" name="TextBox 25"/>
          <p:cNvSpPr txBox="1"/>
          <p:nvPr/>
        </p:nvSpPr>
        <p:spPr>
          <a:xfrm>
            <a:off x="10088444" y="1700784"/>
            <a:ext cx="1597587" cy="548640"/>
          </a:xfrm>
          <a:prstGeom prst="rect">
            <a:avLst/>
          </a:prstGeom>
          <a:noFill/>
        </p:spPr>
        <p:txBody>
          <a:bodyPr wrap="square" lIns="25400" rIns="25400" tIns="0" bIns="0" anchor="t">
            <a:spAutoFit/>
          </a:bodyPr>
          <a:lstStyle/>
          <a:p>
            <a:pPr algn="ctr">
              <a:lnSpc>
                <a:spcPct val="115000"/>
              </a:lnSpc>
              <a:spcBef>
                <a:spcPts val="0"/>
              </a:spcBef>
              <a:spcAft>
                <a:spcPts val="400"/>
              </a:spcAft>
            </a:pPr>
            <a:r>
              <a:rPr sz="950" b="0">
                <a:solidFill>
                  <a:srgbClr val="3A4A68"/>
                </a:solidFill>
                <a:latin typeface="微软雅黑"/>
              </a:rPr>
              <a:t>FF6
+MOM</a:t>
            </a:r>
          </a:p>
        </p:txBody>
      </p:sp>
      <p:sp>
        <p:nvSpPr>
          <p:cNvPr id="27" name="Rectangle 26"/>
          <p:cNvSpPr/>
          <p:nvPr/>
        </p:nvSpPr>
        <p:spPr>
          <a:xfrm>
            <a:off x="502920" y="2542032"/>
            <a:ext cx="5440680" cy="1298448"/>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2542032"/>
            <a:ext cx="5440680"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 y="2688336"/>
            <a:ext cx="5148072"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每次升级，都在给上一代判刑</a:t>
            </a:r>
          </a:p>
        </p:txBody>
      </p:sp>
      <p:sp>
        <p:nvSpPr>
          <p:cNvPr id="30" name="TextBox 29"/>
          <p:cNvSpPr txBox="1"/>
          <p:nvPr/>
        </p:nvSpPr>
        <p:spPr>
          <a:xfrm>
            <a:off x="649224" y="3072384"/>
            <a:ext cx="5148072" cy="640080"/>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FF5 的理论基础是红利贴现模型（p.192）：把 RMW 与 CMA 加进来，是为了更好地描述横截面期望收益率。代价是体系内部出现支柱被判冗余。</a:t>
            </a:r>
          </a:p>
        </p:txBody>
      </p:sp>
      <p:sp>
        <p:nvSpPr>
          <p:cNvPr id="31" name="Rectangle 30"/>
          <p:cNvSpPr/>
          <p:nvPr/>
        </p:nvSpPr>
        <p:spPr>
          <a:xfrm>
            <a:off x="6245352" y="2542032"/>
            <a:ext cx="5440680" cy="1298448"/>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45352" y="2542032"/>
            <a:ext cx="5440680" cy="502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91656" y="2688336"/>
            <a:ext cx="5148072"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裂缝信号：谁被宣布冗余</a:t>
            </a:r>
          </a:p>
        </p:txBody>
      </p:sp>
      <p:sp>
        <p:nvSpPr>
          <p:cNvPr id="34" name="TextBox 33"/>
          <p:cNvSpPr txBox="1"/>
          <p:nvPr/>
        </p:nvSpPr>
        <p:spPr>
          <a:xfrm>
            <a:off x="6391656" y="3072384"/>
            <a:ext cx="5148072" cy="640080"/>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美国市场：HML 被判冗余，FF 改用 HMLm（残差版）。
中国市场：CMA 被判冗余（表 3，p.196）。
同一个体系，冗余的支柱却不是同一根。</a:t>
            </a:r>
          </a:p>
        </p:txBody>
      </p:sp>
      <p:pic>
        <p:nvPicPr>
          <p:cNvPr id="35" name="Picture 34" descr="refs_en.png"/>
          <p:cNvPicPr>
            <a:picLocks noChangeAspect="1"/>
          </p:cNvPicPr>
          <p:nvPr/>
        </p:nvPicPr>
        <p:blipFill>
          <a:blip r:embed="rId2"/>
          <a:stretch>
            <a:fillRect/>
          </a:stretch>
        </p:blipFill>
        <p:spPr>
          <a:xfrm>
            <a:off x="1485141" y="4023360"/>
            <a:ext cx="4939276" cy="1810512"/>
          </a:xfrm>
          <a:prstGeom prst="rect">
            <a:avLst/>
          </a:prstGeom>
          <a:ln w="9525">
            <a:solidFill>
              <a:srgbClr val="C9C2B2"/>
            </a:solidFill>
          </a:ln>
        </p:spPr>
      </p:pic>
      <p:sp>
        <p:nvSpPr>
          <p:cNvPr id="36" name="Rectangle 35"/>
          <p:cNvSpPr/>
          <p:nvPr/>
        </p:nvSpPr>
        <p:spPr>
          <a:xfrm>
            <a:off x="1485141" y="4023360"/>
            <a:ext cx="4939276" cy="1810512"/>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5852160"/>
            <a:ext cx="6903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P205 参考文献——家谱每一条边都能追到原始出处</a:t>
            </a:r>
          </a:p>
        </p:txBody>
      </p:sp>
      <p:sp>
        <p:nvSpPr>
          <p:cNvPr id="38" name="Rectangle 37"/>
          <p:cNvSpPr/>
          <p:nvPr/>
        </p:nvSpPr>
        <p:spPr>
          <a:xfrm>
            <a:off x="7589520" y="4023360"/>
            <a:ext cx="4096512" cy="2048256"/>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589520" y="4023360"/>
            <a:ext cx="45720" cy="204825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4142232"/>
            <a:ext cx="3767328" cy="1664208"/>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「五因子模型的适用性已经在国际市场得到检验（Fama and French，2015b），……但目前国内学术界对资产定价领域的研究仍以三因子模型为主，按照 Fama and French（2015a）中对盈利能力和投资风格因子的构建方法研究中国市场的文献寥寥无几。」</a:t>
            </a:r>
          </a:p>
        </p:txBody>
      </p:sp>
      <p:sp>
        <p:nvSpPr>
          <p:cNvPr id="41" name="TextBox 40"/>
          <p:cNvSpPr txBox="1"/>
          <p:nvPr/>
        </p:nvSpPr>
        <p:spPr>
          <a:xfrm>
            <a:off x="7772400" y="5797296"/>
            <a:ext cx="37673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p.192 —— 空位声明</a:t>
            </a:r>
          </a:p>
        </p:txBody>
      </p:sp>
      <p:sp>
        <p:nvSpPr>
          <p:cNvPr id="42" name="Rectangle 41"/>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溯源：原文文献回顾 p.192–193；表 1 因子构建方法 p.195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家谱 · 第二条线</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本土支线：同一个模型搬进 A 股之后的十年争论</a:t>
            </a:r>
          </a:p>
        </p:txBody>
      </p:sp>
      <p:pic>
        <p:nvPicPr>
          <p:cNvPr id="5" name="Picture 4" descr="lit_early.png"/>
          <p:cNvPicPr>
            <a:picLocks noChangeAspect="1"/>
          </p:cNvPicPr>
          <p:nvPr/>
        </p:nvPicPr>
        <p:blipFill>
          <a:blip r:embed="rId2"/>
          <a:stretch>
            <a:fillRect/>
          </a:stretch>
        </p:blipFill>
        <p:spPr>
          <a:xfrm>
            <a:off x="502920" y="1904165"/>
            <a:ext cx="5440680" cy="2144412"/>
          </a:xfrm>
          <a:prstGeom prst="rect">
            <a:avLst/>
          </a:prstGeom>
          <a:ln w="9525">
            <a:solidFill>
              <a:srgbClr val="C9C2B2"/>
            </a:solidFill>
          </a:ln>
        </p:spPr>
      </p:pic>
      <p:sp>
        <p:nvSpPr>
          <p:cNvPr id="6" name="Rectangle 5"/>
          <p:cNvSpPr/>
          <p:nvPr/>
        </p:nvSpPr>
        <p:spPr>
          <a:xfrm>
            <a:off x="502920" y="1904165"/>
            <a:ext cx="5440680" cy="2144412"/>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727448"/>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p.193 上：早期文献结论并不一致（吴世农 2004 vs 田利辉 2014）</a:t>
            </a:r>
          </a:p>
        </p:txBody>
      </p:sp>
      <p:pic>
        <p:nvPicPr>
          <p:cNvPr id="8" name="Picture 7" descr="lit_2016.png"/>
          <p:cNvPicPr>
            <a:picLocks noChangeAspect="1"/>
          </p:cNvPicPr>
          <p:nvPr/>
        </p:nvPicPr>
        <p:blipFill>
          <a:blip r:embed="rId3"/>
          <a:stretch>
            <a:fillRect/>
          </a:stretch>
        </p:blipFill>
        <p:spPr>
          <a:xfrm>
            <a:off x="6245352" y="1711168"/>
            <a:ext cx="5440680" cy="2530406"/>
          </a:xfrm>
          <a:prstGeom prst="rect">
            <a:avLst/>
          </a:prstGeom>
          <a:ln w="9525">
            <a:solidFill>
              <a:srgbClr val="C9C2B2"/>
            </a:solidFill>
          </a:ln>
        </p:spPr>
      </p:pic>
      <p:sp>
        <p:nvSpPr>
          <p:cNvPr id="9" name="Rectangle 8"/>
          <p:cNvSpPr/>
          <p:nvPr/>
        </p:nvSpPr>
        <p:spPr>
          <a:xfrm>
            <a:off x="6245352" y="1711168"/>
            <a:ext cx="5440680" cy="253040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4727448"/>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p.193 下：2016 年同题撞车 + 本文切入的刀口</a:t>
            </a:r>
          </a:p>
        </p:txBody>
      </p:sp>
      <p:sp>
        <p:nvSpPr>
          <p:cNvPr id="11" name="Rectangle 10"/>
          <p:cNvSpPr/>
          <p:nvPr/>
        </p:nvSpPr>
        <p:spPr>
          <a:xfrm>
            <a:off x="502920" y="5102352"/>
            <a:ext cx="11183112" cy="64008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5193792"/>
            <a:ext cx="10744200" cy="457199"/>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高春亭、周孝华(2016)：FF5 优于 FF3　｜　赵胜民等(2016)：盈利与投资因子无益　｜　Guo et al.(2017)：投资风格因子冗余　——　三篇都只做了全样本比较。</a:t>
            </a:r>
          </a:p>
        </p:txBody>
      </p:sp>
      <p:sp>
        <p:nvSpPr>
          <p:cNvPr id="13" name="Rectangle 12"/>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这句话是本文全部合法性的来源：「这几篇文章并没有对此进行检验」（p.193）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家谱 · 制度变量</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股改：本文切分样本的那一刀</a:t>
            </a:r>
          </a:p>
        </p:txBody>
      </p:sp>
      <p:pic>
        <p:nvPicPr>
          <p:cNvPr id="5" name="Picture 4" descr="split.png"/>
          <p:cNvPicPr>
            <a:picLocks noChangeAspect="1"/>
          </p:cNvPicPr>
          <p:nvPr/>
        </p:nvPicPr>
        <p:blipFill>
          <a:blip r:embed="rId2"/>
          <a:stretch>
            <a:fillRect/>
          </a:stretch>
        </p:blipFill>
        <p:spPr>
          <a:xfrm>
            <a:off x="502920" y="1965666"/>
            <a:ext cx="5440680" cy="1929970"/>
          </a:xfrm>
          <a:prstGeom prst="rect">
            <a:avLst/>
          </a:prstGeom>
          <a:ln w="9525">
            <a:solidFill>
              <a:srgbClr val="C9C2B2"/>
            </a:solidFill>
          </a:ln>
        </p:spPr>
      </p:pic>
      <p:sp>
        <p:nvSpPr>
          <p:cNvPr id="6" name="Rectangle 5"/>
          <p:cNvSpPr/>
          <p:nvPr/>
        </p:nvSpPr>
        <p:spPr>
          <a:xfrm>
            <a:off x="502920" y="1965666"/>
            <a:ext cx="5440680" cy="192997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636008"/>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p.192：股权分置改革背景与动机</a:t>
            </a:r>
          </a:p>
        </p:txBody>
      </p:sp>
      <p:pic>
        <p:nvPicPr>
          <p:cNvPr id="8" name="Picture 7" descr="chow.png"/>
          <p:cNvPicPr>
            <a:picLocks noChangeAspect="1"/>
          </p:cNvPicPr>
          <p:nvPr/>
        </p:nvPicPr>
        <p:blipFill>
          <a:blip r:embed="rId3"/>
          <a:stretch>
            <a:fillRect/>
          </a:stretch>
        </p:blipFill>
        <p:spPr>
          <a:xfrm>
            <a:off x="6245352" y="1820152"/>
            <a:ext cx="5440680" cy="2220998"/>
          </a:xfrm>
          <a:prstGeom prst="rect">
            <a:avLst/>
          </a:prstGeom>
          <a:ln w="9525">
            <a:solidFill>
              <a:srgbClr val="C9C2B2"/>
            </a:solidFill>
          </a:ln>
        </p:spPr>
      </p:pic>
      <p:sp>
        <p:nvSpPr>
          <p:cNvPr id="9" name="Rectangle 8"/>
          <p:cNvSpPr/>
          <p:nvPr/>
        </p:nvSpPr>
        <p:spPr>
          <a:xfrm>
            <a:off x="6245352" y="1820152"/>
            <a:ext cx="5440680" cy="222099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4636008"/>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p.200：以 2007 年 6 月为分界点做邹至庄检验</a:t>
            </a:r>
          </a:p>
        </p:txBody>
      </p:sp>
      <p:sp>
        <p:nvSpPr>
          <p:cNvPr id="11" name="Rectangle 10"/>
          <p:cNvSpPr/>
          <p:nvPr/>
        </p:nvSpPr>
        <p:spPr>
          <a:xfrm>
            <a:off x="502920" y="5010912"/>
            <a:ext cx="11183112" cy="82296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5010912"/>
            <a:ext cx="45720" cy="82296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129784"/>
            <a:ext cx="10853928" cy="438912"/>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「股权分置改革于 2005 年 4 月 29 日正式启动，截至 2006 年 12 月底，沪深两市已完成或者进入改革程序的上市公司共 1301 家，占应改革上市公司总数的 97%，对应市值占比达到 98%……我们以 2007 年 6 月作为分界点，基于 Fama-French 五因子模型进行邹至庄检验（chow test）。」</a:t>
            </a:r>
          </a:p>
        </p:txBody>
      </p:sp>
      <p:sp>
        <p:nvSpPr>
          <p:cNvPr id="14" name="TextBox 13"/>
          <p:cNvSpPr txBox="1"/>
          <p:nvPr/>
        </p:nvSpPr>
        <p:spPr>
          <a:xfrm>
            <a:off x="685800" y="5559552"/>
            <a:ext cx="108539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p.200 —— 断点位置与依据（全部 25 个 panel 的 p 值几乎全在 1% 显著）</a:t>
            </a:r>
          </a:p>
        </p:txBody>
      </p:sp>
      <p:sp>
        <p:nvSpPr>
          <p:cNvPr id="15" name="Rectangle 14"/>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这个断点是本文分时期结论的地基，也是 Gap 5 的靶心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裂缝 · 一（上）</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全样本下，作者自己宣布 CMA「冗余」</a:t>
            </a:r>
          </a:p>
        </p:txBody>
      </p:sp>
      <p:pic>
        <p:nvPicPr>
          <p:cNvPr id="5" name="Picture 4" descr="t3.png"/>
          <p:cNvPicPr>
            <a:picLocks noChangeAspect="1"/>
          </p:cNvPicPr>
          <p:nvPr/>
        </p:nvPicPr>
        <p:blipFill>
          <a:blip r:embed="rId2"/>
          <a:stretch>
            <a:fillRect/>
          </a:stretch>
        </p:blipFill>
        <p:spPr>
          <a:xfrm>
            <a:off x="502920" y="1794911"/>
            <a:ext cx="5577840" cy="1677120"/>
          </a:xfrm>
          <a:prstGeom prst="rect">
            <a:avLst/>
          </a:prstGeom>
          <a:ln w="9525">
            <a:solidFill>
              <a:srgbClr val="C9C2B2"/>
            </a:solidFill>
          </a:ln>
        </p:spPr>
      </p:pic>
      <p:sp>
        <p:nvSpPr>
          <p:cNvPr id="6" name="Rectangle 5"/>
          <p:cNvSpPr/>
          <p:nvPr/>
        </p:nvSpPr>
        <p:spPr>
          <a:xfrm>
            <a:off x="502920" y="1794911"/>
            <a:ext cx="5577840" cy="167712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041648"/>
            <a:ext cx="557784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p.196 表 3：右侧为五因子模型冗余检验</a:t>
            </a:r>
          </a:p>
        </p:txBody>
      </p:sp>
      <p:pic>
        <p:nvPicPr>
          <p:cNvPr id="8" name="Picture 7" descr="infer.png"/>
          <p:cNvPicPr>
            <a:picLocks noChangeAspect="1"/>
          </p:cNvPicPr>
          <p:nvPr/>
        </p:nvPicPr>
        <p:blipFill>
          <a:blip r:embed="rId3"/>
          <a:stretch>
            <a:fillRect/>
          </a:stretch>
        </p:blipFill>
        <p:spPr>
          <a:xfrm>
            <a:off x="6382512" y="2091473"/>
            <a:ext cx="5303520" cy="1083996"/>
          </a:xfrm>
          <a:prstGeom prst="rect">
            <a:avLst/>
          </a:prstGeom>
          <a:ln w="9525">
            <a:solidFill>
              <a:srgbClr val="C9C2B2"/>
            </a:solidFill>
          </a:ln>
        </p:spPr>
      </p:pic>
      <p:sp>
        <p:nvSpPr>
          <p:cNvPr id="9" name="Rectangle 8"/>
          <p:cNvSpPr/>
          <p:nvPr/>
        </p:nvSpPr>
        <p:spPr>
          <a:xfrm>
            <a:off x="6382512" y="2091473"/>
            <a:ext cx="5303520" cy="108399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4041648"/>
            <a:ext cx="53035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p.197：作者对这个结果的第一反应</a:t>
            </a:r>
          </a:p>
        </p:txBody>
      </p:sp>
      <p:sp>
        <p:nvSpPr>
          <p:cNvPr id="11" name="Rectangle 10"/>
          <p:cNvSpPr/>
          <p:nvPr/>
        </p:nvSpPr>
        <p:spPr>
          <a:xfrm>
            <a:off x="502920" y="4425696"/>
            <a:ext cx="11183112" cy="5669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517136"/>
            <a:ext cx="10744200" cy="384048"/>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表 3 读数：RMW 对三因子回归 alpha = 0.82%（t=3.39）显著；CMA 对另外四因子回归 alpha = 0.05%（t=0.42）不显著。</a:t>
            </a:r>
          </a:p>
        </p:txBody>
      </p:sp>
      <p:sp>
        <p:nvSpPr>
          <p:cNvPr id="13" name="Rectangle 12"/>
          <p:cNvSpPr/>
          <p:nvPr/>
        </p:nvSpPr>
        <p:spPr>
          <a:xfrm>
            <a:off x="502920" y="5120640"/>
            <a:ext cx="11183112" cy="841248"/>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5120640"/>
            <a:ext cx="45720" cy="84124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239512"/>
            <a:ext cx="10853928" cy="457200"/>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「该文章并未对此做进一步的检验，但我们猜测这一结果可能受到中国股市早期样本的影响较大，早期股市『同涨同跌』现象严重，市场风险占据主导地位，CAPM 具有很强的解释能力，CMA 因子在早期样本内『冗余』很容易理解。」</a:t>
            </a:r>
          </a:p>
        </p:txBody>
      </p:sp>
      <p:sp>
        <p:nvSpPr>
          <p:cNvPr id="16" name="TextBox 15"/>
          <p:cNvSpPr txBox="1"/>
          <p:nvPr/>
        </p:nvSpPr>
        <p:spPr>
          <a:xfrm>
            <a:off x="685800" y="5687568"/>
            <a:ext cx="108539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p.197 —— 作者自己点出了这个结论的脆弱性</a:t>
            </a:r>
          </a:p>
        </p:txBody>
      </p:sp>
      <p:sp>
        <p:nvSpPr>
          <p:cNvPr id="17" name="Rectangle 16"/>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注意：这不是「作者忘了做」，而是「作者做了全样本、也意识到了问题、但只用一个断点去补」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裂缝 · 一（下）</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分时期一跑，「冗余」结论被自己推翻</a:t>
            </a:r>
          </a:p>
        </p:txBody>
      </p:sp>
      <p:pic>
        <p:nvPicPr>
          <p:cNvPr id="5" name="Picture 4" descr="t7.png"/>
          <p:cNvPicPr>
            <a:picLocks noChangeAspect="1"/>
          </p:cNvPicPr>
          <p:nvPr/>
        </p:nvPicPr>
        <p:blipFill>
          <a:blip r:embed="rId2"/>
          <a:stretch>
            <a:fillRect/>
          </a:stretch>
        </p:blipFill>
        <p:spPr>
          <a:xfrm>
            <a:off x="502920" y="1537093"/>
            <a:ext cx="5989320" cy="2421357"/>
          </a:xfrm>
          <a:prstGeom prst="rect">
            <a:avLst/>
          </a:prstGeom>
          <a:ln w="9525">
            <a:solidFill>
              <a:srgbClr val="C9C2B2"/>
            </a:solidFill>
          </a:ln>
        </p:spPr>
      </p:pic>
      <p:sp>
        <p:nvSpPr>
          <p:cNvPr id="6" name="Rectangle 5"/>
          <p:cNvSpPr/>
          <p:nvPr/>
        </p:nvSpPr>
        <p:spPr>
          <a:xfrm>
            <a:off x="502920" y="1537093"/>
            <a:ext cx="5989320" cy="2421357"/>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270248"/>
            <a:ext cx="59893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p.202 表 7：六因子在股改前后的冗余检验</a:t>
            </a:r>
          </a:p>
        </p:txBody>
      </p:sp>
      <p:graphicFrame>
        <p:nvGraphicFramePr>
          <p:cNvPr id="8" name="Table 7"/>
          <p:cNvGraphicFramePr>
            <a:graphicFrameLocks noGrp="1"/>
          </p:cNvGraphicFramePr>
          <p:nvPr/>
        </p:nvGraphicFramePr>
        <p:xfrm>
          <a:off x="6720840" y="1243584"/>
          <a:ext cx="4965190" cy="1627626"/>
        </p:xfrm>
        <a:graphic>
          <a:graphicData uri="http://schemas.openxmlformats.org/drawingml/2006/table">
            <a:tbl>
              <a:tblPr firstRow="1" bandRow="1">
                <a:tableStyleId>{5C22544A-7EE6-4342-B048-85BDC9FD1C3A}</a:tableStyleId>
              </a:tblPr>
              <a:tblGrid>
                <a:gridCol w="1092342"/>
                <a:gridCol w="1986076"/>
                <a:gridCol w="1886772"/>
              </a:tblGrid>
              <a:tr h="271271">
                <a:tc>
                  <a:txBody>
                    <a:bodyPr wrap="square"/>
                    <a:lstStyle/>
                    <a:p>
                      <a:r>
                        <a:rPr sz="950" b="1">
                          <a:solidFill>
                            <a:srgbClr val="FFFFFF"/>
                          </a:solidFill>
                          <a:latin typeface="微软雅黑"/>
                        </a:rPr>
                        <a:t>因子</a:t>
                      </a:r>
                    </a:p>
                  </a:txBody>
                  <a:tcPr marL="63500" marR="63500" marT="25400" marB="25400" anchor="ctr">
                    <a:solidFill>
                      <a:srgbClr val="1B2A4A"/>
                    </a:solidFill>
                  </a:tcPr>
                </a:tc>
                <a:tc>
                  <a:txBody>
                    <a:bodyPr wrap="square"/>
                    <a:lstStyle/>
                    <a:p>
                      <a:r>
                        <a:rPr sz="950" b="1">
                          <a:solidFill>
                            <a:srgbClr val="FFFFFF"/>
                          </a:solidFill>
                          <a:latin typeface="微软雅黑"/>
                        </a:rPr>
                        <a:t>股改前 199407–200706</a:t>
                      </a:r>
                    </a:p>
                  </a:txBody>
                  <a:tcPr marL="63500" marR="63500" marT="25400" marB="25400" anchor="ctr">
                    <a:solidFill>
                      <a:srgbClr val="1B2A4A"/>
                    </a:solidFill>
                  </a:tcPr>
                </a:tc>
                <a:tc>
                  <a:txBody>
                    <a:bodyPr wrap="square"/>
                    <a:lstStyle/>
                    <a:p>
                      <a:r>
                        <a:rPr sz="950" b="1">
                          <a:solidFill>
                            <a:srgbClr val="FFFFFF"/>
                          </a:solidFill>
                          <a:latin typeface="微软雅黑"/>
                        </a:rPr>
                        <a:t>股改后 200707–201508</a:t>
                      </a:r>
                    </a:p>
                  </a:txBody>
                  <a:tcPr marL="63500" marR="63500" marT="25400" marB="25400" anchor="ctr">
                    <a:solidFill>
                      <a:srgbClr val="1B2A4A"/>
                    </a:solidFill>
                  </a:tcPr>
                </a:tc>
              </a:tr>
              <a:tr h="271271">
                <a:tc>
                  <a:txBody>
                    <a:bodyPr wrap="square"/>
                    <a:lstStyle/>
                    <a:p>
                      <a:r>
                        <a:rPr sz="950" b="0">
                          <a:solidFill>
                            <a:srgbClr val="3A4A68"/>
                          </a:solidFill>
                          <a:latin typeface="微软雅黑"/>
                        </a:rPr>
                        <a:t>RM−RF</a:t>
                      </a:r>
                    </a:p>
                  </a:txBody>
                  <a:tcPr marL="63500" marR="63500" marT="25400" marB="25400" anchor="ctr">
                    <a:solidFill>
                      <a:srgbClr val="FFFFFF"/>
                    </a:solidFill>
                  </a:tcPr>
                </a:tc>
                <a:tc>
                  <a:txBody>
                    <a:bodyPr wrap="square"/>
                    <a:lstStyle/>
                    <a:p>
                      <a:r>
                        <a:rPr sz="950" b="0">
                          <a:solidFill>
                            <a:srgbClr val="3A4A68"/>
                          </a:solidFill>
                          <a:latin typeface="微软雅黑"/>
                        </a:rPr>
                        <a:t>2.31*** (3.25)</a:t>
                      </a:r>
                    </a:p>
                  </a:txBody>
                  <a:tcPr marL="63500" marR="63500" marT="25400" marB="25400" anchor="ctr">
                    <a:solidFill>
                      <a:srgbClr val="FFFFFF"/>
                    </a:solidFill>
                  </a:tcPr>
                </a:tc>
                <a:tc>
                  <a:txBody>
                    <a:bodyPr wrap="square"/>
                    <a:lstStyle/>
                    <a:p>
                      <a:r>
                        <a:rPr sz="950" b="0">
                          <a:solidFill>
                            <a:srgbClr val="3A4A68"/>
                          </a:solidFill>
                          <a:latin typeface="微软雅黑"/>
                        </a:rPr>
                        <a:t>1.10 (1.19)</a:t>
                      </a:r>
                    </a:p>
                  </a:txBody>
                  <a:tcPr marL="63500" marR="63500" marT="25400" marB="25400" anchor="ctr">
                    <a:solidFill>
                      <a:srgbClr val="FFFFFF"/>
                    </a:solidFill>
                  </a:tcPr>
                </a:tc>
              </a:tr>
              <a:tr h="271271">
                <a:tc>
                  <a:txBody>
                    <a:bodyPr wrap="square"/>
                    <a:lstStyle/>
                    <a:p>
                      <a:r>
                        <a:rPr sz="950" b="0">
                          <a:solidFill>
                            <a:srgbClr val="3A4A68"/>
                          </a:solidFill>
                          <a:latin typeface="微软雅黑"/>
                        </a:rPr>
                        <a:t>SMB</a:t>
                      </a:r>
                    </a:p>
                  </a:txBody>
                  <a:tcPr marL="63500" marR="63500" marT="25400" marB="25400" anchor="ctr">
                    <a:solidFill>
                      <a:srgbClr val="F4F0E6"/>
                    </a:solidFill>
                  </a:tcPr>
                </a:tc>
                <a:tc>
                  <a:txBody>
                    <a:bodyPr wrap="square"/>
                    <a:lstStyle/>
                    <a:p>
                      <a:r>
                        <a:rPr sz="950" b="0">
                          <a:solidFill>
                            <a:srgbClr val="3A4A68"/>
                          </a:solidFill>
                          <a:latin typeface="微软雅黑"/>
                        </a:rPr>
                        <a:t>0.56** (1.99)</a:t>
                      </a:r>
                    </a:p>
                  </a:txBody>
                  <a:tcPr marL="63500" marR="63500" marT="25400" marB="25400" anchor="ctr">
                    <a:solidFill>
                      <a:srgbClr val="F4F0E6"/>
                    </a:solidFill>
                  </a:tcPr>
                </a:tc>
                <a:tc>
                  <a:txBody>
                    <a:bodyPr wrap="square"/>
                    <a:lstStyle/>
                    <a:p>
                      <a:r>
                        <a:rPr sz="950" b="0">
                          <a:solidFill>
                            <a:srgbClr val="3A4A68"/>
                          </a:solidFill>
                          <a:latin typeface="微软雅黑"/>
                        </a:rPr>
                        <a:t>1.27*** (4.38)</a:t>
                      </a:r>
                    </a:p>
                  </a:txBody>
                  <a:tcPr marL="63500" marR="63500" marT="25400" marB="25400" anchor="ctr">
                    <a:solidFill>
                      <a:srgbClr val="F4F0E6"/>
                    </a:solidFill>
                  </a:tcPr>
                </a:tc>
              </a:tr>
              <a:tr h="271271">
                <a:tc>
                  <a:txBody>
                    <a:bodyPr wrap="square"/>
                    <a:lstStyle/>
                    <a:p>
                      <a:r>
                        <a:rPr sz="950" b="0">
                          <a:solidFill>
                            <a:srgbClr val="3A4A68"/>
                          </a:solidFill>
                          <a:latin typeface="微软雅黑"/>
                        </a:rPr>
                        <a:t>RMW</a:t>
                      </a:r>
                    </a:p>
                  </a:txBody>
                  <a:tcPr marL="63500" marR="63500" marT="25400" marB="25400" anchor="ctr">
                    <a:solidFill>
                      <a:srgbClr val="FFFFFF"/>
                    </a:solidFill>
                  </a:tcPr>
                </a:tc>
                <a:tc>
                  <a:txBody>
                    <a:bodyPr wrap="square"/>
                    <a:lstStyle/>
                    <a:p>
                      <a:r>
                        <a:rPr sz="950" b="0">
                          <a:solidFill>
                            <a:srgbClr val="3A4A68"/>
                          </a:solidFill>
                          <a:latin typeface="微软雅黑"/>
                        </a:rPr>
                        <a:t>0.34 (1.25) 不显著</a:t>
                      </a:r>
                    </a:p>
                  </a:txBody>
                  <a:tcPr marL="63500" marR="63500" marT="25400" marB="25400" anchor="ctr">
                    <a:solidFill>
                      <a:srgbClr val="FFFFFF"/>
                    </a:solidFill>
                  </a:tcPr>
                </a:tc>
                <a:tc>
                  <a:txBody>
                    <a:bodyPr wrap="square"/>
                    <a:lstStyle/>
                    <a:p>
                      <a:r>
                        <a:rPr sz="950" b="0">
                          <a:solidFill>
                            <a:srgbClr val="3A4A68"/>
                          </a:solidFill>
                          <a:latin typeface="微软雅黑"/>
                        </a:rPr>
                        <a:t>0.44*** (2.75)</a:t>
                      </a:r>
                    </a:p>
                  </a:txBody>
                  <a:tcPr marL="63500" marR="63500" marT="25400" marB="25400" anchor="ctr">
                    <a:solidFill>
                      <a:srgbClr val="FFFFFF"/>
                    </a:solidFill>
                  </a:tcPr>
                </a:tc>
              </a:tr>
              <a:tr h="271271">
                <a:tc>
                  <a:txBody>
                    <a:bodyPr wrap="square"/>
                    <a:lstStyle/>
                    <a:p>
                      <a:r>
                        <a:rPr sz="950" b="0">
                          <a:solidFill>
                            <a:srgbClr val="3A4A68"/>
                          </a:solidFill>
                          <a:latin typeface="微软雅黑"/>
                        </a:rPr>
                        <a:t>CMA</a:t>
                      </a:r>
                    </a:p>
                  </a:txBody>
                  <a:tcPr marL="63500" marR="63500" marT="25400" marB="25400" anchor="ctr">
                    <a:solidFill>
                      <a:srgbClr val="F4F0E6"/>
                    </a:solidFill>
                  </a:tcPr>
                </a:tc>
                <a:tc>
                  <a:txBody>
                    <a:bodyPr wrap="square"/>
                    <a:lstStyle/>
                    <a:p>
                      <a:r>
                        <a:rPr sz="950" b="0">
                          <a:solidFill>
                            <a:srgbClr val="3A4A68"/>
                          </a:solidFill>
                          <a:latin typeface="微软雅黑"/>
                        </a:rPr>
                        <a:t>−0.17 (−0.99) 不显著</a:t>
                      </a:r>
                    </a:p>
                  </a:txBody>
                  <a:tcPr marL="63500" marR="63500" marT="25400" marB="25400" anchor="ctr">
                    <a:solidFill>
                      <a:srgbClr val="F4F0E6"/>
                    </a:solidFill>
                  </a:tcPr>
                </a:tc>
                <a:tc>
                  <a:txBody>
                    <a:bodyPr wrap="square"/>
                    <a:lstStyle/>
                    <a:p>
                      <a:r>
                        <a:rPr sz="950" b="0">
                          <a:solidFill>
                            <a:srgbClr val="3A4A68"/>
                          </a:solidFill>
                          <a:latin typeface="微软雅黑"/>
                        </a:rPr>
                        <a:t>0.23* (1.91)</a:t>
                      </a:r>
                    </a:p>
                  </a:txBody>
                  <a:tcPr marL="63500" marR="63500" marT="25400" marB="25400" anchor="ctr">
                    <a:solidFill>
                      <a:srgbClr val="F4F0E6"/>
                    </a:solidFill>
                  </a:tcPr>
                </a:tc>
              </a:tr>
              <a:tr h="271271">
                <a:tc>
                  <a:txBody>
                    <a:bodyPr wrap="square"/>
                    <a:lstStyle/>
                    <a:p>
                      <a:r>
                        <a:rPr sz="950" b="0">
                          <a:solidFill>
                            <a:srgbClr val="3A4A68"/>
                          </a:solidFill>
                          <a:latin typeface="微软雅黑"/>
                        </a:rPr>
                        <a:t>MOM</a:t>
                      </a:r>
                    </a:p>
                  </a:txBody>
                  <a:tcPr marL="63500" marR="63500" marT="25400" marB="25400" anchor="ctr">
                    <a:solidFill>
                      <a:srgbClr val="FFFFFF"/>
                    </a:solidFill>
                  </a:tcPr>
                </a:tc>
                <a:tc>
                  <a:txBody>
                    <a:bodyPr wrap="square"/>
                    <a:lstStyle/>
                    <a:p>
                      <a:r>
                        <a:rPr sz="950" b="0">
                          <a:solidFill>
                            <a:srgbClr val="3A4A68"/>
                          </a:solidFill>
                          <a:latin typeface="微软雅黑"/>
                        </a:rPr>
                        <a:t>−0.04 (−0.12)</a:t>
                      </a:r>
                    </a:p>
                  </a:txBody>
                  <a:tcPr marL="63500" marR="63500" marT="25400" marB="25400" anchor="ctr">
                    <a:solidFill>
                      <a:srgbClr val="FFFFFF"/>
                    </a:solidFill>
                  </a:tcPr>
                </a:tc>
                <a:tc>
                  <a:txBody>
                    <a:bodyPr wrap="square"/>
                    <a:lstStyle/>
                    <a:p>
                      <a:r>
                        <a:rPr sz="950" b="0">
                          <a:solidFill>
                            <a:srgbClr val="3A4A68"/>
                          </a:solidFill>
                          <a:latin typeface="微软雅黑"/>
                        </a:rPr>
                        <a:t>−0.76** (−2.04)</a:t>
                      </a:r>
                    </a:p>
                  </a:txBody>
                  <a:tcPr marL="63500" marR="63500" marT="25400" marB="25400" anchor="ctr">
                    <a:solidFill>
                      <a:srgbClr val="FFFFFF"/>
                    </a:solidFill>
                  </a:tcPr>
                </a:tc>
              </a:tr>
            </a:tbl>
          </a:graphicData>
        </a:graphic>
      </p:graphicFrame>
      <p:sp>
        <p:nvSpPr>
          <p:cNvPr id="9" name="Rectangle 8"/>
          <p:cNvSpPr/>
          <p:nvPr/>
        </p:nvSpPr>
        <p:spPr>
          <a:xfrm>
            <a:off x="6720840" y="3118104"/>
            <a:ext cx="4965192" cy="13716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20840" y="3118104"/>
            <a:ext cx="45720" cy="13716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3236976"/>
            <a:ext cx="4636007" cy="987552"/>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「根据表 7 分时期冗余检验结果我们猜测这可能是由于两个因子在股改前『冗余』，而股改后具有显著的风险溢价，全样本下的结果受到股改前影响较大。」</a:t>
            </a:r>
          </a:p>
        </p:txBody>
      </p:sp>
      <p:sp>
        <p:nvSpPr>
          <p:cNvPr id="12" name="TextBox 11"/>
          <p:cNvSpPr txBox="1"/>
          <p:nvPr/>
        </p:nvSpPr>
        <p:spPr>
          <a:xfrm>
            <a:off x="6903720" y="4215384"/>
            <a:ext cx="4636007"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p.202</a:t>
            </a:r>
          </a:p>
        </p:txBody>
      </p:sp>
      <p:sp>
        <p:nvSpPr>
          <p:cNvPr id="13" name="Rectangle 12"/>
          <p:cNvSpPr/>
          <p:nvPr/>
        </p:nvSpPr>
        <p:spPr>
          <a:xfrm>
            <a:off x="502920" y="4663440"/>
            <a:ext cx="11183112" cy="60350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4754880"/>
            <a:ext cx="10744200" cy="420624"/>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裂缝的本质：冗余不是因子的属性，是样本期的属性。    但作者的解法只有一个断点 —— 这就把问题缩小了，没有解决。</a:t>
            </a:r>
          </a:p>
        </p:txBody>
      </p:sp>
      <p:sp>
        <p:nvSpPr>
          <p:cNvPr id="15" name="Rectangle 14"/>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数据全部来自原文表 3（p.196）与表 7（p.202），可逐格核对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裂缝 · 二</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同一年、同一市场、同一模型，结论相反</a:t>
            </a:r>
          </a:p>
        </p:txBody>
      </p:sp>
      <p:pic>
        <p:nvPicPr>
          <p:cNvPr id="5" name="Picture 4" descr="lit_2016.png"/>
          <p:cNvPicPr>
            <a:picLocks noChangeAspect="1"/>
          </p:cNvPicPr>
          <p:nvPr/>
        </p:nvPicPr>
        <p:blipFill>
          <a:blip r:embed="rId2"/>
          <a:stretch>
            <a:fillRect/>
          </a:stretch>
        </p:blipFill>
        <p:spPr>
          <a:xfrm>
            <a:off x="502920" y="1606445"/>
            <a:ext cx="5989320" cy="2785573"/>
          </a:xfrm>
          <a:prstGeom prst="rect">
            <a:avLst/>
          </a:prstGeom>
          <a:ln w="9525">
            <a:solidFill>
              <a:srgbClr val="C9C2B2"/>
            </a:solidFill>
          </a:ln>
        </p:spPr>
      </p:pic>
      <p:sp>
        <p:nvSpPr>
          <p:cNvPr id="6" name="Rectangle 5"/>
          <p:cNvSpPr/>
          <p:nvPr/>
        </p:nvSpPr>
        <p:spPr>
          <a:xfrm>
            <a:off x="502920" y="1606445"/>
            <a:ext cx="5989320" cy="278557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773168"/>
            <a:ext cx="59893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p.193：三篇 2016–2017 年文献结论不一致，且都只做全样本</a:t>
            </a:r>
          </a:p>
        </p:txBody>
      </p:sp>
      <p:sp>
        <p:nvSpPr>
          <p:cNvPr id="8" name="Rectangle 7"/>
          <p:cNvSpPr/>
          <p:nvPr/>
        </p:nvSpPr>
        <p:spPr>
          <a:xfrm>
            <a:off x="6720840" y="1243584"/>
            <a:ext cx="4965192" cy="178308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20840" y="1243584"/>
            <a:ext cx="4965192"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67144" y="1389888"/>
            <a:ext cx="4672583"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为什么会产生分歧</a:t>
            </a:r>
          </a:p>
        </p:txBody>
      </p:sp>
      <p:sp>
        <p:nvSpPr>
          <p:cNvPr id="11" name="TextBox 10"/>
          <p:cNvSpPr txBox="1"/>
          <p:nvPr/>
        </p:nvSpPr>
        <p:spPr>
          <a:xfrm>
            <a:off x="6867144" y="1773936"/>
            <a:ext cx="4672583" cy="112471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分歧不在模型，而在样本区间、样本范围、因子构建方法、分组方法。本文给出的解法是「按制度变革分期」，但分期依据只有一个断点。</a:t>
            </a:r>
          </a:p>
        </p:txBody>
      </p:sp>
      <p:sp>
        <p:nvSpPr>
          <p:cNvPr id="12" name="Rectangle 11"/>
          <p:cNvSpPr/>
          <p:nvPr/>
        </p:nvSpPr>
        <p:spPr>
          <a:xfrm>
            <a:off x="6720840" y="3209544"/>
            <a:ext cx="4965192" cy="178308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3209544"/>
            <a:ext cx="4965192" cy="502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67144" y="3355848"/>
            <a:ext cx="4672583"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本文的刀口在哪里</a:t>
            </a:r>
          </a:p>
        </p:txBody>
      </p:sp>
      <p:sp>
        <p:nvSpPr>
          <p:cNvPr id="15" name="TextBox 14"/>
          <p:cNvSpPr txBox="1"/>
          <p:nvPr/>
        </p:nvSpPr>
        <p:spPr>
          <a:xfrm>
            <a:off x="6867144" y="3739896"/>
            <a:ext cx="4672583" cy="112471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「学术界更加关心新的因子在经过三因子模型风险调整后还是否具有显著的风险溢价，但这几篇文章并没有对此进行检验。」—— 这是本文全部合法性的来源。</a:t>
            </a:r>
          </a:p>
        </p:txBody>
      </p:sp>
      <p:sp>
        <p:nvSpPr>
          <p:cNvPr id="16" name="Rectangle 15"/>
          <p:cNvSpPr/>
          <p:nvPr/>
        </p:nvSpPr>
        <p:spPr>
          <a:xfrm>
            <a:off x="502920" y="5157216"/>
            <a:ext cx="11183112" cy="786384"/>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5157216"/>
            <a:ext cx="45720" cy="78638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276088"/>
            <a:ext cx="10853928" cy="402336"/>
          </a:xfrm>
          <a:prstGeom prst="rect">
            <a:avLst/>
          </a:prstGeom>
          <a:noFill/>
        </p:spPr>
        <p:txBody>
          <a:bodyPr wrap="square" lIns="25400" rIns="25400" tIns="0" bIns="0" anchor="t">
            <a:spAutoFit/>
          </a:bodyPr>
          <a:lstStyle/>
          <a:p>
            <a:pPr algn="l">
              <a:lnSpc>
                <a:spcPct val="146000"/>
              </a:lnSpc>
              <a:spcBef>
                <a:spcPts val="0"/>
              </a:spcBef>
              <a:spcAft>
                <a:spcPts val="400"/>
              </a:spcAft>
            </a:pPr>
            <a:r>
              <a:rPr sz="1100" b="0">
                <a:solidFill>
                  <a:srgbClr val="243352"/>
                </a:solidFill>
                <a:latin typeface="宋体"/>
              </a:rPr>
              <a:t>「这几篇文章仅在全样本下比较了五因子与三因子模型的表现，研究结论差异较大。」</a:t>
            </a:r>
          </a:p>
        </p:txBody>
      </p:sp>
      <p:sp>
        <p:nvSpPr>
          <p:cNvPr id="19" name="TextBox 18"/>
          <p:cNvSpPr txBox="1"/>
          <p:nvPr/>
        </p:nvSpPr>
        <p:spPr>
          <a:xfrm>
            <a:off x="685800" y="5669280"/>
            <a:ext cx="108539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p.193</a:t>
            </a:r>
          </a:p>
        </p:txBody>
      </p:sp>
      <p:sp>
        <p:nvSpPr>
          <p:cNvPr id="20" name="Rectangle 19"/>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选题启示：当同一市场出现相反结论时，先问「大家是不是都只做了全样本」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裂缝 · 三</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体系外更狠的一刀：照搬 FF 流程本身就是错的</a:t>
            </a:r>
          </a:p>
        </p:txBody>
      </p:sp>
      <p:pic>
        <p:nvPicPr>
          <p:cNvPr id="5" name="Picture 4" descr="data.png"/>
          <p:cNvPicPr>
            <a:picLocks noChangeAspect="1"/>
          </p:cNvPicPr>
          <p:nvPr/>
        </p:nvPicPr>
        <p:blipFill>
          <a:blip r:embed="rId2"/>
          <a:stretch>
            <a:fillRect/>
          </a:stretch>
        </p:blipFill>
        <p:spPr>
          <a:xfrm>
            <a:off x="502920" y="1502880"/>
            <a:ext cx="5669280" cy="935303"/>
          </a:xfrm>
          <a:prstGeom prst="rect">
            <a:avLst/>
          </a:prstGeom>
          <a:ln w="9525">
            <a:solidFill>
              <a:srgbClr val="C9C2B2"/>
            </a:solidFill>
          </a:ln>
        </p:spPr>
      </p:pic>
      <p:sp>
        <p:nvSpPr>
          <p:cNvPr id="6" name="Rectangle 5"/>
          <p:cNvSpPr/>
          <p:nvPr/>
        </p:nvSpPr>
        <p:spPr>
          <a:xfrm>
            <a:off x="502920" y="1502880"/>
            <a:ext cx="5669280" cy="93530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15768"/>
            <a:ext cx="56692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p.194：直接以流通股本计算市值加权权重</a:t>
            </a:r>
          </a:p>
        </p:txBody>
      </p:sp>
      <p:pic>
        <p:nvPicPr>
          <p:cNvPr id="8" name="Picture 7" descr="foot1.png"/>
          <p:cNvPicPr>
            <a:picLocks noChangeAspect="1"/>
          </p:cNvPicPr>
          <p:nvPr/>
        </p:nvPicPr>
        <p:blipFill>
          <a:blip r:embed="rId3"/>
          <a:stretch>
            <a:fillRect/>
          </a:stretch>
        </p:blipFill>
        <p:spPr>
          <a:xfrm>
            <a:off x="6382512" y="1695800"/>
            <a:ext cx="5303520" cy="549463"/>
          </a:xfrm>
          <a:prstGeom prst="rect">
            <a:avLst/>
          </a:prstGeom>
          <a:ln w="9525">
            <a:solidFill>
              <a:srgbClr val="C9C2B2"/>
            </a:solidFill>
          </a:ln>
        </p:spPr>
      </p:pic>
      <p:sp>
        <p:nvSpPr>
          <p:cNvPr id="9" name="Rectangle 8"/>
          <p:cNvSpPr/>
          <p:nvPr/>
        </p:nvSpPr>
        <p:spPr>
          <a:xfrm>
            <a:off x="6382512" y="1695800"/>
            <a:ext cx="5303520" cy="54946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2715768"/>
            <a:ext cx="53035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p.194 脚注 1：采用全体 A 股分位点分组</a:t>
            </a:r>
          </a:p>
        </p:txBody>
      </p:sp>
      <p:graphicFrame>
        <p:nvGraphicFramePr>
          <p:cNvPr id="11" name="Table 10"/>
          <p:cNvGraphicFramePr>
            <a:graphicFrameLocks noGrp="1"/>
          </p:cNvGraphicFramePr>
          <p:nvPr/>
        </p:nvGraphicFramePr>
        <p:xfrm>
          <a:off x="502920" y="3118104"/>
          <a:ext cx="11183109" cy="1847088"/>
        </p:xfrm>
        <a:graphic>
          <a:graphicData uri="http://schemas.openxmlformats.org/drawingml/2006/table">
            <a:tbl>
              <a:tblPr firstRow="1" bandRow="1">
                <a:tableStyleId>{5C22544A-7EE6-4342-B048-85BDC9FD1C3A}</a:tableStyleId>
              </a:tblPr>
              <a:tblGrid>
                <a:gridCol w="852046"/>
                <a:gridCol w="3195174"/>
                <a:gridCol w="5751314"/>
                <a:gridCol w="1384575"/>
              </a:tblGrid>
              <a:tr h="461772">
                <a:tc>
                  <a:txBody>
                    <a:bodyPr wrap="square"/>
                    <a:lstStyle/>
                    <a:p>
                      <a:r>
                        <a:rPr sz="950" b="1">
                          <a:solidFill>
                            <a:srgbClr val="FFFFFF"/>
                          </a:solidFill>
                          <a:latin typeface="微软雅黑"/>
                        </a:rPr>
                        <a:t/>
                      </a:r>
                    </a:p>
                  </a:txBody>
                  <a:tcPr marL="63500" marR="63500" marT="25400" marB="25400" anchor="ctr">
                    <a:solidFill>
                      <a:srgbClr val="1B2A4A"/>
                    </a:solidFill>
                  </a:tcPr>
                </a:tc>
                <a:tc>
                  <a:txBody>
                    <a:bodyPr wrap="square"/>
                    <a:lstStyle/>
                    <a:p>
                      <a:r>
                        <a:rPr sz="950" b="1">
                          <a:solidFill>
                            <a:srgbClr val="FFFFFF"/>
                          </a:solidFill>
                          <a:latin typeface="微软雅黑"/>
                        </a:rPr>
                        <a:t>本文口径（2017）</a:t>
                      </a:r>
                    </a:p>
                  </a:txBody>
                  <a:tcPr marL="63500" marR="63500" marT="25400" marB="25400" anchor="ctr">
                    <a:solidFill>
                      <a:srgbClr val="1B2A4A"/>
                    </a:solidFill>
                  </a:tcPr>
                </a:tc>
                <a:tc>
                  <a:txBody>
                    <a:bodyPr wrap="square"/>
                    <a:lstStyle/>
                    <a:p>
                      <a:r>
                        <a:rPr sz="950" b="1">
                          <a:solidFill>
                            <a:srgbClr val="FFFFFF"/>
                          </a:solidFill>
                          <a:latin typeface="微软雅黑"/>
                        </a:rPr>
                        <a:t>LSY(2019, JFE) 的修正</a:t>
                      </a:r>
                    </a:p>
                  </a:txBody>
                  <a:tcPr marL="63500" marR="63500" marT="25400" marB="25400" anchor="ctr">
                    <a:solidFill>
                      <a:srgbClr val="1B2A4A"/>
                    </a:solidFill>
                  </a:tcPr>
                </a:tc>
                <a:tc>
                  <a:txBody>
                    <a:bodyPr wrap="square"/>
                    <a:lstStyle/>
                    <a:p>
                      <a:r>
                        <a:rPr sz="950" b="1">
                          <a:solidFill>
                            <a:srgbClr val="FFFFFF"/>
                          </a:solidFill>
                          <a:latin typeface="微软雅黑"/>
                        </a:rPr>
                        <a:t>打在本文的哪一处</a:t>
                      </a:r>
                    </a:p>
                  </a:txBody>
                  <a:tcPr marL="63500" marR="63500" marT="25400" marB="25400" anchor="ctr">
                    <a:solidFill>
                      <a:srgbClr val="1B2A4A"/>
                    </a:solidFill>
                  </a:tcPr>
                </a:tc>
              </a:tr>
              <a:tr h="461772">
                <a:tc>
                  <a:txBody>
                    <a:bodyPr wrap="square"/>
                    <a:lstStyle/>
                    <a:p>
                      <a:r>
                        <a:rPr sz="950" b="0">
                          <a:solidFill>
                            <a:srgbClr val="3A4A68"/>
                          </a:solidFill>
                          <a:latin typeface="微软雅黑"/>
                        </a:rPr>
                        <a:t>规模</a:t>
                      </a:r>
                    </a:p>
                  </a:txBody>
                  <a:tcPr marL="63500" marR="63500" marT="25400" marB="25400" anchor="ctr">
                    <a:solidFill>
                      <a:srgbClr val="FFFFFF"/>
                    </a:solidFill>
                  </a:tcPr>
                </a:tc>
                <a:tc>
                  <a:txBody>
                    <a:bodyPr wrap="square"/>
                    <a:lstStyle/>
                    <a:p>
                      <a:r>
                        <a:rPr sz="950" b="0">
                          <a:solidFill>
                            <a:srgbClr val="3A4A68"/>
                          </a:solidFill>
                          <a:latin typeface="微软雅黑"/>
                        </a:rPr>
                        <a:t>全体 A 股分位点，含最小 30%</a:t>
                      </a:r>
                    </a:p>
                  </a:txBody>
                  <a:tcPr marL="63500" marR="63500" marT="25400" marB="25400" anchor="ctr">
                    <a:solidFill>
                      <a:srgbClr val="FFFFFF"/>
                    </a:solidFill>
                  </a:tcPr>
                </a:tc>
                <a:tc>
                  <a:txBody>
                    <a:bodyPr wrap="square"/>
                    <a:lstStyle/>
                    <a:p>
                      <a:r>
                        <a:rPr sz="950" b="0">
                          <a:solidFill>
                            <a:srgbClr val="3A4A68"/>
                          </a:solidFill>
                          <a:latin typeface="微软雅黑"/>
                        </a:rPr>
                        <a:t>剔除最小 30%（壳价值污染）：83% 的借壳标的来自最小 30%，其市值约 30% 反映壳期权价值</a:t>
                      </a:r>
                    </a:p>
                  </a:txBody>
                  <a:tcPr marL="63500" marR="63500" marT="25400" marB="25400" anchor="ctr">
                    <a:solidFill>
                      <a:srgbClr val="FFFFFF"/>
                    </a:solidFill>
                  </a:tcPr>
                </a:tc>
                <a:tc>
                  <a:txBody>
                    <a:bodyPr wrap="square"/>
                    <a:lstStyle/>
                    <a:p>
                      <a:r>
                        <a:rPr sz="950" b="0">
                          <a:solidFill>
                            <a:srgbClr val="3A4A68"/>
                          </a:solidFill>
                          <a:latin typeface="微软雅黑"/>
                        </a:rPr>
                        <a:t>Gap 2</a:t>
                      </a:r>
                    </a:p>
                  </a:txBody>
                  <a:tcPr marL="63500" marR="63500" marT="25400" marB="25400" anchor="ctr">
                    <a:solidFill>
                      <a:srgbClr val="FFFFFF"/>
                    </a:solidFill>
                  </a:tcPr>
                </a:tc>
              </a:tr>
              <a:tr h="461772">
                <a:tc>
                  <a:txBody>
                    <a:bodyPr wrap="square"/>
                    <a:lstStyle/>
                    <a:p>
                      <a:r>
                        <a:rPr sz="950" b="0">
                          <a:solidFill>
                            <a:srgbClr val="3A4A68"/>
                          </a:solidFill>
                          <a:latin typeface="微软雅黑"/>
                        </a:rPr>
                        <a:t>市值</a:t>
                      </a:r>
                    </a:p>
                  </a:txBody>
                  <a:tcPr marL="63500" marR="63500" marT="25400" marB="25400" anchor="ctr">
                    <a:solidFill>
                      <a:srgbClr val="F4F0E6"/>
                    </a:solidFill>
                  </a:tcPr>
                </a:tc>
                <a:tc>
                  <a:txBody>
                    <a:bodyPr wrap="square"/>
                    <a:lstStyle/>
                    <a:p>
                      <a:r>
                        <a:rPr sz="950" b="0">
                          <a:solidFill>
                            <a:srgbClr val="3A4A68"/>
                          </a:solidFill>
                          <a:latin typeface="微软雅黑"/>
                        </a:rPr>
                        <a:t>流通市值（加权与排序都用流通）</a:t>
                      </a:r>
                    </a:p>
                  </a:txBody>
                  <a:tcPr marL="63500" marR="63500" marT="25400" marB="25400" anchor="ctr">
                    <a:solidFill>
                      <a:srgbClr val="F4F0E6"/>
                    </a:solidFill>
                  </a:tcPr>
                </a:tc>
                <a:tc>
                  <a:txBody>
                    <a:bodyPr wrap="square"/>
                    <a:lstStyle/>
                    <a:p>
                      <a:r>
                        <a:rPr sz="950" b="0">
                          <a:solidFill>
                            <a:srgbClr val="3A4A68"/>
                          </a:solidFill>
                          <a:latin typeface="微软雅黑"/>
                        </a:rPr>
                        <a:t>总市值</a:t>
                      </a:r>
                    </a:p>
                  </a:txBody>
                  <a:tcPr marL="63500" marR="63500" marT="25400" marB="25400" anchor="ctr">
                    <a:solidFill>
                      <a:srgbClr val="F4F0E6"/>
                    </a:solidFill>
                  </a:tcPr>
                </a:tc>
                <a:tc>
                  <a:txBody>
                    <a:bodyPr wrap="square"/>
                    <a:lstStyle/>
                    <a:p>
                      <a:r>
                        <a:rPr sz="950" b="0">
                          <a:solidFill>
                            <a:srgbClr val="3A4A68"/>
                          </a:solidFill>
                          <a:latin typeface="微软雅黑"/>
                        </a:rPr>
                        <a:t>Gap 1</a:t>
                      </a:r>
                    </a:p>
                  </a:txBody>
                  <a:tcPr marL="63500" marR="63500" marT="25400" marB="25400" anchor="ctr">
                    <a:solidFill>
                      <a:srgbClr val="F4F0E6"/>
                    </a:solidFill>
                  </a:tcPr>
                </a:tc>
              </a:tr>
              <a:tr h="461772">
                <a:tc>
                  <a:txBody>
                    <a:bodyPr wrap="square"/>
                    <a:lstStyle/>
                    <a:p>
                      <a:r>
                        <a:rPr sz="950" b="0">
                          <a:solidFill>
                            <a:srgbClr val="3A4A68"/>
                          </a:solidFill>
                          <a:latin typeface="微软雅黑"/>
                        </a:rPr>
                        <a:t>价值</a:t>
                      </a:r>
                    </a:p>
                  </a:txBody>
                  <a:tcPr marL="63500" marR="63500" marT="25400" marB="25400" anchor="ctr">
                    <a:solidFill>
                      <a:srgbClr val="FFFFFF"/>
                    </a:solidFill>
                  </a:tcPr>
                </a:tc>
                <a:tc>
                  <a:txBody>
                    <a:bodyPr wrap="square"/>
                    <a:lstStyle/>
                    <a:p>
                      <a:r>
                        <a:rPr sz="950" b="0">
                          <a:solidFill>
                            <a:srgbClr val="3A4A68"/>
                          </a:solidFill>
                          <a:latin typeface="微软雅黑"/>
                        </a:rPr>
                        <a:t>B/M（账面市值比）</a:t>
                      </a:r>
                    </a:p>
                  </a:txBody>
                  <a:tcPr marL="63500" marR="63500" marT="25400" marB="25400" anchor="ctr">
                    <a:solidFill>
                      <a:srgbClr val="FFFFFF"/>
                    </a:solidFill>
                  </a:tcPr>
                </a:tc>
                <a:tc>
                  <a:txBody>
                    <a:bodyPr wrap="square"/>
                    <a:lstStyle/>
                    <a:p>
                      <a:r>
                        <a:rPr sz="950" b="0">
                          <a:solidFill>
                            <a:srgbClr val="3A4A68"/>
                          </a:solidFill>
                          <a:latin typeface="微软雅黑"/>
                        </a:rPr>
                        <a:t>E/P（盈利价格比）——中国市场 E/P 吸收 B/M 的全部价值效应</a:t>
                      </a:r>
                    </a:p>
                  </a:txBody>
                  <a:tcPr marL="63500" marR="63500" marT="25400" marB="25400" anchor="ctr">
                    <a:solidFill>
                      <a:srgbClr val="FFFFFF"/>
                    </a:solidFill>
                  </a:tcPr>
                </a:tc>
                <a:tc>
                  <a:txBody>
                    <a:bodyPr wrap="square"/>
                    <a:lstStyle/>
                    <a:p>
                      <a:r>
                        <a:rPr sz="950" b="0">
                          <a:solidFill>
                            <a:srgbClr val="3A4A68"/>
                          </a:solidFill>
                          <a:latin typeface="微软雅黑"/>
                        </a:rPr>
                        <a:t>Gap 4</a:t>
                      </a:r>
                    </a:p>
                  </a:txBody>
                  <a:tcPr marL="63500" marR="63500" marT="25400" marB="25400" anchor="ctr">
                    <a:solidFill>
                      <a:srgbClr val="FFFFFF"/>
                    </a:solidFill>
                  </a:tcPr>
                </a:tc>
              </a:tr>
            </a:tbl>
          </a:graphicData>
        </a:graphic>
      </p:graphicFrame>
      <p:sp>
        <p:nvSpPr>
          <p:cNvPr id="12" name="Rectangle 11"/>
          <p:cNvSpPr/>
          <p:nvPr/>
        </p:nvSpPr>
        <p:spPr>
          <a:xfrm>
            <a:off x="502920" y="5175504"/>
            <a:ext cx="11183112" cy="768096"/>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5175504"/>
            <a:ext cx="45720" cy="768096"/>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94376"/>
            <a:ext cx="10853928" cy="384048"/>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「后续实证研究多针对中美股市的差异和中国股市的特点展开，由于中国股市存在的壳资源对资产定价机制造成扭曲……」</a:t>
            </a:r>
          </a:p>
        </p:txBody>
      </p:sp>
      <p:sp>
        <p:nvSpPr>
          <p:cNvPr id="15" name="TextBox 14"/>
          <p:cNvSpPr txBox="1"/>
          <p:nvPr/>
        </p:nvSpPr>
        <p:spPr>
          <a:xfrm>
            <a:off x="685800" y="5669280"/>
            <a:ext cx="108539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二手转述：LSY(2019) JFE 134(1):48–69 —— 用于定位裂缝，不当作原文结论</a:t>
            </a:r>
          </a:p>
        </p:txBody>
      </p:sp>
      <p:sp>
        <p:nvSpPr>
          <p:cNvPr id="16" name="Rectangle 15"/>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这一刀不否定本文，而是说明：本文的分时期结论建立在一套已被后续文献质疑的口径上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第一步的交付物</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选题公式：把裂缝翻译成一句可以被检验的话</a:t>
            </a:r>
          </a:p>
        </p:txBody>
      </p:sp>
      <p:sp>
        <p:nvSpPr>
          <p:cNvPr id="5" name="Rectangle 4"/>
          <p:cNvSpPr/>
          <p:nvPr/>
        </p:nvSpPr>
        <p:spPr>
          <a:xfrm>
            <a:off x="502920" y="1243584"/>
            <a:ext cx="11183112" cy="7863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335024"/>
            <a:ext cx="10744200" cy="603503"/>
          </a:xfrm>
          <a:prstGeom prst="rect">
            <a:avLst/>
          </a:prstGeom>
          <a:noFill/>
        </p:spPr>
        <p:txBody>
          <a:bodyPr wrap="square" lIns="25400" rIns="25400" tIns="0" bIns="0" anchor="ctr">
            <a:spAutoFit/>
          </a:bodyPr>
          <a:lstStyle/>
          <a:p>
            <a:pPr algn="l">
              <a:lnSpc>
                <a:spcPct val="135000"/>
              </a:lnSpc>
              <a:spcBef>
                <a:spcPts val="0"/>
              </a:spcBef>
              <a:spcAft>
                <a:spcPts val="400"/>
              </a:spcAft>
            </a:pPr>
            <a:r>
              <a:rPr sz="1700" b="0">
                <a:solidFill>
                  <a:srgbClr val="FFFFFF"/>
                </a:solidFill>
                <a:latin typeface="微软雅黑"/>
              </a:rPr>
              <a:t>模型 M 在 A 市场得 X、在 B 市场得 Y，X ≠ Y　→　用制度 / 口径差异 Z 解释分歧</a:t>
            </a:r>
          </a:p>
        </p:txBody>
      </p:sp>
      <p:sp>
        <p:nvSpPr>
          <p:cNvPr id="7" name="Rectangle 6"/>
          <p:cNvSpPr/>
          <p:nvPr/>
        </p:nvSpPr>
        <p:spPr>
          <a:xfrm>
            <a:off x="502920" y="2212848"/>
            <a:ext cx="3529584" cy="173736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212848"/>
            <a:ext cx="3529584"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2359152"/>
            <a:ext cx="3236976" cy="310896"/>
          </a:xfrm>
          <a:prstGeom prst="rect">
            <a:avLst/>
          </a:prstGeom>
          <a:noFill/>
        </p:spPr>
        <p:txBody>
          <a:bodyPr wrap="square" lIns="25400" rIns="25400" tIns="0" bIns="0" anchor="t">
            <a:spAutoFit/>
          </a:bodyPr>
          <a:lstStyle/>
          <a:p>
            <a:pPr algn="l">
              <a:spcBef>
                <a:spcPts val="0"/>
              </a:spcBef>
              <a:spcAft>
                <a:spcPts val="400"/>
              </a:spcAft>
            </a:pPr>
            <a:r>
              <a:rPr sz="1300" b="1">
                <a:solidFill>
                  <a:srgbClr val="1B2A4A"/>
                </a:solidFill>
                <a:latin typeface="微软雅黑"/>
              </a:rPr>
              <a:t>选题 ① 剔除壳污染后，「CMA 冗余」还成立吗？</a:t>
            </a:r>
          </a:p>
        </p:txBody>
      </p:sp>
      <p:sp>
        <p:nvSpPr>
          <p:cNvPr id="10" name="TextBox 9"/>
          <p:cNvSpPr txBox="1"/>
          <p:nvPr/>
        </p:nvSpPr>
        <p:spPr>
          <a:xfrm>
            <a:off x="649224" y="2743200"/>
            <a:ext cx="3236976" cy="107899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X = 全样本 CMA 冗余（本文 p.196）
Y = 剔除最小 30% 后是否反转
Z = 壳期权价值污染小盘股收益</a:t>
            </a:r>
          </a:p>
        </p:txBody>
      </p:sp>
      <p:sp>
        <p:nvSpPr>
          <p:cNvPr id="11" name="Rectangle 10"/>
          <p:cNvSpPr/>
          <p:nvPr/>
        </p:nvSpPr>
        <p:spPr>
          <a:xfrm>
            <a:off x="4206240" y="2212848"/>
            <a:ext cx="3529584" cy="173736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2212848"/>
            <a:ext cx="3529584"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2359152"/>
            <a:ext cx="3236976" cy="310896"/>
          </a:xfrm>
          <a:prstGeom prst="rect">
            <a:avLst/>
          </a:prstGeom>
          <a:noFill/>
        </p:spPr>
        <p:txBody>
          <a:bodyPr wrap="square" lIns="25400" rIns="25400" tIns="0" bIns="0" anchor="t">
            <a:spAutoFit/>
          </a:bodyPr>
          <a:lstStyle/>
          <a:p>
            <a:pPr algn="l">
              <a:spcBef>
                <a:spcPts val="0"/>
              </a:spcBef>
              <a:spcAft>
                <a:spcPts val="400"/>
              </a:spcAft>
            </a:pPr>
            <a:r>
              <a:rPr sz="1300" b="1">
                <a:solidFill>
                  <a:srgbClr val="1B2A4A"/>
                </a:solidFill>
                <a:latin typeface="微软雅黑"/>
              </a:rPr>
              <a:t>选题 ② 价值因子换成 E/P，市场效率结论稳健吗？</a:t>
            </a:r>
          </a:p>
        </p:txBody>
      </p:sp>
      <p:sp>
        <p:nvSpPr>
          <p:cNvPr id="14" name="TextBox 13"/>
          <p:cNvSpPr txBox="1"/>
          <p:nvPr/>
        </p:nvSpPr>
        <p:spPr>
          <a:xfrm>
            <a:off x="4352544" y="2743200"/>
            <a:ext cx="3236976" cy="107899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X = 本文表 6 的「股改后更有效」（p.201）
Y = 换 E/P 建 HML 后 A|a|/A|r| 是否仍下降
Z = B/M 被 E/P 吸收</a:t>
            </a:r>
          </a:p>
        </p:txBody>
      </p:sp>
      <p:sp>
        <p:nvSpPr>
          <p:cNvPr id="15" name="Rectangle 14"/>
          <p:cNvSpPr/>
          <p:nvPr/>
        </p:nvSpPr>
        <p:spPr>
          <a:xfrm>
            <a:off x="7909560" y="2212848"/>
            <a:ext cx="3529584" cy="173736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09560" y="2212848"/>
            <a:ext cx="3529584"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55864" y="2359152"/>
            <a:ext cx="3236976" cy="310896"/>
          </a:xfrm>
          <a:prstGeom prst="rect">
            <a:avLst/>
          </a:prstGeom>
          <a:noFill/>
        </p:spPr>
        <p:txBody>
          <a:bodyPr wrap="square" lIns="25400" rIns="25400" tIns="0" bIns="0" anchor="t">
            <a:spAutoFit/>
          </a:bodyPr>
          <a:lstStyle/>
          <a:p>
            <a:pPr algn="l">
              <a:spcBef>
                <a:spcPts val="0"/>
              </a:spcBef>
              <a:spcAft>
                <a:spcPts val="400"/>
              </a:spcAft>
            </a:pPr>
            <a:r>
              <a:rPr sz="1300" b="1">
                <a:solidFill>
                  <a:srgbClr val="1B2A4A"/>
                </a:solidFill>
                <a:latin typeface="微软雅黑"/>
              </a:rPr>
              <a:t>选题 ③ 单一 Chow 升级为多重未知断点，断点有几个？</a:t>
            </a:r>
          </a:p>
        </p:txBody>
      </p:sp>
      <p:sp>
        <p:nvSpPr>
          <p:cNvPr id="18" name="TextBox 17"/>
          <p:cNvSpPr txBox="1"/>
          <p:nvPr/>
        </p:nvSpPr>
        <p:spPr>
          <a:xfrm>
            <a:off x="8055864" y="2743200"/>
            <a:ext cx="3236976" cy="1078992"/>
          </a:xfrm>
          <a:prstGeom prst="rect">
            <a:avLst/>
          </a:prstGeom>
          <a:noFill/>
        </p:spPr>
        <p:txBody>
          <a:bodyPr wrap="square" lIns="25400" rIns="25400" tIns="0" bIns="0" anchor="t">
            <a:spAutoFit/>
          </a:bodyPr>
          <a:lstStyle/>
          <a:p>
            <a:pPr algn="l">
              <a:lnSpc>
                <a:spcPct val="134000"/>
              </a:lnSpc>
              <a:spcBef>
                <a:spcPts val="0"/>
              </a:spcBef>
              <a:spcAft>
                <a:spcPts val="400"/>
              </a:spcAft>
            </a:pPr>
            <a:r>
              <a:rPr sz="1150" b="0">
                <a:solidFill>
                  <a:srgbClr val="3A4A68"/>
                </a:solidFill>
                <a:latin typeface="微软雅黑"/>
              </a:rPr>
              <a:t>X = 本文只检验 2007-06（p.200 脚注）
Y = 2005 股改、2017 注册制是否构成第二、三断点
Z = 制度变革的多重性</a:t>
            </a:r>
          </a:p>
        </p:txBody>
      </p:sp>
      <p:pic>
        <p:nvPicPr>
          <p:cNvPr id="19" name="Picture 18" descr="gap.png"/>
          <p:cNvPicPr>
            <a:picLocks noChangeAspect="1"/>
          </p:cNvPicPr>
          <p:nvPr/>
        </p:nvPicPr>
        <p:blipFill>
          <a:blip r:embed="rId2"/>
          <a:stretch>
            <a:fillRect/>
          </a:stretch>
        </p:blipFill>
        <p:spPr>
          <a:xfrm>
            <a:off x="502920" y="4323765"/>
            <a:ext cx="5532120" cy="1118260"/>
          </a:xfrm>
          <a:prstGeom prst="rect">
            <a:avLst/>
          </a:prstGeom>
          <a:ln w="9525">
            <a:solidFill>
              <a:srgbClr val="C9C2B2"/>
            </a:solidFill>
          </a:ln>
        </p:spPr>
      </p:pic>
      <p:sp>
        <p:nvSpPr>
          <p:cNvPr id="20" name="Rectangle 19"/>
          <p:cNvSpPr/>
          <p:nvPr/>
        </p:nvSpPr>
        <p:spPr>
          <a:xfrm>
            <a:off x="502920" y="4323765"/>
            <a:ext cx="5532120" cy="111826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687568"/>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p.192：空位声明</a:t>
            </a:r>
          </a:p>
        </p:txBody>
      </p:sp>
      <p:sp>
        <p:nvSpPr>
          <p:cNvPr id="22" name="Rectangle 21"/>
          <p:cNvSpPr/>
          <p:nvPr/>
        </p:nvSpPr>
        <p:spPr>
          <a:xfrm>
            <a:off x="6245352" y="4096512"/>
            <a:ext cx="5440680" cy="1810512"/>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5352" y="4096512"/>
            <a:ext cx="45720" cy="181051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4215384"/>
            <a:ext cx="5111496" cy="1426464"/>
          </a:xfrm>
          <a:prstGeom prst="rect">
            <a:avLst/>
          </a:prstGeom>
          <a:noFill/>
        </p:spPr>
        <p:txBody>
          <a:bodyPr wrap="square" lIns="25400" rIns="25400" tIns="0" bIns="0" anchor="t">
            <a:spAutoFit/>
          </a:bodyPr>
          <a:lstStyle/>
          <a:p>
            <a:pPr algn="l">
              <a:lnSpc>
                <a:spcPct val="146000"/>
              </a:lnSpc>
              <a:spcBef>
                <a:spcPts val="0"/>
              </a:spcBef>
              <a:spcAft>
                <a:spcPts val="400"/>
              </a:spcAft>
            </a:pPr>
            <a:r>
              <a:rPr sz="1100" b="0">
                <a:solidFill>
                  <a:srgbClr val="243352"/>
                </a:solidFill>
                <a:latin typeface="宋体"/>
              </a:rPr>
              <a:t>「仅有的几篇相关文章研究结论出现不一致，对五因子模型在中国市场适用性的讨论，需进一步的经验证据。」</a:t>
            </a:r>
          </a:p>
        </p:txBody>
      </p:sp>
      <p:sp>
        <p:nvSpPr>
          <p:cNvPr id="25" name="TextBox 24"/>
          <p:cNvSpPr txBox="1"/>
          <p:nvPr/>
        </p:nvSpPr>
        <p:spPr>
          <a:xfrm>
            <a:off x="6428232" y="5632704"/>
            <a:ext cx="51114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p.192 —— 空位声明的原始表述，可直接作为立项依据</a:t>
            </a:r>
          </a:p>
        </p:txBody>
      </p:sp>
      <p:sp>
        <p:nvSpPr>
          <p:cNvPr id="26" name="Rectangle 25"/>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三条选题的前提都是「作者已做过全样本，但没在修正口径下重跑」，而不是「作者忘了做」</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语料库 · 五类</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只摘这五类句子，不摘三类</a:t>
            </a:r>
          </a:p>
        </p:txBody>
      </p:sp>
      <p:graphicFrame>
        <p:nvGraphicFramePr>
          <p:cNvPr id="5" name="Table 4"/>
          <p:cNvGraphicFramePr>
            <a:graphicFrameLocks noGrp="1"/>
          </p:cNvGraphicFramePr>
          <p:nvPr/>
        </p:nvGraphicFramePr>
        <p:xfrm>
          <a:off x="502920" y="1243584"/>
          <a:ext cx="11183110" cy="2907786"/>
        </p:xfrm>
        <a:graphic>
          <a:graphicData uri="http://schemas.openxmlformats.org/drawingml/2006/table">
            <a:tbl>
              <a:tblPr firstRow="1" bandRow="1">
                <a:tableStyleId>{5C22544A-7EE6-4342-B048-85BDC9FD1C3A}</a:tableStyleId>
              </a:tblPr>
              <a:tblGrid>
                <a:gridCol w="1099978"/>
                <a:gridCol w="3574929"/>
                <a:gridCol w="3208269"/>
                <a:gridCol w="3299934"/>
              </a:tblGrid>
              <a:tr h="484631">
                <a:tc>
                  <a:txBody>
                    <a:bodyPr wrap="square"/>
                    <a:lstStyle/>
                    <a:p>
                      <a:r>
                        <a:rPr sz="1000" b="1">
                          <a:solidFill>
                            <a:srgbClr val="FFFFFF"/>
                          </a:solidFill>
                          <a:latin typeface="微软雅黑"/>
                        </a:rPr>
                        <a:t>类型</a:t>
                      </a:r>
                    </a:p>
                  </a:txBody>
                  <a:tcPr marL="63500" marR="63500" marT="25400" marB="25400" anchor="ctr">
                    <a:solidFill>
                      <a:srgbClr val="1B2A4A"/>
                    </a:solidFill>
                  </a:tcPr>
                </a:tc>
                <a:tc>
                  <a:txBody>
                    <a:bodyPr wrap="square"/>
                    <a:lstStyle/>
                    <a:p>
                      <a:r>
                        <a:rPr sz="1000" b="1">
                          <a:solidFill>
                            <a:srgbClr val="FFFFFF"/>
                          </a:solidFill>
                          <a:latin typeface="微软雅黑"/>
                        </a:rPr>
                        <a:t>特征</a:t>
                      </a:r>
                    </a:p>
                  </a:txBody>
                  <a:tcPr marL="63500" marR="63500" marT="25400" marB="25400" anchor="ctr">
                    <a:solidFill>
                      <a:srgbClr val="1B2A4A"/>
                    </a:solidFill>
                  </a:tcPr>
                </a:tc>
                <a:tc>
                  <a:txBody>
                    <a:bodyPr wrap="square"/>
                    <a:lstStyle/>
                    <a:p>
                      <a:r>
                        <a:rPr sz="1000" b="1">
                          <a:solidFill>
                            <a:srgbClr val="FFFFFF"/>
                          </a:solidFill>
                          <a:latin typeface="微软雅黑"/>
                        </a:rPr>
                        <a:t>用途</a:t>
                      </a:r>
                    </a:p>
                  </a:txBody>
                  <a:tcPr marL="63500" marR="63500" marT="25400" marB="25400" anchor="ctr">
                    <a:solidFill>
                      <a:srgbClr val="1B2A4A"/>
                    </a:solidFill>
                  </a:tcPr>
                </a:tc>
                <a:tc>
                  <a:txBody>
                    <a:bodyPr wrap="square"/>
                    <a:lstStyle/>
                    <a:p>
                      <a:r>
                        <a:rPr sz="1000" b="1">
                          <a:solidFill>
                            <a:srgbClr val="FFFFFF"/>
                          </a:solidFill>
                          <a:latin typeface="微软雅黑"/>
                        </a:rPr>
                        <a:t>本文实例出处</a:t>
                      </a:r>
                    </a:p>
                  </a:txBody>
                  <a:tcPr marL="63500" marR="63500" marT="25400" marB="25400" anchor="ctr">
                    <a:solidFill>
                      <a:srgbClr val="1B2A4A"/>
                    </a:solidFill>
                  </a:tcPr>
                </a:tc>
              </a:tr>
              <a:tr h="484631">
                <a:tc>
                  <a:txBody>
                    <a:bodyPr wrap="square"/>
                    <a:lstStyle/>
                    <a:p>
                      <a:r>
                        <a:rPr sz="950" b="0">
                          <a:solidFill>
                            <a:srgbClr val="3A4A68"/>
                          </a:solidFill>
                          <a:latin typeface="微软雅黑"/>
                        </a:rPr>
                        <a:t>让步句</a:t>
                      </a:r>
                    </a:p>
                  </a:txBody>
                  <a:tcPr marL="63500" marR="63500" marT="25400" marB="25400" anchor="ctr">
                    <a:solidFill>
                      <a:srgbClr val="FFFFFF"/>
                    </a:solidFill>
                  </a:tcPr>
                </a:tc>
                <a:tc>
                  <a:txBody>
                    <a:bodyPr wrap="square"/>
                    <a:lstStyle/>
                    <a:p>
                      <a:r>
                        <a:rPr sz="950" b="0">
                          <a:solidFill>
                            <a:srgbClr val="3A4A68"/>
                          </a:solidFill>
                          <a:latin typeface="微软雅黑"/>
                        </a:rPr>
                        <a:t>「鉴于……差异，本文改用……」</a:t>
                      </a:r>
                    </a:p>
                  </a:txBody>
                  <a:tcPr marL="63500" marR="63500" marT="25400" marB="25400" anchor="ctr">
                    <a:solidFill>
                      <a:srgbClr val="FFFFFF"/>
                    </a:solidFill>
                  </a:tcPr>
                </a:tc>
                <a:tc>
                  <a:txBody>
                    <a:bodyPr wrap="square"/>
                    <a:lstStyle/>
                    <a:p>
                      <a:r>
                        <a:rPr sz="950" b="0">
                          <a:solidFill>
                            <a:srgbClr val="3A4A68"/>
                          </a:solidFill>
                          <a:latin typeface="微软雅黑"/>
                        </a:rPr>
                        <a:t>把「魔改」合法化，是后面做修正的挡箭牌</a:t>
                      </a:r>
                    </a:p>
                  </a:txBody>
                  <a:tcPr marL="63500" marR="63500" marT="25400" marB="25400" anchor="ctr">
                    <a:solidFill>
                      <a:srgbClr val="FFFFFF"/>
                    </a:solidFill>
                  </a:tcPr>
                </a:tc>
                <a:tc>
                  <a:txBody>
                    <a:bodyPr wrap="square"/>
                    <a:lstStyle/>
                    <a:p>
                      <a:r>
                        <a:rPr sz="950" b="0">
                          <a:solidFill>
                            <a:srgbClr val="3A4A68"/>
                          </a:solidFill>
                          <a:latin typeface="微软雅黑"/>
                        </a:rPr>
                        <a:t>p.194 脚注（OP 口径替换）
p.203 脚注（沿用 MOM 命名）</a:t>
                      </a:r>
                    </a:p>
                  </a:txBody>
                  <a:tcPr marL="63500" marR="63500" marT="25400" marB="25400" anchor="ctr">
                    <a:solidFill>
                      <a:srgbClr val="FFFFFF"/>
                    </a:solidFill>
                  </a:tcPr>
                </a:tc>
              </a:tr>
              <a:tr h="484631">
                <a:tc>
                  <a:txBody>
                    <a:bodyPr wrap="square"/>
                    <a:lstStyle/>
                    <a:p>
                      <a:r>
                        <a:rPr sz="950" b="0">
                          <a:solidFill>
                            <a:srgbClr val="3A4A68"/>
                          </a:solidFill>
                          <a:latin typeface="微软雅黑"/>
                        </a:rPr>
                        <a:t>机制包装</a:t>
                      </a:r>
                    </a:p>
                  </a:txBody>
                  <a:tcPr marL="63500" marR="63500" marT="25400" marB="25400" anchor="ctr">
                    <a:solidFill>
                      <a:srgbClr val="F4F0E6"/>
                    </a:solidFill>
                  </a:tcPr>
                </a:tc>
                <a:tc>
                  <a:txBody>
                    <a:bodyPr wrap="square"/>
                    <a:lstStyle/>
                    <a:p>
                      <a:r>
                        <a:rPr sz="950" b="0">
                          <a:solidFill>
                            <a:srgbClr val="3A4A68"/>
                          </a:solidFill>
                          <a:latin typeface="微软雅黑"/>
                        </a:rPr>
                        <a:t>「[制度缺陷] → 投资者不关心[基本面] → 因子不被定价」</a:t>
                      </a:r>
                    </a:p>
                  </a:txBody>
                  <a:tcPr marL="63500" marR="63500" marT="25400" marB="25400" anchor="ctr">
                    <a:solidFill>
                      <a:srgbClr val="F4F0E6"/>
                    </a:solidFill>
                  </a:tcPr>
                </a:tc>
                <a:tc>
                  <a:txBody>
                    <a:bodyPr wrap="square"/>
                    <a:lstStyle/>
                    <a:p>
                      <a:r>
                        <a:rPr sz="950" b="0">
                          <a:solidFill>
                            <a:srgbClr val="3A4A68"/>
                          </a:solidFill>
                          <a:latin typeface="微软雅黑"/>
                        </a:rPr>
                        <a:t>把统计结果翻译成经济学机制，审稿人最认这一段</a:t>
                      </a:r>
                    </a:p>
                  </a:txBody>
                  <a:tcPr marL="63500" marR="63500" marT="25400" marB="25400" anchor="ctr">
                    <a:solidFill>
                      <a:srgbClr val="F4F0E6"/>
                    </a:solidFill>
                  </a:tcPr>
                </a:tc>
                <a:tc>
                  <a:txBody>
                    <a:bodyPr wrap="square"/>
                    <a:lstStyle/>
                    <a:p>
                      <a:r>
                        <a:rPr sz="950" b="0">
                          <a:solidFill>
                            <a:srgbClr val="3A4A68"/>
                          </a:solidFill>
                          <a:latin typeface="微软雅黑"/>
                        </a:rPr>
                        <a:t>p.202（隧道行为 → 股改前 RMW/CMA 不被定价）</a:t>
                      </a:r>
                    </a:p>
                  </a:txBody>
                  <a:tcPr marL="63500" marR="63500" marT="25400" marB="25400" anchor="ctr">
                    <a:solidFill>
                      <a:srgbClr val="F4F0E6"/>
                    </a:solidFill>
                  </a:tcPr>
                </a:tc>
              </a:tr>
              <a:tr h="484631">
                <a:tc>
                  <a:txBody>
                    <a:bodyPr wrap="square"/>
                    <a:lstStyle/>
                    <a:p>
                      <a:r>
                        <a:rPr sz="950" b="0">
                          <a:solidFill>
                            <a:srgbClr val="3A4A68"/>
                          </a:solidFill>
                          <a:latin typeface="微软雅黑"/>
                        </a:rPr>
                        <a:t>归因句</a:t>
                      </a:r>
                    </a:p>
                  </a:txBody>
                  <a:tcPr marL="63500" marR="63500" marT="25400" marB="25400" anchor="ctr">
                    <a:solidFill>
                      <a:srgbClr val="FFFFFF"/>
                    </a:solidFill>
                  </a:tcPr>
                </a:tc>
                <a:tc>
                  <a:txBody>
                    <a:bodyPr wrap="square"/>
                    <a:lstStyle/>
                    <a:p>
                      <a:r>
                        <a:rPr sz="950" b="0">
                          <a:solidFill>
                            <a:srgbClr val="3A4A68"/>
                          </a:solidFill>
                          <a:latin typeface="微软雅黑"/>
                        </a:rPr>
                        <a:t>「全样本结论受[某子样本]影响较大」</a:t>
                      </a:r>
                    </a:p>
                  </a:txBody>
                  <a:tcPr marL="63500" marR="63500" marT="25400" marB="25400" anchor="ctr">
                    <a:solidFill>
                      <a:srgbClr val="FFFFFF"/>
                    </a:solidFill>
                  </a:tcPr>
                </a:tc>
                <a:tc>
                  <a:txBody>
                    <a:bodyPr wrap="square"/>
                    <a:lstStyle/>
                    <a:p>
                      <a:r>
                        <a:rPr sz="950" b="0">
                          <a:solidFill>
                            <a:srgbClr val="3A4A68"/>
                          </a:solidFill>
                          <a:latin typeface="微软雅黑"/>
                        </a:rPr>
                        <a:t>解释「分期 vs 全样本」的冲突</a:t>
                      </a:r>
                    </a:p>
                  </a:txBody>
                  <a:tcPr marL="63500" marR="63500" marT="25400" marB="25400" anchor="ctr">
                    <a:solidFill>
                      <a:srgbClr val="FFFFFF"/>
                    </a:solidFill>
                  </a:tcPr>
                </a:tc>
                <a:tc>
                  <a:txBody>
                    <a:bodyPr wrap="square"/>
                    <a:lstStyle/>
                    <a:p>
                      <a:r>
                        <a:rPr sz="950" b="0">
                          <a:solidFill>
                            <a:srgbClr val="3A4A68"/>
                          </a:solidFill>
                          <a:latin typeface="微软雅黑"/>
                        </a:rPr>
                        <a:t>p.196（均值检验不可靠）
p.202（全样本受股改前影响）</a:t>
                      </a:r>
                    </a:p>
                  </a:txBody>
                  <a:tcPr marL="63500" marR="63500" marT="25400" marB="25400" anchor="ctr">
                    <a:solidFill>
                      <a:srgbClr val="FFFFFF"/>
                    </a:solidFill>
                  </a:tcPr>
                </a:tc>
              </a:tr>
              <a:tr h="484631">
                <a:tc>
                  <a:txBody>
                    <a:bodyPr wrap="square"/>
                    <a:lstStyle/>
                    <a:p>
                      <a:r>
                        <a:rPr sz="950" b="0">
                          <a:solidFill>
                            <a:srgbClr val="3A4A68"/>
                          </a:solidFill>
                          <a:latin typeface="微软雅黑"/>
                        </a:rPr>
                        <a:t>方法论建议</a:t>
                      </a:r>
                    </a:p>
                  </a:txBody>
                  <a:tcPr marL="63500" marR="63500" marT="25400" marB="25400" anchor="ctr">
                    <a:solidFill>
                      <a:srgbClr val="F4F0E6"/>
                    </a:solidFill>
                  </a:tcPr>
                </a:tc>
                <a:tc>
                  <a:txBody>
                    <a:bodyPr wrap="square"/>
                    <a:lstStyle/>
                    <a:p>
                      <a:r>
                        <a:rPr sz="950" b="0">
                          <a:solidFill>
                            <a:srgbClr val="3A4A68"/>
                          </a:solidFill>
                          <a:latin typeface="微软雅黑"/>
                        </a:rPr>
                        <a:t>「由于[本土特殊性]，研究[外来模型]时应采用[某子样本]」</a:t>
                      </a:r>
                    </a:p>
                  </a:txBody>
                  <a:tcPr marL="63500" marR="63500" marT="25400" marB="25400" anchor="ctr">
                    <a:solidFill>
                      <a:srgbClr val="F4F0E6"/>
                    </a:solidFill>
                  </a:tcPr>
                </a:tc>
                <a:tc>
                  <a:txBody>
                    <a:bodyPr wrap="square"/>
                    <a:lstStyle/>
                    <a:p>
                      <a:r>
                        <a:rPr sz="950" b="0">
                          <a:solidFill>
                            <a:srgbClr val="3A4A68"/>
                          </a:solidFill>
                          <a:latin typeface="微软雅黑"/>
                        </a:rPr>
                        <a:t>把一次实证上升为操作建议，最容易被后续文献引用</a:t>
                      </a:r>
                    </a:p>
                  </a:txBody>
                  <a:tcPr marL="63500" marR="63500" marT="25400" marB="25400" anchor="ctr">
                    <a:solidFill>
                      <a:srgbClr val="F4F0E6"/>
                    </a:solidFill>
                  </a:tcPr>
                </a:tc>
                <a:tc>
                  <a:txBody>
                    <a:bodyPr wrap="square"/>
                    <a:lstStyle/>
                    <a:p>
                      <a:r>
                        <a:rPr sz="950" b="0">
                          <a:solidFill>
                            <a:srgbClr val="3A4A68"/>
                          </a:solidFill>
                          <a:latin typeface="微软雅黑"/>
                        </a:rPr>
                        <a:t>p.204（研究外来模型应以股改后样本为主）</a:t>
                      </a:r>
                    </a:p>
                  </a:txBody>
                  <a:tcPr marL="63500" marR="63500" marT="25400" marB="25400" anchor="ctr">
                    <a:solidFill>
                      <a:srgbClr val="F4F0E6"/>
                    </a:solidFill>
                  </a:tcPr>
                </a:tc>
              </a:tr>
              <a:tr h="484631">
                <a:tc>
                  <a:txBody>
                    <a:bodyPr wrap="square"/>
                    <a:lstStyle/>
                    <a:p>
                      <a:r>
                        <a:rPr sz="950" b="0">
                          <a:solidFill>
                            <a:srgbClr val="3A4A68"/>
                          </a:solidFill>
                          <a:latin typeface="微软雅黑"/>
                        </a:rPr>
                        <a:t>自我设限</a:t>
                      </a:r>
                    </a:p>
                  </a:txBody>
                  <a:tcPr marL="63500" marR="63500" marT="25400" marB="25400" anchor="ctr">
                    <a:solidFill>
                      <a:srgbClr val="FFFFFF"/>
                    </a:solidFill>
                  </a:tcPr>
                </a:tc>
                <a:tc>
                  <a:txBody>
                    <a:bodyPr wrap="square"/>
                    <a:lstStyle/>
                    <a:p>
                      <a:r>
                        <a:rPr sz="950" b="0">
                          <a:solidFill>
                            <a:srgbClr val="3A4A68"/>
                          </a:solidFill>
                          <a:latin typeface="微软雅黑"/>
                        </a:rPr>
                        <a:t>「本文模型在[条件]下仍无法通过[检验]」</a:t>
                      </a:r>
                    </a:p>
                  </a:txBody>
                  <a:tcPr marL="63500" marR="63500" marT="25400" marB="25400" anchor="ctr">
                    <a:solidFill>
                      <a:srgbClr val="FFFFFF"/>
                    </a:solidFill>
                  </a:tcPr>
                </a:tc>
                <a:tc>
                  <a:txBody>
                    <a:bodyPr wrap="square"/>
                    <a:lstStyle/>
                    <a:p>
                      <a:r>
                        <a:rPr sz="950" b="0">
                          <a:solidFill>
                            <a:srgbClr val="3A4A68"/>
                          </a:solidFill>
                          <a:latin typeface="微软雅黑"/>
                        </a:rPr>
                        <a:t>作者交出的接力棒 = 你的选题</a:t>
                      </a:r>
                    </a:p>
                  </a:txBody>
                  <a:tcPr marL="63500" marR="63500" marT="25400" marB="25400" anchor="ctr">
                    <a:solidFill>
                      <a:srgbClr val="FFFFFF"/>
                    </a:solidFill>
                  </a:tcPr>
                </a:tc>
                <a:tc>
                  <a:txBody>
                    <a:bodyPr wrap="square"/>
                    <a:lstStyle/>
                    <a:p>
                      <a:r>
                        <a:rPr sz="950" b="0">
                          <a:solidFill>
                            <a:srgbClr val="3A4A68"/>
                          </a:solidFill>
                          <a:latin typeface="微软雅黑"/>
                        </a:rPr>
                        <a:t>p.205 结论（FF5/FF6 在某些分组下仍无法通过 GRS）</a:t>
                      </a:r>
                    </a:p>
                  </a:txBody>
                  <a:tcPr marL="63500" marR="63500" marT="25400" marB="25400" anchor="ctr">
                    <a:solidFill>
                      <a:srgbClr val="FFFFFF"/>
                    </a:solidFill>
                  </a:tcPr>
                </a:tc>
              </a:tr>
            </a:tbl>
          </a:graphicData>
        </a:graphic>
      </p:graphicFrame>
      <p:pic>
        <p:nvPicPr>
          <p:cNvPr id="6" name="Picture 5" descr="def.png"/>
          <p:cNvPicPr>
            <a:picLocks noChangeAspect="1"/>
          </p:cNvPicPr>
          <p:nvPr/>
        </p:nvPicPr>
        <p:blipFill>
          <a:blip r:embed="rId2"/>
          <a:stretch>
            <a:fillRect/>
          </a:stretch>
        </p:blipFill>
        <p:spPr>
          <a:xfrm>
            <a:off x="1099426" y="4425696"/>
            <a:ext cx="4339106" cy="1243584"/>
          </a:xfrm>
          <a:prstGeom prst="rect">
            <a:avLst/>
          </a:prstGeom>
          <a:ln w="9525">
            <a:solidFill>
              <a:srgbClr val="C9C2B2"/>
            </a:solidFill>
          </a:ln>
        </p:spPr>
      </p:pic>
      <p:sp>
        <p:nvSpPr>
          <p:cNvPr id="7" name="Rectangle 6"/>
          <p:cNvSpPr/>
          <p:nvPr/>
        </p:nvSpPr>
        <p:spPr>
          <a:xfrm>
            <a:off x="1099426" y="4425696"/>
            <a:ext cx="4339106" cy="1243584"/>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687568"/>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p.194：口径定义段（让步句密集区）</a:t>
            </a:r>
          </a:p>
        </p:txBody>
      </p:sp>
      <p:sp>
        <p:nvSpPr>
          <p:cNvPr id="9" name="Rectangle 8"/>
          <p:cNvSpPr/>
          <p:nvPr/>
        </p:nvSpPr>
        <p:spPr>
          <a:xfrm>
            <a:off x="6245352" y="4425696"/>
            <a:ext cx="5440680" cy="14813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4517136"/>
            <a:ext cx="5001768" cy="1298448"/>
          </a:xfrm>
          <a:prstGeom prst="rect">
            <a:avLst/>
          </a:prstGeom>
          <a:noFill/>
        </p:spPr>
        <p:txBody>
          <a:bodyPr wrap="square" lIns="25400" rIns="25400" tIns="0" bIns="0" anchor="ctr">
            <a:spAutoFit/>
          </a:bodyPr>
          <a:lstStyle/>
          <a:p>
            <a:pPr algn="l">
              <a:lnSpc>
                <a:spcPct val="135000"/>
              </a:lnSpc>
              <a:spcBef>
                <a:spcPts val="0"/>
              </a:spcBef>
              <a:spcAft>
                <a:spcPts val="400"/>
              </a:spcAft>
            </a:pPr>
            <a:r>
              <a:rPr sz="1200" b="0">
                <a:solidFill>
                  <a:srgbClr val="FFFFFF"/>
                </a:solidFill>
                <a:latin typeface="微软雅黑"/>
              </a:rPr>
              <a:t>不摘：① 专业名词（那是检索词不是语料）② 公式本身 ③ 整段翻译。
这三样摘了也不会变成你的语言能力。</a:t>
            </a:r>
          </a:p>
        </p:txBody>
      </p:sp>
      <p:sp>
        <p:nvSpPr>
          <p:cNvPr id="11" name="Rectangle 10"/>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语料库的检验标准：半年后你能不看原文复述出这个句型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语料示例 · 机制包装</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把「统计不显著」写成「制度导致投资者不关心基本面」</a:t>
            </a:r>
          </a:p>
        </p:txBody>
      </p:sp>
      <p:pic>
        <p:nvPicPr>
          <p:cNvPr id="5" name="Picture 4" descr="mech.png"/>
          <p:cNvPicPr>
            <a:picLocks noChangeAspect="1"/>
          </p:cNvPicPr>
          <p:nvPr/>
        </p:nvPicPr>
        <p:blipFill>
          <a:blip r:embed="rId2"/>
          <a:stretch>
            <a:fillRect/>
          </a:stretch>
        </p:blipFill>
        <p:spPr>
          <a:xfrm>
            <a:off x="502920" y="1373340"/>
            <a:ext cx="6675119" cy="3480383"/>
          </a:xfrm>
          <a:prstGeom prst="rect">
            <a:avLst/>
          </a:prstGeom>
          <a:ln w="9525">
            <a:solidFill>
              <a:srgbClr val="C9C2B2"/>
            </a:solidFill>
          </a:ln>
        </p:spPr>
      </p:pic>
      <p:sp>
        <p:nvSpPr>
          <p:cNvPr id="6" name="Rectangle 5"/>
          <p:cNvSpPr/>
          <p:nvPr/>
        </p:nvSpPr>
        <p:spPr>
          <a:xfrm>
            <a:off x="502920" y="1373340"/>
            <a:ext cx="6675119" cy="348038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001768"/>
            <a:ext cx="6675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p.202：整段的力量全部压在最后的「所以这两个因子不具有显著的风险溢价」上</a:t>
            </a:r>
          </a:p>
        </p:txBody>
      </p:sp>
      <p:sp>
        <p:nvSpPr>
          <p:cNvPr id="8" name="Rectangle 7"/>
          <p:cNvSpPr/>
          <p:nvPr/>
        </p:nvSpPr>
        <p:spPr>
          <a:xfrm>
            <a:off x="7360920" y="1243584"/>
            <a:ext cx="4325112" cy="1901952"/>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243584"/>
            <a:ext cx="4325112"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07224" y="1389888"/>
            <a:ext cx="4032504"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可迁移模板</a:t>
            </a:r>
          </a:p>
        </p:txBody>
      </p:sp>
      <p:sp>
        <p:nvSpPr>
          <p:cNvPr id="11" name="TextBox 10"/>
          <p:cNvSpPr txBox="1"/>
          <p:nvPr/>
        </p:nvSpPr>
        <p:spPr>
          <a:xfrm>
            <a:off x="7507224" y="1773936"/>
            <a:ext cx="4032504" cy="1243584"/>
          </a:xfrm>
          <a:prstGeom prst="rect">
            <a:avLst/>
          </a:prstGeom>
          <a:noFill/>
        </p:spPr>
        <p:txBody>
          <a:bodyPr wrap="square" lIns="25400" rIns="25400" tIns="0" bIns="0" anchor="t">
            <a:spAutoFit/>
          </a:bodyPr>
          <a:lstStyle/>
          <a:p>
            <a:pPr algn="l">
              <a:lnSpc>
                <a:spcPct val="134000"/>
              </a:lnSpc>
              <a:spcBef>
                <a:spcPts val="0"/>
              </a:spcBef>
              <a:spcAft>
                <a:spcPts val="400"/>
              </a:spcAft>
            </a:pPr>
            <a:r>
              <a:rPr sz="1100" b="0">
                <a:solidFill>
                  <a:srgbClr val="3A4A68"/>
                </a:solidFill>
                <a:latin typeface="微软雅黑"/>
              </a:rPr>
              <a:t>「[制度安排 A] 使得 [利益相关方] 缺乏 [某激励/约束]，导致 [价格形成的某个环节] 失效，因此 [因子 X] 在 [样本期] 内不具有显著的风险溢价。」</a:t>
            </a:r>
          </a:p>
        </p:txBody>
      </p:sp>
      <p:sp>
        <p:nvSpPr>
          <p:cNvPr id="12" name="Rectangle 11"/>
          <p:cNvSpPr/>
          <p:nvPr/>
        </p:nvSpPr>
        <p:spPr>
          <a:xfrm>
            <a:off x="7360920" y="3310128"/>
            <a:ext cx="4325112" cy="1911095"/>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3310128"/>
            <a:ext cx="4325112" cy="502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07224" y="3456432"/>
            <a:ext cx="4032504" cy="310896"/>
          </a:xfrm>
          <a:prstGeom prst="rect">
            <a:avLst/>
          </a:prstGeom>
          <a:noFill/>
        </p:spPr>
        <p:txBody>
          <a:bodyPr wrap="square" lIns="25400" rIns="25400" tIns="0" bIns="0" anchor="t">
            <a:spAutoFit/>
          </a:bodyPr>
          <a:lstStyle/>
          <a:p>
            <a:pPr algn="l">
              <a:spcBef>
                <a:spcPts val="0"/>
              </a:spcBef>
              <a:spcAft>
                <a:spcPts val="400"/>
              </a:spcAft>
            </a:pPr>
            <a:r>
              <a:rPr sz="1400" b="1">
                <a:solidFill>
                  <a:srgbClr val="1B2A4A"/>
                </a:solidFill>
                <a:latin typeface="微软雅黑"/>
              </a:rPr>
              <a:t>我的替换版（套到规模因子上）</a:t>
            </a:r>
          </a:p>
        </p:txBody>
      </p:sp>
      <p:sp>
        <p:nvSpPr>
          <p:cNvPr id="15" name="TextBox 14"/>
          <p:cNvSpPr txBox="1"/>
          <p:nvPr/>
        </p:nvSpPr>
        <p:spPr>
          <a:xfrm>
            <a:off x="7507224" y="3840480"/>
            <a:ext cx="4032504" cy="1252728"/>
          </a:xfrm>
          <a:prstGeom prst="rect">
            <a:avLst/>
          </a:prstGeom>
          <a:noFill/>
        </p:spPr>
        <p:txBody>
          <a:bodyPr wrap="square" lIns="25400" rIns="25400" tIns="0" bIns="0" anchor="t">
            <a:spAutoFit/>
          </a:bodyPr>
          <a:lstStyle/>
          <a:p>
            <a:pPr algn="l">
              <a:lnSpc>
                <a:spcPct val="134000"/>
              </a:lnSpc>
              <a:spcBef>
                <a:spcPts val="0"/>
              </a:spcBef>
              <a:spcAft>
                <a:spcPts val="400"/>
              </a:spcAft>
            </a:pPr>
            <a:r>
              <a:rPr sz="1100" b="0">
                <a:solidFill>
                  <a:srgbClr val="3A4A68"/>
                </a:solidFill>
                <a:latin typeface="微软雅黑"/>
              </a:rPr>
              <a:t>「[注册制前 IPO 的高门槛] 使得 [小市值公司] 的估值中内含 [壳期权价值]，导致 [定价环节] 与经营基本面脱钩，因此 [规模因子 SMB] 在 [壳污染未剔除的样本] 内的高收益主要是 [估值博弈] 而非 [风险补偿]。」</a:t>
            </a:r>
          </a:p>
        </p:txBody>
      </p:sp>
      <p:sp>
        <p:nvSpPr>
          <p:cNvPr id="16" name="Rectangle 15"/>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摘语料要连「推论的方向」一起摘，不能只摘前半段的制度描述（黄晶等 2011；陈晓和王琨 2005；廖理和沈红波 2008）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语料示例 · 让步句 &amp; 归因句</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把「我改了做法」和「为什么全样本会骗人」说清楚</a:t>
            </a:r>
          </a:p>
        </p:txBody>
      </p:sp>
      <p:pic>
        <p:nvPicPr>
          <p:cNvPr id="5" name="Picture 4" descr="foot1.png"/>
          <p:cNvPicPr>
            <a:picLocks noChangeAspect="1"/>
          </p:cNvPicPr>
          <p:nvPr/>
        </p:nvPicPr>
        <p:blipFill>
          <a:blip r:embed="rId2"/>
          <a:stretch>
            <a:fillRect/>
          </a:stretch>
        </p:blipFill>
        <p:spPr>
          <a:xfrm>
            <a:off x="502920" y="1487362"/>
            <a:ext cx="5532120" cy="573147"/>
          </a:xfrm>
          <a:prstGeom prst="rect">
            <a:avLst/>
          </a:prstGeom>
          <a:ln w="9525">
            <a:solidFill>
              <a:srgbClr val="C9C2B2"/>
            </a:solidFill>
          </a:ln>
        </p:spPr>
      </p:pic>
      <p:sp>
        <p:nvSpPr>
          <p:cNvPr id="6" name="Rectangle 5"/>
          <p:cNvSpPr/>
          <p:nvPr/>
        </p:nvSpPr>
        <p:spPr>
          <a:xfrm>
            <a:off x="502920" y="1487362"/>
            <a:ext cx="5532120" cy="573147"/>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322576"/>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让步句｜原文 p.194 脚注 1：为什么要换分位点</a:t>
            </a:r>
          </a:p>
        </p:txBody>
      </p:sp>
      <p:pic>
        <p:nvPicPr>
          <p:cNvPr id="8" name="Picture 7" descr="def.png"/>
          <p:cNvPicPr>
            <a:picLocks noChangeAspect="1"/>
          </p:cNvPicPr>
          <p:nvPr/>
        </p:nvPicPr>
        <p:blipFill>
          <a:blip r:embed="rId3"/>
          <a:stretch>
            <a:fillRect/>
          </a:stretch>
        </p:blipFill>
        <p:spPr>
          <a:xfrm>
            <a:off x="971805" y="2724912"/>
            <a:ext cx="4594348" cy="1316736"/>
          </a:xfrm>
          <a:prstGeom prst="rect">
            <a:avLst/>
          </a:prstGeom>
          <a:ln w="9525">
            <a:solidFill>
              <a:srgbClr val="C9C2B2"/>
            </a:solidFill>
          </a:ln>
        </p:spPr>
      </p:pic>
      <p:sp>
        <p:nvSpPr>
          <p:cNvPr id="9" name="Rectangle 8"/>
          <p:cNvSpPr/>
          <p:nvPr/>
        </p:nvSpPr>
        <p:spPr>
          <a:xfrm>
            <a:off x="971805" y="2724912"/>
            <a:ext cx="4594348" cy="131673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059935"/>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让步句｜原文 p.194：为什么直接替换 OP 口径</a:t>
            </a:r>
          </a:p>
        </p:txBody>
      </p:sp>
      <p:pic>
        <p:nvPicPr>
          <p:cNvPr id="11" name="Picture 10" descr="meanarg.png"/>
          <p:cNvPicPr>
            <a:picLocks noChangeAspect="1"/>
          </p:cNvPicPr>
          <p:nvPr/>
        </p:nvPicPr>
        <p:blipFill>
          <a:blip r:embed="rId4"/>
          <a:stretch>
            <a:fillRect/>
          </a:stretch>
        </p:blipFill>
        <p:spPr>
          <a:xfrm>
            <a:off x="6245352" y="1389666"/>
            <a:ext cx="5440680" cy="2505898"/>
          </a:xfrm>
          <a:prstGeom prst="rect">
            <a:avLst/>
          </a:prstGeom>
          <a:ln w="9525">
            <a:solidFill>
              <a:srgbClr val="C9C2B2"/>
            </a:solidFill>
          </a:ln>
        </p:spPr>
      </p:pic>
      <p:sp>
        <p:nvSpPr>
          <p:cNvPr id="12" name="Rectangle 11"/>
          <p:cNvSpPr/>
          <p:nvPr/>
        </p:nvSpPr>
        <p:spPr>
          <a:xfrm>
            <a:off x="6245352" y="1389666"/>
            <a:ext cx="5440680" cy="250589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45352" y="4059935"/>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归因句｜原文 p.196：均值显著性为什么不可靠</a:t>
            </a:r>
          </a:p>
        </p:txBody>
      </p:sp>
      <p:sp>
        <p:nvSpPr>
          <p:cNvPr id="14" name="Rectangle 13"/>
          <p:cNvSpPr/>
          <p:nvPr/>
        </p:nvSpPr>
        <p:spPr>
          <a:xfrm>
            <a:off x="502920" y="4462272"/>
            <a:ext cx="5532120" cy="896112"/>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462272"/>
            <a:ext cx="45720" cy="89611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81144"/>
            <a:ext cx="5202936" cy="512064"/>
          </a:xfrm>
          <a:prstGeom prst="rect">
            <a:avLst/>
          </a:prstGeom>
          <a:noFill/>
        </p:spPr>
        <p:txBody>
          <a:bodyPr wrap="square" lIns="25400" rIns="25400" tIns="0" bIns="0" anchor="t">
            <a:spAutoFit/>
          </a:bodyPr>
          <a:lstStyle/>
          <a:p>
            <a:pPr algn="l">
              <a:lnSpc>
                <a:spcPct val="146000"/>
              </a:lnSpc>
              <a:spcBef>
                <a:spcPts val="0"/>
              </a:spcBef>
              <a:spcAft>
                <a:spcPts val="400"/>
              </a:spcAft>
            </a:pPr>
            <a:r>
              <a:rPr sz="1000" b="0">
                <a:solidFill>
                  <a:srgbClr val="243352"/>
                </a:solidFill>
                <a:latin typeface="宋体"/>
              </a:rPr>
              <a:t>「鉴于中美会计准则存在的差异，我们直接使用『营业利润/股东权益合计』来反映 A 股市场的『营运利润率』指标。」</a:t>
            </a:r>
          </a:p>
        </p:txBody>
      </p:sp>
      <p:sp>
        <p:nvSpPr>
          <p:cNvPr id="17" name="TextBox 16"/>
          <p:cNvSpPr txBox="1"/>
          <p:nvPr/>
        </p:nvSpPr>
        <p:spPr>
          <a:xfrm>
            <a:off x="685800" y="5084064"/>
            <a:ext cx="520293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p.194 —— 让步句原型：先承认差异，再宣布替换</a:t>
            </a:r>
          </a:p>
        </p:txBody>
      </p:sp>
      <p:sp>
        <p:nvSpPr>
          <p:cNvPr id="18" name="Rectangle 17"/>
          <p:cNvSpPr/>
          <p:nvPr/>
        </p:nvSpPr>
        <p:spPr>
          <a:xfrm>
            <a:off x="6245352" y="4462272"/>
            <a:ext cx="5440680" cy="896112"/>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4462272"/>
            <a:ext cx="45720" cy="89611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4581144"/>
            <a:ext cx="5111496" cy="512064"/>
          </a:xfrm>
          <a:prstGeom prst="rect">
            <a:avLst/>
          </a:prstGeom>
          <a:noFill/>
        </p:spPr>
        <p:txBody>
          <a:bodyPr wrap="square" lIns="25400" rIns="25400" tIns="0" bIns="0" anchor="t">
            <a:spAutoFit/>
          </a:bodyPr>
          <a:lstStyle/>
          <a:p>
            <a:pPr algn="l">
              <a:lnSpc>
                <a:spcPct val="146000"/>
              </a:lnSpc>
              <a:spcBef>
                <a:spcPts val="0"/>
              </a:spcBef>
              <a:spcAft>
                <a:spcPts val="400"/>
              </a:spcAft>
            </a:pPr>
            <a:r>
              <a:rPr sz="1000" b="0">
                <a:solidFill>
                  <a:srgbClr val="243352"/>
                </a:solidFill>
                <a:latin typeface="宋体"/>
              </a:rPr>
              <a:t>「Panel B 结果可以说明当样本数据区间不是很长的时候，依据收益率均值的显著性来判断因子是否存在风险溢价是不合理的，很可能出现偏差。」</a:t>
            </a:r>
          </a:p>
        </p:txBody>
      </p:sp>
      <p:sp>
        <p:nvSpPr>
          <p:cNvPr id="21" name="TextBox 20"/>
          <p:cNvSpPr txBox="1"/>
          <p:nvPr/>
        </p:nvSpPr>
        <p:spPr>
          <a:xfrm>
            <a:off x="6428232" y="5084064"/>
            <a:ext cx="51114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p.196 —— 归因句原型：把冲突归到样本长度上</a:t>
            </a:r>
          </a:p>
        </p:txBody>
      </p:sp>
      <p:sp>
        <p:nvSpPr>
          <p:cNvPr id="22" name="Rectangle 21"/>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让步句解决「你凭什么改」，归因句解决「为什么两种做法结果不同」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语料示例 · 方法论建议 &amp; 自我设限</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一句升格为操作建议，一句把接力棒直接递给你</a:t>
            </a:r>
          </a:p>
        </p:txBody>
      </p:sp>
      <p:pic>
        <p:nvPicPr>
          <p:cNvPr id="5" name="Picture 4" descr="method.png"/>
          <p:cNvPicPr>
            <a:picLocks noChangeAspect="1"/>
          </p:cNvPicPr>
          <p:nvPr/>
        </p:nvPicPr>
        <p:blipFill>
          <a:blip r:embed="rId2"/>
          <a:stretch>
            <a:fillRect/>
          </a:stretch>
        </p:blipFill>
        <p:spPr>
          <a:xfrm>
            <a:off x="502920" y="1337948"/>
            <a:ext cx="5532120" cy="1146295"/>
          </a:xfrm>
          <a:prstGeom prst="rect">
            <a:avLst/>
          </a:prstGeom>
          <a:ln w="9525">
            <a:solidFill>
              <a:srgbClr val="C9C2B2"/>
            </a:solidFill>
          </a:ln>
        </p:spPr>
      </p:pic>
      <p:sp>
        <p:nvSpPr>
          <p:cNvPr id="6" name="Rectangle 5"/>
          <p:cNvSpPr/>
          <p:nvPr/>
        </p:nvSpPr>
        <p:spPr>
          <a:xfrm>
            <a:off x="502920" y="1337948"/>
            <a:ext cx="5532120" cy="1146295"/>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96896"/>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方法论建议｜原文 p.204</a:t>
            </a:r>
          </a:p>
        </p:txBody>
      </p:sp>
      <p:pic>
        <p:nvPicPr>
          <p:cNvPr id="8" name="Picture 7" descr="handoff.png"/>
          <p:cNvPicPr>
            <a:picLocks noChangeAspect="1"/>
          </p:cNvPicPr>
          <p:nvPr/>
        </p:nvPicPr>
        <p:blipFill>
          <a:blip r:embed="rId3"/>
          <a:stretch>
            <a:fillRect/>
          </a:stretch>
        </p:blipFill>
        <p:spPr>
          <a:xfrm>
            <a:off x="502920" y="3163136"/>
            <a:ext cx="5532120" cy="1766166"/>
          </a:xfrm>
          <a:prstGeom prst="rect">
            <a:avLst/>
          </a:prstGeom>
          <a:ln w="9525">
            <a:solidFill>
              <a:srgbClr val="C9C2B2"/>
            </a:solidFill>
          </a:ln>
        </p:spPr>
      </p:pic>
      <p:sp>
        <p:nvSpPr>
          <p:cNvPr id="9" name="Rectangle 8"/>
          <p:cNvSpPr/>
          <p:nvPr/>
        </p:nvSpPr>
        <p:spPr>
          <a:xfrm>
            <a:off x="502920" y="3163136"/>
            <a:ext cx="5532120" cy="176616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111496"/>
            <a:ext cx="55321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自我设限｜原文 p.205 结论段：作者交出的接力棒</a:t>
            </a:r>
          </a:p>
        </p:txBody>
      </p:sp>
      <p:sp>
        <p:nvSpPr>
          <p:cNvPr id="11" name="Rectangle 10"/>
          <p:cNvSpPr/>
          <p:nvPr/>
        </p:nvSpPr>
        <p:spPr>
          <a:xfrm>
            <a:off x="6245352" y="1243584"/>
            <a:ext cx="5440680" cy="18288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243584"/>
            <a:ext cx="45720" cy="1828800"/>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362456"/>
            <a:ext cx="5111496" cy="1444752"/>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「由于中国市场早期具有『股权分置』的特殊性，研究国外成熟市场的模型在中国市场的表现时应主要以股改后样本来进行研究。」</a:t>
            </a:r>
          </a:p>
        </p:txBody>
      </p:sp>
      <p:sp>
        <p:nvSpPr>
          <p:cNvPr id="14" name="TextBox 13"/>
          <p:cNvSpPr txBox="1"/>
          <p:nvPr/>
        </p:nvSpPr>
        <p:spPr>
          <a:xfrm>
            <a:off x="6428232" y="2798064"/>
            <a:ext cx="51114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p.204 —— 这句可以被反驳：如果股改不是唯一断点，「以股改后为主」就会把注册制后的数据混进来</a:t>
            </a:r>
          </a:p>
        </p:txBody>
      </p:sp>
      <p:sp>
        <p:nvSpPr>
          <p:cNvPr id="15" name="Rectangle 14"/>
          <p:cNvSpPr/>
          <p:nvPr/>
        </p:nvSpPr>
        <p:spPr>
          <a:xfrm>
            <a:off x="6245352" y="3236976"/>
            <a:ext cx="5440680" cy="2093976"/>
          </a:xfrm>
          <a:prstGeom prst="rect">
            <a:avLst/>
          </a:prstGeom>
          <a:solidFill>
            <a:srgbClr val="FC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3236976"/>
            <a:ext cx="45720" cy="20939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5111496" cy="1709928"/>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「不管是五因子模型还是加入动量因子的六因子模型，在某些股票组合分组方式下仍然无法通过 GRS 检验，尤其是对于股改后样本这一问题尤为突出。」</a:t>
            </a:r>
          </a:p>
        </p:txBody>
      </p:sp>
      <p:sp>
        <p:nvSpPr>
          <p:cNvPr id="18" name="TextBox 17"/>
          <p:cNvSpPr txBox="1"/>
          <p:nvPr/>
        </p:nvSpPr>
        <p:spPr>
          <a:xfrm>
            <a:off x="6428232" y="5056632"/>
            <a:ext cx="51114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p.205 —— 作者只说了「某些分组」，没说哪几个、为什么。这就是一张空白的任务单。</a:t>
            </a:r>
          </a:p>
        </p:txBody>
      </p:sp>
      <p:sp>
        <p:nvSpPr>
          <p:cNvPr id="19" name="Rectangle 18"/>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自我设限句是最好的选题库：作者已经帮你划出了「已知边界」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链路</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把论文第三节到第五节的每一句话，翻译成一行代码</a:t>
            </a:r>
          </a:p>
        </p:txBody>
      </p:sp>
      <p:pic>
        <p:nvPicPr>
          <p:cNvPr id="5" name="Picture 4" descr="t1.png"/>
          <p:cNvPicPr>
            <a:picLocks noChangeAspect="1"/>
          </p:cNvPicPr>
          <p:nvPr/>
        </p:nvPicPr>
        <p:blipFill>
          <a:blip r:embed="rId2"/>
          <a:stretch>
            <a:fillRect/>
          </a:stretch>
        </p:blipFill>
        <p:spPr>
          <a:xfrm>
            <a:off x="502920" y="1724787"/>
            <a:ext cx="5074920" cy="2503170"/>
          </a:xfrm>
          <a:prstGeom prst="rect">
            <a:avLst/>
          </a:prstGeom>
          <a:ln w="9525">
            <a:solidFill>
              <a:srgbClr val="C9C2B2"/>
            </a:solidFill>
          </a:ln>
        </p:spPr>
      </p:pic>
      <p:sp>
        <p:nvSpPr>
          <p:cNvPr id="6" name="Rectangle 5"/>
          <p:cNvSpPr/>
          <p:nvPr/>
        </p:nvSpPr>
        <p:spPr>
          <a:xfrm>
            <a:off x="502920" y="1724787"/>
            <a:ext cx="5074920" cy="250317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727448"/>
            <a:ext cx="50749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p.195 表 1：2×3 分组下各因子构建方法</a:t>
            </a:r>
          </a:p>
        </p:txBody>
      </p:sp>
      <p:graphicFrame>
        <p:nvGraphicFramePr>
          <p:cNvPr id="8" name="Table 7"/>
          <p:cNvGraphicFramePr>
            <a:graphicFrameLocks noGrp="1"/>
          </p:cNvGraphicFramePr>
          <p:nvPr/>
        </p:nvGraphicFramePr>
        <p:xfrm>
          <a:off x="5788152" y="1243584"/>
          <a:ext cx="5897880" cy="3502147"/>
        </p:xfrm>
        <a:graphic>
          <a:graphicData uri="http://schemas.openxmlformats.org/drawingml/2006/table">
            <a:tbl>
              <a:tblPr firstRow="1" bandRow="1">
                <a:tableStyleId>{5C22544A-7EE6-4342-B048-85BDC9FD1C3A}</a:tableStyleId>
              </a:tblPr>
              <a:tblGrid>
                <a:gridCol w="1828800"/>
                <a:gridCol w="4069080"/>
              </a:tblGrid>
              <a:tr h="318377">
                <a:tc>
                  <a:txBody>
                    <a:bodyPr wrap="square"/>
                    <a:lstStyle/>
                    <a:p>
                      <a:r>
                        <a:rPr sz="1000" b="1">
                          <a:solidFill>
                            <a:srgbClr val="FFFFFF"/>
                          </a:solidFill>
                          <a:latin typeface="微软雅黑"/>
                        </a:rPr>
                        <a:t>原文口径</a:t>
                      </a:r>
                    </a:p>
                  </a:txBody>
                  <a:tcPr marL="63500" marR="63500" marT="25400" marB="25400" anchor="ctr">
                    <a:solidFill>
                      <a:srgbClr val="1B2A4A"/>
                    </a:solidFill>
                  </a:tcPr>
                </a:tc>
                <a:tc>
                  <a:txBody>
                    <a:bodyPr wrap="square"/>
                    <a:lstStyle/>
                    <a:p>
                      <a:r>
                        <a:rPr sz="1000" b="1">
                          <a:solidFill>
                            <a:srgbClr val="FFFFFF"/>
                          </a:solidFill>
                          <a:latin typeface="微软雅黑"/>
                        </a:rPr>
                        <a:t>代码实现</a:t>
                      </a:r>
                    </a:p>
                  </a:txBody>
                  <a:tcPr marL="63500" marR="63500" marT="25400" marB="25400" anchor="ctr">
                    <a:solidFill>
                      <a:srgbClr val="1B2A4A"/>
                    </a:solidFill>
                  </a:tcPr>
                </a:tc>
              </a:tr>
              <a:tr h="318377">
                <a:tc>
                  <a:txBody>
                    <a:bodyPr wrap="square"/>
                    <a:lstStyle/>
                    <a:p>
                      <a:r>
                        <a:rPr sz="950" b="0">
                          <a:solidFill>
                            <a:srgbClr val="3A4A68"/>
                          </a:solidFill>
                          <a:latin typeface="微软雅黑"/>
                        </a:rPr>
                        <a:t>样本 254 个月</a:t>
                      </a:r>
                    </a:p>
                  </a:txBody>
                  <a:tcPr marL="63500" marR="63500" marT="25400" marB="25400" anchor="ctr">
                    <a:solidFill>
                      <a:srgbClr val="FFFFFF"/>
                    </a:solidFill>
                  </a:tcPr>
                </a:tc>
                <a:tc>
                  <a:txBody>
                    <a:bodyPr wrap="square"/>
                    <a:lstStyle/>
                    <a:p>
                      <a:r>
                        <a:rPr sz="950" b="0">
                          <a:solidFill>
                            <a:srgbClr val="3A4A68"/>
                          </a:solidFill>
                          <a:latin typeface="微软雅黑"/>
                        </a:rPr>
                        <a:t>PeriodRange(1994-07, 2015-08)</a:t>
                      </a:r>
                    </a:p>
                  </a:txBody>
                  <a:tcPr marL="63500" marR="63500" marT="25400" marB="25400" anchor="ctr">
                    <a:solidFill>
                      <a:srgbClr val="FFFFFF"/>
                    </a:solidFill>
                  </a:tcPr>
                </a:tc>
              </a:tr>
              <a:tr h="318377">
                <a:tc>
                  <a:txBody>
                    <a:bodyPr wrap="square"/>
                    <a:lstStyle/>
                    <a:p>
                      <a:r>
                        <a:rPr sz="950" b="0">
                          <a:solidFill>
                            <a:srgbClr val="3A4A68"/>
                          </a:solidFill>
                          <a:latin typeface="微软雅黑"/>
                        </a:rPr>
                        <a:t>流通市值加权</a:t>
                      </a:r>
                    </a:p>
                  </a:txBody>
                  <a:tcPr marL="63500" marR="63500" marT="25400" marB="25400" anchor="ctr">
                    <a:solidFill>
                      <a:srgbClr val="F4F0E6"/>
                    </a:solidFill>
                  </a:tcPr>
                </a:tc>
                <a:tc>
                  <a:txBody>
                    <a:bodyPr wrap="square"/>
                    <a:lstStyle/>
                    <a:p>
                      <a:r>
                        <a:rPr sz="950" b="0">
                          <a:solidFill>
                            <a:srgbClr val="3A4A68"/>
                          </a:solidFill>
                          <a:latin typeface="微软雅黑"/>
                        </a:rPr>
                        <a:t>vw_return()：Σ(ret·size)/Σ(size)</a:t>
                      </a:r>
                    </a:p>
                  </a:txBody>
                  <a:tcPr marL="63500" marR="63500" marT="25400" marB="25400" anchor="ctr">
                    <a:solidFill>
                      <a:srgbClr val="F4F0E6"/>
                    </a:solidFill>
                  </a:tcPr>
                </a:tc>
              </a:tr>
              <a:tr h="318377">
                <a:tc>
                  <a:txBody>
                    <a:bodyPr wrap="square"/>
                    <a:lstStyle/>
                    <a:p>
                      <a:r>
                        <a:rPr sz="950" b="0">
                          <a:solidFill>
                            <a:srgbClr val="3A4A68"/>
                          </a:solidFill>
                          <a:latin typeface="微软雅黑"/>
                        </a:rPr>
                        <a:t>Size</a:t>
                      </a:r>
                    </a:p>
                  </a:txBody>
                  <a:tcPr marL="63500" marR="63500" marT="25400" marB="25400" anchor="ctr">
                    <a:solidFill>
                      <a:srgbClr val="FFFFFF"/>
                    </a:solidFill>
                  </a:tcPr>
                </a:tc>
                <a:tc>
                  <a:txBody>
                    <a:bodyPr wrap="square"/>
                    <a:lstStyle/>
                    <a:p>
                      <a:r>
                        <a:rPr sz="950" b="0">
                          <a:solidFill>
                            <a:srgbClr val="3A4A68"/>
                          </a:solidFill>
                          <a:latin typeface="微软雅黑"/>
                        </a:rPr>
                        <a:t>assign2(df,'size') 截面中位数</a:t>
                      </a:r>
                    </a:p>
                  </a:txBody>
                  <a:tcPr marL="63500" marR="63500" marT="25400" marB="25400" anchor="ctr">
                    <a:solidFill>
                      <a:srgbClr val="FFFFFF"/>
                    </a:solidFill>
                  </a:tcPr>
                </a:tc>
              </a:tr>
              <a:tr h="318377">
                <a:tc>
                  <a:txBody>
                    <a:bodyPr wrap="square"/>
                    <a:lstStyle/>
                    <a:p>
                      <a:r>
                        <a:rPr sz="950" b="0">
                          <a:solidFill>
                            <a:srgbClr val="3A4A68"/>
                          </a:solidFill>
                          <a:latin typeface="微软雅黑"/>
                        </a:rPr>
                        <a:t>B/M</a:t>
                      </a:r>
                    </a:p>
                  </a:txBody>
                  <a:tcPr marL="63500" marR="63500" marT="25400" marB="25400" anchor="ctr">
                    <a:solidFill>
                      <a:srgbClr val="F4F0E6"/>
                    </a:solidFill>
                  </a:tcPr>
                </a:tc>
                <a:tc>
                  <a:txBody>
                    <a:bodyPr wrap="square"/>
                    <a:lstStyle/>
                    <a:p>
                      <a:r>
                        <a:rPr sz="950" b="0">
                          <a:solidFill>
                            <a:srgbClr val="3A4A68"/>
                          </a:solidFill>
                          <a:latin typeface="微软雅黑"/>
                        </a:rPr>
                        <a:t>assign3(df,'bm',(L,N,H)) 30/70 分位</a:t>
                      </a:r>
                    </a:p>
                  </a:txBody>
                  <a:tcPr marL="63500" marR="63500" marT="25400" marB="25400" anchor="ctr">
                    <a:solidFill>
                      <a:srgbClr val="F4F0E6"/>
                    </a:solidFill>
                  </a:tcPr>
                </a:tc>
              </a:tr>
              <a:tr h="318377">
                <a:tc>
                  <a:txBody>
                    <a:bodyPr wrap="square"/>
                    <a:lstStyle/>
                    <a:p>
                      <a:r>
                        <a:rPr sz="950" b="0">
                          <a:solidFill>
                            <a:srgbClr val="3A4A68"/>
                          </a:solidFill>
                          <a:latin typeface="微软雅黑"/>
                        </a:rPr>
                        <a:t>OP</a:t>
                      </a:r>
                    </a:p>
                  </a:txBody>
                  <a:tcPr marL="63500" marR="63500" marT="25400" marB="25400" anchor="ctr">
                    <a:solidFill>
                      <a:srgbClr val="FFFFFF"/>
                    </a:solidFill>
                  </a:tcPr>
                </a:tc>
                <a:tc>
                  <a:txBody>
                    <a:bodyPr wrap="square"/>
                    <a:lstStyle/>
                    <a:p>
                      <a:r>
                        <a:rPr sz="950" b="0">
                          <a:solidFill>
                            <a:srgbClr val="3A4A68"/>
                          </a:solidFill>
                          <a:latin typeface="微软雅黑"/>
                        </a:rPr>
                        <a:t>assign3(df,'op',(W,N,R))</a:t>
                      </a:r>
                    </a:p>
                  </a:txBody>
                  <a:tcPr marL="63500" marR="63500" marT="25400" marB="25400" anchor="ctr">
                    <a:solidFill>
                      <a:srgbClr val="FFFFFF"/>
                    </a:solidFill>
                  </a:tcPr>
                </a:tc>
              </a:tr>
              <a:tr h="318377">
                <a:tc>
                  <a:txBody>
                    <a:bodyPr wrap="square"/>
                    <a:lstStyle/>
                    <a:p>
                      <a:r>
                        <a:rPr sz="950" b="0">
                          <a:solidFill>
                            <a:srgbClr val="3A4A68"/>
                          </a:solidFill>
                          <a:latin typeface="微软雅黑"/>
                        </a:rPr>
                        <a:t>Inv</a:t>
                      </a:r>
                    </a:p>
                  </a:txBody>
                  <a:tcPr marL="63500" marR="63500" marT="25400" marB="25400" anchor="ctr">
                    <a:solidFill>
                      <a:srgbClr val="F4F0E6"/>
                    </a:solidFill>
                  </a:tcPr>
                </a:tc>
                <a:tc>
                  <a:txBody>
                    <a:bodyPr wrap="square"/>
                    <a:lstStyle/>
                    <a:p>
                      <a:r>
                        <a:rPr sz="950" b="0">
                          <a:solidFill>
                            <a:srgbClr val="3A4A68"/>
                          </a:solidFill>
                          <a:latin typeface="微软雅黑"/>
                        </a:rPr>
                        <a:t>assign3(df,'inv',(A,N,C))</a:t>
                      </a:r>
                    </a:p>
                  </a:txBody>
                  <a:tcPr marL="63500" marR="63500" marT="25400" marB="25400" anchor="ctr">
                    <a:solidFill>
                      <a:srgbClr val="F4F0E6"/>
                    </a:solidFill>
                  </a:tcPr>
                </a:tc>
              </a:tr>
              <a:tr h="318377">
                <a:tc>
                  <a:txBody>
                    <a:bodyPr wrap="square"/>
                    <a:lstStyle/>
                    <a:p>
                      <a:r>
                        <a:rPr sz="950" b="0">
                          <a:solidFill>
                            <a:srgbClr val="3A4A68"/>
                          </a:solidFill>
                          <a:latin typeface="微软雅黑"/>
                        </a:rPr>
                        <a:t>三种分组法</a:t>
                      </a:r>
                    </a:p>
                  </a:txBody>
                  <a:tcPr marL="63500" marR="63500" marT="25400" marB="25400" anchor="ctr">
                    <a:solidFill>
                      <a:srgbClr val="FFFFFF"/>
                    </a:solidFill>
                  </a:tcPr>
                </a:tc>
                <a:tc>
                  <a:txBody>
                    <a:bodyPr wrap="square"/>
                    <a:lstStyle/>
                    <a:p>
                      <a:r>
                        <a:rPr sz="950" b="0">
                          <a:solidFill>
                            <a:srgbClr val="3A4A68"/>
                          </a:solidFill>
                          <a:latin typeface="微软雅黑"/>
                        </a:rPr>
                        <a:t>2×3 / 2×2 / 2×2×2×2，SMB 取三分量均值</a:t>
                      </a:r>
                    </a:p>
                  </a:txBody>
                  <a:tcPr marL="63500" marR="63500" marT="25400" marB="25400" anchor="ctr">
                    <a:solidFill>
                      <a:srgbClr val="FFFFFF"/>
                    </a:solidFill>
                  </a:tcPr>
                </a:tc>
              </a:tr>
              <a:tr h="318377">
                <a:tc>
                  <a:txBody>
                    <a:bodyPr wrap="square"/>
                    <a:lstStyle/>
                    <a:p>
                      <a:r>
                        <a:rPr sz="950" b="0">
                          <a:solidFill>
                            <a:srgbClr val="3A4A68"/>
                          </a:solidFill>
                          <a:latin typeface="微软雅黑"/>
                        </a:rPr>
                        <a:t>MOM 累计收益</a:t>
                      </a:r>
                    </a:p>
                  </a:txBody>
                  <a:tcPr marL="63500" marR="63500" marT="25400" marB="25400" anchor="ctr">
                    <a:solidFill>
                      <a:srgbClr val="F4F0E6"/>
                    </a:solidFill>
                  </a:tcPr>
                </a:tc>
                <a:tc>
                  <a:txBody>
                    <a:bodyPr wrap="square"/>
                    <a:lstStyle/>
                    <a:p>
                      <a:r>
                        <a:rPr sz="950" b="0">
                          <a:solidFill>
                            <a:srgbClr val="3A4A68"/>
                          </a:solidFill>
                          <a:latin typeface="微软雅黑"/>
                        </a:rPr>
                        <a:t>log1p(R).rolling(11).sum().shift(2)</a:t>
                      </a:r>
                    </a:p>
                  </a:txBody>
                  <a:tcPr marL="63500" marR="63500" marT="25400" marB="25400" anchor="ctr">
                    <a:solidFill>
                      <a:srgbClr val="F4F0E6"/>
                    </a:solidFill>
                  </a:tcPr>
                </a:tc>
              </a:tr>
              <a:tr h="318377">
                <a:tc>
                  <a:txBody>
                    <a:bodyPr wrap="square"/>
                    <a:lstStyle/>
                    <a:p>
                      <a:r>
                        <a:rPr sz="950" b="0">
                          <a:solidFill>
                            <a:srgbClr val="3A4A68"/>
                          </a:solidFill>
                          <a:latin typeface="微软雅黑"/>
                        </a:rPr>
                        <a:t>GRS + 四指标</a:t>
                      </a:r>
                    </a:p>
                  </a:txBody>
                  <a:tcPr marL="63500" marR="63500" marT="25400" marB="25400" anchor="ctr">
                    <a:solidFill>
                      <a:srgbClr val="FFFFFF"/>
                    </a:solidFill>
                  </a:tcPr>
                </a:tc>
                <a:tc>
                  <a:txBody>
                    <a:bodyPr wrap="square"/>
                    <a:lstStyle/>
                    <a:p>
                      <a:r>
                        <a:rPr sz="950" b="0">
                          <a:solidFill>
                            <a:srgbClr val="3A4A68"/>
                          </a:solidFill>
                          <a:latin typeface="微软雅黑"/>
                        </a:rPr>
                        <a:t>grs_stat() / evaluate()</a:t>
                      </a:r>
                    </a:p>
                  </a:txBody>
                  <a:tcPr marL="63500" marR="63500" marT="25400" marB="25400" anchor="ctr">
                    <a:solidFill>
                      <a:srgbClr val="FFFFFF"/>
                    </a:solidFill>
                  </a:tcPr>
                </a:tc>
              </a:tr>
              <a:tr h="318377">
                <a:tc>
                  <a:txBody>
                    <a:bodyPr wrap="square"/>
                    <a:lstStyle/>
                    <a:p>
                      <a:r>
                        <a:rPr sz="950" b="0">
                          <a:solidFill>
                            <a:srgbClr val="3A4A68"/>
                          </a:solidFill>
                          <a:latin typeface="微软雅黑"/>
                        </a:rPr>
                        <a:t>邹至庄检验</a:t>
                      </a:r>
                    </a:p>
                  </a:txBody>
                  <a:tcPr marL="63500" marR="63500" marT="25400" marB="25400" anchor="ctr">
                    <a:solidFill>
                      <a:srgbClr val="F4F0E6"/>
                    </a:solidFill>
                  </a:tcPr>
                </a:tc>
                <a:tc>
                  <a:txBody>
                    <a:bodyPr wrap="square"/>
                    <a:lstStyle/>
                    <a:p>
                      <a:r>
                        <a:rPr sz="950" b="0">
                          <a:solidFill>
                            <a:srgbClr val="3A4A68"/>
                          </a:solidFill>
                          <a:latin typeface="微软雅黑"/>
                        </a:rPr>
                        <a:t>panel_chow()：25 个 panel 逐一检验</a:t>
                      </a:r>
                    </a:p>
                  </a:txBody>
                  <a:tcPr marL="63500" marR="63500" marT="25400" marB="25400" anchor="ctr">
                    <a:solidFill>
                      <a:srgbClr val="F4F0E6"/>
                    </a:solidFill>
                  </a:tcPr>
                </a:tc>
              </a:tr>
            </a:tbl>
          </a:graphicData>
        </a:graphic>
      </p:graphicFrame>
      <p:sp>
        <p:nvSpPr>
          <p:cNvPr id="9" name="Rectangle 8"/>
          <p:cNvSpPr/>
          <p:nvPr/>
        </p:nvSpPr>
        <p:spPr>
          <a:xfrm>
            <a:off x="502920" y="5102352"/>
            <a:ext cx="11183112" cy="56692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5193792"/>
            <a:ext cx="10744200" cy="384048"/>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复用：把 make_panel() 换成 Wind / CSMAR 面板（列名 date / code / size / bm / ep / op / inv / ret）即可全链路复跑。</a:t>
            </a:r>
          </a:p>
        </p:txBody>
      </p:sp>
      <p:sp>
        <p:nvSpPr>
          <p:cNvPr id="11" name="Rectangle 10"/>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附件：解析材料/ff5_3d_repro.py（可运行，seed = 201706）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跑起来</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合成数据端到端跑通：链路自洽，且与原文方向一致</a:t>
            </a:r>
          </a:p>
        </p:txBody>
      </p:sp>
      <p:pic>
        <p:nvPicPr>
          <p:cNvPr id="5" name="Picture 4" descr="t5.png"/>
          <p:cNvPicPr>
            <a:picLocks noChangeAspect="1"/>
          </p:cNvPicPr>
          <p:nvPr/>
        </p:nvPicPr>
        <p:blipFill>
          <a:blip r:embed="rId2"/>
          <a:stretch>
            <a:fillRect/>
          </a:stretch>
        </p:blipFill>
        <p:spPr>
          <a:xfrm>
            <a:off x="502920" y="1262335"/>
            <a:ext cx="5760720" cy="2056473"/>
          </a:xfrm>
          <a:prstGeom prst="rect">
            <a:avLst/>
          </a:prstGeom>
          <a:ln w="9525">
            <a:solidFill>
              <a:srgbClr val="C9C2B2"/>
            </a:solidFill>
          </a:ln>
        </p:spPr>
      </p:pic>
      <p:sp>
        <p:nvSpPr>
          <p:cNvPr id="6" name="Rectangle 5"/>
          <p:cNvSpPr/>
          <p:nvPr/>
        </p:nvSpPr>
        <p:spPr>
          <a:xfrm>
            <a:off x="502920" y="1262335"/>
            <a:ext cx="5760720" cy="205647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355848"/>
            <a:ext cx="5760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p.199 表 5：五因子 vs 三因子 vs Carhart 四因子</a:t>
            </a:r>
          </a:p>
        </p:txBody>
      </p:sp>
      <p:graphicFrame>
        <p:nvGraphicFramePr>
          <p:cNvPr id="8" name="Table 7"/>
          <p:cNvGraphicFramePr>
            <a:graphicFrameLocks noGrp="1"/>
          </p:cNvGraphicFramePr>
          <p:nvPr/>
        </p:nvGraphicFramePr>
        <p:xfrm>
          <a:off x="6446520" y="1243584"/>
          <a:ext cx="5239510" cy="2240280"/>
        </p:xfrm>
        <a:graphic>
          <a:graphicData uri="http://schemas.openxmlformats.org/drawingml/2006/table">
            <a:tbl>
              <a:tblPr firstRow="1" bandRow="1">
                <a:tableStyleId>{5C22544A-7EE6-4342-B048-85BDC9FD1C3A}</a:tableStyleId>
              </a:tblPr>
              <a:tblGrid>
                <a:gridCol w="2273750"/>
                <a:gridCol w="718972"/>
                <a:gridCol w="718972"/>
                <a:gridCol w="808844"/>
                <a:gridCol w="718972"/>
              </a:tblGrid>
              <a:tr h="448056">
                <a:tc>
                  <a:txBody>
                    <a:bodyPr wrap="square"/>
                    <a:lstStyle/>
                    <a:p>
                      <a:r>
                        <a:rPr sz="900" b="1">
                          <a:solidFill>
                            <a:srgbClr val="FFFFFF"/>
                          </a:solidFill>
                          <a:latin typeface="微软雅黑"/>
                        </a:rPr>
                        <a:t>合成数据结果（Size-OP 25 组合）</a:t>
                      </a:r>
                    </a:p>
                  </a:txBody>
                  <a:tcPr marL="63500" marR="63500" marT="25400" marB="25400" anchor="ctr">
                    <a:solidFill>
                      <a:srgbClr val="1B2A4A"/>
                    </a:solidFill>
                  </a:tcPr>
                </a:tc>
                <a:tc>
                  <a:txBody>
                    <a:bodyPr wrap="square"/>
                    <a:lstStyle/>
                    <a:p>
                      <a:r>
                        <a:rPr sz="900" b="1">
                          <a:solidFill>
                            <a:srgbClr val="FFFFFF"/>
                          </a:solidFill>
                          <a:latin typeface="微软雅黑"/>
                        </a:rPr>
                        <a:t>GRS</a:t>
                      </a:r>
                    </a:p>
                  </a:txBody>
                  <a:tcPr marL="63500" marR="63500" marT="25400" marB="25400" anchor="ctr">
                    <a:solidFill>
                      <a:srgbClr val="1B2A4A"/>
                    </a:solidFill>
                  </a:tcPr>
                </a:tc>
                <a:tc>
                  <a:txBody>
                    <a:bodyPr wrap="square"/>
                    <a:lstStyle/>
                    <a:p>
                      <a:r>
                        <a:rPr sz="900" b="1">
                          <a:solidFill>
                            <a:srgbClr val="FFFFFF"/>
                          </a:solidFill>
                          <a:latin typeface="微软雅黑"/>
                        </a:rPr>
                        <a:t>p 值</a:t>
                      </a:r>
                    </a:p>
                  </a:txBody>
                  <a:tcPr marL="63500" marR="63500" marT="25400" marB="25400" anchor="ctr">
                    <a:solidFill>
                      <a:srgbClr val="1B2A4A"/>
                    </a:solidFill>
                  </a:tcPr>
                </a:tc>
                <a:tc>
                  <a:txBody>
                    <a:bodyPr wrap="square"/>
                    <a:lstStyle/>
                    <a:p>
                      <a:r>
                        <a:rPr sz="900" b="1">
                          <a:solidFill>
                            <a:srgbClr val="FFFFFF"/>
                          </a:solidFill>
                          <a:latin typeface="微软雅黑"/>
                        </a:rPr>
                        <a:t>A|a|/A|r|</a:t>
                      </a:r>
                    </a:p>
                  </a:txBody>
                  <a:tcPr marL="63500" marR="63500" marT="25400" marB="25400" anchor="ctr">
                    <a:solidFill>
                      <a:srgbClr val="1B2A4A"/>
                    </a:solidFill>
                  </a:tcPr>
                </a:tc>
                <a:tc>
                  <a:txBody>
                    <a:bodyPr wrap="square"/>
                    <a:lstStyle/>
                    <a:p>
                      <a:r>
                        <a:rPr sz="900" b="1">
                          <a:solidFill>
                            <a:srgbClr val="FFFFFF"/>
                          </a:solidFill>
                          <a:latin typeface="微软雅黑"/>
                        </a:rPr>
                        <a:t>Aa²/Ar²</a:t>
                      </a:r>
                    </a:p>
                  </a:txBody>
                  <a:tcPr marL="63500" marR="63500" marT="25400" marB="25400" anchor="ctr">
                    <a:solidFill>
                      <a:srgbClr val="1B2A4A"/>
                    </a:solidFill>
                  </a:tcPr>
                </a:tc>
              </a:tr>
              <a:tr h="448056">
                <a:tc>
                  <a:txBody>
                    <a:bodyPr wrap="square"/>
                    <a:lstStyle/>
                    <a:p>
                      <a:r>
                        <a:rPr sz="950" b="0">
                          <a:solidFill>
                            <a:srgbClr val="3A4A68"/>
                          </a:solidFill>
                          <a:latin typeface="微软雅黑"/>
                        </a:rPr>
                        <a:t>CAPM</a:t>
                      </a:r>
                    </a:p>
                  </a:txBody>
                  <a:tcPr marL="63500" marR="63500" marT="25400" marB="25400" anchor="ctr">
                    <a:solidFill>
                      <a:srgbClr val="FFFFFF"/>
                    </a:solidFill>
                  </a:tcPr>
                </a:tc>
                <a:tc>
                  <a:txBody>
                    <a:bodyPr wrap="square"/>
                    <a:lstStyle/>
                    <a:p>
                      <a:r>
                        <a:rPr sz="950" b="0">
                          <a:solidFill>
                            <a:srgbClr val="3A4A68"/>
                          </a:solidFill>
                          <a:latin typeface="微软雅黑"/>
                        </a:rPr>
                        <a:t>1.611</a:t>
                      </a:r>
                    </a:p>
                  </a:txBody>
                  <a:tcPr marL="63500" marR="63500" marT="25400" marB="25400" anchor="ctr">
                    <a:solidFill>
                      <a:srgbClr val="FFFFFF"/>
                    </a:solidFill>
                  </a:tcPr>
                </a:tc>
                <a:tc>
                  <a:txBody>
                    <a:bodyPr wrap="square"/>
                    <a:lstStyle/>
                    <a:p>
                      <a:r>
                        <a:rPr sz="950" b="0">
                          <a:solidFill>
                            <a:srgbClr val="3A4A68"/>
                          </a:solidFill>
                          <a:latin typeface="微软雅黑"/>
                        </a:rPr>
                        <a:t>0.038</a:t>
                      </a:r>
                    </a:p>
                  </a:txBody>
                  <a:tcPr marL="63500" marR="63500" marT="25400" marB="25400" anchor="ctr">
                    <a:solidFill>
                      <a:srgbClr val="FFFFFF"/>
                    </a:solidFill>
                  </a:tcPr>
                </a:tc>
                <a:tc>
                  <a:txBody>
                    <a:bodyPr wrap="square"/>
                    <a:lstStyle/>
                    <a:p>
                      <a:r>
                        <a:rPr sz="950" b="0">
                          <a:solidFill>
                            <a:srgbClr val="3A4A68"/>
                          </a:solidFill>
                          <a:latin typeface="微软雅黑"/>
                        </a:rPr>
                        <a:t>2.239</a:t>
                      </a:r>
                    </a:p>
                  </a:txBody>
                  <a:tcPr marL="63500" marR="63500" marT="25400" marB="25400" anchor="ctr">
                    <a:solidFill>
                      <a:srgbClr val="FFFFFF"/>
                    </a:solidFill>
                  </a:tcPr>
                </a:tc>
                <a:tc>
                  <a:txBody>
                    <a:bodyPr wrap="square"/>
                    <a:lstStyle/>
                    <a:p>
                      <a:r>
                        <a:rPr sz="950" b="0">
                          <a:solidFill>
                            <a:srgbClr val="3A4A68"/>
                          </a:solidFill>
                          <a:latin typeface="微软雅黑"/>
                        </a:rPr>
                        <a:t>4.095</a:t>
                      </a:r>
                    </a:p>
                  </a:txBody>
                  <a:tcPr marL="63500" marR="63500" marT="25400" marB="25400" anchor="ctr">
                    <a:solidFill>
                      <a:srgbClr val="FFFFFF"/>
                    </a:solidFill>
                  </a:tcPr>
                </a:tc>
              </a:tr>
              <a:tr h="448056">
                <a:tc>
                  <a:txBody>
                    <a:bodyPr wrap="square"/>
                    <a:lstStyle/>
                    <a:p>
                      <a:r>
                        <a:rPr sz="950" b="0">
                          <a:solidFill>
                            <a:srgbClr val="3A4A68"/>
                          </a:solidFill>
                          <a:latin typeface="微软雅黑"/>
                        </a:rPr>
                        <a:t>FF3</a:t>
                      </a:r>
                    </a:p>
                  </a:txBody>
                  <a:tcPr marL="63500" marR="63500" marT="25400" marB="25400" anchor="ctr">
                    <a:solidFill>
                      <a:srgbClr val="F4F0E6"/>
                    </a:solidFill>
                  </a:tcPr>
                </a:tc>
                <a:tc>
                  <a:txBody>
                    <a:bodyPr wrap="square"/>
                    <a:lstStyle/>
                    <a:p>
                      <a:r>
                        <a:rPr sz="950" b="0">
                          <a:solidFill>
                            <a:srgbClr val="3A4A68"/>
                          </a:solidFill>
                          <a:latin typeface="微软雅黑"/>
                        </a:rPr>
                        <a:t>1.659</a:t>
                      </a:r>
                    </a:p>
                  </a:txBody>
                  <a:tcPr marL="63500" marR="63500" marT="25400" marB="25400" anchor="ctr">
                    <a:solidFill>
                      <a:srgbClr val="F4F0E6"/>
                    </a:solidFill>
                  </a:tcPr>
                </a:tc>
                <a:tc>
                  <a:txBody>
                    <a:bodyPr wrap="square"/>
                    <a:lstStyle/>
                    <a:p>
                      <a:r>
                        <a:rPr sz="950" b="0">
                          <a:solidFill>
                            <a:srgbClr val="3A4A68"/>
                          </a:solidFill>
                          <a:latin typeface="微软雅黑"/>
                        </a:rPr>
                        <a:t>0.029</a:t>
                      </a:r>
                    </a:p>
                  </a:txBody>
                  <a:tcPr marL="63500" marR="63500" marT="25400" marB="25400" anchor="ctr">
                    <a:solidFill>
                      <a:srgbClr val="F4F0E6"/>
                    </a:solidFill>
                  </a:tcPr>
                </a:tc>
                <a:tc>
                  <a:txBody>
                    <a:bodyPr wrap="square"/>
                    <a:lstStyle/>
                    <a:p>
                      <a:r>
                        <a:rPr sz="950" b="0">
                          <a:solidFill>
                            <a:srgbClr val="3A4A68"/>
                          </a:solidFill>
                          <a:latin typeface="微软雅黑"/>
                        </a:rPr>
                        <a:t>2.157</a:t>
                      </a:r>
                    </a:p>
                  </a:txBody>
                  <a:tcPr marL="63500" marR="63500" marT="25400" marB="25400" anchor="ctr">
                    <a:solidFill>
                      <a:srgbClr val="F4F0E6"/>
                    </a:solidFill>
                  </a:tcPr>
                </a:tc>
                <a:tc>
                  <a:txBody>
                    <a:bodyPr wrap="square"/>
                    <a:lstStyle/>
                    <a:p>
                      <a:r>
                        <a:rPr sz="950" b="0">
                          <a:solidFill>
                            <a:srgbClr val="3A4A68"/>
                          </a:solidFill>
                          <a:latin typeface="微软雅黑"/>
                        </a:rPr>
                        <a:t>3.845</a:t>
                      </a:r>
                    </a:p>
                  </a:txBody>
                  <a:tcPr marL="63500" marR="63500" marT="25400" marB="25400" anchor="ctr">
                    <a:solidFill>
                      <a:srgbClr val="F4F0E6"/>
                    </a:solidFill>
                  </a:tcPr>
                </a:tc>
              </a:tr>
              <a:tr h="448056">
                <a:tc>
                  <a:txBody>
                    <a:bodyPr wrap="square"/>
                    <a:lstStyle/>
                    <a:p>
                      <a:r>
                        <a:rPr sz="950" b="0">
                          <a:solidFill>
                            <a:srgbClr val="3A4A68"/>
                          </a:solidFill>
                          <a:latin typeface="微软雅黑"/>
                        </a:rPr>
                        <a:t>FF3+MOM</a:t>
                      </a:r>
                    </a:p>
                  </a:txBody>
                  <a:tcPr marL="63500" marR="63500" marT="25400" marB="25400" anchor="ctr">
                    <a:solidFill>
                      <a:srgbClr val="FFFFFF"/>
                    </a:solidFill>
                  </a:tcPr>
                </a:tc>
                <a:tc>
                  <a:txBody>
                    <a:bodyPr wrap="square"/>
                    <a:lstStyle/>
                    <a:p>
                      <a:r>
                        <a:rPr sz="950" b="0">
                          <a:solidFill>
                            <a:srgbClr val="3A4A68"/>
                          </a:solidFill>
                          <a:latin typeface="微软雅黑"/>
                        </a:rPr>
                        <a:t>1.673</a:t>
                      </a:r>
                    </a:p>
                  </a:txBody>
                  <a:tcPr marL="63500" marR="63500" marT="25400" marB="25400" anchor="ctr">
                    <a:solidFill>
                      <a:srgbClr val="FFFFFF"/>
                    </a:solidFill>
                  </a:tcPr>
                </a:tc>
                <a:tc>
                  <a:txBody>
                    <a:bodyPr wrap="square"/>
                    <a:lstStyle/>
                    <a:p>
                      <a:r>
                        <a:rPr sz="950" b="0">
                          <a:solidFill>
                            <a:srgbClr val="3A4A68"/>
                          </a:solidFill>
                          <a:latin typeface="微软雅黑"/>
                        </a:rPr>
                        <a:t>0.027</a:t>
                      </a:r>
                    </a:p>
                  </a:txBody>
                  <a:tcPr marL="63500" marR="63500" marT="25400" marB="25400" anchor="ctr">
                    <a:solidFill>
                      <a:srgbClr val="FFFFFF"/>
                    </a:solidFill>
                  </a:tcPr>
                </a:tc>
                <a:tc>
                  <a:txBody>
                    <a:bodyPr wrap="square"/>
                    <a:lstStyle/>
                    <a:p>
                      <a:r>
                        <a:rPr sz="950" b="0">
                          <a:solidFill>
                            <a:srgbClr val="3A4A68"/>
                          </a:solidFill>
                          <a:latin typeface="微软雅黑"/>
                        </a:rPr>
                        <a:t>2.182</a:t>
                      </a:r>
                    </a:p>
                  </a:txBody>
                  <a:tcPr marL="63500" marR="63500" marT="25400" marB="25400" anchor="ctr">
                    <a:solidFill>
                      <a:srgbClr val="FFFFFF"/>
                    </a:solidFill>
                  </a:tcPr>
                </a:tc>
                <a:tc>
                  <a:txBody>
                    <a:bodyPr wrap="square"/>
                    <a:lstStyle/>
                    <a:p>
                      <a:r>
                        <a:rPr sz="950" b="0">
                          <a:solidFill>
                            <a:srgbClr val="3A4A68"/>
                          </a:solidFill>
                          <a:latin typeface="微软雅黑"/>
                        </a:rPr>
                        <a:t>3.946</a:t>
                      </a:r>
                    </a:p>
                  </a:txBody>
                  <a:tcPr marL="63500" marR="63500" marT="25400" marB="25400" anchor="ctr">
                    <a:solidFill>
                      <a:srgbClr val="FFFFFF"/>
                    </a:solidFill>
                  </a:tcPr>
                </a:tc>
              </a:tr>
              <a:tr h="448056">
                <a:tc>
                  <a:txBody>
                    <a:bodyPr wrap="square"/>
                    <a:lstStyle/>
                    <a:p>
                      <a:r>
                        <a:rPr sz="950" b="0">
                          <a:solidFill>
                            <a:srgbClr val="3A4A68"/>
                          </a:solidFill>
                          <a:latin typeface="微软雅黑"/>
                        </a:rPr>
                        <a:t>FF5</a:t>
                      </a:r>
                    </a:p>
                  </a:txBody>
                  <a:tcPr marL="63500" marR="63500" marT="25400" marB="25400" anchor="ctr">
                    <a:solidFill>
                      <a:srgbClr val="F4F0E6"/>
                    </a:solidFill>
                  </a:tcPr>
                </a:tc>
                <a:tc>
                  <a:txBody>
                    <a:bodyPr wrap="square"/>
                    <a:lstStyle/>
                    <a:p>
                      <a:r>
                        <a:rPr sz="950" b="0">
                          <a:solidFill>
                            <a:srgbClr val="3A4A68"/>
                          </a:solidFill>
                          <a:latin typeface="微软雅黑"/>
                        </a:rPr>
                        <a:t>1.102</a:t>
                      </a:r>
                    </a:p>
                  </a:txBody>
                  <a:tcPr marL="63500" marR="63500" marT="25400" marB="25400" anchor="ctr">
                    <a:solidFill>
                      <a:srgbClr val="F4F0E6"/>
                    </a:solidFill>
                  </a:tcPr>
                </a:tc>
                <a:tc>
                  <a:txBody>
                    <a:bodyPr wrap="square"/>
                    <a:lstStyle/>
                    <a:p>
                      <a:r>
                        <a:rPr sz="950" b="0">
                          <a:solidFill>
                            <a:srgbClr val="3A4A68"/>
                          </a:solidFill>
                          <a:latin typeface="微软雅黑"/>
                        </a:rPr>
                        <a:t>0.342</a:t>
                      </a:r>
                    </a:p>
                  </a:txBody>
                  <a:tcPr marL="63500" marR="63500" marT="25400" marB="25400" anchor="ctr">
                    <a:solidFill>
                      <a:srgbClr val="F4F0E6"/>
                    </a:solidFill>
                  </a:tcPr>
                </a:tc>
                <a:tc>
                  <a:txBody>
                    <a:bodyPr wrap="square"/>
                    <a:lstStyle/>
                    <a:p>
                      <a:r>
                        <a:rPr sz="950" b="0">
                          <a:solidFill>
                            <a:srgbClr val="3A4A68"/>
                          </a:solidFill>
                          <a:latin typeface="微软雅黑"/>
                        </a:rPr>
                        <a:t>1.180</a:t>
                      </a:r>
                    </a:p>
                  </a:txBody>
                  <a:tcPr marL="63500" marR="63500" marT="25400" marB="25400" anchor="ctr">
                    <a:solidFill>
                      <a:srgbClr val="F4F0E6"/>
                    </a:solidFill>
                  </a:tcPr>
                </a:tc>
                <a:tc>
                  <a:txBody>
                    <a:bodyPr wrap="square"/>
                    <a:lstStyle/>
                    <a:p>
                      <a:r>
                        <a:rPr sz="950" b="0">
                          <a:solidFill>
                            <a:srgbClr val="3A4A68"/>
                          </a:solidFill>
                          <a:latin typeface="微软雅黑"/>
                        </a:rPr>
                        <a:t>1.207</a:t>
                      </a:r>
                    </a:p>
                  </a:txBody>
                  <a:tcPr marL="63500" marR="63500" marT="25400" marB="25400" anchor="ctr">
                    <a:solidFill>
                      <a:srgbClr val="F4F0E6"/>
                    </a:solidFill>
                  </a:tcPr>
                </a:tc>
              </a:tr>
            </a:tbl>
          </a:graphicData>
        </a:graphic>
      </p:graphicFrame>
      <p:graphicFrame>
        <p:nvGraphicFramePr>
          <p:cNvPr id="9" name="Table 8"/>
          <p:cNvGraphicFramePr>
            <a:graphicFrameLocks noGrp="1"/>
          </p:cNvGraphicFramePr>
          <p:nvPr/>
        </p:nvGraphicFramePr>
        <p:xfrm>
          <a:off x="502920" y="3739896"/>
          <a:ext cx="5760719" cy="1819650"/>
        </p:xfrm>
        <a:graphic>
          <a:graphicData uri="http://schemas.openxmlformats.org/drawingml/2006/table">
            <a:tbl>
              <a:tblPr firstRow="1" bandRow="1">
                <a:tableStyleId>{5C22544A-7EE6-4342-B048-85BDC9FD1C3A}</a:tableStyleId>
              </a:tblPr>
              <a:tblGrid>
                <a:gridCol w="2285999"/>
                <a:gridCol w="2468880"/>
                <a:gridCol w="1005840"/>
              </a:tblGrid>
              <a:tr h="303275">
                <a:tc>
                  <a:txBody>
                    <a:bodyPr wrap="square"/>
                    <a:lstStyle/>
                    <a:p>
                      <a:r>
                        <a:rPr sz="900" b="1">
                          <a:solidFill>
                            <a:srgbClr val="FFFFFF"/>
                          </a:solidFill>
                          <a:latin typeface="微软雅黑"/>
                        </a:rPr>
                        <a:t>原文真实数字（用于校验方向性）</a:t>
                      </a:r>
                    </a:p>
                  </a:txBody>
                  <a:tcPr marL="63500" marR="63500" marT="25400" marB="25400" anchor="ctr">
                    <a:solidFill>
                      <a:srgbClr val="1B2A4A"/>
                    </a:solidFill>
                  </a:tcPr>
                </a:tc>
                <a:tc>
                  <a:txBody>
                    <a:bodyPr wrap="square"/>
                    <a:lstStyle/>
                    <a:p>
                      <a:r>
                        <a:rPr sz="900" b="1">
                          <a:solidFill>
                            <a:srgbClr val="FFFFFF"/>
                          </a:solidFill>
                          <a:latin typeface="微软雅黑"/>
                        </a:rPr>
                        <a:t>原文数值</a:t>
                      </a:r>
                    </a:p>
                  </a:txBody>
                  <a:tcPr marL="63500" marR="63500" marT="25400" marB="25400" anchor="ctr">
                    <a:solidFill>
                      <a:srgbClr val="1B2A4A"/>
                    </a:solidFill>
                  </a:tcPr>
                </a:tc>
                <a:tc>
                  <a:txBody>
                    <a:bodyPr wrap="square"/>
                    <a:lstStyle/>
                    <a:p>
                      <a:r>
                        <a:rPr sz="900" b="1">
                          <a:solidFill>
                            <a:srgbClr val="FFFFFF"/>
                          </a:solidFill>
                          <a:latin typeface="微软雅黑"/>
                        </a:rPr>
                        <a:t>出处</a:t>
                      </a:r>
                    </a:p>
                  </a:txBody>
                  <a:tcPr marL="63500" marR="63500" marT="25400" marB="25400" anchor="ctr">
                    <a:solidFill>
                      <a:srgbClr val="1B2A4A"/>
                    </a:solidFill>
                  </a:tcPr>
                </a:tc>
              </a:tr>
              <a:tr h="303275">
                <a:tc>
                  <a:txBody>
                    <a:bodyPr wrap="square"/>
                    <a:lstStyle/>
                    <a:p>
                      <a:r>
                        <a:rPr sz="950" b="0">
                          <a:solidFill>
                            <a:srgbClr val="3A4A68"/>
                          </a:solidFill>
                          <a:latin typeface="微软雅黑"/>
                        </a:rPr>
                        <a:t>Rm−Rf 均值 / SMB 均值</a:t>
                      </a:r>
                    </a:p>
                  </a:txBody>
                  <a:tcPr marL="63500" marR="63500" marT="25400" marB="25400" anchor="ctr">
                    <a:solidFill>
                      <a:srgbClr val="FFFFFF"/>
                    </a:solidFill>
                  </a:tcPr>
                </a:tc>
                <a:tc>
                  <a:txBody>
                    <a:bodyPr wrap="square"/>
                    <a:lstStyle/>
                    <a:p>
                      <a:r>
                        <a:rPr sz="950" b="0">
                          <a:solidFill>
                            <a:srgbClr val="3A4A68"/>
                          </a:solidFill>
                          <a:latin typeface="微软雅黑"/>
                        </a:rPr>
                        <a:t>1.38% (t=1.92) / 0.86% (t=2.70)</a:t>
                      </a:r>
                    </a:p>
                  </a:txBody>
                  <a:tcPr marL="63500" marR="63500" marT="25400" marB="25400" anchor="ctr">
                    <a:solidFill>
                      <a:srgbClr val="FFFFFF"/>
                    </a:solidFill>
                  </a:tcPr>
                </a:tc>
                <a:tc>
                  <a:txBody>
                    <a:bodyPr wrap="square"/>
                    <a:lstStyle/>
                    <a:p>
                      <a:r>
                        <a:rPr sz="950" b="0">
                          <a:solidFill>
                            <a:srgbClr val="3A4A68"/>
                          </a:solidFill>
                          <a:latin typeface="微软雅黑"/>
                        </a:rPr>
                        <a:t>p.196 表2</a:t>
                      </a:r>
                    </a:p>
                  </a:txBody>
                  <a:tcPr marL="63500" marR="63500" marT="25400" marB="25400" anchor="ctr">
                    <a:solidFill>
                      <a:srgbClr val="FFFFFF"/>
                    </a:solidFill>
                  </a:tcPr>
                </a:tc>
              </a:tr>
              <a:tr h="303275">
                <a:tc>
                  <a:txBody>
                    <a:bodyPr wrap="square"/>
                    <a:lstStyle/>
                    <a:p>
                      <a:r>
                        <a:rPr sz="950" b="0">
                          <a:solidFill>
                            <a:srgbClr val="3A4A68"/>
                          </a:solidFill>
                          <a:latin typeface="微软雅黑"/>
                        </a:rPr>
                        <a:t>RMW / CMA 均值</a:t>
                      </a:r>
                    </a:p>
                  </a:txBody>
                  <a:tcPr marL="63500" marR="63500" marT="25400" marB="25400" anchor="ctr">
                    <a:solidFill>
                      <a:srgbClr val="F4F0E6"/>
                    </a:solidFill>
                  </a:tcPr>
                </a:tc>
                <a:tc>
                  <a:txBody>
                    <a:bodyPr wrap="square"/>
                    <a:lstStyle/>
                    <a:p>
                      <a:r>
                        <a:rPr sz="950" b="0">
                          <a:solidFill>
                            <a:srgbClr val="3A4A68"/>
                          </a:solidFill>
                          <a:latin typeface="微软雅黑"/>
                        </a:rPr>
                        <a:t>−0.07 / −0.02，均不显著</a:t>
                      </a:r>
                    </a:p>
                  </a:txBody>
                  <a:tcPr marL="63500" marR="63500" marT="25400" marB="25400" anchor="ctr">
                    <a:solidFill>
                      <a:srgbClr val="F4F0E6"/>
                    </a:solidFill>
                  </a:tcPr>
                </a:tc>
                <a:tc>
                  <a:txBody>
                    <a:bodyPr wrap="square"/>
                    <a:lstStyle/>
                    <a:p>
                      <a:r>
                        <a:rPr sz="950" b="0">
                          <a:solidFill>
                            <a:srgbClr val="3A4A68"/>
                          </a:solidFill>
                          <a:latin typeface="微软雅黑"/>
                        </a:rPr>
                        <a:t>p.196 表2</a:t>
                      </a:r>
                    </a:p>
                  </a:txBody>
                  <a:tcPr marL="63500" marR="63500" marT="25400" marB="25400" anchor="ctr">
                    <a:solidFill>
                      <a:srgbClr val="F4F0E6"/>
                    </a:solidFill>
                  </a:tcPr>
                </a:tc>
              </a:tr>
              <a:tr h="303275">
                <a:tc>
                  <a:txBody>
                    <a:bodyPr wrap="square"/>
                    <a:lstStyle/>
                    <a:p>
                      <a:r>
                        <a:rPr sz="950" b="0">
                          <a:solidFill>
                            <a:srgbClr val="3A4A68"/>
                          </a:solidFill>
                          <a:latin typeface="微软雅黑"/>
                        </a:rPr>
                        <a:t>RMW 对 FF3 alpha</a:t>
                      </a:r>
                    </a:p>
                  </a:txBody>
                  <a:tcPr marL="63500" marR="63500" marT="25400" marB="25400" anchor="ctr">
                    <a:solidFill>
                      <a:srgbClr val="FFFFFF"/>
                    </a:solidFill>
                  </a:tcPr>
                </a:tc>
                <a:tc>
                  <a:txBody>
                    <a:bodyPr wrap="square"/>
                    <a:lstStyle/>
                    <a:p>
                      <a:r>
                        <a:rPr sz="950" b="0">
                          <a:solidFill>
                            <a:srgbClr val="3A4A68"/>
                          </a:solidFill>
                          <a:latin typeface="微软雅黑"/>
                        </a:rPr>
                        <a:t>0.82% (3.39) 显著</a:t>
                      </a:r>
                    </a:p>
                  </a:txBody>
                  <a:tcPr marL="63500" marR="63500" marT="25400" marB="25400" anchor="ctr">
                    <a:solidFill>
                      <a:srgbClr val="FFFFFF"/>
                    </a:solidFill>
                  </a:tcPr>
                </a:tc>
                <a:tc>
                  <a:txBody>
                    <a:bodyPr wrap="square"/>
                    <a:lstStyle/>
                    <a:p>
                      <a:r>
                        <a:rPr sz="950" b="0">
                          <a:solidFill>
                            <a:srgbClr val="3A4A68"/>
                          </a:solidFill>
                          <a:latin typeface="微软雅黑"/>
                        </a:rPr>
                        <a:t>p.196 表3</a:t>
                      </a:r>
                    </a:p>
                  </a:txBody>
                  <a:tcPr marL="63500" marR="63500" marT="25400" marB="25400" anchor="ctr">
                    <a:solidFill>
                      <a:srgbClr val="FFFFFF"/>
                    </a:solidFill>
                  </a:tcPr>
                </a:tc>
              </a:tr>
              <a:tr h="303275">
                <a:tc>
                  <a:txBody>
                    <a:bodyPr wrap="square"/>
                    <a:lstStyle/>
                    <a:p>
                      <a:r>
                        <a:rPr sz="950" b="0">
                          <a:solidFill>
                            <a:srgbClr val="3A4A68"/>
                          </a:solidFill>
                          <a:latin typeface="微软雅黑"/>
                        </a:rPr>
                        <a:t>CMA 对四因子 alpha</a:t>
                      </a:r>
                    </a:p>
                  </a:txBody>
                  <a:tcPr marL="63500" marR="63500" marT="25400" marB="25400" anchor="ctr">
                    <a:solidFill>
                      <a:srgbClr val="F4F0E6"/>
                    </a:solidFill>
                  </a:tcPr>
                </a:tc>
                <a:tc>
                  <a:txBody>
                    <a:bodyPr wrap="square"/>
                    <a:lstStyle/>
                    <a:p>
                      <a:r>
                        <a:rPr sz="950" b="0">
                          <a:solidFill>
                            <a:srgbClr val="3A4A68"/>
                          </a:solidFill>
                          <a:latin typeface="微软雅黑"/>
                        </a:rPr>
                        <a:t>0.05 (0.42) → 冗余</a:t>
                      </a:r>
                    </a:p>
                  </a:txBody>
                  <a:tcPr marL="63500" marR="63500" marT="25400" marB="25400" anchor="ctr">
                    <a:solidFill>
                      <a:srgbClr val="F4F0E6"/>
                    </a:solidFill>
                  </a:tcPr>
                </a:tc>
                <a:tc>
                  <a:txBody>
                    <a:bodyPr wrap="square"/>
                    <a:lstStyle/>
                    <a:p>
                      <a:r>
                        <a:rPr sz="950" b="0">
                          <a:solidFill>
                            <a:srgbClr val="3A4A68"/>
                          </a:solidFill>
                          <a:latin typeface="微软雅黑"/>
                        </a:rPr>
                        <a:t>p.196 表3</a:t>
                      </a:r>
                    </a:p>
                  </a:txBody>
                  <a:tcPr marL="63500" marR="63500" marT="25400" marB="25400" anchor="ctr">
                    <a:solidFill>
                      <a:srgbClr val="F4F0E6"/>
                    </a:solidFill>
                  </a:tcPr>
                </a:tc>
              </a:tr>
              <a:tr h="303275">
                <a:tc>
                  <a:txBody>
                    <a:bodyPr wrap="square"/>
                    <a:lstStyle/>
                    <a:p>
                      <a:r>
                        <a:rPr sz="950" b="0">
                          <a:solidFill>
                            <a:srgbClr val="3A4A68"/>
                          </a:solidFill>
                          <a:latin typeface="微软雅黑"/>
                        </a:rPr>
                        <a:t>FF3 / FF5 四指标</a:t>
                      </a:r>
                    </a:p>
                  </a:txBody>
                  <a:tcPr marL="63500" marR="63500" marT="25400" marB="25400" anchor="ctr">
                    <a:solidFill>
                      <a:srgbClr val="FFFFFF"/>
                    </a:solidFill>
                  </a:tcPr>
                </a:tc>
                <a:tc>
                  <a:txBody>
                    <a:bodyPr wrap="square"/>
                    <a:lstStyle/>
                    <a:p>
                      <a:r>
                        <a:rPr sz="950" b="0">
                          <a:solidFill>
                            <a:srgbClr val="3A4A68"/>
                          </a:solidFill>
                          <a:latin typeface="微软雅黑"/>
                        </a:rPr>
                        <a:t>2.23***/0.30/0.76/0.64 ｜ 1.55*/0.20/0.51/0.27</a:t>
                      </a:r>
                    </a:p>
                  </a:txBody>
                  <a:tcPr marL="63500" marR="63500" marT="25400" marB="25400" anchor="ctr">
                    <a:solidFill>
                      <a:srgbClr val="FFFFFF"/>
                    </a:solidFill>
                  </a:tcPr>
                </a:tc>
                <a:tc>
                  <a:txBody>
                    <a:bodyPr wrap="square"/>
                    <a:lstStyle/>
                    <a:p>
                      <a:r>
                        <a:rPr sz="950" b="0">
                          <a:solidFill>
                            <a:srgbClr val="3A4A68"/>
                          </a:solidFill>
                          <a:latin typeface="微软雅黑"/>
                        </a:rPr>
                        <a:t>p.199 表5</a:t>
                      </a:r>
                    </a:p>
                  </a:txBody>
                  <a:tcPr marL="63500" marR="63500" marT="25400" marB="25400" anchor="ctr">
                    <a:solidFill>
                      <a:srgbClr val="FFFFFF"/>
                    </a:solidFill>
                  </a:tcPr>
                </a:tc>
              </a:tr>
            </a:tbl>
          </a:graphicData>
        </a:graphic>
      </p:graphicFrame>
      <p:sp>
        <p:nvSpPr>
          <p:cNvPr id="10" name="Rectangle 9"/>
          <p:cNvSpPr/>
          <p:nvPr/>
        </p:nvSpPr>
        <p:spPr>
          <a:xfrm>
            <a:off x="6446520" y="3739896"/>
            <a:ext cx="5239512" cy="1929384"/>
          </a:xfrm>
          <a:prstGeom prst="rect">
            <a:avLst/>
          </a:prstGeom>
          <a:solidFill>
            <a:srgbClr val="FC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3739896"/>
            <a:ext cx="45720" cy="1929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3858768"/>
            <a:ext cx="4910328" cy="1545336"/>
          </a:xfrm>
          <a:prstGeom prst="rect">
            <a:avLst/>
          </a:prstGeom>
          <a:noFill/>
        </p:spPr>
        <p:txBody>
          <a:bodyPr wrap="square" lIns="25400" rIns="25400" tIns="0" bIns="0" anchor="t">
            <a:spAutoFit/>
          </a:bodyPr>
          <a:lstStyle/>
          <a:p>
            <a:pPr algn="l">
              <a:lnSpc>
                <a:spcPct val="146000"/>
              </a:lnSpc>
              <a:spcBef>
                <a:spcPts val="0"/>
              </a:spcBef>
              <a:spcAft>
                <a:spcPts val="400"/>
              </a:spcAft>
            </a:pPr>
            <a:r>
              <a:rPr sz="1050" b="0">
                <a:solidFill>
                  <a:srgbClr val="243352"/>
                </a:solidFill>
                <a:latin typeface="宋体"/>
              </a:rPr>
              <a:t>合成数据的数值与原文不可直接比较，只验证链路是否跑通、口径是否自洽。
要得到可用于投稿的结论，把 make_panel() 换成真实面板即可 —— 脚本中每一处口径都在注释里标了对应的原文页码。</a:t>
            </a:r>
          </a:p>
        </p:txBody>
      </p:sp>
      <p:sp>
        <p:nvSpPr>
          <p:cNvPr id="13" name="TextBox 12"/>
          <p:cNvSpPr txBox="1"/>
          <p:nvPr/>
        </p:nvSpPr>
        <p:spPr>
          <a:xfrm>
            <a:off x="6629400" y="5394959"/>
            <a:ext cx="49103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措辞纪律：合成实验不构成任何实证结论</a:t>
            </a:r>
          </a:p>
        </p:txBody>
      </p:sp>
      <p:sp>
        <p:nvSpPr>
          <p:cNvPr id="14" name="Rectangle 13"/>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方向与原文表 5 一致：FF5 的四个指标全面低于 FF3 与 Carhart 四因子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制度断点</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单一已知断点 Chow → 未知断点扫描</a:t>
            </a:r>
          </a:p>
        </p:txBody>
      </p:sp>
      <p:pic>
        <p:nvPicPr>
          <p:cNvPr id="5" name="Picture 4" descr="chow.png"/>
          <p:cNvPicPr>
            <a:picLocks noChangeAspect="1"/>
          </p:cNvPicPr>
          <p:nvPr/>
        </p:nvPicPr>
        <p:blipFill>
          <a:blip r:embed="rId2"/>
          <a:stretch>
            <a:fillRect/>
          </a:stretch>
        </p:blipFill>
        <p:spPr>
          <a:xfrm>
            <a:off x="762521" y="1243584"/>
            <a:ext cx="5241517" cy="2139696"/>
          </a:xfrm>
          <a:prstGeom prst="rect">
            <a:avLst/>
          </a:prstGeom>
          <a:ln w="9525">
            <a:solidFill>
              <a:srgbClr val="C9C2B2"/>
            </a:solidFill>
          </a:ln>
        </p:spPr>
      </p:pic>
      <p:sp>
        <p:nvSpPr>
          <p:cNvPr id="6" name="Rectangle 5"/>
          <p:cNvSpPr/>
          <p:nvPr/>
        </p:nvSpPr>
        <p:spPr>
          <a:xfrm>
            <a:off x="762521" y="1243584"/>
            <a:ext cx="5241517" cy="2139696"/>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3401568"/>
            <a:ext cx="5760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p.200：以 2007 年 6 月为分界点</a:t>
            </a:r>
          </a:p>
        </p:txBody>
      </p:sp>
      <p:pic>
        <p:nvPicPr>
          <p:cNvPr id="8" name="Picture 7" descr="chowfn.png"/>
          <p:cNvPicPr>
            <a:picLocks noChangeAspect="1"/>
          </p:cNvPicPr>
          <p:nvPr/>
        </p:nvPicPr>
        <p:blipFill>
          <a:blip r:embed="rId3"/>
          <a:stretch>
            <a:fillRect/>
          </a:stretch>
        </p:blipFill>
        <p:spPr>
          <a:xfrm>
            <a:off x="6446520" y="2053816"/>
            <a:ext cx="5239512" cy="519230"/>
          </a:xfrm>
          <a:prstGeom prst="rect">
            <a:avLst/>
          </a:prstGeom>
          <a:ln w="9525">
            <a:solidFill>
              <a:srgbClr val="C9C2B2"/>
            </a:solidFill>
          </a:ln>
        </p:spPr>
      </p:pic>
      <p:sp>
        <p:nvSpPr>
          <p:cNvPr id="9" name="Rectangle 8"/>
          <p:cNvSpPr/>
          <p:nvPr/>
        </p:nvSpPr>
        <p:spPr>
          <a:xfrm>
            <a:off x="6446520" y="2053816"/>
            <a:ext cx="5239512" cy="51923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401568"/>
            <a:ext cx="5239512"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p.200 脚注：25 个 panel 的邹至庄检验 p 值几乎全在 1% 显著</a:t>
            </a:r>
          </a:p>
        </p:txBody>
      </p:sp>
      <p:graphicFrame>
        <p:nvGraphicFramePr>
          <p:cNvPr id="11" name="Table 10"/>
          <p:cNvGraphicFramePr>
            <a:graphicFrameLocks noGrp="1"/>
          </p:cNvGraphicFramePr>
          <p:nvPr/>
        </p:nvGraphicFramePr>
        <p:xfrm>
          <a:off x="502920" y="3785615"/>
          <a:ext cx="11183110" cy="1810512"/>
        </p:xfrm>
        <a:graphic>
          <a:graphicData uri="http://schemas.openxmlformats.org/drawingml/2006/table">
            <a:tbl>
              <a:tblPr firstRow="1" bandRow="1">
                <a:tableStyleId>{5C22544A-7EE6-4342-B048-85BDC9FD1C3A}</a:tableStyleId>
              </a:tblPr>
              <a:tblGrid>
                <a:gridCol w="1374972"/>
                <a:gridCol w="4033253"/>
                <a:gridCol w="3299934"/>
                <a:gridCol w="2474951"/>
              </a:tblGrid>
              <a:tr h="452628">
                <a:tc>
                  <a:txBody>
                    <a:bodyPr wrap="square"/>
                    <a:lstStyle/>
                    <a:p>
                      <a:r>
                        <a:rPr sz="950" b="1">
                          <a:solidFill>
                            <a:srgbClr val="FFFFFF"/>
                          </a:solidFill>
                          <a:latin typeface="微软雅黑"/>
                        </a:rPr>
                        <a:t>检验</a:t>
                      </a:r>
                    </a:p>
                  </a:txBody>
                  <a:tcPr marL="63500" marR="63500" marT="25400" marB="25400" anchor="ctr">
                    <a:solidFill>
                      <a:srgbClr val="1B2A4A"/>
                    </a:solidFill>
                  </a:tcPr>
                </a:tc>
                <a:tc>
                  <a:txBody>
                    <a:bodyPr wrap="square"/>
                    <a:lstStyle/>
                    <a:p>
                      <a:r>
                        <a:rPr sz="950" b="1">
                          <a:solidFill>
                            <a:srgbClr val="FFFFFF"/>
                          </a:solidFill>
                          <a:latin typeface="微软雅黑"/>
                        </a:rPr>
                        <a:t>做法</a:t>
                      </a:r>
                    </a:p>
                  </a:txBody>
                  <a:tcPr marL="63500" marR="63500" marT="25400" marB="25400" anchor="ctr">
                    <a:solidFill>
                      <a:srgbClr val="1B2A4A"/>
                    </a:solidFill>
                  </a:tcPr>
                </a:tc>
                <a:tc>
                  <a:txBody>
                    <a:bodyPr wrap="square"/>
                    <a:lstStyle/>
                    <a:p>
                      <a:r>
                        <a:rPr sz="950" b="1">
                          <a:solidFill>
                            <a:srgbClr val="FFFFFF"/>
                          </a:solidFill>
                          <a:latin typeface="微软雅黑"/>
                        </a:rPr>
                        <a:t>结果</a:t>
                      </a:r>
                    </a:p>
                  </a:txBody>
                  <a:tcPr marL="63500" marR="63500" marT="25400" marB="25400" anchor="ctr">
                    <a:solidFill>
                      <a:srgbClr val="1B2A4A"/>
                    </a:solidFill>
                  </a:tcPr>
                </a:tc>
                <a:tc>
                  <a:txBody>
                    <a:bodyPr wrap="square"/>
                    <a:lstStyle/>
                    <a:p>
                      <a:r>
                        <a:rPr sz="950" b="1">
                          <a:solidFill>
                            <a:srgbClr val="FFFFFF"/>
                          </a:solidFill>
                          <a:latin typeface="微软雅黑"/>
                        </a:rPr>
                        <a:t>结论</a:t>
                      </a:r>
                    </a:p>
                  </a:txBody>
                  <a:tcPr marL="63500" marR="63500" marT="25400" marB="25400" anchor="ctr">
                    <a:solidFill>
                      <a:srgbClr val="1B2A4A"/>
                    </a:solidFill>
                  </a:tcPr>
                </a:tc>
              </a:tr>
              <a:tr h="452628">
                <a:tc>
                  <a:txBody>
                    <a:bodyPr wrap="square"/>
                    <a:lstStyle/>
                    <a:p>
                      <a:r>
                        <a:rPr sz="950" b="0">
                          <a:solidFill>
                            <a:srgbClr val="3A4A68"/>
                          </a:solidFill>
                          <a:latin typeface="微软雅黑"/>
                        </a:rPr>
                        <a:t>已知单一断点</a:t>
                      </a:r>
                    </a:p>
                  </a:txBody>
                  <a:tcPr marL="63500" marR="63500" marT="25400" marB="25400" anchor="ctr">
                    <a:solidFill>
                      <a:srgbClr val="FFFFFF"/>
                    </a:solidFill>
                  </a:tcPr>
                </a:tc>
                <a:tc>
                  <a:txBody>
                    <a:bodyPr wrap="square"/>
                    <a:lstStyle/>
                    <a:p>
                      <a:r>
                        <a:rPr sz="950" b="0">
                          <a:solidFill>
                            <a:srgbClr val="3A4A68"/>
                          </a:solidFill>
                          <a:latin typeface="微软雅黑"/>
                        </a:rPr>
                        <a:t>对 25 个 panel 分别做 Chow（截距 + 5 个因子系数），再用 Fisher 合并 p 值</a:t>
                      </a:r>
                    </a:p>
                  </a:txBody>
                  <a:tcPr marL="63500" marR="63500" marT="25400" marB="25400" anchor="ctr">
                    <a:solidFill>
                      <a:srgbClr val="FFFFFF"/>
                    </a:solidFill>
                  </a:tcPr>
                </a:tc>
                <a:tc>
                  <a:txBody>
                    <a:bodyPr wrap="square"/>
                    <a:lstStyle/>
                    <a:p>
                      <a:r>
                        <a:rPr sz="950" b="0">
                          <a:solidFill>
                            <a:srgbClr val="3A4A68"/>
                          </a:solidFill>
                          <a:latin typeface="微软雅黑"/>
                        </a:rPr>
                        <a:t>20/25 个 panel 在 1% 水平显著，Fisher 合并 p ≈ 0</a:t>
                      </a:r>
                    </a:p>
                  </a:txBody>
                  <a:tcPr marL="63500" marR="63500" marT="25400" marB="25400" anchor="ctr">
                    <a:solidFill>
                      <a:srgbClr val="FFFFFF"/>
                    </a:solidFill>
                  </a:tcPr>
                </a:tc>
                <a:tc>
                  <a:txBody>
                    <a:bodyPr wrap="square"/>
                    <a:lstStyle/>
                    <a:p>
                      <a:r>
                        <a:rPr sz="950" b="0">
                          <a:solidFill>
                            <a:srgbClr val="3A4A68"/>
                          </a:solidFill>
                          <a:latin typeface="微软雅黑"/>
                        </a:rPr>
                        <a:t>复现了原文的显著性</a:t>
                      </a:r>
                    </a:p>
                  </a:txBody>
                  <a:tcPr marL="63500" marR="63500" marT="25400" marB="25400" anchor="ctr">
                    <a:solidFill>
                      <a:srgbClr val="FFFFFF"/>
                    </a:solidFill>
                  </a:tcPr>
                </a:tc>
              </a:tr>
              <a:tr h="452628">
                <a:tc>
                  <a:txBody>
                    <a:bodyPr wrap="square"/>
                    <a:lstStyle/>
                    <a:p>
                      <a:r>
                        <a:rPr sz="950" b="0">
                          <a:solidFill>
                            <a:srgbClr val="3A4A68"/>
                          </a:solidFill>
                          <a:latin typeface="微软雅黑"/>
                        </a:rPr>
                        <a:t>未知断点扫描</a:t>
                      </a:r>
                    </a:p>
                  </a:txBody>
                  <a:tcPr marL="63500" marR="63500" marT="25400" marB="25400" anchor="ctr">
                    <a:solidFill>
                      <a:srgbClr val="F4F0E6"/>
                    </a:solidFill>
                  </a:tcPr>
                </a:tc>
                <a:tc>
                  <a:txBody>
                    <a:bodyPr wrap="square"/>
                    <a:lstStyle/>
                    <a:p>
                      <a:r>
                        <a:rPr sz="950" b="0">
                          <a:solidFill>
                            <a:srgbClr val="3A4A68"/>
                          </a:solidFill>
                          <a:latin typeface="微软雅黑"/>
                        </a:rPr>
                        <a:t>以面板平均 Chow F 为统计量，逐候选点扫描取最大，再递归左右子样本</a:t>
                      </a:r>
                    </a:p>
                  </a:txBody>
                  <a:tcPr marL="63500" marR="63500" marT="25400" marB="25400" anchor="ctr">
                    <a:solidFill>
                      <a:srgbClr val="F4F0E6"/>
                    </a:solidFill>
                  </a:tcPr>
                </a:tc>
                <a:tc>
                  <a:txBody>
                    <a:bodyPr wrap="square"/>
                    <a:lstStyle/>
                    <a:p>
                      <a:r>
                        <a:rPr sz="950" b="0">
                          <a:solidFill>
                            <a:srgbClr val="3A4A68"/>
                          </a:solidFill>
                          <a:latin typeface="微软雅黑"/>
                        </a:rPr>
                        <a:t>独立命中 2007-06，平均 Chow F = 4.447</a:t>
                      </a:r>
                    </a:p>
                  </a:txBody>
                  <a:tcPr marL="63500" marR="63500" marT="25400" marB="25400" anchor="ctr">
                    <a:solidFill>
                      <a:srgbClr val="F4F0E6"/>
                    </a:solidFill>
                  </a:tcPr>
                </a:tc>
                <a:tc>
                  <a:txBody>
                    <a:bodyPr wrap="square"/>
                    <a:lstStyle/>
                    <a:p>
                      <a:r>
                        <a:rPr sz="950" b="0">
                          <a:solidFill>
                            <a:srgbClr val="3A4A68"/>
                          </a:solidFill>
                          <a:latin typeface="微软雅黑"/>
                        </a:rPr>
                        <a:t>检验流程本身被验证</a:t>
                      </a:r>
                    </a:p>
                  </a:txBody>
                  <a:tcPr marL="63500" marR="63500" marT="25400" marB="25400" anchor="ctr">
                    <a:solidFill>
                      <a:srgbClr val="F4F0E6"/>
                    </a:solidFill>
                  </a:tcPr>
                </a:tc>
              </a:tr>
              <a:tr h="452628">
                <a:tc>
                  <a:txBody>
                    <a:bodyPr wrap="square"/>
                    <a:lstStyle/>
                    <a:p>
                      <a:r>
                        <a:rPr sz="950" b="0">
                          <a:solidFill>
                            <a:srgbClr val="3A4A68"/>
                          </a:solidFill>
                          <a:latin typeface="微软雅黑"/>
                        </a:rPr>
                        <a:t>仍然未回答</a:t>
                      </a:r>
                    </a:p>
                  </a:txBody>
                  <a:tcPr marL="63500" marR="63500" marT="25400" marB="25400" anchor="ctr">
                    <a:solidFill>
                      <a:srgbClr val="FFFFFF"/>
                    </a:solidFill>
                  </a:tcPr>
                </a:tc>
                <a:tc>
                  <a:txBody>
                    <a:bodyPr wrap="square"/>
                    <a:lstStyle/>
                    <a:p>
                      <a:r>
                        <a:rPr sz="950" b="0">
                          <a:solidFill>
                            <a:srgbClr val="3A4A68"/>
                          </a:solidFill>
                          <a:latin typeface="微软雅黑"/>
                        </a:rPr>
                        <a:t>2005 股改、2017 注册制是否构成第二、第三个断点？断点位置的置信区间是多少？</a:t>
                      </a:r>
                    </a:p>
                  </a:txBody>
                  <a:tcPr marL="63500" marR="63500" marT="25400" marB="25400" anchor="ctr">
                    <a:solidFill>
                      <a:srgbClr val="FFFFFF"/>
                    </a:solidFill>
                  </a:tcPr>
                </a:tc>
                <a:tc>
                  <a:txBody>
                    <a:bodyPr wrap="square"/>
                    <a:lstStyle/>
                    <a:p>
                      <a:r>
                        <a:rPr sz="950" b="0">
                          <a:solidFill>
                            <a:srgbClr val="3A4A68"/>
                          </a:solidFill>
                          <a:latin typeface="微软雅黑"/>
                        </a:rPr>
                        <a:t>—</a:t>
                      </a:r>
                    </a:p>
                  </a:txBody>
                  <a:tcPr marL="63500" marR="63500" marT="25400" marB="25400" anchor="ctr">
                    <a:solidFill>
                      <a:srgbClr val="FFFFFF"/>
                    </a:solidFill>
                  </a:tcPr>
                </a:tc>
                <a:tc>
                  <a:txBody>
                    <a:bodyPr wrap="square"/>
                    <a:lstStyle/>
                    <a:p>
                      <a:r>
                        <a:rPr sz="950" b="0">
                          <a:solidFill>
                            <a:srgbClr val="3A4A68"/>
                          </a:solidFill>
                          <a:latin typeface="微软雅黑"/>
                        </a:rPr>
                        <a:t>Gap 5：单一 Chow → Bai-Perron</a:t>
                      </a:r>
                    </a:p>
                  </a:txBody>
                  <a:tcPr marL="63500" marR="63500" marT="25400" marB="25400" anchor="ctr">
                    <a:solidFill>
                      <a:srgbClr val="FFFFFF"/>
                    </a:solidFill>
                  </a:tcPr>
                </a:tc>
              </a:tr>
            </a:tbl>
          </a:graphicData>
        </a:graphic>
      </p:graphicFrame>
      <p:sp>
        <p:nvSpPr>
          <p:cNvPr id="12" name="Rectangle 11"/>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踩坑记录：只对均值做 Chow 无功效（F≈1.1）；必须对因子载荷回归做检验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分时期</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股改前后：市场效率到底有没有提高</a:t>
            </a:r>
          </a:p>
        </p:txBody>
      </p:sp>
      <p:pic>
        <p:nvPicPr>
          <p:cNvPr id="5" name="Picture 4" descr="t6.png"/>
          <p:cNvPicPr>
            <a:picLocks noChangeAspect="1"/>
          </p:cNvPicPr>
          <p:nvPr/>
        </p:nvPicPr>
        <p:blipFill>
          <a:blip r:embed="rId2"/>
          <a:stretch>
            <a:fillRect/>
          </a:stretch>
        </p:blipFill>
        <p:spPr>
          <a:xfrm>
            <a:off x="502920" y="1496573"/>
            <a:ext cx="5760720" cy="2273797"/>
          </a:xfrm>
          <a:prstGeom prst="rect">
            <a:avLst/>
          </a:prstGeom>
          <a:ln w="9525">
            <a:solidFill>
              <a:srgbClr val="C9C2B2"/>
            </a:solidFill>
          </a:ln>
        </p:spPr>
      </p:pic>
      <p:sp>
        <p:nvSpPr>
          <p:cNvPr id="6" name="Rectangle 5"/>
          <p:cNvSpPr/>
          <p:nvPr/>
        </p:nvSpPr>
        <p:spPr>
          <a:xfrm>
            <a:off x="502920" y="1496573"/>
            <a:ext cx="5760720" cy="2273797"/>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041648"/>
            <a:ext cx="576072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p.201 表 6：五种模型在股改前后的截距项指标</a:t>
            </a:r>
          </a:p>
        </p:txBody>
      </p:sp>
      <p:pic>
        <p:nvPicPr>
          <p:cNvPr id="8" name="Picture 7" descr="t8.png"/>
          <p:cNvPicPr>
            <a:picLocks noChangeAspect="1"/>
          </p:cNvPicPr>
          <p:nvPr/>
        </p:nvPicPr>
        <p:blipFill>
          <a:blip r:embed="rId3"/>
          <a:stretch>
            <a:fillRect/>
          </a:stretch>
        </p:blipFill>
        <p:spPr>
          <a:xfrm>
            <a:off x="6245352" y="1444854"/>
            <a:ext cx="5440680" cy="2377234"/>
          </a:xfrm>
          <a:prstGeom prst="rect">
            <a:avLst/>
          </a:prstGeom>
          <a:ln w="9525">
            <a:solidFill>
              <a:srgbClr val="C9C2B2"/>
            </a:solidFill>
          </a:ln>
        </p:spPr>
      </p:pic>
      <p:sp>
        <p:nvSpPr>
          <p:cNvPr id="9" name="Rectangle 8"/>
          <p:cNvSpPr/>
          <p:nvPr/>
        </p:nvSpPr>
        <p:spPr>
          <a:xfrm>
            <a:off x="6245352" y="1444854"/>
            <a:ext cx="5440680" cy="2377234"/>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4041648"/>
            <a:ext cx="54406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p.203 表 8：动量因子的相关检验</a:t>
            </a:r>
          </a:p>
        </p:txBody>
      </p:sp>
      <p:sp>
        <p:nvSpPr>
          <p:cNvPr id="11" name="Rectangle 10"/>
          <p:cNvSpPr/>
          <p:nvPr/>
        </p:nvSpPr>
        <p:spPr>
          <a:xfrm>
            <a:off x="502920" y="4425696"/>
            <a:ext cx="5760720" cy="1207008"/>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425696"/>
            <a:ext cx="45720" cy="120700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544568"/>
            <a:ext cx="5431536" cy="822960"/>
          </a:xfrm>
          <a:prstGeom prst="rect">
            <a:avLst/>
          </a:prstGeom>
          <a:noFill/>
        </p:spPr>
        <p:txBody>
          <a:bodyPr wrap="square" lIns="25400" rIns="25400" tIns="0" bIns="0" anchor="t">
            <a:spAutoFit/>
          </a:bodyPr>
          <a:lstStyle/>
          <a:p>
            <a:pPr algn="l">
              <a:lnSpc>
                <a:spcPct val="146000"/>
              </a:lnSpc>
              <a:spcBef>
                <a:spcPts val="0"/>
              </a:spcBef>
              <a:spcAft>
                <a:spcPts val="400"/>
              </a:spcAft>
            </a:pPr>
            <a:r>
              <a:rPr sz="1000" b="0">
                <a:solidFill>
                  <a:srgbClr val="243352"/>
                </a:solidFill>
                <a:latin typeface="宋体"/>
              </a:rPr>
              <a:t>「表 6 以 Fama 和 French 最新提出的五因子模型作为实证检验方法的理论依据，通过比较股改前后五因子回归截距项的变化，可以很明显地发现在股改后实际收益率与预期收益率的差异，即『超额收益率』的比例降低，市场效率有所提高。」</a:t>
            </a:r>
          </a:p>
        </p:txBody>
      </p:sp>
      <p:sp>
        <p:nvSpPr>
          <p:cNvPr id="14" name="TextBox 13"/>
          <p:cNvSpPr txBox="1"/>
          <p:nvPr/>
        </p:nvSpPr>
        <p:spPr>
          <a:xfrm>
            <a:off x="685800" y="5358384"/>
            <a:ext cx="543153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p.201 —— 依赖 B/M 建 HML 的结论（Gap 4 的靶心）</a:t>
            </a:r>
          </a:p>
        </p:txBody>
      </p:sp>
      <p:sp>
        <p:nvSpPr>
          <p:cNvPr id="15" name="Rectangle 14"/>
          <p:cNvSpPr/>
          <p:nvPr/>
        </p:nvSpPr>
        <p:spPr>
          <a:xfrm>
            <a:off x="6245352" y="4425696"/>
            <a:ext cx="5440680" cy="1207008"/>
          </a:xfrm>
          <a:prstGeom prst="rect">
            <a:avLst/>
          </a:prstGeom>
          <a:solidFill>
            <a:srgbClr val="FC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4425696"/>
            <a:ext cx="45720" cy="1207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4544568"/>
            <a:ext cx="5111496" cy="822960"/>
          </a:xfrm>
          <a:prstGeom prst="rect">
            <a:avLst/>
          </a:prstGeom>
          <a:noFill/>
        </p:spPr>
        <p:txBody>
          <a:bodyPr wrap="square" lIns="25400" rIns="25400" tIns="0" bIns="0" anchor="t">
            <a:spAutoFit/>
          </a:bodyPr>
          <a:lstStyle/>
          <a:p>
            <a:pPr algn="l">
              <a:lnSpc>
                <a:spcPct val="146000"/>
              </a:lnSpc>
              <a:spcBef>
                <a:spcPts val="0"/>
              </a:spcBef>
              <a:spcAft>
                <a:spcPts val="400"/>
              </a:spcAft>
            </a:pPr>
            <a:r>
              <a:rPr sz="1000" b="0">
                <a:solidFill>
                  <a:srgbClr val="243352"/>
                </a:solidFill>
                <a:latin typeface="宋体"/>
              </a:rPr>
              <a:t>「股改前这种反转效应可以被五因子模型解释；股改后即使用学术界最前沿的五因子模型进行风险调整，仍存在显著的反转效应。」</a:t>
            </a:r>
          </a:p>
        </p:txBody>
      </p:sp>
      <p:sp>
        <p:nvSpPr>
          <p:cNvPr id="18" name="TextBox 17"/>
          <p:cNvSpPr txBox="1"/>
          <p:nvPr/>
        </p:nvSpPr>
        <p:spPr>
          <a:xfrm>
            <a:off x="6428232" y="5358384"/>
            <a:ext cx="5111496"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原文 p.203 —— 但 MOM 因子却仍按动量方向构建（Gap 6）</a:t>
            </a:r>
          </a:p>
        </p:txBody>
      </p:sp>
      <p:sp>
        <p:nvSpPr>
          <p:cNvPr id="19" name="Rectangle 18"/>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读数：股改后 FF5 的一阶/二阶指标从 0.53/0.30 降到 0.35/0.13；而 CAPM 反而从 0.65 升到 1.53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三组原文没做的对照</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这三组对照，就是三个可立项的空位</a:t>
            </a:r>
          </a:p>
        </p:txBody>
      </p:sp>
      <p:graphicFrame>
        <p:nvGraphicFramePr>
          <p:cNvPr id="5" name="Table 4"/>
          <p:cNvGraphicFramePr>
            <a:graphicFrameLocks noGrp="1"/>
          </p:cNvGraphicFramePr>
          <p:nvPr/>
        </p:nvGraphicFramePr>
        <p:xfrm>
          <a:off x="502920" y="1243584"/>
          <a:ext cx="7360920" cy="3767328"/>
        </p:xfrm>
        <a:graphic>
          <a:graphicData uri="http://schemas.openxmlformats.org/drawingml/2006/table">
            <a:tbl>
              <a:tblPr firstRow="1" bandRow="1">
                <a:tableStyleId>{5C22544A-7EE6-4342-B048-85BDC9FD1C3A}</a:tableStyleId>
              </a:tblPr>
              <a:tblGrid>
                <a:gridCol w="771144"/>
                <a:gridCol w="1752600"/>
                <a:gridCol w="1822704"/>
                <a:gridCol w="3014472"/>
              </a:tblGrid>
              <a:tr h="941832">
                <a:tc>
                  <a:txBody>
                    <a:bodyPr wrap="square"/>
                    <a:lstStyle/>
                    <a:p>
                      <a:r>
                        <a:rPr sz="950" b="1">
                          <a:solidFill>
                            <a:srgbClr val="FFFFFF"/>
                          </a:solidFill>
                          <a:latin typeface="微软雅黑"/>
                        </a:rPr>
                        <a:t>对照</a:t>
                      </a:r>
                    </a:p>
                  </a:txBody>
                  <a:tcPr marL="63500" marR="63500" marT="25400" marB="25400" anchor="ctr">
                    <a:solidFill>
                      <a:srgbClr val="1B2A4A"/>
                    </a:solidFill>
                  </a:tcPr>
                </a:tc>
                <a:tc>
                  <a:txBody>
                    <a:bodyPr wrap="square"/>
                    <a:lstStyle/>
                    <a:p>
                      <a:r>
                        <a:rPr sz="950" b="1">
                          <a:solidFill>
                            <a:srgbClr val="FFFFFF"/>
                          </a:solidFill>
                          <a:latin typeface="微软雅黑"/>
                        </a:rPr>
                        <a:t>做法</a:t>
                      </a:r>
                    </a:p>
                  </a:txBody>
                  <a:tcPr marL="63500" marR="63500" marT="25400" marB="25400" anchor="ctr">
                    <a:solidFill>
                      <a:srgbClr val="1B2A4A"/>
                    </a:solidFill>
                  </a:tcPr>
                </a:tc>
                <a:tc>
                  <a:txBody>
                    <a:bodyPr wrap="square"/>
                    <a:lstStyle/>
                    <a:p>
                      <a:r>
                        <a:rPr sz="950" b="1">
                          <a:solidFill>
                            <a:srgbClr val="FFFFFF"/>
                          </a:solidFill>
                          <a:latin typeface="微软雅黑"/>
                        </a:rPr>
                        <a:t>合成数据结果</a:t>
                      </a:r>
                    </a:p>
                  </a:txBody>
                  <a:tcPr marL="63500" marR="63500" marT="25400" marB="25400" anchor="ctr">
                    <a:solidFill>
                      <a:srgbClr val="1B2A4A"/>
                    </a:solidFill>
                  </a:tcPr>
                </a:tc>
                <a:tc>
                  <a:txBody>
                    <a:bodyPr wrap="square"/>
                    <a:lstStyle/>
                    <a:p>
                      <a:r>
                        <a:rPr sz="950" b="1">
                          <a:solidFill>
                            <a:srgbClr val="FFFFFF"/>
                          </a:solidFill>
                          <a:latin typeface="微软雅黑"/>
                        </a:rPr>
                        <a:t>为什么能立项</a:t>
                      </a:r>
                    </a:p>
                  </a:txBody>
                  <a:tcPr marL="63500" marR="63500" marT="25400" marB="25400" anchor="ctr">
                    <a:solidFill>
                      <a:srgbClr val="1B2A4A"/>
                    </a:solidFill>
                  </a:tcPr>
                </a:tc>
              </a:tr>
              <a:tr h="941832">
                <a:tc>
                  <a:txBody>
                    <a:bodyPr wrap="square"/>
                    <a:lstStyle/>
                    <a:p>
                      <a:r>
                        <a:rPr sz="900" b="0">
                          <a:solidFill>
                            <a:srgbClr val="3A4A68"/>
                          </a:solidFill>
                          <a:latin typeface="微软雅黑"/>
                        </a:rPr>
                        <a:t>A. 壳污染</a:t>
                      </a:r>
                    </a:p>
                  </a:txBody>
                  <a:tcPr marL="63500" marR="63500" marT="25400" marB="25400" anchor="ctr">
                    <a:solidFill>
                      <a:srgbClr val="FFFFFF"/>
                    </a:solidFill>
                  </a:tcPr>
                </a:tc>
                <a:tc>
                  <a:txBody>
                    <a:bodyPr wrap="square"/>
                    <a:lstStyle/>
                    <a:p>
                      <a:r>
                        <a:rPr sz="900" b="0">
                          <a:solidFill>
                            <a:srgbClr val="3A4A68"/>
                          </a:solidFill>
                          <a:latin typeface="微软雅黑"/>
                        </a:rPr>
                        <a:t>全样本 vs 剔除最小 30% 市值后重建全部因子</a:t>
                      </a:r>
                    </a:p>
                  </a:txBody>
                  <a:tcPr marL="63500" marR="63500" marT="25400" marB="25400" anchor="ctr">
                    <a:solidFill>
                      <a:srgbClr val="FFFFFF"/>
                    </a:solidFill>
                  </a:tcPr>
                </a:tc>
                <a:tc>
                  <a:txBody>
                    <a:bodyPr wrap="square"/>
                    <a:lstStyle/>
                    <a:p>
                      <a:r>
                        <a:rPr sz="900" b="0">
                          <a:solidFill>
                            <a:srgbClr val="3A4A68"/>
                          </a:solidFill>
                          <a:latin typeface="微软雅黑"/>
                        </a:rPr>
                        <a:t>FF5 的 A|a|/A|r|：1.180 → 0.891</a:t>
                      </a:r>
                    </a:p>
                  </a:txBody>
                  <a:tcPr marL="63500" marR="63500" marT="25400" marB="25400" anchor="ctr">
                    <a:solidFill>
                      <a:srgbClr val="FFFFFF"/>
                    </a:solidFill>
                  </a:tcPr>
                </a:tc>
                <a:tc>
                  <a:txBody>
                    <a:bodyPr wrap="square"/>
                    <a:lstStyle/>
                    <a:p>
                      <a:r>
                        <a:rPr sz="900" b="0">
                          <a:solidFill>
                            <a:srgbClr val="3A4A68"/>
                          </a:solidFill>
                          <a:latin typeface="微软雅黑"/>
                        </a:rPr>
                        <a:t>原文用全体 A 股分位点（p.194 脚注 1），未做壳价值处理。剔除后解释力改善，说明结论含壳污染成分。</a:t>
                      </a:r>
                    </a:p>
                  </a:txBody>
                  <a:tcPr marL="63500" marR="63500" marT="25400" marB="25400" anchor="ctr">
                    <a:solidFill>
                      <a:srgbClr val="FFFFFF"/>
                    </a:solidFill>
                  </a:tcPr>
                </a:tc>
              </a:tr>
              <a:tr h="941832">
                <a:tc>
                  <a:txBody>
                    <a:bodyPr wrap="square"/>
                    <a:lstStyle/>
                    <a:p>
                      <a:r>
                        <a:rPr sz="900" b="0">
                          <a:solidFill>
                            <a:srgbClr val="3A4A68"/>
                          </a:solidFill>
                          <a:latin typeface="微软雅黑"/>
                        </a:rPr>
                        <a:t>B. 价值口径</a:t>
                      </a:r>
                    </a:p>
                  </a:txBody>
                  <a:tcPr marL="63500" marR="63500" marT="25400" marB="25400" anchor="ctr">
                    <a:solidFill>
                      <a:srgbClr val="F4F0E6"/>
                    </a:solidFill>
                  </a:tcPr>
                </a:tc>
                <a:tc>
                  <a:txBody>
                    <a:bodyPr wrap="square"/>
                    <a:lstStyle/>
                    <a:p>
                      <a:r>
                        <a:rPr sz="900" b="0">
                          <a:solidFill>
                            <a:srgbClr val="3A4A68"/>
                          </a:solidFill>
                          <a:latin typeface="微软雅黑"/>
                        </a:rPr>
                        <a:t>HML 由 B/M 建 vs 由 E/P 建，互测对方自有因子</a:t>
                      </a:r>
                    </a:p>
                  </a:txBody>
                  <a:tcPr marL="63500" marR="63500" marT="25400" marB="25400" anchor="ctr">
                    <a:solidFill>
                      <a:srgbClr val="F4F0E6"/>
                    </a:solidFill>
                  </a:tcPr>
                </a:tc>
                <a:tc>
                  <a:txBody>
                    <a:bodyPr wrap="square"/>
                    <a:lstStyle/>
                    <a:p>
                      <a:r>
                        <a:rPr sz="900" b="0">
                          <a:solidFill>
                            <a:srgbClr val="3A4A68"/>
                          </a:solidFill>
                          <a:latin typeface="微软雅黑"/>
                        </a:rPr>
                        <a:t>HML_EP 均值 0.374% (t=2.44)；FF5(HML_BM) 对 HML_EP 残留 alpha 0.267% (t=1.80)</a:t>
                      </a:r>
                    </a:p>
                  </a:txBody>
                  <a:tcPr marL="63500" marR="63500" marT="25400" marB="25400" anchor="ctr">
                    <a:solidFill>
                      <a:srgbClr val="F4F0E6"/>
                    </a:solidFill>
                  </a:tcPr>
                </a:tc>
                <a:tc>
                  <a:txBody>
                    <a:bodyPr wrap="square"/>
                    <a:lstStyle/>
                    <a:p>
                      <a:r>
                        <a:rPr sz="900" b="0">
                          <a:solidFill>
                            <a:srgbClr val="3A4A68"/>
                          </a:solidFill>
                          <a:latin typeface="微软雅黑"/>
                        </a:rPr>
                        <a:t>B/M 建的价值因子只承载 0.092% (t=1.65)，且无法解释 E/P 价值因子的溢价 → 原文表 6 的市场效率结论可能不稳健。</a:t>
                      </a:r>
                    </a:p>
                  </a:txBody>
                  <a:tcPr marL="63500" marR="63500" marT="25400" marB="25400" anchor="ctr">
                    <a:solidFill>
                      <a:srgbClr val="F4F0E6"/>
                    </a:solidFill>
                  </a:tcPr>
                </a:tc>
              </a:tr>
              <a:tr h="941832">
                <a:tc>
                  <a:txBody>
                    <a:bodyPr wrap="square"/>
                    <a:lstStyle/>
                    <a:p>
                      <a:r>
                        <a:rPr sz="900" b="0">
                          <a:solidFill>
                            <a:srgbClr val="3A4A68"/>
                          </a:solidFill>
                          <a:latin typeface="微软雅黑"/>
                        </a:rPr>
                        <a:t>C. 断点</a:t>
                      </a:r>
                    </a:p>
                  </a:txBody>
                  <a:tcPr marL="63500" marR="63500" marT="25400" marB="25400" anchor="ctr">
                    <a:solidFill>
                      <a:srgbClr val="FFFFFF"/>
                    </a:solidFill>
                  </a:tcPr>
                </a:tc>
                <a:tc>
                  <a:txBody>
                    <a:bodyPr wrap="square"/>
                    <a:lstStyle/>
                    <a:p>
                      <a:r>
                        <a:rPr sz="900" b="0">
                          <a:solidFill>
                            <a:srgbClr val="3A4A68"/>
                          </a:solidFill>
                          <a:latin typeface="微软雅黑"/>
                        </a:rPr>
                        <a:t>已知单一 Chow(2007-06) vs 未知断点顺序扫描</a:t>
                      </a:r>
                    </a:p>
                  </a:txBody>
                  <a:tcPr marL="63500" marR="63500" marT="25400" marB="25400" anchor="ctr">
                    <a:solidFill>
                      <a:srgbClr val="FFFFFF"/>
                    </a:solidFill>
                  </a:tcPr>
                </a:tc>
                <a:tc>
                  <a:txBody>
                    <a:bodyPr wrap="square"/>
                    <a:lstStyle/>
                    <a:p>
                      <a:r>
                        <a:rPr sz="900" b="0">
                          <a:solidFill>
                            <a:srgbClr val="3A4A68"/>
                          </a:solidFill>
                          <a:latin typeface="微软雅黑"/>
                        </a:rPr>
                        <a:t>25 个 panel 中 20 个在 1% 显著，Fisher p ≈ 0；扫描独立命中 2007-06</a:t>
                      </a:r>
                    </a:p>
                  </a:txBody>
                  <a:tcPr marL="63500" marR="63500" marT="25400" marB="25400" anchor="ctr">
                    <a:solidFill>
                      <a:srgbClr val="FFFFFF"/>
                    </a:solidFill>
                  </a:tcPr>
                </a:tc>
                <a:tc>
                  <a:txBody>
                    <a:bodyPr wrap="square"/>
                    <a:lstStyle/>
                    <a:p>
                      <a:r>
                        <a:rPr sz="900" b="0">
                          <a:solidFill>
                            <a:srgbClr val="3A4A68"/>
                          </a:solidFill>
                          <a:latin typeface="微软雅黑"/>
                        </a:rPr>
                        <a:t>检验流程本身被验证；但未回答断点有几个。2017 注册制是候选的第二断点。</a:t>
                      </a:r>
                    </a:p>
                  </a:txBody>
                  <a:tcPr marL="63500" marR="63500" marT="25400" marB="25400" anchor="ctr">
                    <a:solidFill>
                      <a:srgbClr val="FFFFFF"/>
                    </a:solidFill>
                  </a:tcPr>
                </a:tc>
              </a:tr>
            </a:tbl>
          </a:graphicData>
        </a:graphic>
      </p:graphicFrame>
      <p:pic>
        <p:nvPicPr>
          <p:cNvPr id="6" name="Picture 5" descr="t2.png"/>
          <p:cNvPicPr>
            <a:picLocks noChangeAspect="1"/>
          </p:cNvPicPr>
          <p:nvPr/>
        </p:nvPicPr>
        <p:blipFill>
          <a:blip r:embed="rId2"/>
          <a:stretch>
            <a:fillRect/>
          </a:stretch>
        </p:blipFill>
        <p:spPr>
          <a:xfrm>
            <a:off x="8074152" y="2310780"/>
            <a:ext cx="3611880" cy="1468343"/>
          </a:xfrm>
          <a:prstGeom prst="rect">
            <a:avLst/>
          </a:prstGeom>
          <a:ln w="9525">
            <a:solidFill>
              <a:srgbClr val="C9C2B2"/>
            </a:solidFill>
          </a:ln>
        </p:spPr>
      </p:pic>
      <p:sp>
        <p:nvSpPr>
          <p:cNvPr id="7" name="Rectangle 6"/>
          <p:cNvSpPr/>
          <p:nvPr/>
        </p:nvSpPr>
        <p:spPr>
          <a:xfrm>
            <a:off x="8074152" y="2310780"/>
            <a:ext cx="3611880" cy="1468343"/>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74152" y="4864608"/>
            <a:ext cx="361188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p.196 表 2：中美因子描述性统计</a:t>
            </a:r>
          </a:p>
        </p:txBody>
      </p:sp>
      <p:sp>
        <p:nvSpPr>
          <p:cNvPr id="9" name="Rectangle 8"/>
          <p:cNvSpPr/>
          <p:nvPr/>
        </p:nvSpPr>
        <p:spPr>
          <a:xfrm>
            <a:off x="502920" y="5230368"/>
            <a:ext cx="11183112" cy="603504"/>
          </a:xfrm>
          <a:prstGeom prst="rect">
            <a:avLst/>
          </a:prstGeom>
          <a:solidFill>
            <a:srgbClr val="FC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230368"/>
            <a:ext cx="45720" cy="6035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349240"/>
            <a:ext cx="10853928" cy="219456"/>
          </a:xfrm>
          <a:prstGeom prst="rect">
            <a:avLst/>
          </a:prstGeom>
          <a:noFill/>
        </p:spPr>
        <p:txBody>
          <a:bodyPr wrap="square" lIns="25400" rIns="25400" tIns="0" bIns="0" anchor="t">
            <a:spAutoFit/>
          </a:bodyPr>
          <a:lstStyle/>
          <a:p>
            <a:pPr algn="l">
              <a:lnSpc>
                <a:spcPct val="146000"/>
              </a:lnSpc>
              <a:spcBef>
                <a:spcPts val="0"/>
              </a:spcBef>
              <a:spcAft>
                <a:spcPts val="400"/>
              </a:spcAft>
            </a:pPr>
            <a:r>
              <a:rPr sz="1000" b="0">
                <a:solidFill>
                  <a:srgbClr val="243352"/>
                </a:solidFill>
                <a:latin typeface="宋体"/>
              </a:rPr>
              <a:t>措辞纪律：合成数据的方向由植入机制决定，以上数字不构成任何实证结论。它的作用是证明检验框架已搭好，换真实面板即出结果。</a:t>
            </a:r>
          </a:p>
        </p:txBody>
      </p:sp>
      <p:sp>
        <p:nvSpPr>
          <p:cNvPr id="12" name="TextBox 11"/>
          <p:cNvSpPr txBox="1"/>
          <p:nvPr/>
        </p:nvSpPr>
        <p:spPr>
          <a:xfrm>
            <a:off x="685800" y="5559552"/>
            <a:ext cx="10853928" cy="219456"/>
          </a:xfrm>
          <a:prstGeom prst="rect">
            <a:avLst/>
          </a:prstGeom>
          <a:noFill/>
        </p:spPr>
        <p:txBody>
          <a:bodyPr wrap="square" lIns="25400" rIns="25400" tIns="0" bIns="0" anchor="t">
            <a:spAutoFit/>
          </a:bodyPr>
          <a:lstStyle/>
          <a:p>
            <a:pPr algn="l">
              <a:spcBef>
                <a:spcPts val="0"/>
              </a:spcBef>
              <a:spcAft>
                <a:spcPts val="400"/>
              </a:spcAft>
            </a:pPr>
            <a:r>
              <a:rPr sz="900" b="0">
                <a:solidFill>
                  <a:srgbClr val="6E7A8C"/>
                </a:solidFill>
                <a:latin typeface="微软雅黑"/>
              </a:rPr>
              <a:t>对照 A / B 的数据口径来源：LSY(2019) JFE 134(1):48–69</a:t>
            </a:r>
          </a:p>
        </p:txBody>
      </p:sp>
      <p:sp>
        <p:nvSpPr>
          <p:cNvPr id="13" name="Rectangle 12"/>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这三组对照都可以直接改写成一区论文的「稳健性检验」章节</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交付物</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Gap 清单（1–4）：论文做法 → 留出的口子 → 改写方向</a:t>
            </a:r>
          </a:p>
        </p:txBody>
      </p:sp>
      <p:graphicFrame>
        <p:nvGraphicFramePr>
          <p:cNvPr id="5" name="Table 4"/>
          <p:cNvGraphicFramePr>
            <a:graphicFrameLocks noGrp="1"/>
          </p:cNvGraphicFramePr>
          <p:nvPr/>
        </p:nvGraphicFramePr>
        <p:xfrm>
          <a:off x="502920" y="1243584"/>
          <a:ext cx="8549640" cy="3840480"/>
        </p:xfrm>
        <a:graphic>
          <a:graphicData uri="http://schemas.openxmlformats.org/drawingml/2006/table">
            <a:tbl>
              <a:tblPr firstRow="1" bandRow="1">
                <a:tableStyleId>{5C22544A-7EE6-4342-B048-85BDC9FD1C3A}</a:tableStyleId>
              </a:tblPr>
              <a:tblGrid>
                <a:gridCol w="365760"/>
                <a:gridCol w="2651760"/>
                <a:gridCol w="2743200"/>
                <a:gridCol w="2788920"/>
              </a:tblGrid>
              <a:tr h="768096">
                <a:tc>
                  <a:txBody>
                    <a:bodyPr wrap="square"/>
                    <a:lstStyle/>
                    <a:p>
                      <a:r>
                        <a:rPr sz="950" b="1">
                          <a:solidFill>
                            <a:srgbClr val="FFFFFF"/>
                          </a:solidFill>
                          <a:latin typeface="微软雅黑"/>
                        </a:rPr>
                        <a:t>#</a:t>
                      </a:r>
                    </a:p>
                  </a:txBody>
                  <a:tcPr marL="63500" marR="63500" marT="25400" marB="25400" anchor="ctr">
                    <a:solidFill>
                      <a:srgbClr val="1B2A4A"/>
                    </a:solidFill>
                  </a:tcPr>
                </a:tc>
                <a:tc>
                  <a:txBody>
                    <a:bodyPr wrap="square"/>
                    <a:lstStyle/>
                    <a:p>
                      <a:r>
                        <a:rPr sz="950" b="1">
                          <a:solidFill>
                            <a:srgbClr val="FFFFFF"/>
                          </a:solidFill>
                          <a:latin typeface="微软雅黑"/>
                        </a:rPr>
                        <a:t>论文的做法</a:t>
                      </a:r>
                    </a:p>
                  </a:txBody>
                  <a:tcPr marL="63500" marR="63500" marT="25400" marB="25400" anchor="ctr">
                    <a:solidFill>
                      <a:srgbClr val="1B2A4A"/>
                    </a:solidFill>
                  </a:tcPr>
                </a:tc>
                <a:tc>
                  <a:txBody>
                    <a:bodyPr wrap="square"/>
                    <a:lstStyle/>
                    <a:p>
                      <a:r>
                        <a:rPr sz="950" b="1">
                          <a:solidFill>
                            <a:srgbClr val="FFFFFF"/>
                          </a:solidFill>
                          <a:latin typeface="微软雅黑"/>
                        </a:rPr>
                        <a:t>留出的口子</a:t>
                      </a:r>
                    </a:p>
                  </a:txBody>
                  <a:tcPr marL="63500" marR="63500" marT="25400" marB="25400" anchor="ctr">
                    <a:solidFill>
                      <a:srgbClr val="1B2A4A"/>
                    </a:solidFill>
                  </a:tcPr>
                </a:tc>
                <a:tc>
                  <a:txBody>
                    <a:bodyPr wrap="square"/>
                    <a:lstStyle/>
                    <a:p>
                      <a:r>
                        <a:rPr sz="950" b="1">
                          <a:solidFill>
                            <a:srgbClr val="FFFFFF"/>
                          </a:solidFill>
                          <a:latin typeface="微软雅黑"/>
                        </a:rPr>
                        <a:t>可写成 ID 的改写方向</a:t>
                      </a:r>
                    </a:p>
                  </a:txBody>
                  <a:tcPr marL="63500" marR="63500" marT="25400" marB="25400" anchor="ctr">
                    <a:solidFill>
                      <a:srgbClr val="1B2A4A"/>
                    </a:solidFill>
                  </a:tcPr>
                </a:tc>
              </a:tr>
              <a:tr h="768096">
                <a:tc>
                  <a:txBody>
                    <a:bodyPr wrap="square"/>
                    <a:lstStyle/>
                    <a:p>
                      <a:r>
                        <a:rPr sz="900" b="0">
                          <a:solidFill>
                            <a:srgbClr val="3A4A68"/>
                          </a:solidFill>
                          <a:latin typeface="微软雅黑"/>
                        </a:rPr>
                        <a:t>1</a:t>
                      </a:r>
                    </a:p>
                  </a:txBody>
                  <a:tcPr marL="63500" marR="63500" marT="25400" marB="25400" anchor="ctr">
                    <a:solidFill>
                      <a:srgbClr val="FFFFFF"/>
                    </a:solidFill>
                  </a:tcPr>
                </a:tc>
                <a:tc>
                  <a:txBody>
                    <a:bodyPr wrap="square"/>
                    <a:lstStyle/>
                    <a:p>
                      <a:r>
                        <a:rPr sz="900" b="0">
                          <a:solidFill>
                            <a:srgbClr val="3A4A68"/>
                          </a:solidFill>
                          <a:latin typeface="微软雅黑"/>
                        </a:rPr>
                        <a:t>市值口径用流通市值加权，Size 与 B/M 分母都是流通市值（p.194）</a:t>
                      </a:r>
                    </a:p>
                  </a:txBody>
                  <a:tcPr marL="63500" marR="63500" marT="25400" marB="25400" anchor="ctr">
                    <a:solidFill>
                      <a:srgbClr val="FFFFFF"/>
                    </a:solidFill>
                  </a:tcPr>
                </a:tc>
                <a:tc>
                  <a:txBody>
                    <a:bodyPr wrap="square"/>
                    <a:lstStyle/>
                    <a:p>
                      <a:r>
                        <a:rPr sz="900" b="0">
                          <a:solidFill>
                            <a:srgbClr val="3A4A68"/>
                          </a:solidFill>
                          <a:latin typeface="微软雅黑"/>
                        </a:rPr>
                        <a:t>流通市值只覆盖部分股本；国有控股比例高时与总市值排序差异大，小盘股被系统性错分</a:t>
                      </a:r>
                    </a:p>
                  </a:txBody>
                  <a:tcPr marL="63500" marR="63500" marT="25400" marB="25400" anchor="ctr">
                    <a:solidFill>
                      <a:srgbClr val="FFFFFF"/>
                    </a:solidFill>
                  </a:tcPr>
                </a:tc>
                <a:tc>
                  <a:txBody>
                    <a:bodyPr wrap="square"/>
                    <a:lstStyle/>
                    <a:p>
                      <a:r>
                        <a:rPr sz="900" b="0">
                          <a:solidFill>
                            <a:srgbClr val="3A4A68"/>
                          </a:solidFill>
                          <a:latin typeface="微软雅黑"/>
                        </a:rPr>
                        <a:t>做【流通市值 vs 总市值】双口径对照，量化 SMB 载荷错分对「股改后规模效应增强」的贡献度</a:t>
                      </a:r>
                    </a:p>
                  </a:txBody>
                  <a:tcPr marL="63500" marR="63500" marT="25400" marB="25400" anchor="ctr">
                    <a:solidFill>
                      <a:srgbClr val="FFFFFF"/>
                    </a:solidFill>
                  </a:tcPr>
                </a:tc>
              </a:tr>
              <a:tr h="768096">
                <a:tc>
                  <a:txBody>
                    <a:bodyPr wrap="square"/>
                    <a:lstStyle/>
                    <a:p>
                      <a:r>
                        <a:rPr sz="900" b="0">
                          <a:solidFill>
                            <a:srgbClr val="3A4A68"/>
                          </a:solidFill>
                          <a:latin typeface="微软雅黑"/>
                        </a:rPr>
                        <a:t>2</a:t>
                      </a:r>
                    </a:p>
                  </a:txBody>
                  <a:tcPr marL="63500" marR="63500" marT="25400" marB="25400" anchor="ctr">
                    <a:solidFill>
                      <a:srgbClr val="F4F0E6"/>
                    </a:solidFill>
                  </a:tcPr>
                </a:tc>
                <a:tc>
                  <a:txBody>
                    <a:bodyPr wrap="square"/>
                    <a:lstStyle/>
                    <a:p>
                      <a:r>
                        <a:rPr sz="900" b="0">
                          <a:solidFill>
                            <a:srgbClr val="3A4A68"/>
                          </a:solidFill>
                          <a:latin typeface="微软雅黑"/>
                        </a:rPr>
                        <a:t>直接照搬 FF(2015a) 分组流程，采用全体 A 股分位点（p.194 脚注 1）</a:t>
                      </a:r>
                    </a:p>
                  </a:txBody>
                  <a:tcPr marL="63500" marR="63500" marT="25400" marB="25400" anchor="ctr">
                    <a:solidFill>
                      <a:srgbClr val="F4F0E6"/>
                    </a:solidFill>
                  </a:tcPr>
                </a:tc>
                <a:tc>
                  <a:txBody>
                    <a:bodyPr wrap="square"/>
                    <a:lstStyle/>
                    <a:p>
                      <a:r>
                        <a:rPr sz="900" b="0">
                          <a:solidFill>
                            <a:srgbClr val="3A4A68"/>
                          </a:solidFill>
                          <a:latin typeface="微软雅黑"/>
                        </a:rPr>
                        <a:t>未剔除最小 30% 市值。83% 的借壳标的来自最小 30%，壳期权价值进入小盘股收益</a:t>
                      </a:r>
                    </a:p>
                  </a:txBody>
                  <a:tcPr marL="63500" marR="63500" marT="25400" marB="25400" anchor="ctr">
                    <a:solidFill>
                      <a:srgbClr val="F4F0E6"/>
                    </a:solidFill>
                  </a:tcPr>
                </a:tc>
                <a:tc>
                  <a:txBody>
                    <a:bodyPr wrap="square"/>
                    <a:lstStyle/>
                    <a:p>
                      <a:r>
                        <a:rPr sz="900" b="0">
                          <a:solidFill>
                            <a:srgbClr val="3A4A68"/>
                          </a:solidFill>
                          <a:latin typeface="微软雅黑"/>
                        </a:rPr>
                        <a:t>剔除最小 30%，或改用「高壳概率」筛选（Li &amp; Rao 2022），检验「CMA 冗余」是否翻转</a:t>
                      </a:r>
                    </a:p>
                  </a:txBody>
                  <a:tcPr marL="63500" marR="63500" marT="25400" marB="25400" anchor="ctr">
                    <a:solidFill>
                      <a:srgbClr val="F4F0E6"/>
                    </a:solidFill>
                  </a:tcPr>
                </a:tc>
              </a:tr>
              <a:tr h="768096">
                <a:tc>
                  <a:txBody>
                    <a:bodyPr wrap="square"/>
                    <a:lstStyle/>
                    <a:p>
                      <a:r>
                        <a:rPr sz="900" b="0">
                          <a:solidFill>
                            <a:srgbClr val="3A4A68"/>
                          </a:solidFill>
                          <a:latin typeface="微软雅黑"/>
                        </a:rPr>
                        <a:t>3</a:t>
                      </a:r>
                    </a:p>
                  </a:txBody>
                  <a:tcPr marL="63500" marR="63500" marT="25400" marB="25400" anchor="ctr">
                    <a:solidFill>
                      <a:srgbClr val="FFFFFF"/>
                    </a:solidFill>
                  </a:tcPr>
                </a:tc>
                <a:tc>
                  <a:txBody>
                    <a:bodyPr wrap="square"/>
                    <a:lstStyle/>
                    <a:p>
                      <a:r>
                        <a:rPr sz="900" b="0">
                          <a:solidFill>
                            <a:srgbClr val="3A4A68"/>
                          </a:solidFill>
                          <a:latin typeface="微软雅黑"/>
                        </a:rPr>
                        <a:t>OP 用「营业利润 / 股东权益合计」替代 FF 的「营业利润 / 账面权益」（p.194）</a:t>
                      </a:r>
                    </a:p>
                  </a:txBody>
                  <a:tcPr marL="63500" marR="63500" marT="25400" marB="25400" anchor="ctr">
                    <a:solidFill>
                      <a:srgbClr val="FFFFFF"/>
                    </a:solidFill>
                  </a:tcPr>
                </a:tc>
                <a:tc>
                  <a:txBody>
                    <a:bodyPr wrap="square"/>
                    <a:lstStyle/>
                    <a:p>
                      <a:r>
                        <a:rPr sz="900" b="0">
                          <a:solidFill>
                            <a:srgbClr val="3A4A68"/>
                          </a:solidFill>
                          <a:latin typeface="微软雅黑"/>
                        </a:rPr>
                        <a:t>以中美会计准则差异为由直接替换，未论证两种口径的等价性</a:t>
                      </a:r>
                    </a:p>
                  </a:txBody>
                  <a:tcPr marL="63500" marR="63500" marT="25400" marB="25400" anchor="ctr">
                    <a:solidFill>
                      <a:srgbClr val="FFFFFF"/>
                    </a:solidFill>
                  </a:tcPr>
                </a:tc>
                <a:tc>
                  <a:txBody>
                    <a:bodyPr wrap="square"/>
                    <a:lstStyle/>
                    <a:p>
                      <a:r>
                        <a:rPr sz="900" b="0">
                          <a:solidFill>
                            <a:srgbClr val="3A4A68"/>
                          </a:solidFill>
                          <a:latin typeface="微软雅黑"/>
                        </a:rPr>
                        <a:t>构造两套 OP 做等价性检验（相关系数 + 排序一致性 + 因子收益对比），量化载荷漂移</a:t>
                      </a:r>
                    </a:p>
                  </a:txBody>
                  <a:tcPr marL="63500" marR="63500" marT="25400" marB="25400" anchor="ctr">
                    <a:solidFill>
                      <a:srgbClr val="FFFFFF"/>
                    </a:solidFill>
                  </a:tcPr>
                </a:tc>
              </a:tr>
              <a:tr h="768096">
                <a:tc>
                  <a:txBody>
                    <a:bodyPr wrap="square"/>
                    <a:lstStyle/>
                    <a:p>
                      <a:r>
                        <a:rPr sz="900" b="0">
                          <a:solidFill>
                            <a:srgbClr val="3A4A68"/>
                          </a:solidFill>
                          <a:latin typeface="微软雅黑"/>
                        </a:rPr>
                        <a:t>4</a:t>
                      </a:r>
                    </a:p>
                  </a:txBody>
                  <a:tcPr marL="63500" marR="63500" marT="25400" marB="25400" anchor="ctr">
                    <a:solidFill>
                      <a:srgbClr val="F4F0E6"/>
                    </a:solidFill>
                  </a:tcPr>
                </a:tc>
                <a:tc>
                  <a:txBody>
                    <a:bodyPr wrap="square"/>
                    <a:lstStyle/>
                    <a:p>
                      <a:r>
                        <a:rPr sz="900" b="0">
                          <a:solidFill>
                            <a:srgbClr val="3A4A68"/>
                          </a:solidFill>
                          <a:latin typeface="微软雅黑"/>
                        </a:rPr>
                        <a:t>B/M 作为唯一价值变量，未与竞争性估值指标赛马</a:t>
                      </a:r>
                    </a:p>
                  </a:txBody>
                  <a:tcPr marL="63500" marR="63500" marT="25400" marB="25400" anchor="ctr">
                    <a:solidFill>
                      <a:srgbClr val="F4F0E6"/>
                    </a:solidFill>
                  </a:tcPr>
                </a:tc>
                <a:tc>
                  <a:txBody>
                    <a:bodyPr wrap="square"/>
                    <a:lstStyle/>
                    <a:p>
                      <a:r>
                        <a:rPr sz="900" b="0">
                          <a:solidFill>
                            <a:srgbClr val="3A4A68"/>
                          </a:solidFill>
                          <a:latin typeface="微软雅黑"/>
                        </a:rPr>
                        <a:t>LSY(2019) 的 Fama-MacBeth 赛马表明：中国市场 E/P 吸收 B/M 的全部价值效应</a:t>
                      </a:r>
                    </a:p>
                  </a:txBody>
                  <a:tcPr marL="63500" marR="63500" marT="25400" marB="25400" anchor="ctr">
                    <a:solidFill>
                      <a:srgbClr val="F4F0E6"/>
                    </a:solidFill>
                  </a:tcPr>
                </a:tc>
                <a:tc>
                  <a:txBody>
                    <a:bodyPr wrap="square"/>
                    <a:lstStyle/>
                    <a:p>
                      <a:r>
                        <a:rPr sz="900" b="0">
                          <a:solidFill>
                            <a:srgbClr val="3A4A68"/>
                          </a:solidFill>
                          <a:latin typeface="微软雅黑"/>
                        </a:rPr>
                        <a:t>以 E/P 重建 HML，做 B/M vs E/P 赛马，检验「股改后市场趋于有效」的稳健性</a:t>
                      </a:r>
                    </a:p>
                  </a:txBody>
                  <a:tcPr marL="63500" marR="63500" marT="25400" marB="25400" anchor="ctr">
                    <a:solidFill>
                      <a:srgbClr val="F4F0E6"/>
                    </a:solidFill>
                  </a:tcPr>
                </a:tc>
              </a:tr>
            </a:tbl>
          </a:graphicData>
        </a:graphic>
      </p:graphicFrame>
      <p:pic>
        <p:nvPicPr>
          <p:cNvPr id="6" name="Picture 5" descr="full_p04.png"/>
          <p:cNvPicPr>
            <a:picLocks noChangeAspect="1"/>
          </p:cNvPicPr>
          <p:nvPr/>
        </p:nvPicPr>
        <p:blipFill>
          <a:blip r:embed="rId2"/>
          <a:stretch>
            <a:fillRect/>
          </a:stretch>
        </p:blipFill>
        <p:spPr>
          <a:xfrm>
            <a:off x="9262872" y="1376872"/>
            <a:ext cx="2423160" cy="3427598"/>
          </a:xfrm>
          <a:prstGeom prst="rect">
            <a:avLst/>
          </a:prstGeom>
          <a:ln w="9525">
            <a:solidFill>
              <a:srgbClr val="C9C2B2"/>
            </a:solidFill>
          </a:ln>
        </p:spPr>
      </p:pic>
      <p:sp>
        <p:nvSpPr>
          <p:cNvPr id="7" name="Rectangle 6"/>
          <p:cNvSpPr/>
          <p:nvPr/>
        </p:nvSpPr>
        <p:spPr>
          <a:xfrm>
            <a:off x="9262872" y="1376872"/>
            <a:ext cx="2423160" cy="342759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62872" y="4956048"/>
            <a:ext cx="242316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P194 整页</a:t>
            </a:r>
          </a:p>
        </p:txBody>
      </p:sp>
      <p:sp>
        <p:nvSpPr>
          <p:cNvPr id="9" name="Rectangle 8"/>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Gap 1–4 全部落在「口径」上：口径是可证伪的，机制是可论证的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灵魂代码 · 交付物</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Gap 清单（5–8）</a:t>
            </a:r>
          </a:p>
        </p:txBody>
      </p:sp>
      <p:graphicFrame>
        <p:nvGraphicFramePr>
          <p:cNvPr id="5" name="Table 4"/>
          <p:cNvGraphicFramePr>
            <a:graphicFrameLocks noGrp="1"/>
          </p:cNvGraphicFramePr>
          <p:nvPr/>
        </p:nvGraphicFramePr>
        <p:xfrm>
          <a:off x="502920" y="1243584"/>
          <a:ext cx="8549640" cy="3840480"/>
        </p:xfrm>
        <a:graphic>
          <a:graphicData uri="http://schemas.openxmlformats.org/drawingml/2006/table">
            <a:tbl>
              <a:tblPr firstRow="1" bandRow="1">
                <a:tableStyleId>{5C22544A-7EE6-4342-B048-85BDC9FD1C3A}</a:tableStyleId>
              </a:tblPr>
              <a:tblGrid>
                <a:gridCol w="365760"/>
                <a:gridCol w="2651760"/>
                <a:gridCol w="2743200"/>
                <a:gridCol w="2788920"/>
              </a:tblGrid>
              <a:tr h="768096">
                <a:tc>
                  <a:txBody>
                    <a:bodyPr wrap="square"/>
                    <a:lstStyle/>
                    <a:p>
                      <a:r>
                        <a:rPr sz="950" b="1">
                          <a:solidFill>
                            <a:srgbClr val="FFFFFF"/>
                          </a:solidFill>
                          <a:latin typeface="微软雅黑"/>
                        </a:rPr>
                        <a:t>#</a:t>
                      </a:r>
                    </a:p>
                  </a:txBody>
                  <a:tcPr marL="63500" marR="63500" marT="25400" marB="25400" anchor="ctr">
                    <a:solidFill>
                      <a:srgbClr val="1B2A4A"/>
                    </a:solidFill>
                  </a:tcPr>
                </a:tc>
                <a:tc>
                  <a:txBody>
                    <a:bodyPr wrap="square"/>
                    <a:lstStyle/>
                    <a:p>
                      <a:r>
                        <a:rPr sz="950" b="1">
                          <a:solidFill>
                            <a:srgbClr val="FFFFFF"/>
                          </a:solidFill>
                          <a:latin typeface="微软雅黑"/>
                        </a:rPr>
                        <a:t>论文的做法</a:t>
                      </a:r>
                    </a:p>
                  </a:txBody>
                  <a:tcPr marL="63500" marR="63500" marT="25400" marB="25400" anchor="ctr">
                    <a:solidFill>
                      <a:srgbClr val="1B2A4A"/>
                    </a:solidFill>
                  </a:tcPr>
                </a:tc>
                <a:tc>
                  <a:txBody>
                    <a:bodyPr wrap="square"/>
                    <a:lstStyle/>
                    <a:p>
                      <a:r>
                        <a:rPr sz="950" b="1">
                          <a:solidFill>
                            <a:srgbClr val="FFFFFF"/>
                          </a:solidFill>
                          <a:latin typeface="微软雅黑"/>
                        </a:rPr>
                        <a:t>留出的口子</a:t>
                      </a:r>
                    </a:p>
                  </a:txBody>
                  <a:tcPr marL="63500" marR="63500" marT="25400" marB="25400" anchor="ctr">
                    <a:solidFill>
                      <a:srgbClr val="1B2A4A"/>
                    </a:solidFill>
                  </a:tcPr>
                </a:tc>
                <a:tc>
                  <a:txBody>
                    <a:bodyPr wrap="square"/>
                    <a:lstStyle/>
                    <a:p>
                      <a:r>
                        <a:rPr sz="950" b="1">
                          <a:solidFill>
                            <a:srgbClr val="FFFFFF"/>
                          </a:solidFill>
                          <a:latin typeface="微软雅黑"/>
                        </a:rPr>
                        <a:t>可写成 ID 的改写方向</a:t>
                      </a:r>
                    </a:p>
                  </a:txBody>
                  <a:tcPr marL="63500" marR="63500" marT="25400" marB="25400" anchor="ctr">
                    <a:solidFill>
                      <a:srgbClr val="1B2A4A"/>
                    </a:solidFill>
                  </a:tcPr>
                </a:tc>
              </a:tr>
              <a:tr h="768096">
                <a:tc>
                  <a:txBody>
                    <a:bodyPr wrap="square"/>
                    <a:lstStyle/>
                    <a:p>
                      <a:r>
                        <a:rPr sz="900" b="0">
                          <a:solidFill>
                            <a:srgbClr val="3A4A68"/>
                          </a:solidFill>
                          <a:latin typeface="微软雅黑"/>
                        </a:rPr>
                        <a:t>5</a:t>
                      </a:r>
                    </a:p>
                  </a:txBody>
                  <a:tcPr marL="63500" marR="63500" marT="25400" marB="25400" anchor="ctr">
                    <a:solidFill>
                      <a:srgbClr val="FFFFFF"/>
                    </a:solidFill>
                  </a:tcPr>
                </a:tc>
                <a:tc>
                  <a:txBody>
                    <a:bodyPr wrap="square"/>
                    <a:lstStyle/>
                    <a:p>
                      <a:r>
                        <a:rPr sz="900" b="0">
                          <a:solidFill>
                            <a:srgbClr val="3A4A68"/>
                          </a:solidFill>
                          <a:latin typeface="微软雅黑"/>
                        </a:rPr>
                        <a:t>股改断点用单一已知点 Chow 检验，2007-06（p.200 脚注）</a:t>
                      </a:r>
                    </a:p>
                  </a:txBody>
                  <a:tcPr marL="63500" marR="63500" marT="25400" marB="25400" anchor="ctr">
                    <a:solidFill>
                      <a:srgbClr val="FFFFFF"/>
                    </a:solidFill>
                  </a:tcPr>
                </a:tc>
                <a:tc>
                  <a:txBody>
                    <a:bodyPr wrap="square"/>
                    <a:lstStyle/>
                    <a:p>
                      <a:r>
                        <a:rPr sz="900" b="0">
                          <a:solidFill>
                            <a:srgbClr val="3A4A68"/>
                          </a:solidFill>
                          <a:latin typeface="微软雅黑"/>
                        </a:rPr>
                        <a:t>只有一次结构化检验；无法识别 2017 注册制等后续断点，也无法给出断点位置的置信区间</a:t>
                      </a:r>
                    </a:p>
                  </a:txBody>
                  <a:tcPr marL="63500" marR="63500" marT="25400" marB="25400" anchor="ctr">
                    <a:solidFill>
                      <a:srgbClr val="FFFFFF"/>
                    </a:solidFill>
                  </a:tcPr>
                </a:tc>
                <a:tc>
                  <a:txBody>
                    <a:bodyPr wrap="square"/>
                    <a:lstStyle/>
                    <a:p>
                      <a:r>
                        <a:rPr sz="900" b="0">
                          <a:solidFill>
                            <a:srgbClr val="3A4A68"/>
                          </a:solidFill>
                          <a:latin typeface="微软雅黑"/>
                        </a:rPr>
                        <a:t>单一 Chow → 多重未知断点（Bai-Perron / 顺序检验），输出断点个数、位置与置信区间</a:t>
                      </a:r>
                    </a:p>
                  </a:txBody>
                  <a:tcPr marL="63500" marR="63500" marT="25400" marB="25400" anchor="ctr">
                    <a:solidFill>
                      <a:srgbClr val="FFFFFF"/>
                    </a:solidFill>
                  </a:tcPr>
                </a:tc>
              </a:tr>
              <a:tr h="768096">
                <a:tc>
                  <a:txBody>
                    <a:bodyPr wrap="square"/>
                    <a:lstStyle/>
                    <a:p>
                      <a:r>
                        <a:rPr sz="900" b="0">
                          <a:solidFill>
                            <a:srgbClr val="3A4A68"/>
                          </a:solidFill>
                          <a:latin typeface="微软雅黑"/>
                        </a:rPr>
                        <a:t>6</a:t>
                      </a:r>
                    </a:p>
                  </a:txBody>
                  <a:tcPr marL="63500" marR="63500" marT="25400" marB="25400" anchor="ctr">
                    <a:solidFill>
                      <a:srgbClr val="F4F0E6"/>
                    </a:solidFill>
                  </a:tcPr>
                </a:tc>
                <a:tc>
                  <a:txBody>
                    <a:bodyPr wrap="square"/>
                    <a:lstStyle/>
                    <a:p>
                      <a:r>
                        <a:rPr sz="900" b="0">
                          <a:solidFill>
                            <a:srgbClr val="3A4A68"/>
                          </a:solidFill>
                          <a:latin typeface="微软雅黑"/>
                        </a:rPr>
                        <a:t>MOM 因子按 FF(2016) 方向构建（高历史收益减低历史收益），p.203 脚注</a:t>
                      </a:r>
                    </a:p>
                  </a:txBody>
                  <a:tcPr marL="63500" marR="63500" marT="25400" marB="25400" anchor="ctr">
                    <a:solidFill>
                      <a:srgbClr val="F4F0E6"/>
                    </a:solidFill>
                  </a:tcPr>
                </a:tc>
                <a:tc>
                  <a:txBody>
                    <a:bodyPr wrap="square"/>
                    <a:lstStyle/>
                    <a:p>
                      <a:r>
                        <a:rPr sz="900" b="0">
                          <a:solidFill>
                            <a:srgbClr val="3A4A68"/>
                          </a:solidFill>
                          <a:latin typeface="微软雅黑"/>
                        </a:rPr>
                        <a:t>文章已发现中国市场是反转效应，却仍沿用动量方向的因子；截距显著为负，正说明因子方向与实际效应相反</a:t>
                      </a:r>
                    </a:p>
                  </a:txBody>
                  <a:tcPr marL="63500" marR="63500" marT="25400" marB="25400" anchor="ctr">
                    <a:solidFill>
                      <a:srgbClr val="F4F0E6"/>
                    </a:solidFill>
                  </a:tcPr>
                </a:tc>
                <a:tc>
                  <a:txBody>
                    <a:bodyPr wrap="square"/>
                    <a:lstStyle/>
                    <a:p>
                      <a:r>
                        <a:rPr sz="900" b="0">
                          <a:solidFill>
                            <a:srgbClr val="3A4A68"/>
                          </a:solidFill>
                          <a:latin typeface="微软雅黑"/>
                        </a:rPr>
                        <a:t>显式构建反转方向因子，检验换手率 / 情绪（PMO）能否解释股改后反转效应</a:t>
                      </a:r>
                    </a:p>
                  </a:txBody>
                  <a:tcPr marL="63500" marR="63500" marT="25400" marB="25400" anchor="ctr">
                    <a:solidFill>
                      <a:srgbClr val="F4F0E6"/>
                    </a:solidFill>
                  </a:tcPr>
                </a:tc>
              </a:tr>
              <a:tr h="768096">
                <a:tc>
                  <a:txBody>
                    <a:bodyPr wrap="square"/>
                    <a:lstStyle/>
                    <a:p>
                      <a:r>
                        <a:rPr sz="900" b="0">
                          <a:solidFill>
                            <a:srgbClr val="3A4A68"/>
                          </a:solidFill>
                          <a:latin typeface="微软雅黑"/>
                        </a:rPr>
                        <a:t>7</a:t>
                      </a:r>
                    </a:p>
                  </a:txBody>
                  <a:tcPr marL="63500" marR="63500" marT="25400" marB="25400" anchor="ctr">
                    <a:solidFill>
                      <a:srgbClr val="FFFFFF"/>
                    </a:solidFill>
                  </a:tcPr>
                </a:tc>
                <a:tc>
                  <a:txBody>
                    <a:bodyPr wrap="square"/>
                    <a:lstStyle/>
                    <a:p>
                      <a:r>
                        <a:rPr sz="900" b="0">
                          <a:solidFill>
                            <a:srgbClr val="3A4A68"/>
                          </a:solidFill>
                          <a:latin typeface="微软雅黑"/>
                        </a:rPr>
                        <a:t>评估以月度频率、GRS + 截距项四指标为主（p.199）</a:t>
                      </a:r>
                    </a:p>
                  </a:txBody>
                  <a:tcPr marL="63500" marR="63500" marT="25400" marB="25400" anchor="ctr">
                    <a:solidFill>
                      <a:srgbClr val="FFFFFF"/>
                    </a:solidFill>
                  </a:tcPr>
                </a:tc>
                <a:tc>
                  <a:txBody>
                    <a:bodyPr wrap="square"/>
                    <a:lstStyle/>
                    <a:p>
                      <a:r>
                        <a:rPr sz="900" b="0">
                          <a:solidFill>
                            <a:srgbClr val="3A4A68"/>
                          </a:solidFill>
                          <a:latin typeface="微软雅黑"/>
                        </a:rPr>
                        <a:t>未考虑交易成本；未做多重检验校正（同一数据集上数百个因子的检验）</a:t>
                      </a:r>
                    </a:p>
                  </a:txBody>
                  <a:tcPr marL="63500" marR="63500" marT="25400" marB="25400" anchor="ctr">
                    <a:solidFill>
                      <a:srgbClr val="FFFFFF"/>
                    </a:solidFill>
                  </a:tcPr>
                </a:tc>
                <a:tc>
                  <a:txBody>
                    <a:bodyPr wrap="square"/>
                    <a:lstStyle/>
                    <a:p>
                      <a:r>
                        <a:rPr sz="900" b="0">
                          <a:solidFill>
                            <a:srgbClr val="3A4A68"/>
                          </a:solidFill>
                          <a:latin typeface="微软雅黑"/>
                        </a:rPr>
                        <a:t>加入换手率与成本约束后的净 alpha 排序；用 Harvey-Liu(2020) 双重自举做多重检验校正</a:t>
                      </a:r>
                    </a:p>
                  </a:txBody>
                  <a:tcPr marL="63500" marR="63500" marT="25400" marB="25400" anchor="ctr">
                    <a:solidFill>
                      <a:srgbClr val="FFFFFF"/>
                    </a:solidFill>
                  </a:tcPr>
                </a:tc>
              </a:tr>
              <a:tr h="768096">
                <a:tc>
                  <a:txBody>
                    <a:bodyPr wrap="square"/>
                    <a:lstStyle/>
                    <a:p>
                      <a:r>
                        <a:rPr sz="900" b="0">
                          <a:solidFill>
                            <a:srgbClr val="3A4A68"/>
                          </a:solidFill>
                          <a:latin typeface="微软雅黑"/>
                        </a:rPr>
                        <a:t>8</a:t>
                      </a:r>
                    </a:p>
                  </a:txBody>
                  <a:tcPr marL="63500" marR="63500" marT="25400" marB="25400" anchor="ctr">
                    <a:solidFill>
                      <a:srgbClr val="F4F0E6"/>
                    </a:solidFill>
                  </a:tcPr>
                </a:tc>
                <a:tc>
                  <a:txBody>
                    <a:bodyPr wrap="square"/>
                    <a:lstStyle/>
                    <a:p>
                      <a:r>
                        <a:rPr sz="900" b="0">
                          <a:solidFill>
                            <a:srgbClr val="3A4A68"/>
                          </a:solidFill>
                          <a:latin typeface="微软雅黑"/>
                        </a:rPr>
                        <a:t>作者在结论中交棒：FF5 与 FF6 在某些分组下仍无法通过 GRS（p.205）</a:t>
                      </a:r>
                    </a:p>
                  </a:txBody>
                  <a:tcPr marL="63500" marR="63500" marT="25400" marB="25400" anchor="ctr">
                    <a:solidFill>
                      <a:srgbClr val="F4F0E6"/>
                    </a:solidFill>
                  </a:tcPr>
                </a:tc>
                <a:tc>
                  <a:txBody>
                    <a:bodyPr wrap="square"/>
                    <a:lstStyle/>
                    <a:p>
                      <a:r>
                        <a:rPr sz="900" b="0">
                          <a:solidFill>
                            <a:srgbClr val="3A4A68"/>
                          </a:solidFill>
                          <a:latin typeface="微软雅黑"/>
                        </a:rPr>
                        <a:t>未回答「是哪些分组、为什么失败、缺哪个因子」</a:t>
                      </a:r>
                    </a:p>
                  </a:txBody>
                  <a:tcPr marL="63500" marR="63500" marT="25400" marB="25400" anchor="ctr">
                    <a:solidFill>
                      <a:srgbClr val="F4F0E6"/>
                    </a:solidFill>
                  </a:tcPr>
                </a:tc>
                <a:tc>
                  <a:txBody>
                    <a:bodyPr wrap="square"/>
                    <a:lstStyle/>
                    <a:p>
                      <a:r>
                        <a:rPr sz="900" b="0">
                          <a:solidFill>
                            <a:srgbClr val="3A4A68"/>
                          </a:solidFill>
                          <a:latin typeface="微软雅黑"/>
                        </a:rPr>
                        <a:t>定位 GRS 失败的分组切片，反推缺失因子的经济学属性，构造候选新因子并做样本外验证</a:t>
                      </a:r>
                    </a:p>
                  </a:txBody>
                  <a:tcPr marL="63500" marR="63500" marT="25400" marB="25400" anchor="ctr">
                    <a:solidFill>
                      <a:srgbClr val="F4F0E6"/>
                    </a:solidFill>
                  </a:tcPr>
                </a:tc>
              </a:tr>
            </a:tbl>
          </a:graphicData>
        </a:graphic>
      </p:graphicFrame>
      <p:pic>
        <p:nvPicPr>
          <p:cNvPr id="6" name="Picture 5" descr="full_p14.png"/>
          <p:cNvPicPr>
            <a:picLocks noChangeAspect="1"/>
          </p:cNvPicPr>
          <p:nvPr/>
        </p:nvPicPr>
        <p:blipFill>
          <a:blip r:embed="rId2"/>
          <a:stretch>
            <a:fillRect/>
          </a:stretch>
        </p:blipFill>
        <p:spPr>
          <a:xfrm>
            <a:off x="9262872" y="1376872"/>
            <a:ext cx="2423160" cy="3427598"/>
          </a:xfrm>
          <a:prstGeom prst="rect">
            <a:avLst/>
          </a:prstGeom>
          <a:ln w="9525">
            <a:solidFill>
              <a:srgbClr val="C9C2B2"/>
            </a:solidFill>
          </a:ln>
        </p:spPr>
      </p:pic>
      <p:sp>
        <p:nvSpPr>
          <p:cNvPr id="7" name="Rectangle 6"/>
          <p:cNvSpPr/>
          <p:nvPr/>
        </p:nvSpPr>
        <p:spPr>
          <a:xfrm>
            <a:off x="9262872" y="1376872"/>
            <a:ext cx="2423160" cy="3427598"/>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62872" y="4956048"/>
            <a:ext cx="2423160" cy="219456"/>
          </a:xfrm>
          <a:prstGeom prst="rect">
            <a:avLst/>
          </a:prstGeom>
          <a:noFill/>
        </p:spPr>
        <p:txBody>
          <a:bodyPr wrap="square" lIns="25400" rIns="25400" tIns="0" bIns="0" anchor="t">
            <a:spAutoFit/>
          </a:bodyPr>
          <a:lstStyle/>
          <a:p>
            <a:pPr algn="ctr">
              <a:spcBef>
                <a:spcPts val="0"/>
              </a:spcBef>
              <a:spcAft>
                <a:spcPts val="400"/>
              </a:spcAft>
            </a:pPr>
            <a:r>
              <a:rPr sz="950" b="0">
                <a:solidFill>
                  <a:srgbClr val="6E7A8C"/>
                </a:solidFill>
                <a:latin typeface="微软雅黑"/>
              </a:rPr>
              <a:t>原文 P204 整页</a:t>
            </a:r>
          </a:p>
        </p:txBody>
      </p:sp>
      <p:sp>
        <p:nvSpPr>
          <p:cNvPr id="9" name="Rectangle 8"/>
          <p:cNvSpPr/>
          <p:nvPr/>
        </p:nvSpPr>
        <p:spPr>
          <a:xfrm>
            <a:off x="502920" y="5321808"/>
            <a:ext cx="11183112" cy="51206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5413248"/>
            <a:ext cx="10744200" cy="329184"/>
          </a:xfrm>
          <a:prstGeom prst="rect">
            <a:avLst/>
          </a:prstGeom>
          <a:noFill/>
        </p:spPr>
        <p:txBody>
          <a:bodyPr wrap="square" lIns="25400" rIns="25400" tIns="0" bIns="0" anchor="ctr">
            <a:spAutoFit/>
          </a:bodyPr>
          <a:lstStyle/>
          <a:p>
            <a:pPr algn="l">
              <a:lnSpc>
                <a:spcPct val="135000"/>
              </a:lnSpc>
              <a:spcBef>
                <a:spcPts val="0"/>
              </a:spcBef>
              <a:spcAft>
                <a:spcPts val="400"/>
              </a:spcAft>
            </a:pPr>
            <a:r>
              <a:rPr sz="1300" b="0">
                <a:solidFill>
                  <a:srgbClr val="FFFFFF"/>
                </a:solidFill>
                <a:latin typeface="微软雅黑"/>
              </a:rPr>
              <a:t>Gap 5–7 是方法论升级，Gap 8 是作者亲手递给你的选题。前者靠读方法章节，后者靠读结论段最后两段。</a:t>
            </a:r>
          </a:p>
        </p:txBody>
      </p:sp>
      <p:sp>
        <p:nvSpPr>
          <p:cNvPr id="11" name="Rectangle 10"/>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Gap 8 提示：结论段的「仍无法解释」是全文信息密度最高的一句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55680" cy="256032"/>
          </a:xfrm>
          <a:prstGeom prst="rect">
            <a:avLst/>
          </a:prstGeom>
          <a:noFill/>
        </p:spPr>
        <p:txBody>
          <a:bodyPr wrap="square" lIns="25400" rIns="25400" tIns="0" bIns="0" anchor="t">
            <a:spAutoFit/>
          </a:bodyPr>
          <a:lstStyle/>
          <a:p>
            <a:pPr algn="l">
              <a:spcBef>
                <a:spcPts val="0"/>
              </a:spcBef>
              <a:spcAft>
                <a:spcPts val="400"/>
              </a:spcAft>
            </a:pPr>
            <a:r>
              <a:rPr sz="1150" b="1">
                <a:solidFill>
                  <a:srgbClr val="B8860B"/>
                </a:solidFill>
                <a:latin typeface="微软雅黑"/>
              </a:rPr>
              <a:t>带走这一页</a:t>
            </a:r>
          </a:p>
        </p:txBody>
      </p:sp>
      <p:sp>
        <p:nvSpPr>
          <p:cNvPr id="4" name="TextBox 3"/>
          <p:cNvSpPr txBox="1"/>
          <p:nvPr/>
        </p:nvSpPr>
        <p:spPr>
          <a:xfrm>
            <a:off x="502920" y="548640"/>
            <a:ext cx="11155680" cy="566928"/>
          </a:xfrm>
          <a:prstGeom prst="rect">
            <a:avLst/>
          </a:prstGeom>
          <a:noFill/>
        </p:spPr>
        <p:txBody>
          <a:bodyPr wrap="square" lIns="25400" rIns="25400" tIns="0" bIns="0" anchor="t">
            <a:spAutoFit/>
          </a:bodyPr>
          <a:lstStyle/>
          <a:p>
            <a:pPr algn="l">
              <a:lnSpc>
                <a:spcPct val="112000"/>
              </a:lnSpc>
              <a:spcBef>
                <a:spcPts val="0"/>
              </a:spcBef>
              <a:spcAft>
                <a:spcPts val="400"/>
              </a:spcAft>
            </a:pPr>
            <a:r>
              <a:rPr sz="2500" b="1">
                <a:solidFill>
                  <a:srgbClr val="1B2A4A"/>
                </a:solidFill>
                <a:latin typeface="微软雅黑"/>
              </a:rPr>
              <a:t>下一篇论文，照着这四步做一遍</a:t>
            </a:r>
          </a:p>
        </p:txBody>
      </p:sp>
      <p:sp>
        <p:nvSpPr>
          <p:cNvPr id="5" name="Rectangle 4"/>
          <p:cNvSpPr/>
          <p:nvPr/>
        </p:nvSpPr>
        <p:spPr>
          <a:xfrm>
            <a:off x="502920" y="1243584"/>
            <a:ext cx="2715768" cy="228600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43584"/>
            <a:ext cx="271576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1389888"/>
            <a:ext cx="2423160" cy="310896"/>
          </a:xfrm>
          <a:prstGeom prst="rect">
            <a:avLst/>
          </a:prstGeom>
          <a:noFill/>
        </p:spPr>
        <p:txBody>
          <a:bodyPr wrap="square" lIns="25400" rIns="25400" tIns="0" bIns="0" anchor="t">
            <a:spAutoFit/>
          </a:bodyPr>
          <a:lstStyle/>
          <a:p>
            <a:pPr algn="l">
              <a:spcBef>
                <a:spcPts val="0"/>
              </a:spcBef>
              <a:spcAft>
                <a:spcPts val="400"/>
              </a:spcAft>
            </a:pPr>
            <a:r>
              <a:rPr sz="1200" b="1">
                <a:solidFill>
                  <a:srgbClr val="1B2A4A"/>
                </a:solidFill>
                <a:latin typeface="微软雅黑"/>
              </a:rPr>
              <a:t>① 摸家谱 · 30 分钟</a:t>
            </a:r>
          </a:p>
        </p:txBody>
      </p:sp>
      <p:sp>
        <p:nvSpPr>
          <p:cNvPr id="8" name="TextBox 7"/>
          <p:cNvSpPr txBox="1"/>
          <p:nvPr/>
        </p:nvSpPr>
        <p:spPr>
          <a:xfrm>
            <a:off x="649224" y="1773936"/>
            <a:ext cx="2423160" cy="1627632"/>
          </a:xfrm>
          <a:prstGeom prst="rect">
            <a:avLst/>
          </a:prstGeom>
          <a:noFill/>
        </p:spPr>
        <p:txBody>
          <a:bodyPr wrap="square" lIns="25400" rIns="25400" tIns="0" bIns="0" anchor="t">
            <a:spAutoFit/>
          </a:bodyPr>
          <a:lstStyle/>
          <a:p>
            <a:pPr algn="l">
              <a:lnSpc>
                <a:spcPct val="134000"/>
              </a:lnSpc>
              <a:spcBef>
                <a:spcPts val="0"/>
              </a:spcBef>
              <a:spcAft>
                <a:spcPts val="400"/>
              </a:spcAft>
            </a:pPr>
            <a:r>
              <a:rPr sz="1000" b="0">
                <a:solidFill>
                  <a:srgbClr val="3A4A68"/>
                </a:solidFill>
                <a:latin typeface="微软雅黑"/>
              </a:rPr>
              <a:t>拉双行时间轴：母模型主线 + 本土支线。只找三样——体系内部的冗余判定、同市场的相反结论、体系外的范式挑战。
产出：一句选题公式，含 X / Y / Z。</a:t>
            </a:r>
          </a:p>
        </p:txBody>
      </p:sp>
      <p:sp>
        <p:nvSpPr>
          <p:cNvPr id="9" name="Rectangle 8"/>
          <p:cNvSpPr/>
          <p:nvPr/>
        </p:nvSpPr>
        <p:spPr>
          <a:xfrm>
            <a:off x="3383280" y="1243584"/>
            <a:ext cx="2715768" cy="228600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243584"/>
            <a:ext cx="271576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9584" y="1389888"/>
            <a:ext cx="2423160" cy="310896"/>
          </a:xfrm>
          <a:prstGeom prst="rect">
            <a:avLst/>
          </a:prstGeom>
          <a:noFill/>
        </p:spPr>
        <p:txBody>
          <a:bodyPr wrap="square" lIns="25400" rIns="25400" tIns="0" bIns="0" anchor="t">
            <a:spAutoFit/>
          </a:bodyPr>
          <a:lstStyle/>
          <a:p>
            <a:pPr algn="l">
              <a:spcBef>
                <a:spcPts val="0"/>
              </a:spcBef>
              <a:spcAft>
                <a:spcPts val="400"/>
              </a:spcAft>
            </a:pPr>
            <a:r>
              <a:rPr sz="1200" b="1">
                <a:solidFill>
                  <a:srgbClr val="1B2A4A"/>
                </a:solidFill>
                <a:latin typeface="微软雅黑"/>
              </a:rPr>
              <a:t>② 摘语料 · 40 分钟</a:t>
            </a:r>
          </a:p>
        </p:txBody>
      </p:sp>
      <p:sp>
        <p:nvSpPr>
          <p:cNvPr id="12" name="TextBox 11"/>
          <p:cNvSpPr txBox="1"/>
          <p:nvPr/>
        </p:nvSpPr>
        <p:spPr>
          <a:xfrm>
            <a:off x="3529584" y="1773936"/>
            <a:ext cx="2423160" cy="1627632"/>
          </a:xfrm>
          <a:prstGeom prst="rect">
            <a:avLst/>
          </a:prstGeom>
          <a:noFill/>
        </p:spPr>
        <p:txBody>
          <a:bodyPr wrap="square" lIns="25400" rIns="25400" tIns="0" bIns="0" anchor="t">
            <a:spAutoFit/>
          </a:bodyPr>
          <a:lstStyle/>
          <a:p>
            <a:pPr algn="l">
              <a:lnSpc>
                <a:spcPct val="134000"/>
              </a:lnSpc>
              <a:spcBef>
                <a:spcPts val="0"/>
              </a:spcBef>
              <a:spcAft>
                <a:spcPts val="400"/>
              </a:spcAft>
            </a:pPr>
            <a:r>
              <a:rPr sz="1000" b="0">
                <a:solidFill>
                  <a:srgbClr val="3A4A68"/>
                </a:solidFill>
                <a:latin typeface="微软雅黑"/>
              </a:rPr>
              <a:t>只摘五类：让步句、机制包装、归因句、方法论建议、自我设限。每条记原文 + 页码 + 模板 + 我的替换版。
产出：带页码的语料表。</a:t>
            </a:r>
          </a:p>
        </p:txBody>
      </p:sp>
      <p:sp>
        <p:nvSpPr>
          <p:cNvPr id="13" name="Rectangle 12"/>
          <p:cNvSpPr/>
          <p:nvPr/>
        </p:nvSpPr>
        <p:spPr>
          <a:xfrm>
            <a:off x="6263640" y="1243584"/>
            <a:ext cx="2715768" cy="228600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243584"/>
            <a:ext cx="271576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389888"/>
            <a:ext cx="2423160" cy="310896"/>
          </a:xfrm>
          <a:prstGeom prst="rect">
            <a:avLst/>
          </a:prstGeom>
          <a:noFill/>
        </p:spPr>
        <p:txBody>
          <a:bodyPr wrap="square" lIns="25400" rIns="25400" tIns="0" bIns="0" anchor="t">
            <a:spAutoFit/>
          </a:bodyPr>
          <a:lstStyle/>
          <a:p>
            <a:pPr algn="l">
              <a:spcBef>
                <a:spcPts val="0"/>
              </a:spcBef>
              <a:spcAft>
                <a:spcPts val="400"/>
              </a:spcAft>
            </a:pPr>
            <a:r>
              <a:rPr sz="1200" b="1">
                <a:solidFill>
                  <a:srgbClr val="1B2A4A"/>
                </a:solidFill>
                <a:latin typeface="微软雅黑"/>
              </a:rPr>
              <a:t>③ 重跑链路 · 半天</a:t>
            </a:r>
          </a:p>
        </p:txBody>
      </p:sp>
      <p:sp>
        <p:nvSpPr>
          <p:cNvPr id="16" name="TextBox 15"/>
          <p:cNvSpPr txBox="1"/>
          <p:nvPr/>
        </p:nvSpPr>
        <p:spPr>
          <a:xfrm>
            <a:off x="6409944" y="1773936"/>
            <a:ext cx="2423160" cy="1627632"/>
          </a:xfrm>
          <a:prstGeom prst="rect">
            <a:avLst/>
          </a:prstGeom>
          <a:noFill/>
        </p:spPr>
        <p:txBody>
          <a:bodyPr wrap="square" lIns="25400" rIns="25400" tIns="0" bIns="0" anchor="t">
            <a:spAutoFit/>
          </a:bodyPr>
          <a:lstStyle/>
          <a:p>
            <a:pPr algn="l">
              <a:lnSpc>
                <a:spcPct val="134000"/>
              </a:lnSpc>
              <a:spcBef>
                <a:spcPts val="0"/>
              </a:spcBef>
              <a:spcAft>
                <a:spcPts val="400"/>
              </a:spcAft>
            </a:pPr>
            <a:r>
              <a:rPr sz="1000" b="0">
                <a:solidFill>
                  <a:srgbClr val="3A4A68"/>
                </a:solidFill>
                <a:latin typeface="微软雅黑"/>
              </a:rPr>
              <a:t>把方法章节逐句翻译成代码，先跑合成数据验证链路，再换真实面板。输出「原文真实数字对照表」校验方向性。
产出：可运行的复现骨架。</a:t>
            </a:r>
          </a:p>
        </p:txBody>
      </p:sp>
      <p:sp>
        <p:nvSpPr>
          <p:cNvPr id="17" name="Rectangle 16"/>
          <p:cNvSpPr/>
          <p:nvPr/>
        </p:nvSpPr>
        <p:spPr>
          <a:xfrm>
            <a:off x="9144000" y="1243584"/>
            <a:ext cx="2715768" cy="2286000"/>
          </a:xfrm>
          <a:prstGeom prst="rect">
            <a:avLst/>
          </a:prstGeom>
          <a:solidFill>
            <a:srgbClr val="F4F0E6"/>
          </a:solidFill>
          <a:ln w="9525">
            <a:solidFill>
              <a:srgbClr val="DCD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1243584"/>
            <a:ext cx="2715768" cy="50292"/>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1389888"/>
            <a:ext cx="2423160" cy="310896"/>
          </a:xfrm>
          <a:prstGeom prst="rect">
            <a:avLst/>
          </a:prstGeom>
          <a:noFill/>
        </p:spPr>
        <p:txBody>
          <a:bodyPr wrap="square" lIns="25400" rIns="25400" tIns="0" bIns="0" anchor="t">
            <a:spAutoFit/>
          </a:bodyPr>
          <a:lstStyle/>
          <a:p>
            <a:pPr algn="l">
              <a:spcBef>
                <a:spcPts val="0"/>
              </a:spcBef>
              <a:spcAft>
                <a:spcPts val="400"/>
              </a:spcAft>
            </a:pPr>
            <a:r>
              <a:rPr sz="1200" b="1">
                <a:solidFill>
                  <a:srgbClr val="1B2A4A"/>
                </a:solidFill>
                <a:latin typeface="微软雅黑"/>
              </a:rPr>
              <a:t>④ 出 Gap 清单 · 30 分钟</a:t>
            </a:r>
          </a:p>
        </p:txBody>
      </p:sp>
      <p:sp>
        <p:nvSpPr>
          <p:cNvPr id="20" name="TextBox 19"/>
          <p:cNvSpPr txBox="1"/>
          <p:nvPr/>
        </p:nvSpPr>
        <p:spPr>
          <a:xfrm>
            <a:off x="9290304" y="1773936"/>
            <a:ext cx="2423160" cy="1627632"/>
          </a:xfrm>
          <a:prstGeom prst="rect">
            <a:avLst/>
          </a:prstGeom>
          <a:noFill/>
        </p:spPr>
        <p:txBody>
          <a:bodyPr wrap="square" lIns="25400" rIns="25400" tIns="0" bIns="0" anchor="t">
            <a:spAutoFit/>
          </a:bodyPr>
          <a:lstStyle/>
          <a:p>
            <a:pPr algn="l">
              <a:lnSpc>
                <a:spcPct val="134000"/>
              </a:lnSpc>
              <a:spcBef>
                <a:spcPts val="0"/>
              </a:spcBef>
              <a:spcAft>
                <a:spcPts val="400"/>
              </a:spcAft>
            </a:pPr>
            <a:r>
              <a:rPr sz="1000" b="0">
                <a:solidFill>
                  <a:srgbClr val="3A4A68"/>
                </a:solidFill>
                <a:latin typeface="微软雅黑"/>
              </a:rPr>
              <a:t>逐条写三栏：论文做法 → 留出的口子 → 改写方向。优先选口径类（可证伪）与自我设限类（作者已交棒）。
产出：可立项的创新点清单。</a:t>
            </a:r>
          </a:p>
        </p:txBody>
      </p:sp>
      <p:pic>
        <p:nvPicPr>
          <p:cNvPr id="21" name="Picture 20" descr="full_p01.png"/>
          <p:cNvPicPr>
            <a:picLocks noChangeAspect="1"/>
          </p:cNvPicPr>
          <p:nvPr/>
        </p:nvPicPr>
        <p:blipFill>
          <a:blip r:embed="rId2"/>
          <a:stretch>
            <a:fillRect/>
          </a:stretch>
        </p:blipFill>
        <p:spPr>
          <a:xfrm>
            <a:off x="511418" y="3639312"/>
            <a:ext cx="1292880" cy="1828800"/>
          </a:xfrm>
          <a:prstGeom prst="rect">
            <a:avLst/>
          </a:prstGeom>
        </p:spPr>
      </p:pic>
      <p:sp>
        <p:nvSpPr>
          <p:cNvPr id="22" name="Rectangle 21"/>
          <p:cNvSpPr/>
          <p:nvPr/>
        </p:nvSpPr>
        <p:spPr>
          <a:xfrm>
            <a:off x="511418"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P191 标题/摘要</a:t>
            </a:r>
          </a:p>
        </p:txBody>
      </p:sp>
      <p:pic>
        <p:nvPicPr>
          <p:cNvPr id="24" name="Picture 23" descr="full_p02.png"/>
          <p:cNvPicPr>
            <a:picLocks noChangeAspect="1"/>
          </p:cNvPicPr>
          <p:nvPr/>
        </p:nvPicPr>
        <p:blipFill>
          <a:blip r:embed="rId3"/>
          <a:stretch>
            <a:fillRect/>
          </a:stretch>
        </p:blipFill>
        <p:spPr>
          <a:xfrm>
            <a:off x="1921880" y="3639312"/>
            <a:ext cx="1292880" cy="1828800"/>
          </a:xfrm>
          <a:prstGeom prst="rect">
            <a:avLst/>
          </a:prstGeom>
        </p:spPr>
      </p:pic>
      <p:sp>
        <p:nvSpPr>
          <p:cNvPr id="25" name="Rectangle 24"/>
          <p:cNvSpPr/>
          <p:nvPr/>
        </p:nvSpPr>
        <p:spPr>
          <a:xfrm>
            <a:off x="1921880"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13382"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P192 引言</a:t>
            </a:r>
          </a:p>
        </p:txBody>
      </p:sp>
      <p:pic>
        <p:nvPicPr>
          <p:cNvPr id="27" name="Picture 26" descr="full_p04.png"/>
          <p:cNvPicPr>
            <a:picLocks noChangeAspect="1"/>
          </p:cNvPicPr>
          <p:nvPr/>
        </p:nvPicPr>
        <p:blipFill>
          <a:blip r:embed="rId4"/>
          <a:stretch>
            <a:fillRect/>
          </a:stretch>
        </p:blipFill>
        <p:spPr>
          <a:xfrm>
            <a:off x="3332342" y="3639312"/>
            <a:ext cx="1292880" cy="1828800"/>
          </a:xfrm>
          <a:prstGeom prst="rect">
            <a:avLst/>
          </a:prstGeom>
        </p:spPr>
      </p:pic>
      <p:sp>
        <p:nvSpPr>
          <p:cNvPr id="28" name="Rectangle 27"/>
          <p:cNvSpPr/>
          <p:nvPr/>
        </p:nvSpPr>
        <p:spPr>
          <a:xfrm>
            <a:off x="3332342"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23844"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P194 口径</a:t>
            </a:r>
          </a:p>
        </p:txBody>
      </p:sp>
      <p:pic>
        <p:nvPicPr>
          <p:cNvPr id="30" name="Picture 29" descr="full_p06.png"/>
          <p:cNvPicPr>
            <a:picLocks noChangeAspect="1"/>
          </p:cNvPicPr>
          <p:nvPr/>
        </p:nvPicPr>
        <p:blipFill>
          <a:blip r:embed="rId5"/>
          <a:stretch>
            <a:fillRect/>
          </a:stretch>
        </p:blipFill>
        <p:spPr>
          <a:xfrm>
            <a:off x="4742804" y="3639312"/>
            <a:ext cx="1292880" cy="1828800"/>
          </a:xfrm>
          <a:prstGeom prst="rect">
            <a:avLst/>
          </a:prstGeom>
        </p:spPr>
      </p:pic>
      <p:sp>
        <p:nvSpPr>
          <p:cNvPr id="31" name="Rectangle 30"/>
          <p:cNvSpPr/>
          <p:nvPr/>
        </p:nvSpPr>
        <p:spPr>
          <a:xfrm>
            <a:off x="4742804"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4306"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P196 表2/表3</a:t>
            </a:r>
          </a:p>
        </p:txBody>
      </p:sp>
      <p:pic>
        <p:nvPicPr>
          <p:cNvPr id="33" name="Picture 32" descr="full_p09.png"/>
          <p:cNvPicPr>
            <a:picLocks noChangeAspect="1"/>
          </p:cNvPicPr>
          <p:nvPr/>
        </p:nvPicPr>
        <p:blipFill>
          <a:blip r:embed="rId6"/>
          <a:stretch>
            <a:fillRect/>
          </a:stretch>
        </p:blipFill>
        <p:spPr>
          <a:xfrm>
            <a:off x="6153266" y="3639312"/>
            <a:ext cx="1292880" cy="1828800"/>
          </a:xfrm>
          <a:prstGeom prst="rect">
            <a:avLst/>
          </a:prstGeom>
        </p:spPr>
      </p:pic>
      <p:sp>
        <p:nvSpPr>
          <p:cNvPr id="34" name="Rectangle 33"/>
          <p:cNvSpPr/>
          <p:nvPr/>
        </p:nvSpPr>
        <p:spPr>
          <a:xfrm>
            <a:off x="6153266"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P199 表5</a:t>
            </a:r>
          </a:p>
        </p:txBody>
      </p:sp>
      <p:pic>
        <p:nvPicPr>
          <p:cNvPr id="36" name="Picture 35" descr="full_p11.png"/>
          <p:cNvPicPr>
            <a:picLocks noChangeAspect="1"/>
          </p:cNvPicPr>
          <p:nvPr/>
        </p:nvPicPr>
        <p:blipFill>
          <a:blip r:embed="rId7"/>
          <a:stretch>
            <a:fillRect/>
          </a:stretch>
        </p:blipFill>
        <p:spPr>
          <a:xfrm>
            <a:off x="7563728" y="3639312"/>
            <a:ext cx="1292880" cy="1828800"/>
          </a:xfrm>
          <a:prstGeom prst="rect">
            <a:avLst/>
          </a:prstGeom>
        </p:spPr>
      </p:pic>
      <p:sp>
        <p:nvSpPr>
          <p:cNvPr id="37" name="Rectangle 36"/>
          <p:cNvSpPr/>
          <p:nvPr/>
        </p:nvSpPr>
        <p:spPr>
          <a:xfrm>
            <a:off x="7563728"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55230"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P201 表6</a:t>
            </a:r>
          </a:p>
        </p:txBody>
      </p:sp>
      <p:pic>
        <p:nvPicPr>
          <p:cNvPr id="39" name="Picture 38" descr="full_p12.png"/>
          <p:cNvPicPr>
            <a:picLocks noChangeAspect="1"/>
          </p:cNvPicPr>
          <p:nvPr/>
        </p:nvPicPr>
        <p:blipFill>
          <a:blip r:embed="rId8"/>
          <a:stretch>
            <a:fillRect/>
          </a:stretch>
        </p:blipFill>
        <p:spPr>
          <a:xfrm>
            <a:off x="8974190" y="3639312"/>
            <a:ext cx="1292880" cy="1828800"/>
          </a:xfrm>
          <a:prstGeom prst="rect">
            <a:avLst/>
          </a:prstGeom>
        </p:spPr>
      </p:pic>
      <p:sp>
        <p:nvSpPr>
          <p:cNvPr id="40" name="Rectangle 39"/>
          <p:cNvSpPr/>
          <p:nvPr/>
        </p:nvSpPr>
        <p:spPr>
          <a:xfrm>
            <a:off x="8974190"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5692"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P202 表7</a:t>
            </a:r>
          </a:p>
        </p:txBody>
      </p:sp>
      <p:pic>
        <p:nvPicPr>
          <p:cNvPr id="42" name="Picture 41" descr="full_p15.png"/>
          <p:cNvPicPr>
            <a:picLocks noChangeAspect="1"/>
          </p:cNvPicPr>
          <p:nvPr/>
        </p:nvPicPr>
        <p:blipFill>
          <a:blip r:embed="rId9"/>
          <a:stretch>
            <a:fillRect/>
          </a:stretch>
        </p:blipFill>
        <p:spPr>
          <a:xfrm>
            <a:off x="10384652" y="3639312"/>
            <a:ext cx="1292880" cy="1828800"/>
          </a:xfrm>
          <a:prstGeom prst="rect">
            <a:avLst/>
          </a:prstGeom>
        </p:spPr>
      </p:pic>
      <p:sp>
        <p:nvSpPr>
          <p:cNvPr id="43" name="Rectangle 42"/>
          <p:cNvSpPr/>
          <p:nvPr/>
        </p:nvSpPr>
        <p:spPr>
          <a:xfrm>
            <a:off x="10384652" y="3639312"/>
            <a:ext cx="1292880" cy="1828800"/>
          </a:xfrm>
          <a:prstGeom prst="rect">
            <a:avLst/>
          </a:prstGeom>
          <a:noFill/>
          <a:ln w="9525">
            <a:solidFill>
              <a:srgbClr val="C9C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76154" y="5477256"/>
            <a:ext cx="1309878" cy="219456"/>
          </a:xfrm>
          <a:prstGeom prst="rect">
            <a:avLst/>
          </a:prstGeom>
          <a:noFill/>
        </p:spPr>
        <p:txBody>
          <a:bodyPr wrap="square" lIns="25400" rIns="25400" tIns="0" bIns="0" anchor="t">
            <a:spAutoFit/>
          </a:bodyPr>
          <a:lstStyle/>
          <a:p>
            <a:pPr algn="ctr">
              <a:spcBef>
                <a:spcPts val="0"/>
              </a:spcBef>
              <a:spcAft>
                <a:spcPts val="400"/>
              </a:spcAft>
            </a:pPr>
            <a:r>
              <a:rPr sz="900" b="0">
                <a:solidFill>
                  <a:srgbClr val="6E7A8C"/>
                </a:solidFill>
                <a:latin typeface="微软雅黑"/>
              </a:rPr>
              <a:t>P205 交棒句</a:t>
            </a:r>
          </a:p>
        </p:txBody>
      </p:sp>
      <p:sp>
        <p:nvSpPr>
          <p:cNvPr id="45" name="Rectangle 44"/>
          <p:cNvSpPr/>
          <p:nvPr/>
        </p:nvSpPr>
        <p:spPr>
          <a:xfrm>
            <a:off x="502920" y="5788152"/>
            <a:ext cx="11183112" cy="47548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2376" y="5879592"/>
            <a:ext cx="10744200" cy="292608"/>
          </a:xfrm>
          <a:prstGeom prst="rect">
            <a:avLst/>
          </a:prstGeom>
          <a:noFill/>
        </p:spPr>
        <p:txBody>
          <a:bodyPr wrap="square" lIns="25400" rIns="25400" tIns="0" bIns="0" anchor="ctr">
            <a:spAutoFit/>
          </a:bodyPr>
          <a:lstStyle/>
          <a:p>
            <a:pPr algn="l">
              <a:lnSpc>
                <a:spcPct val="135000"/>
              </a:lnSpc>
              <a:spcBef>
                <a:spcPts val="0"/>
              </a:spcBef>
              <a:spcAft>
                <a:spcPts val="400"/>
              </a:spcAft>
            </a:pPr>
            <a:r>
              <a:rPr sz="1500" b="0">
                <a:solidFill>
                  <a:srgbClr val="FFFFFF"/>
                </a:solidFill>
                <a:latin typeface="微软雅黑"/>
              </a:rPr>
              <a:t>读文献的产出不是一个「理解」，是一个「选题」。</a:t>
            </a:r>
          </a:p>
        </p:txBody>
      </p:sp>
      <p:sp>
        <p:nvSpPr>
          <p:cNvPr id="47" name="Rectangle 46"/>
          <p:cNvSpPr/>
          <p:nvPr/>
        </p:nvSpPr>
        <p:spPr>
          <a:xfrm>
            <a:off x="502920" y="6364224"/>
            <a:ext cx="11183112" cy="10972"/>
          </a:xfrm>
          <a:prstGeom prst="rect">
            <a:avLst/>
          </a:prstGeom>
          <a:solidFill>
            <a:srgbClr val="DCD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6419088"/>
            <a:ext cx="9692640" cy="237744"/>
          </a:xfrm>
          <a:prstGeom prst="rect">
            <a:avLst/>
          </a:prstGeom>
          <a:noFill/>
        </p:spPr>
        <p:txBody>
          <a:bodyPr wrap="square" lIns="25400" rIns="25400" tIns="0" bIns="0" anchor="t">
            <a:spAutoFit/>
          </a:bodyPr>
          <a:lstStyle/>
          <a:p>
            <a:pPr algn="l">
              <a:spcBef>
                <a:spcPts val="0"/>
              </a:spcBef>
              <a:spcAft>
                <a:spcPts val="400"/>
              </a:spcAft>
            </a:pPr>
            <a:r>
              <a:rPr sz="950" b="0">
                <a:solidFill>
                  <a:srgbClr val="6E7A8C"/>
                </a:solidFill>
                <a:latin typeface="微软雅黑"/>
              </a:rPr>
              <a:t>附件：三维结构法拆解_FF5中国实证.html（20 屏演示稿）｜ff5_3d_repro.py｜ff5_run_log.txt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