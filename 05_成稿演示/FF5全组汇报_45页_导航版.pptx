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rawings/vmlDrawing1.vml" ContentType="application/vnd.openxmlformats-officedocument.vmlDrawing"/>
  <Override PartName="/ppt/drawings/vmlDrawing2.vml" ContentType="application/vnd.openxmlformats-officedocument.vmlDrawing"/>
  <Override PartName="/ppt/embeddings/oleObject1.bin" ContentType="application/vnd.openxmlformats-officedocument.oleObject"/>
  <Override PartName="/ppt/embeddings/oleObject2.bin" ContentType="application/vnd.openxmlformats-officedocument.oleObject"/>
  <Override PartName="/ppt/media/image1.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sldIdLst>
    <p:sldId id="256" r:id="rId3"/>
    <p:sldId id="257" r:id="rId4"/>
    <p:sldId id="296" r:id="rId5"/>
    <p:sldId id="258" r:id="rId6"/>
    <p:sldId id="259" r:id="rId7"/>
    <p:sldId id="260" r:id="rId8"/>
    <p:sldId id="261" r:id="rId9"/>
    <p:sldId id="262" r:id="rId10"/>
    <p:sldId id="295" r:id="rId11"/>
    <p:sldId id="263" r:id="rId12"/>
    <p:sldId id="264" r:id="rId13"/>
    <p:sldId id="29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7" r:id="rId48"/>
    <p:sldId id="298" r:id="rId49"/>
    <p:sldId id="299" r:id="rId50"/>
    <p:sldId id="300" r:id="rId5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ableStyles" Target="tableStyles.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7.png"/><Relationship Id="rId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8.png"/><Relationship Id="rId3"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9.png"/><Relationship Id="rId3" Type="http://schemas.openxmlformats.org/officeDocument/2006/relationships/tags" Target="../tags/tag1.xml"/><Relationship Id="rId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20.png"/><Relationship Id="rId3"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23.png"/><Relationship Id="rId3"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tags" Target="../tags/tag2.xml"/><Relationship Id="rId3" Type="http://schemas.openxmlformats.org/officeDocument/2006/relationships/image" Target="../media/image27.png"/><Relationship Id="rId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28.png"/><Relationship Id="rId3" Type="http://schemas.openxmlformats.org/officeDocument/2006/relationships/image" Target="../media/image1.svg"/><Relationship Id="rId4" Type="http://schemas.openxmlformats.org/officeDocument/2006/relationships/image" Target="../media/image29.png"/><Relationship Id="rId5"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0.png"/><Relationship Id="rId3"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1.png"/><Relationship Id="rId3"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2.png"/><Relationship Id="rId3" Type="http://schemas.openxmlformats.org/officeDocument/2006/relationships/oleObject" Target="../embeddings/oleObject1.bin"/><Relationship Id="rId4" Type="http://schemas.openxmlformats.org/officeDocument/2006/relationships/image" Target="../media/image33.wmf"/><Relationship Id="rId5" Type="http://schemas.openxmlformats.org/officeDocument/2006/relationships/slideLayout" Target="../slideLayouts/slideLayout1.xml"/><Relationship Id="rId6" Type="http://schemas.openxmlformats.org/officeDocument/2006/relationships/vmlDrawing" Target="../drawings/vmlDrawing1.vml"/></Relationships>
</file>

<file path=ppt/slides/_rels/slide29.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4.png"/><Relationship Id="rId3"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5.png"/><Relationship Id="rId3" Type="http://schemas.openxmlformats.org/officeDocument/2006/relationships/oleObject" Target="../embeddings/oleObject2.bin"/><Relationship Id="rId4" Type="http://schemas.openxmlformats.org/officeDocument/2006/relationships/image" Target="../media/image33.wmf"/><Relationship Id="rId5" Type="http://schemas.openxmlformats.org/officeDocument/2006/relationships/slideLayout" Target="../slideLayouts/slideLayout1.xml"/><Relationship Id="rId6" Type="http://schemas.openxmlformats.org/officeDocument/2006/relationships/vmlDrawing" Target="../drawings/vmlDrawing2.vml"/></Relationships>
</file>

<file path=ppt/slides/_rels/slide33.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6.png"/><Relationship Id="rId3"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7.png"/><Relationship Id="rId3"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8.png"/><Relationship Id="rId3"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39.png"/><Relationship Id="rId3"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40.png"/><Relationship Id="rId3"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41.png"/><Relationship Id="rId3"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42.png"/><Relationship Id="rId3"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background: '#FFFFFF', padding: 0, flexDirection: 'column' }}&gt;&#10;    &lt;Image src=&quot;assets/bg_cover.png&quot; style={{ position: 'absolute', top: 0, left: 0, width: 1280, height: 720 }} /&gt;&#10;&#10;    &lt;Text style={{ position: 'absolute', top: 108, left: 56, width: 620, fontSize: 15, color: '#01A5B1', fontWeight: 'bold', letterSpacing: 1 }}&gt;&#10;        文献解读分享 · 第一部分&#10;    &lt;/Text&gt;&#10;&#10;    &lt;Text style={{ position: 'absolute', top: 268, left: 520, width: 700, fontSize: 38, fontWeight: 'bold', color: '#FFFFFF', lineHeight: 1.35 }}&gt;&#10;        Fama-French 五因子模型在中国股票市场的实证检验&#10;    &lt;/Text&gt;&#10;&#10;    &lt;Text style={{ position: 'absolute', top: 470, left: 56, width: 640, fontSize: 26, fontWeight: 'bold', color: '#1F1F1F' }}&gt;&#10;        第一、二章精读汇报&#10;    &lt;/Text&gt;&#10;    &lt;Box style={{ position: 'absolute', top: 512, left: 56, width: 88, height: 6, background: '#01A5B1' }} /&gt;&#10;&#10;    &lt;Text style={{ position: 'absolute', top: 540, left: 56, width: 660, fontSize: 18, color: '#333333', letterSpacing: 1 }}&gt;&#10;        汇报人：刘坤　杨茜　夏佳琳　韩逸海&#10;    &lt;/Text&gt;&#10;    &lt;Text style={{ position: 'absolute', top: 576, left: 56, width: 660, fontSize: 15, color: '#01A5B1' }}&gt;&#10;        金融科技 2 班第二组&#10;    &lt;/Text&gt;&#10;    &lt;Text style={{ position: 'absolute', top: 636, left: 56, width: 640, fontSize: 14, color: '#8A8A8A', lineHeight: 1.7 }}&gt;&#10;        李志冰　杨光艺　冯永昌　景亮（2017）&lt;br /&gt;《金融研究》2017 年第 6 期，pp.191–206&#10;    &lt;/Text&gt;&#10;&lt;/Slide&gt;"/>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FFFFFF"/>
          </a:solidFill>
        </p:spPr>
        <p:txBody>
          <a:bodyPr/>
          <a:p/>
        </p:txBody>
      </p:sp>
      <p:pic>
        <p:nvPicPr>
          <p:cNvPr id="3" name="图片 2"/>
          <p:cNvPicPr>
            <a:picLocks noChangeAspect="1"/>
          </p:cNvPicPr>
          <p:nvPr/>
        </p:nvPicPr>
        <p:blipFill>
          <a:blip r:embed="rId1"/>
          <a:stretch>
            <a:fillRect/>
          </a:stretch>
        </p:blipFill>
        <p:spPr>
          <a:xfrm>
            <a:off x="0" y="0"/>
            <a:ext cx="12192000" cy="6858000"/>
          </a:xfrm>
          <a:prstGeom prst="rect">
            <a:avLst/>
          </a:prstGeom>
        </p:spPr>
      </p:pic>
      <p:sp>
        <p:nvSpPr>
          <p:cNvPr id="4" name="文本框 3" descr="{&quot;isTemplate&quot;:true,&quot;type&quot;:&quot;text&quot;}"/>
          <p:cNvSpPr txBox="1"/>
          <p:nvPr/>
        </p:nvSpPr>
        <p:spPr>
          <a:xfrm>
            <a:off x="533400" y="1028700"/>
            <a:ext cx="5905500" cy="171450"/>
          </a:xfrm>
          <a:prstGeom prst="rect">
            <a:avLst/>
          </a:prstGeom>
        </p:spPr>
        <p:txBody>
          <a:bodyPr wrap="none" lIns="0" tIns="0" rIns="0" bIns="0"/>
          <a:p>
            <a:pPr>
              <a:lnSpc>
                <a:spcPct val="100000"/>
              </a:lnSpc>
            </a:pPr>
            <a:r>
              <a:rPr lang="zh-CN" sz="1125" b="1" spc="75">
                <a:solidFill>
                  <a:srgbClr val="01A5B1"/>
                </a:solidFill>
                <a:latin typeface="微软雅黑" panose="020B0503020204020204" charset="-122"/>
                <a:ea typeface="微软雅黑" panose="020B0503020204020204" charset="-122"/>
              </a:rPr>
              <a:t>文献解读分享</a:t>
            </a:r>
            <a:r>
              <a:rPr lang="en-US" sz="1125" b="1" spc="75">
                <a:solidFill>
                  <a:srgbClr val="01A5B1"/>
                </a:solidFill>
                <a:latin typeface="微软雅黑" panose="020B0503020204020204" charset="-122"/>
                <a:ea typeface="微软雅黑" panose="020B0503020204020204" charset="-122"/>
              </a:rPr>
              <a:t> · </a:t>
            </a:r>
            <a:r>
              <a:rPr lang="zh-CN" sz="1125" b="1" spc="75">
                <a:solidFill>
                  <a:srgbClr val="01A5B1"/>
                </a:solidFill>
                <a:latin typeface="微软雅黑" panose="020B0503020204020204" charset="-122"/>
                <a:ea typeface="微软雅黑" panose="020B0503020204020204" charset="-122"/>
              </a:rPr>
              <a:t>第一部分</a:t>
            </a:r>
            <a:endParaRPr lang="zh-CN" sz="1125" b="1" spc="75">
              <a:solidFill>
                <a:srgbClr val="01A5B1"/>
              </a:solidFill>
              <a:latin typeface="微软雅黑" panose="020B0503020204020204" charset="-122"/>
              <a:ea typeface="微软雅黑" panose="020B0503020204020204" charset="-122"/>
            </a:endParaRPr>
          </a:p>
        </p:txBody>
      </p:sp>
      <p:sp>
        <p:nvSpPr>
          <p:cNvPr id="5" name="文本框 4" descr="{&quot;isTemplate&quot;:true,&quot;type&quot;:&quot;text&quot;}"/>
          <p:cNvSpPr txBox="1"/>
          <p:nvPr/>
        </p:nvSpPr>
        <p:spPr>
          <a:xfrm>
            <a:off x="4953000" y="2552700"/>
            <a:ext cx="6667500" cy="1181100"/>
          </a:xfrm>
          <a:prstGeom prst="rect">
            <a:avLst/>
          </a:prstGeom>
        </p:spPr>
        <p:txBody>
          <a:bodyPr wrap="square" lIns="0" tIns="0" rIns="0" bIns="0">
            <a:normAutofit/>
          </a:bodyPr>
          <a:p>
            <a:pPr>
              <a:lnSpc>
                <a:spcPct val="135000"/>
              </a:lnSpc>
            </a:pPr>
            <a:r>
              <a:rPr lang="en-US" sz="2850" b="1">
                <a:solidFill>
                  <a:srgbClr val="FFFFFF"/>
                </a:solidFill>
                <a:latin typeface="微软雅黑" panose="020B0503020204020204" charset="-122"/>
                <a:ea typeface="微软雅黑" panose="020B0503020204020204" charset="-122"/>
              </a:rPr>
              <a:t>Fama-French </a:t>
            </a:r>
            <a:r>
              <a:rPr lang="zh-CN" sz="2850" b="1">
                <a:solidFill>
                  <a:srgbClr val="FFFFFF"/>
                </a:solidFill>
                <a:latin typeface="微软雅黑" panose="020B0503020204020204" charset="-122"/>
                <a:ea typeface="微软雅黑" panose="020B0503020204020204" charset="-122"/>
              </a:rPr>
              <a:t>五因子模型</a:t>
            </a:r>
            <a:endParaRPr lang="zh-CN" sz="2850" b="1">
              <a:solidFill>
                <a:srgbClr val="FFFFFF"/>
              </a:solidFill>
              <a:latin typeface="微软雅黑" panose="020B0503020204020204" charset="-122"/>
              <a:ea typeface="微软雅黑" panose="020B0503020204020204" charset="-122"/>
            </a:endParaRPr>
          </a:p>
          <a:p>
            <a:pPr algn="r">
              <a:lnSpc>
                <a:spcPct val="135000"/>
              </a:lnSpc>
            </a:pPr>
            <a:r>
              <a:rPr lang="zh-CN" sz="2850" b="1">
                <a:solidFill>
                  <a:srgbClr val="FFFFFF"/>
                </a:solidFill>
                <a:latin typeface="微软雅黑" panose="020B0503020204020204" charset="-122"/>
                <a:ea typeface="微软雅黑" panose="020B0503020204020204" charset="-122"/>
              </a:rPr>
              <a:t>在中国股票市场的实证检验</a:t>
            </a:r>
            <a:endParaRPr lang="zh-CN" sz="2850" b="1">
              <a:solidFill>
                <a:srgbClr val="FFFFFF"/>
              </a:solidFill>
              <a:latin typeface="微软雅黑" panose="020B0503020204020204" charset="-122"/>
              <a:ea typeface="微软雅黑" panose="020B0503020204020204" charset="-122"/>
            </a:endParaRPr>
          </a:p>
        </p:txBody>
      </p:sp>
      <p:sp>
        <p:nvSpPr>
          <p:cNvPr id="8" name="文本框 7" descr="{&quot;isTemplate&quot;:true,&quot;type&quot;:&quot;text&quot;}"/>
          <p:cNvSpPr txBox="1"/>
          <p:nvPr/>
        </p:nvSpPr>
        <p:spPr>
          <a:xfrm>
            <a:off x="533400" y="5143500"/>
            <a:ext cx="6286500" cy="209550"/>
          </a:xfrm>
          <a:prstGeom prst="rect">
            <a:avLst/>
          </a:prstGeom>
        </p:spPr>
        <p:txBody>
          <a:bodyPr wrap="none" lIns="0" tIns="0" rIns="0" bIns="0"/>
          <a:p>
            <a:pPr>
              <a:lnSpc>
                <a:spcPct val="100000"/>
              </a:lnSpc>
            </a:pPr>
            <a:r>
              <a:rPr lang="zh-CN" sz="1350" spc="75">
                <a:solidFill>
                  <a:srgbClr val="333333"/>
                </a:solidFill>
                <a:latin typeface="微软雅黑" panose="020B0503020204020204" charset="-122"/>
                <a:ea typeface="微软雅黑" panose="020B0503020204020204" charset="-122"/>
              </a:rPr>
              <a:t>汇报人：刘坤　杨茜　夏佳琳　韩逸海</a:t>
            </a:r>
            <a:endParaRPr lang="zh-CN" sz="1350" spc="75">
              <a:solidFill>
                <a:srgbClr val="333333"/>
              </a:solidFill>
              <a:latin typeface="微软雅黑" panose="020B0503020204020204" charset="-122"/>
              <a:ea typeface="微软雅黑" panose="020B0503020204020204" charset="-122"/>
            </a:endParaRPr>
          </a:p>
        </p:txBody>
      </p:sp>
      <p:sp>
        <p:nvSpPr>
          <p:cNvPr id="9" name="文本框 8" descr="{&quot;isTemplate&quot;:true,&quot;type&quot;:&quot;text&quot;}"/>
          <p:cNvSpPr txBox="1"/>
          <p:nvPr/>
        </p:nvSpPr>
        <p:spPr>
          <a:xfrm>
            <a:off x="533400" y="5486400"/>
            <a:ext cx="6286500" cy="171450"/>
          </a:xfrm>
          <a:prstGeom prst="rect">
            <a:avLst/>
          </a:prstGeom>
        </p:spPr>
        <p:txBody>
          <a:bodyPr wrap="none" lIns="0" tIns="0" rIns="0" bIns="0"/>
          <a:p>
            <a:pPr>
              <a:lnSpc>
                <a:spcPct val="100000"/>
              </a:lnSpc>
            </a:pPr>
            <a:r>
              <a:rPr lang="zh-CN" sz="1125">
                <a:solidFill>
                  <a:srgbClr val="01A5B1"/>
                </a:solidFill>
                <a:latin typeface="微软雅黑" panose="020B0503020204020204" charset="-122"/>
                <a:ea typeface="微软雅黑" panose="020B0503020204020204" charset="-122"/>
              </a:rPr>
              <a:t>金融科技</a:t>
            </a:r>
            <a:r>
              <a:rPr lang="en-US" sz="1125">
                <a:solidFill>
                  <a:srgbClr val="01A5B1"/>
                </a:solidFill>
                <a:latin typeface="微软雅黑" panose="020B0503020204020204" charset="-122"/>
                <a:ea typeface="微软雅黑" panose="020B0503020204020204" charset="-122"/>
              </a:rPr>
              <a:t> 2 </a:t>
            </a:r>
            <a:r>
              <a:rPr lang="zh-CN" sz="1125">
                <a:solidFill>
                  <a:srgbClr val="01A5B1"/>
                </a:solidFill>
                <a:latin typeface="微软雅黑" panose="020B0503020204020204" charset="-122"/>
                <a:ea typeface="微软雅黑" panose="020B0503020204020204" charset="-122"/>
              </a:rPr>
              <a:t>班</a:t>
            </a:r>
            <a:endParaRPr lang="zh-CN" sz="1125">
              <a:solidFill>
                <a:srgbClr val="01A5B1"/>
              </a:solidFill>
              <a:latin typeface="微软雅黑" panose="020B0503020204020204" charset="-122"/>
              <a:ea typeface="微软雅黑" panose="020B0503020204020204" charset="-122"/>
            </a:endParaRPr>
          </a:p>
        </p:txBody>
      </p:sp>
      <p:sp>
        <p:nvSpPr>
          <p:cNvPr id="10" name="文本框 9" descr="{&quot;isTemplate&quot;:true,&quot;type&quot;:&quot;text&quot;}"/>
          <p:cNvSpPr txBox="1"/>
          <p:nvPr/>
        </p:nvSpPr>
        <p:spPr>
          <a:xfrm>
            <a:off x="533400" y="5958078"/>
            <a:ext cx="6096000" cy="552450"/>
          </a:xfrm>
          <a:prstGeom prst="rect">
            <a:avLst/>
          </a:prstGeom>
        </p:spPr>
        <p:txBody>
          <a:bodyPr wrap="none" lIns="0" tIns="0" rIns="0" bIns="0"/>
          <a:p>
            <a:pPr>
              <a:lnSpc>
                <a:spcPct val="170000"/>
              </a:lnSpc>
            </a:pPr>
            <a:r>
              <a:rPr lang="zh-CN" sz="1050">
                <a:solidFill>
                  <a:srgbClr val="8A8A8A"/>
                </a:solidFill>
                <a:latin typeface="微软雅黑" panose="020B0503020204020204" charset="-122"/>
                <a:ea typeface="微软雅黑" panose="020B0503020204020204" charset="-122"/>
              </a:rPr>
              <a:t>李志冰　杨光艺　冯永昌　景亮（</a:t>
            </a:r>
            <a:r>
              <a:rPr lang="en-US" sz="1050">
                <a:solidFill>
                  <a:srgbClr val="8A8A8A"/>
                </a:solidFill>
                <a:latin typeface="微软雅黑" panose="020B0503020204020204" charset="-122"/>
                <a:ea typeface="微软雅黑" panose="020B0503020204020204" charset="-122"/>
              </a:rPr>
              <a:t>2017</a:t>
            </a:r>
            <a:r>
              <a:rPr lang="zh-CN" sz="1050">
                <a:solidFill>
                  <a:srgbClr val="8A8A8A"/>
                </a:solidFill>
                <a:latin typeface="微软雅黑" panose="020B0503020204020204" charset="-122"/>
                <a:ea typeface="微软雅黑" panose="020B0503020204020204" charset="-122"/>
              </a:rPr>
              <a:t>）</a:t>
            </a:r>
            <a:endParaRPr lang="zh-CN" sz="1050">
              <a:solidFill>
                <a:srgbClr val="8A8A8A"/>
              </a:solidFill>
              <a:latin typeface="微软雅黑" panose="020B0503020204020204" charset="-122"/>
              <a:ea typeface="微软雅黑" panose="020B0503020204020204" charset="-122"/>
            </a:endParaRPr>
          </a:p>
          <a:p>
            <a:pPr>
              <a:lnSpc>
                <a:spcPct val="170000"/>
              </a:lnSpc>
            </a:pPr>
            <a:r>
              <a:rPr lang="zh-CN" sz="1050">
                <a:solidFill>
                  <a:srgbClr val="8A8A8A"/>
                </a:solidFill>
                <a:latin typeface="微软雅黑" panose="020B0503020204020204" charset="-122"/>
                <a:ea typeface="微软雅黑" panose="020B0503020204020204" charset="-122"/>
              </a:rPr>
              <a:t>《金融研究》</a:t>
            </a:r>
            <a:r>
              <a:rPr lang="en-US" sz="1050">
                <a:solidFill>
                  <a:srgbClr val="8A8A8A"/>
                </a:solidFill>
                <a:latin typeface="微软雅黑" panose="020B0503020204020204" charset="-122"/>
                <a:ea typeface="微软雅黑" panose="020B0503020204020204" charset="-122"/>
              </a:rPr>
              <a:t>2017 </a:t>
            </a:r>
            <a:r>
              <a:rPr lang="zh-CN" sz="1050">
                <a:solidFill>
                  <a:srgbClr val="8A8A8A"/>
                </a:solidFill>
                <a:latin typeface="微软雅黑" panose="020B0503020204020204" charset="-122"/>
                <a:ea typeface="微软雅黑" panose="020B0503020204020204" charset="-122"/>
              </a:rPr>
              <a:t>年第</a:t>
            </a:r>
            <a:r>
              <a:rPr lang="en-US" sz="1050">
                <a:solidFill>
                  <a:srgbClr val="8A8A8A"/>
                </a:solidFill>
                <a:latin typeface="微软雅黑" panose="020B0503020204020204" charset="-122"/>
                <a:ea typeface="微软雅黑" panose="020B0503020204020204" charset="-122"/>
              </a:rPr>
              <a:t> 6 </a:t>
            </a:r>
            <a:r>
              <a:rPr lang="zh-CN" sz="1050">
                <a:solidFill>
                  <a:srgbClr val="8A8A8A"/>
                </a:solidFill>
                <a:latin typeface="微软雅黑" panose="020B0503020204020204" charset="-122"/>
                <a:ea typeface="微软雅黑" panose="020B0503020204020204" charset="-122"/>
              </a:rPr>
              <a:t>期，</a:t>
            </a:r>
            <a:r>
              <a:rPr lang="en-US" sz="1050">
                <a:solidFill>
                  <a:srgbClr val="8A8A8A"/>
                </a:solidFill>
                <a:latin typeface="微软雅黑" panose="020B0503020204020204" charset="-122"/>
                <a:ea typeface="微软雅黑" panose="020B0503020204020204" charset="-122"/>
              </a:rPr>
              <a:t>pp.191–206</a:t>
            </a:r>
            <a:endParaRPr lang="en-US" sz="1050">
              <a:solidFill>
                <a:srgbClr val="8A8A8A"/>
              </a:solidFill>
              <a:latin typeface="微软雅黑" panose="020B0503020204020204" charset="-122"/>
              <a:ea typeface="微软雅黑" panose="020B0503020204020204" charset="-122"/>
            </a:endParaRPr>
          </a:p>
        </p:txBody>
      </p:sp>
      <p:sp>
        <p:nvSpPr>
          <p:cNvPr id="11" name="TextBox 10"/>
          <p:cNvSpPr txBox="1"/>
          <p:nvPr/>
        </p:nvSpPr>
        <p:spPr>
          <a:xfrm>
            <a:off x="530352" y="5742432"/>
            <a:ext cx="6309360" cy="219456"/>
          </a:xfrm>
          <a:prstGeom prst="rect">
            <a:avLst/>
          </a:prstGeom>
          <a:noFill/>
        </p:spPr>
        <p:txBody>
          <a:bodyPr wrap="none" lIns="0" rIns="0" tIns="0" bIns="0">
            <a:spAutoFit/>
          </a:bodyPr>
          <a:lstStyle/>
          <a:p>
            <a:r>
              <a:rPr sz="1300" b="1">
                <a:solidFill>
                  <a:srgbClr val="01A5B1"/>
                </a:solidFill>
                <a:latin typeface="微软雅黑"/>
                <a:ea typeface="微软雅黑"/>
              </a:rPr>
              <a:t>GitHub 项目仓库：github.com/Liukun800/ff5-paper-decoding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1"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0.1 开场与文献检索过程&lt;/Text&gt;&#10;    &lt;Text style={{ position: 'absolute', top: 34, left: 1080, width: 144, fontSize: 13, color: '#B0B0B0', textAlign: 'right' }}&gt;02 / 9&lt;/Text&gt;&#10;&#10;    &lt;Box style={{ position: 'absolute', top: 96, left: 56, width: 530, height: 482, background: '#FFFFFF', border: '1px solid #E4E4E4', boxShadow: '0 2px 10px rgba(0,0,0,0.07)', alignItems: 'center', justifyContent: 'center', padding: 6 }}&gt;&#10;        &lt;Image src=&quot;assets/u00_cnki.png&quot; style={{ width: 516, height: 470, objectFit: 'contain' }} /&gt;&#10;    &lt;/Box&gt;&#10;    &lt;Text style={{ position: 'absolute', top: 586, left: 56, width: 530, fontSize: 12.5, color: '#8A8A8A', lineHeight: 1.6 }}&gt;&#10;        ▲ 中国知网专业检索结果页（按&quot;被引&quot;降序）：第 1 条即本文——被引 1036、下载 27287，《金融研究》2017-06-25&#10;    &lt;/Text&gt;&#10;&#10;    &lt;Box style={{ position: 'absolute', top: 96, left: 616, width: 608, height: 132, background: '#F5FBFB', borderLeft: '4px solid #01A5B1', padding: 12, flexDirection: 'column' }}&gt;&#10;        &lt;Text style={{ fontSize: 15.5, fontWeight: 'bold', color: '#0B7C86', marginBottom: 5 }}&gt;◆ 本次分享的完整脉络&lt;/Text&gt;&#10;        &lt;Text style={{ width: 576, fontSize: 14, color: '#444444', lineHeight: 1.66 }}&gt;&#10;            文献检索 → 文献解读 → 提炼团队观察到的&lt;b&gt;论文写作方法论&lt;/b&gt; → 整理&lt;b&gt;论文 SOP&lt;/b&gt; 标准操作流程 → 打包上传 &lt;b&gt;GitHub 项目仓库&lt;/b&gt;&#10;        &lt;/Text&gt;&#10;    &lt;/Box&gt;&#10;    &lt;Box style={{ position: 'absolute', top: 242, left: 616, width: 608, height: 132, background: '#F5FBFB', borderLeft: '4px solid #01A5B1', padding: 12, flexDirection: 'column' }}&gt;&#10;        &lt;Text style={{ fontSize: 15.5, fontWeight: 'bold', color: '#0B7C86', marginBottom: 5 }}&gt;◆ 检索式（对照左侧截图输入框）&lt;/Text&gt;&#10;        &lt;Text style={{ width: 576, fontSize: 14, color: '#444444', lineHeight: 1.66 }}&gt;&#10;            中国知网&quot;专业检索&quot;：&lt;b&gt;LY='金融研究' AND SU='因子'&lt;/b&gt;——文献来源限定《金融研究》、主题限定&quot;因子&quot;，共命中 &lt;b&gt;105&lt;/b&gt; 条结果。&#10;        &lt;/Text&gt;&#10;    &lt;/Box&gt;&#10;    &lt;Box style={{ position: 'absolute', top: 388, left: 616, width: 608, height: 132, background: '#FFF8EE', borderLeft: '4px solid #D8952F', padding: 12, flexDirection: 'column' }}&gt;&#10;        &lt;Text style={{ fontSize: 15.5, fontWeight: 'bold', color: '#9A6A12', marginBottom: 5 }}&gt;◆ 锁定标准（对照左侧结果列表）&lt;/Text&gt;&#10;        &lt;Text style={{ width: 576, fontSize: 14, color: '#444444', lineHeight: 1.66 }}&gt;&#10;            按被引量降序排列，排名第一的即为本文：被引 &lt;b&gt;1036&lt;/b&gt; 次、下载 &lt;b&gt;27287&lt;/b&gt; 次——选定它作为本组精读文献。&#10;        &lt;/Text&gt;&#10;    &lt;/Box&gt;&#10;    &lt;Box style={{ position: 'absolute', top: 534, left: 616, width: 608, height: 88, background: '#FFF3F0', borderLeft: '4px solid #C0504D', padding: 12, flexDirection: 'column' }}&gt;&#10;        &lt;Text style={{ fontSize: 15, fontWeight: 'bold', color: '#A03D3A' }}&gt;◆ 分工：刘坤（第一、二章）· 杨茜 · 夏佳琳 · 韩逸海（后续章节）&lt;/Text&gt;&#10;    &lt;/Box&gt;&#10;&#10;&lt;/Slide&gt;"/>
        <p:cNvGrpSpPr/>
        <p:nvPr/>
      </p:nvGrpSpPr>
      <p:grpSpPr>
        <a:xfrm>
          <a:off x="0" y="0"/>
          <a:ext cx="0" cy="0"/>
          <a:chOff x="0" y="0"/>
          <a:chExt cx="0" cy="0"/>
        </a:xfrm>
      </p:grpSpPr>
      <p:sp>
        <p:nvSpPr>
          <p:cNvPr id="12" name="矩形 11"/>
          <p:cNvSpPr/>
          <p:nvPr/>
        </p:nvSpPr>
        <p:spPr>
          <a:xfrm>
            <a:off x="0" y="0"/>
            <a:ext cx="12192000" cy="6858000"/>
          </a:xfrm>
          <a:prstGeom prst="rect">
            <a:avLst/>
          </a:prstGeom>
          <a:solidFill>
            <a:srgbClr val="FFFFFF"/>
          </a:solidFill>
        </p:spPr>
        <p:txBody>
          <a:bodyPr/>
          <a:p/>
        </p:txBody>
      </p:sp>
      <p:sp>
        <p:nvSpPr>
          <p:cNvPr id="13" name="矩形 12"/>
          <p:cNvSpPr/>
          <p:nvPr/>
        </p:nvSpPr>
        <p:spPr>
          <a:xfrm>
            <a:off x="0" y="0"/>
            <a:ext cx="12192000" cy="57150"/>
          </a:xfrm>
          <a:prstGeom prst="rect">
            <a:avLst/>
          </a:prstGeom>
          <a:solidFill>
            <a:srgbClr val="01A5B1"/>
          </a:solidFill>
        </p:spPr>
        <p:txBody>
          <a:bodyPr/>
          <a:p/>
        </p:txBody>
      </p:sp>
      <p:sp>
        <p:nvSpPr>
          <p:cNvPr id="14" name="文本框 13"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en-US" sz="2200" b="1">
                <a:solidFill>
                  <a:srgbClr val="1F1F1F"/>
                </a:solidFill>
                <a:latin typeface="微软雅黑" panose="020B0503020204020204" charset="-122"/>
                <a:ea typeface="微软雅黑" panose="020B0503020204020204" charset="-122"/>
              </a:rPr>
              <a:t>0.1 </a:t>
            </a:r>
            <a:r>
              <a:rPr lang="zh-CN" sz="2200" b="1">
                <a:solidFill>
                  <a:srgbClr val="1F1F1F"/>
                </a:solidFill>
                <a:latin typeface="微软雅黑" panose="020B0503020204020204" charset="-122"/>
                <a:ea typeface="微软雅黑" panose="020B0503020204020204" charset="-122"/>
              </a:rPr>
              <a:t>开场与文献检索过程</a:t>
            </a:r>
            <a:endParaRPr lang="zh-CN" sz="2175" b="1">
              <a:solidFill>
                <a:srgbClr val="1F1F1F"/>
              </a:solidFill>
              <a:latin typeface="微软雅黑" panose="020B0503020204020204" charset="-122"/>
              <a:ea typeface="微软雅黑" panose="020B0503020204020204" charset="-122"/>
            </a:endParaRPr>
          </a:p>
        </p:txBody>
      </p:sp>
      <p:sp>
        <p:nvSpPr>
          <p:cNvPr id="16" name="矩形 15"/>
          <p:cNvSpPr/>
          <p:nvPr/>
        </p:nvSpPr>
        <p:spPr>
          <a:xfrm>
            <a:off x="533400" y="914400"/>
            <a:ext cx="5048250" cy="459105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7" name="图片 16"/>
          <p:cNvPicPr>
            <a:picLocks noChangeAspect="1"/>
          </p:cNvPicPr>
          <p:nvPr/>
        </p:nvPicPr>
        <p:blipFill>
          <a:blip r:embed="rId1"/>
          <a:srcRect t="119" b="119"/>
          <a:stretch>
            <a:fillRect/>
          </a:stretch>
        </p:blipFill>
        <p:spPr>
          <a:xfrm>
            <a:off x="600075" y="971550"/>
            <a:ext cx="4914900" cy="4476750"/>
          </a:xfrm>
          <a:prstGeom prst="rect">
            <a:avLst/>
          </a:prstGeom>
        </p:spPr>
      </p:pic>
      <p:sp>
        <p:nvSpPr>
          <p:cNvPr id="18" name="文本框 17" descr="{&quot;isTemplate&quot;:true,&quot;type&quot;:&quot;text&quot;}"/>
          <p:cNvSpPr txBox="1"/>
          <p:nvPr/>
        </p:nvSpPr>
        <p:spPr>
          <a:xfrm>
            <a:off x="533400" y="5581650"/>
            <a:ext cx="5048250" cy="457200"/>
          </a:xfrm>
          <a:prstGeom prst="rect">
            <a:avLst/>
          </a:prstGeom>
        </p:spPr>
        <p:txBody>
          <a:bodyPr wrap="square" lIns="0" tIns="0" rIns="0" bIns="0">
            <a:normAutofit/>
          </a:bodyPr>
          <a:p>
            <a:pPr>
              <a:lnSpc>
                <a:spcPct val="160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中国知网专业检索结果页（按</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被引</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降序）：第</a:t>
            </a:r>
            <a:r>
              <a:rPr lang="en-US" sz="940">
                <a:solidFill>
                  <a:srgbClr val="8A8A8A"/>
                </a:solidFill>
                <a:latin typeface="微软雅黑" panose="020B0503020204020204" charset="-122"/>
                <a:ea typeface="微软雅黑" panose="020B0503020204020204" charset="-122"/>
              </a:rPr>
              <a:t> 1 </a:t>
            </a:r>
            <a:r>
              <a:rPr lang="zh-CN" sz="940">
                <a:solidFill>
                  <a:srgbClr val="8A8A8A"/>
                </a:solidFill>
                <a:latin typeface="微软雅黑" panose="020B0503020204020204" charset="-122"/>
                <a:ea typeface="微软雅黑" panose="020B0503020204020204" charset="-122"/>
              </a:rPr>
              <a:t>条即本文——被引</a:t>
            </a:r>
            <a:r>
              <a:rPr lang="en-US" sz="940">
                <a:solidFill>
                  <a:srgbClr val="8A8A8A"/>
                </a:solidFill>
                <a:latin typeface="微软雅黑" panose="020B0503020204020204" charset="-122"/>
                <a:ea typeface="微软雅黑" panose="020B0503020204020204" charset="-122"/>
              </a:rPr>
              <a:t> 1036</a:t>
            </a:r>
            <a:r>
              <a:rPr lang="zh-CN" sz="940">
                <a:solidFill>
                  <a:srgbClr val="8A8A8A"/>
                </a:solidFill>
                <a:latin typeface="微软雅黑" panose="020B0503020204020204" charset="-122"/>
                <a:ea typeface="微软雅黑" panose="020B0503020204020204" charset="-122"/>
              </a:rPr>
              <a:t>、下载</a:t>
            </a:r>
            <a:r>
              <a:rPr lang="en-US" sz="940">
                <a:solidFill>
                  <a:srgbClr val="8A8A8A"/>
                </a:solidFill>
                <a:latin typeface="微软雅黑" panose="020B0503020204020204" charset="-122"/>
                <a:ea typeface="微软雅黑" panose="020B0503020204020204" charset="-122"/>
              </a:rPr>
              <a:t> 27287</a:t>
            </a:r>
            <a:r>
              <a:rPr lang="zh-CN" sz="940">
                <a:solidFill>
                  <a:srgbClr val="8A8A8A"/>
                </a:solidFill>
                <a:latin typeface="微软雅黑" panose="020B0503020204020204" charset="-122"/>
                <a:ea typeface="微软雅黑" panose="020B0503020204020204" charset="-122"/>
              </a:rPr>
              <a:t>，《金融研究》</a:t>
            </a:r>
            <a:r>
              <a:rPr lang="en-US" sz="940">
                <a:solidFill>
                  <a:srgbClr val="8A8A8A"/>
                </a:solidFill>
                <a:latin typeface="微软雅黑" panose="020B0503020204020204" charset="-122"/>
                <a:ea typeface="微软雅黑" panose="020B0503020204020204" charset="-122"/>
              </a:rPr>
              <a:t>2017-06-25</a:t>
            </a:r>
            <a:endParaRPr lang="en-US" sz="940">
              <a:solidFill>
                <a:srgbClr val="8A8A8A"/>
              </a:solidFill>
              <a:latin typeface="微软雅黑" panose="020B0503020204020204" charset="-122"/>
              <a:ea typeface="微软雅黑" panose="020B0503020204020204" charset="-122"/>
            </a:endParaRPr>
          </a:p>
        </p:txBody>
      </p:sp>
      <p:sp>
        <p:nvSpPr>
          <p:cNvPr id="19" name="矩形 18"/>
          <p:cNvSpPr/>
          <p:nvPr/>
        </p:nvSpPr>
        <p:spPr>
          <a:xfrm>
            <a:off x="5905500" y="914400"/>
            <a:ext cx="5753100" cy="1257300"/>
          </a:xfrm>
          <a:prstGeom prst="rect">
            <a:avLst/>
          </a:prstGeom>
          <a:solidFill>
            <a:srgbClr val="F5FBFB"/>
          </a:solidFill>
        </p:spPr>
        <p:txBody>
          <a:bodyPr/>
          <a:p/>
        </p:txBody>
      </p:sp>
      <p:sp>
        <p:nvSpPr>
          <p:cNvPr id="20" name="任意多边形 19"/>
          <p:cNvSpPr/>
          <p:nvPr/>
        </p:nvSpPr>
        <p:spPr>
          <a:xfrm>
            <a:off x="5867400" y="914400"/>
            <a:ext cx="5791200" cy="1257300"/>
          </a:xfrm>
          <a:custGeom>
            <a:avLst/>
            <a:gdLst/>
            <a:ahLst/>
            <a:cxnLst/>
            <a:pathLst>
              <a:path w="608" h="132">
                <a:moveTo>
                  <a:pt x="0" y="0"/>
                </a:moveTo>
                <a:lnTo>
                  <a:pt x="4" y="0"/>
                </a:lnTo>
                <a:lnTo>
                  <a:pt x="4" y="132"/>
                </a:lnTo>
                <a:lnTo>
                  <a:pt x="0" y="132"/>
                </a:lnTo>
                <a:close/>
              </a:path>
            </a:pathLst>
          </a:custGeom>
          <a:solidFill>
            <a:srgbClr val="01A5B1"/>
          </a:solidFill>
        </p:spPr>
        <p:txBody>
          <a:bodyPr/>
          <a:p/>
        </p:txBody>
      </p:sp>
      <p:sp>
        <p:nvSpPr>
          <p:cNvPr id="21" name="文本框 20" descr="{&quot;isTemplate&quot;:true,&quot;type&quot;:&quot;text&quot;}"/>
          <p:cNvSpPr txBox="1"/>
          <p:nvPr/>
        </p:nvSpPr>
        <p:spPr>
          <a:xfrm>
            <a:off x="6019800" y="1028700"/>
            <a:ext cx="5524500" cy="180975"/>
          </a:xfrm>
          <a:prstGeom prst="rect">
            <a:avLst/>
          </a:prstGeom>
        </p:spPr>
        <p:txBody>
          <a:bodyPr wrap="none" lIns="0" tIns="0" rIns="0" bIns="0"/>
          <a:p>
            <a:pPr>
              <a:lnSpc>
                <a:spcPct val="100000"/>
              </a:lnSpc>
            </a:pPr>
            <a:r>
              <a:rPr lang="en-US" sz="1165" b="1">
                <a:solidFill>
                  <a:srgbClr val="0B7C86"/>
                </a:solidFill>
                <a:latin typeface="微软雅黑" panose="020B0503020204020204" charset="-122"/>
                <a:ea typeface="微软雅黑" panose="020B0503020204020204" charset="-122"/>
              </a:rPr>
              <a:t>◆ </a:t>
            </a:r>
            <a:r>
              <a:rPr lang="zh-CN" sz="1165" b="1">
                <a:solidFill>
                  <a:srgbClr val="0B7C86"/>
                </a:solidFill>
                <a:latin typeface="微软雅黑" panose="020B0503020204020204" charset="-122"/>
                <a:ea typeface="微软雅黑" panose="020B0503020204020204" charset="-122"/>
              </a:rPr>
              <a:t>本次分享的完整脉络</a:t>
            </a:r>
            <a:endParaRPr lang="zh-CN" sz="1165" b="1">
              <a:solidFill>
                <a:srgbClr val="0B7C86"/>
              </a:solidFill>
              <a:latin typeface="微软雅黑" panose="020B0503020204020204" charset="-122"/>
              <a:ea typeface="微软雅黑" panose="020B0503020204020204" charset="-122"/>
            </a:endParaRPr>
          </a:p>
        </p:txBody>
      </p:sp>
      <p:sp>
        <p:nvSpPr>
          <p:cNvPr id="22" name="文本框 21" descr="{&quot;isTemplate&quot;:true,&quot;type&quot;:&quot;text&quot;}"/>
          <p:cNvSpPr txBox="1"/>
          <p:nvPr/>
        </p:nvSpPr>
        <p:spPr>
          <a:xfrm>
            <a:off x="6019800" y="1257300"/>
            <a:ext cx="5486400" cy="533400"/>
          </a:xfrm>
          <a:prstGeom prst="rect">
            <a:avLst/>
          </a:prstGeom>
        </p:spPr>
        <p:txBody>
          <a:bodyPr wrap="square" lIns="0" tIns="0" rIns="0" bIns="0">
            <a:normAutofit/>
          </a:bodyPr>
          <a:p>
            <a:pPr>
              <a:lnSpc>
                <a:spcPct val="166000"/>
              </a:lnSpc>
            </a:pPr>
            <a:r>
              <a:rPr lang="zh-CN" sz="1050">
                <a:solidFill>
                  <a:srgbClr val="444444"/>
                </a:solidFill>
                <a:latin typeface="微软雅黑" panose="020B0503020204020204" charset="-122"/>
                <a:ea typeface="微软雅黑" panose="020B0503020204020204" charset="-122"/>
              </a:rPr>
              <a:t>文献检索</a:t>
            </a:r>
            <a:r>
              <a:rPr lang="en-US" sz="1050">
                <a:solidFill>
                  <a:srgbClr val="444444"/>
                </a:solidFill>
                <a:latin typeface="微软雅黑" panose="020B0503020204020204" charset="-122"/>
                <a:ea typeface="微软雅黑" panose="020B0503020204020204" charset="-122"/>
              </a:rPr>
              <a:t> → </a:t>
            </a:r>
            <a:r>
              <a:rPr lang="zh-CN" sz="1050">
                <a:solidFill>
                  <a:srgbClr val="444444"/>
                </a:solidFill>
                <a:latin typeface="微软雅黑" panose="020B0503020204020204" charset="-122"/>
                <a:ea typeface="微软雅黑" panose="020B0503020204020204" charset="-122"/>
              </a:rPr>
              <a:t>文献解读</a:t>
            </a:r>
            <a:r>
              <a:rPr lang="en-US" sz="1050">
                <a:solidFill>
                  <a:srgbClr val="444444"/>
                </a:solidFill>
                <a:latin typeface="微软雅黑" panose="020B0503020204020204" charset="-122"/>
                <a:ea typeface="微软雅黑" panose="020B0503020204020204" charset="-122"/>
              </a:rPr>
              <a:t> → </a:t>
            </a:r>
            <a:r>
              <a:rPr lang="zh-CN" sz="1050">
                <a:solidFill>
                  <a:srgbClr val="444444"/>
                </a:solidFill>
                <a:latin typeface="微软雅黑" panose="020B0503020204020204" charset="-122"/>
                <a:ea typeface="微软雅黑" panose="020B0503020204020204" charset="-122"/>
              </a:rPr>
              <a:t>提炼团队观察到的</a:t>
            </a:r>
            <a:r>
              <a:rPr lang="zh-CN" sz="1050">
                <a:solidFill>
                  <a:srgbClr val="444444"/>
                </a:solidFill>
                <a:latin typeface="微软雅黑" panose="020B0503020204020204" charset="-122"/>
                <a:ea typeface="微软雅黑" panose="020B0503020204020204" charset="-122"/>
              </a:rPr>
              <a:t>论文写作方法论</a:t>
            </a:r>
            <a:r>
              <a:rPr lang="en-US" sz="1050">
                <a:solidFill>
                  <a:srgbClr val="444444"/>
                </a:solidFill>
                <a:latin typeface="微软雅黑" panose="020B0503020204020204" charset="-122"/>
                <a:ea typeface="微软雅黑" panose="020B0503020204020204" charset="-122"/>
              </a:rPr>
              <a:t> → </a:t>
            </a:r>
            <a:r>
              <a:rPr lang="zh-CN" sz="1050">
                <a:solidFill>
                  <a:srgbClr val="444444"/>
                </a:solidFill>
                <a:latin typeface="微软雅黑" panose="020B0503020204020204" charset="-122"/>
                <a:ea typeface="微软雅黑" panose="020B0503020204020204" charset="-122"/>
              </a:rPr>
              <a:t>整理</a:t>
            </a:r>
            <a:r>
              <a:rPr lang="zh-CN" sz="1050">
                <a:solidFill>
                  <a:srgbClr val="444444"/>
                </a:solidFill>
                <a:latin typeface="微软雅黑" panose="020B0503020204020204" charset="-122"/>
                <a:ea typeface="微软雅黑" panose="020B0503020204020204" charset="-122"/>
              </a:rPr>
              <a:t>论文</a:t>
            </a:r>
            <a:r>
              <a:rPr lang="en-US" sz="1050">
                <a:solidFill>
                  <a:srgbClr val="444444"/>
                </a:solidFill>
                <a:latin typeface="微软雅黑" panose="020B0503020204020204" charset="-122"/>
                <a:ea typeface="微软雅黑" panose="020B0503020204020204" charset="-122"/>
              </a:rPr>
              <a:t> SOP</a:t>
            </a:r>
            <a:r>
              <a:rPr lang="en-US" sz="1050">
                <a:solidFill>
                  <a:srgbClr val="444444"/>
                </a:solidFill>
                <a:latin typeface="微软雅黑" panose="020B0503020204020204" charset="-122"/>
                <a:ea typeface="微软雅黑" panose="020B0503020204020204" charset="-122"/>
              </a:rPr>
              <a:t> </a:t>
            </a:r>
            <a:r>
              <a:rPr lang="zh-CN" sz="1050">
                <a:solidFill>
                  <a:srgbClr val="444444"/>
                </a:solidFill>
                <a:latin typeface="微软雅黑" panose="020B0503020204020204" charset="-122"/>
                <a:ea typeface="微软雅黑" panose="020B0503020204020204" charset="-122"/>
              </a:rPr>
              <a:t>标准操作流程</a:t>
            </a:r>
            <a:r>
              <a:rPr lang="en-US" sz="1050">
                <a:solidFill>
                  <a:srgbClr val="444444"/>
                </a:solidFill>
                <a:latin typeface="微软雅黑" panose="020B0503020204020204" charset="-122"/>
                <a:ea typeface="微软雅黑" panose="020B0503020204020204" charset="-122"/>
              </a:rPr>
              <a:t> → </a:t>
            </a:r>
            <a:r>
              <a:rPr lang="zh-CN" sz="1050">
                <a:solidFill>
                  <a:srgbClr val="444444"/>
                </a:solidFill>
                <a:latin typeface="微软雅黑" panose="020B0503020204020204" charset="-122"/>
                <a:ea typeface="微软雅黑" panose="020B0503020204020204" charset="-122"/>
              </a:rPr>
              <a:t>打包上传</a:t>
            </a:r>
            <a:r>
              <a:rPr lang="en-US" sz="1050">
                <a:solidFill>
                  <a:srgbClr val="444444"/>
                </a:solidFill>
                <a:latin typeface="微软雅黑" panose="020B0503020204020204" charset="-122"/>
                <a:ea typeface="微软雅黑" panose="020B0503020204020204" charset="-122"/>
              </a:rPr>
              <a:t> </a:t>
            </a:r>
            <a:r>
              <a:rPr lang="en-US" sz="1050">
                <a:solidFill>
                  <a:srgbClr val="444444"/>
                </a:solidFill>
                <a:latin typeface="微软雅黑" panose="020B0503020204020204" charset="-122"/>
                <a:ea typeface="微软雅黑" panose="020B0503020204020204" charset="-122"/>
              </a:rPr>
              <a:t>GitHub </a:t>
            </a:r>
            <a:r>
              <a:rPr lang="zh-CN" sz="1050">
                <a:solidFill>
                  <a:srgbClr val="444444"/>
                </a:solidFill>
                <a:latin typeface="微软雅黑" panose="020B0503020204020204" charset="-122"/>
                <a:ea typeface="微软雅黑" panose="020B0503020204020204" charset="-122"/>
              </a:rPr>
              <a:t>项目仓库</a:t>
            </a:r>
            <a:endParaRPr lang="zh-CN" sz="1050">
              <a:solidFill>
                <a:srgbClr val="444444"/>
              </a:solidFill>
              <a:latin typeface="微软雅黑" panose="020B0503020204020204" charset="-122"/>
              <a:ea typeface="微软雅黑" panose="020B0503020204020204" charset="-122"/>
            </a:endParaRPr>
          </a:p>
        </p:txBody>
      </p:sp>
      <p:sp>
        <p:nvSpPr>
          <p:cNvPr id="23" name="矩形 22"/>
          <p:cNvSpPr/>
          <p:nvPr/>
        </p:nvSpPr>
        <p:spPr>
          <a:xfrm>
            <a:off x="5905500" y="2305050"/>
            <a:ext cx="5753100" cy="1257300"/>
          </a:xfrm>
          <a:prstGeom prst="rect">
            <a:avLst/>
          </a:prstGeom>
          <a:solidFill>
            <a:srgbClr val="F5FBFB"/>
          </a:solidFill>
        </p:spPr>
        <p:txBody>
          <a:bodyPr/>
          <a:p/>
        </p:txBody>
      </p:sp>
      <p:sp>
        <p:nvSpPr>
          <p:cNvPr id="24" name="任意多边形 23"/>
          <p:cNvSpPr/>
          <p:nvPr/>
        </p:nvSpPr>
        <p:spPr>
          <a:xfrm>
            <a:off x="5867400" y="2305050"/>
            <a:ext cx="5791200" cy="1257300"/>
          </a:xfrm>
          <a:custGeom>
            <a:avLst/>
            <a:gdLst/>
            <a:ahLst/>
            <a:cxnLst/>
            <a:pathLst>
              <a:path w="608" h="132">
                <a:moveTo>
                  <a:pt x="0" y="0"/>
                </a:moveTo>
                <a:lnTo>
                  <a:pt x="4" y="0"/>
                </a:lnTo>
                <a:lnTo>
                  <a:pt x="4" y="132"/>
                </a:lnTo>
                <a:lnTo>
                  <a:pt x="0" y="132"/>
                </a:lnTo>
                <a:close/>
              </a:path>
            </a:pathLst>
          </a:custGeom>
          <a:solidFill>
            <a:srgbClr val="01A5B1"/>
          </a:solidFill>
        </p:spPr>
        <p:txBody>
          <a:bodyPr/>
          <a:p/>
        </p:txBody>
      </p:sp>
      <p:sp>
        <p:nvSpPr>
          <p:cNvPr id="25" name="文本框 24" descr="{&quot;isTemplate&quot;:true,&quot;type&quot;:&quot;text&quot;}"/>
          <p:cNvSpPr txBox="1"/>
          <p:nvPr/>
        </p:nvSpPr>
        <p:spPr>
          <a:xfrm>
            <a:off x="6019800" y="2419350"/>
            <a:ext cx="5524500" cy="180975"/>
          </a:xfrm>
          <a:prstGeom prst="rect">
            <a:avLst/>
          </a:prstGeom>
        </p:spPr>
        <p:txBody>
          <a:bodyPr wrap="none" lIns="0" tIns="0" rIns="0" bIns="0"/>
          <a:p>
            <a:pPr>
              <a:lnSpc>
                <a:spcPct val="100000"/>
              </a:lnSpc>
            </a:pPr>
            <a:r>
              <a:rPr lang="en-US" sz="1165" b="1">
                <a:solidFill>
                  <a:srgbClr val="0B7C86"/>
                </a:solidFill>
                <a:latin typeface="微软雅黑" panose="020B0503020204020204" charset="-122"/>
                <a:ea typeface="微软雅黑" panose="020B0503020204020204" charset="-122"/>
              </a:rPr>
              <a:t>◆ </a:t>
            </a:r>
            <a:r>
              <a:rPr lang="zh-CN" sz="1165" b="1">
                <a:solidFill>
                  <a:srgbClr val="0B7C86"/>
                </a:solidFill>
                <a:latin typeface="微软雅黑" panose="020B0503020204020204" charset="-122"/>
                <a:ea typeface="微软雅黑" panose="020B0503020204020204" charset="-122"/>
              </a:rPr>
              <a:t>检索式（对照左侧截图输入框）</a:t>
            </a:r>
            <a:endParaRPr lang="zh-CN" sz="1165" b="1">
              <a:solidFill>
                <a:srgbClr val="0B7C86"/>
              </a:solidFill>
              <a:latin typeface="微软雅黑" panose="020B0503020204020204" charset="-122"/>
              <a:ea typeface="微软雅黑" panose="020B0503020204020204" charset="-122"/>
            </a:endParaRPr>
          </a:p>
        </p:txBody>
      </p:sp>
      <p:sp>
        <p:nvSpPr>
          <p:cNvPr id="26" name="文本框 25" descr="{&quot;isTemplate&quot;:true,&quot;type&quot;:&quot;text&quot;}"/>
          <p:cNvSpPr txBox="1"/>
          <p:nvPr/>
        </p:nvSpPr>
        <p:spPr>
          <a:xfrm>
            <a:off x="6019800" y="2647950"/>
            <a:ext cx="5486400" cy="533400"/>
          </a:xfrm>
          <a:prstGeom prst="rect">
            <a:avLst/>
          </a:prstGeom>
        </p:spPr>
        <p:txBody>
          <a:bodyPr wrap="square" lIns="0" tIns="0" rIns="0" bIns="0">
            <a:normAutofit/>
          </a:bodyPr>
          <a:p>
            <a:pPr>
              <a:lnSpc>
                <a:spcPct val="166000"/>
              </a:lnSpc>
            </a:pPr>
            <a:r>
              <a:rPr lang="zh-CN" sz="1050">
                <a:solidFill>
                  <a:srgbClr val="444444"/>
                </a:solidFill>
                <a:latin typeface="微软雅黑" panose="020B0503020204020204" charset="-122"/>
                <a:ea typeface="微软雅黑" panose="020B0503020204020204" charset="-122"/>
              </a:rPr>
              <a:t>中国知网</a:t>
            </a:r>
            <a:r>
              <a:rPr lang="en-US" sz="1050">
                <a:solidFill>
                  <a:srgbClr val="444444"/>
                </a:solidFill>
                <a:latin typeface="微软雅黑" panose="020B0503020204020204" charset="-122"/>
                <a:ea typeface="微软雅黑" panose="020B0503020204020204" charset="-122"/>
              </a:rPr>
              <a:t>"</a:t>
            </a:r>
            <a:r>
              <a:rPr lang="zh-CN" sz="1050">
                <a:solidFill>
                  <a:srgbClr val="444444"/>
                </a:solidFill>
                <a:latin typeface="微软雅黑" panose="020B0503020204020204" charset="-122"/>
                <a:ea typeface="微软雅黑" panose="020B0503020204020204" charset="-122"/>
              </a:rPr>
              <a:t>专业检索</a:t>
            </a:r>
            <a:r>
              <a:rPr lang="en-US" sz="1050">
                <a:solidFill>
                  <a:srgbClr val="444444"/>
                </a:solidFill>
                <a:latin typeface="微软雅黑" panose="020B0503020204020204" charset="-122"/>
                <a:ea typeface="微软雅黑" panose="020B0503020204020204" charset="-122"/>
              </a:rPr>
              <a:t>"</a:t>
            </a:r>
            <a:r>
              <a:rPr lang="zh-CN" sz="1050">
                <a:solidFill>
                  <a:srgbClr val="444444"/>
                </a:solidFill>
                <a:latin typeface="微软雅黑" panose="020B0503020204020204" charset="-122"/>
                <a:ea typeface="微软雅黑" panose="020B0503020204020204" charset="-122"/>
              </a:rPr>
              <a:t>：</a:t>
            </a:r>
            <a:r>
              <a:rPr lang="en-US" sz="1050">
                <a:solidFill>
                  <a:srgbClr val="444444"/>
                </a:solidFill>
                <a:latin typeface="微软雅黑" panose="020B0503020204020204" charset="-122"/>
                <a:ea typeface="微软雅黑" panose="020B0503020204020204" charset="-122"/>
              </a:rPr>
              <a:t>LY='</a:t>
            </a:r>
            <a:r>
              <a:rPr lang="zh-CN" sz="1050">
                <a:solidFill>
                  <a:srgbClr val="444444"/>
                </a:solidFill>
                <a:latin typeface="微软雅黑" panose="020B0503020204020204" charset="-122"/>
                <a:ea typeface="微软雅黑" panose="020B0503020204020204" charset="-122"/>
              </a:rPr>
              <a:t>金融研究</a:t>
            </a:r>
            <a:r>
              <a:rPr lang="en-US" sz="1050">
                <a:solidFill>
                  <a:srgbClr val="444444"/>
                </a:solidFill>
                <a:latin typeface="微软雅黑" panose="020B0503020204020204" charset="-122"/>
                <a:ea typeface="微软雅黑" panose="020B0503020204020204" charset="-122"/>
              </a:rPr>
              <a:t>' AND SU='</a:t>
            </a:r>
            <a:r>
              <a:rPr lang="zh-CN" sz="1050">
                <a:solidFill>
                  <a:srgbClr val="444444"/>
                </a:solidFill>
                <a:latin typeface="微软雅黑" panose="020B0503020204020204" charset="-122"/>
                <a:ea typeface="微软雅黑" panose="020B0503020204020204" charset="-122"/>
              </a:rPr>
              <a:t>因子</a:t>
            </a:r>
            <a:r>
              <a:rPr lang="en-US" sz="1050">
                <a:solidFill>
                  <a:srgbClr val="444444"/>
                </a:solidFill>
                <a:latin typeface="微软雅黑" panose="020B0503020204020204" charset="-122"/>
                <a:ea typeface="微软雅黑" panose="020B0503020204020204" charset="-122"/>
              </a:rPr>
              <a:t>'</a:t>
            </a:r>
            <a:r>
              <a:rPr lang="zh-CN" sz="1050">
                <a:solidFill>
                  <a:srgbClr val="444444"/>
                </a:solidFill>
                <a:latin typeface="微软雅黑" panose="020B0503020204020204" charset="-122"/>
                <a:ea typeface="微软雅黑" panose="020B0503020204020204" charset="-122"/>
              </a:rPr>
              <a:t>——文献来源限定《金融研究》、主题限定</a:t>
            </a:r>
            <a:r>
              <a:rPr lang="en-US" sz="1050">
                <a:solidFill>
                  <a:srgbClr val="444444"/>
                </a:solidFill>
                <a:latin typeface="微软雅黑" panose="020B0503020204020204" charset="-122"/>
                <a:ea typeface="微软雅黑" panose="020B0503020204020204" charset="-122"/>
              </a:rPr>
              <a:t>"</a:t>
            </a:r>
            <a:r>
              <a:rPr lang="zh-CN" sz="1050">
                <a:solidFill>
                  <a:srgbClr val="444444"/>
                </a:solidFill>
                <a:latin typeface="微软雅黑" panose="020B0503020204020204" charset="-122"/>
                <a:ea typeface="微软雅黑" panose="020B0503020204020204" charset="-122"/>
              </a:rPr>
              <a:t>因子</a:t>
            </a:r>
            <a:r>
              <a:rPr lang="en-US" sz="1050">
                <a:solidFill>
                  <a:srgbClr val="444444"/>
                </a:solidFill>
                <a:latin typeface="微软雅黑" panose="020B0503020204020204" charset="-122"/>
                <a:ea typeface="微软雅黑" panose="020B0503020204020204" charset="-122"/>
              </a:rPr>
              <a:t>"</a:t>
            </a:r>
            <a:r>
              <a:rPr lang="zh-CN" sz="1050">
                <a:solidFill>
                  <a:srgbClr val="444444"/>
                </a:solidFill>
                <a:latin typeface="微软雅黑" panose="020B0503020204020204" charset="-122"/>
                <a:ea typeface="微软雅黑" panose="020B0503020204020204" charset="-122"/>
              </a:rPr>
              <a:t>，共命中</a:t>
            </a:r>
            <a:r>
              <a:rPr lang="en-US" sz="1050">
                <a:solidFill>
                  <a:srgbClr val="444444"/>
                </a:solidFill>
                <a:latin typeface="微软雅黑" panose="020B0503020204020204" charset="-122"/>
                <a:ea typeface="微软雅黑" panose="020B0503020204020204" charset="-122"/>
              </a:rPr>
              <a:t> </a:t>
            </a:r>
            <a:r>
              <a:rPr lang="en-US" sz="1050">
                <a:solidFill>
                  <a:srgbClr val="444444"/>
                </a:solidFill>
                <a:latin typeface="微软雅黑" panose="020B0503020204020204" charset="-122"/>
                <a:ea typeface="微软雅黑" panose="020B0503020204020204" charset="-122"/>
              </a:rPr>
              <a:t>105</a:t>
            </a:r>
            <a:r>
              <a:rPr lang="en-US" sz="1050">
                <a:solidFill>
                  <a:srgbClr val="444444"/>
                </a:solidFill>
                <a:latin typeface="微软雅黑" panose="020B0503020204020204" charset="-122"/>
                <a:ea typeface="微软雅黑" panose="020B0503020204020204" charset="-122"/>
              </a:rPr>
              <a:t> </a:t>
            </a:r>
            <a:r>
              <a:rPr lang="zh-CN" sz="1050">
                <a:solidFill>
                  <a:srgbClr val="444444"/>
                </a:solidFill>
                <a:latin typeface="微软雅黑" panose="020B0503020204020204" charset="-122"/>
                <a:ea typeface="微软雅黑" panose="020B0503020204020204" charset="-122"/>
              </a:rPr>
              <a:t>条结果。</a:t>
            </a:r>
            <a:endParaRPr lang="zh-CN" sz="1050">
              <a:solidFill>
                <a:srgbClr val="444444"/>
              </a:solidFill>
              <a:latin typeface="微软雅黑" panose="020B0503020204020204" charset="-122"/>
              <a:ea typeface="微软雅黑" panose="020B0503020204020204" charset="-122"/>
            </a:endParaRPr>
          </a:p>
        </p:txBody>
      </p:sp>
      <p:sp>
        <p:nvSpPr>
          <p:cNvPr id="27" name="矩形 26"/>
          <p:cNvSpPr/>
          <p:nvPr/>
        </p:nvSpPr>
        <p:spPr>
          <a:xfrm>
            <a:off x="5905500" y="3695700"/>
            <a:ext cx="5753100" cy="1257300"/>
          </a:xfrm>
          <a:prstGeom prst="rect">
            <a:avLst/>
          </a:prstGeom>
          <a:solidFill>
            <a:srgbClr val="FFF8EE"/>
          </a:solidFill>
        </p:spPr>
        <p:txBody>
          <a:bodyPr/>
          <a:p/>
        </p:txBody>
      </p:sp>
      <p:sp>
        <p:nvSpPr>
          <p:cNvPr id="28" name="任意多边形 27"/>
          <p:cNvSpPr/>
          <p:nvPr/>
        </p:nvSpPr>
        <p:spPr>
          <a:xfrm>
            <a:off x="5867400" y="3695700"/>
            <a:ext cx="5791200" cy="1257300"/>
          </a:xfrm>
          <a:custGeom>
            <a:avLst/>
            <a:gdLst/>
            <a:ahLst/>
            <a:cxnLst/>
            <a:pathLst>
              <a:path w="608" h="132">
                <a:moveTo>
                  <a:pt x="0" y="0"/>
                </a:moveTo>
                <a:lnTo>
                  <a:pt x="4" y="0"/>
                </a:lnTo>
                <a:lnTo>
                  <a:pt x="4" y="132"/>
                </a:lnTo>
                <a:lnTo>
                  <a:pt x="0" y="132"/>
                </a:lnTo>
                <a:close/>
              </a:path>
            </a:pathLst>
          </a:custGeom>
          <a:solidFill>
            <a:srgbClr val="D8952F"/>
          </a:solidFill>
        </p:spPr>
        <p:txBody>
          <a:bodyPr/>
          <a:p/>
        </p:txBody>
      </p:sp>
      <p:sp>
        <p:nvSpPr>
          <p:cNvPr id="29" name="文本框 28" descr="{&quot;isTemplate&quot;:true,&quot;type&quot;:&quot;text&quot;}"/>
          <p:cNvSpPr txBox="1"/>
          <p:nvPr/>
        </p:nvSpPr>
        <p:spPr>
          <a:xfrm>
            <a:off x="6019800" y="3810000"/>
            <a:ext cx="5524500" cy="180975"/>
          </a:xfrm>
          <a:prstGeom prst="rect">
            <a:avLst/>
          </a:prstGeom>
        </p:spPr>
        <p:txBody>
          <a:bodyPr wrap="none" lIns="0" tIns="0" rIns="0" bIns="0"/>
          <a:p>
            <a:pPr>
              <a:lnSpc>
                <a:spcPct val="100000"/>
              </a:lnSpc>
            </a:pPr>
            <a:r>
              <a:rPr lang="en-US" sz="1165" b="1">
                <a:solidFill>
                  <a:srgbClr val="9A6A12"/>
                </a:solidFill>
                <a:latin typeface="微软雅黑" panose="020B0503020204020204" charset="-122"/>
                <a:ea typeface="微软雅黑" panose="020B0503020204020204" charset="-122"/>
              </a:rPr>
              <a:t>◆ </a:t>
            </a:r>
            <a:r>
              <a:rPr lang="zh-CN" sz="1165" b="1">
                <a:solidFill>
                  <a:srgbClr val="9A6A12"/>
                </a:solidFill>
                <a:latin typeface="微软雅黑" panose="020B0503020204020204" charset="-122"/>
                <a:ea typeface="微软雅黑" panose="020B0503020204020204" charset="-122"/>
              </a:rPr>
              <a:t>锁定标准（对照左侧结果列表）</a:t>
            </a:r>
            <a:endParaRPr lang="zh-CN" sz="1165" b="1">
              <a:solidFill>
                <a:srgbClr val="9A6A12"/>
              </a:solidFill>
              <a:latin typeface="微软雅黑" panose="020B0503020204020204" charset="-122"/>
              <a:ea typeface="微软雅黑" panose="020B0503020204020204" charset="-122"/>
            </a:endParaRPr>
          </a:p>
        </p:txBody>
      </p:sp>
      <p:sp>
        <p:nvSpPr>
          <p:cNvPr id="30" name="文本框 29" descr="{&quot;isTemplate&quot;:true,&quot;type&quot;:&quot;text&quot;}"/>
          <p:cNvSpPr txBox="1"/>
          <p:nvPr/>
        </p:nvSpPr>
        <p:spPr>
          <a:xfrm>
            <a:off x="6019800" y="4038600"/>
            <a:ext cx="5486400" cy="533400"/>
          </a:xfrm>
          <a:prstGeom prst="rect">
            <a:avLst/>
          </a:prstGeom>
        </p:spPr>
        <p:txBody>
          <a:bodyPr wrap="square" lIns="0" tIns="0" rIns="0" bIns="0">
            <a:normAutofit/>
          </a:bodyPr>
          <a:p>
            <a:pPr>
              <a:lnSpc>
                <a:spcPct val="166000"/>
              </a:lnSpc>
            </a:pPr>
            <a:r>
              <a:rPr lang="zh-CN" sz="1050">
                <a:solidFill>
                  <a:srgbClr val="444444"/>
                </a:solidFill>
                <a:latin typeface="微软雅黑" panose="020B0503020204020204" charset="-122"/>
                <a:ea typeface="微软雅黑" panose="020B0503020204020204" charset="-122"/>
              </a:rPr>
              <a:t>按被引量降序排列，排名第一的即为本文：被引</a:t>
            </a:r>
            <a:r>
              <a:rPr lang="en-US" sz="1050">
                <a:solidFill>
                  <a:srgbClr val="444444"/>
                </a:solidFill>
                <a:latin typeface="微软雅黑" panose="020B0503020204020204" charset="-122"/>
                <a:ea typeface="微软雅黑" panose="020B0503020204020204" charset="-122"/>
              </a:rPr>
              <a:t> </a:t>
            </a:r>
            <a:r>
              <a:rPr lang="en-US" sz="1050">
                <a:solidFill>
                  <a:srgbClr val="444444"/>
                </a:solidFill>
                <a:latin typeface="微软雅黑" panose="020B0503020204020204" charset="-122"/>
                <a:ea typeface="微软雅黑" panose="020B0503020204020204" charset="-122"/>
              </a:rPr>
              <a:t>1036</a:t>
            </a:r>
            <a:r>
              <a:rPr lang="en-US" sz="1050">
                <a:solidFill>
                  <a:srgbClr val="444444"/>
                </a:solidFill>
                <a:latin typeface="微软雅黑" panose="020B0503020204020204" charset="-122"/>
                <a:ea typeface="微软雅黑" panose="020B0503020204020204" charset="-122"/>
              </a:rPr>
              <a:t> </a:t>
            </a:r>
            <a:r>
              <a:rPr lang="zh-CN" sz="1050">
                <a:solidFill>
                  <a:srgbClr val="444444"/>
                </a:solidFill>
                <a:latin typeface="微软雅黑" panose="020B0503020204020204" charset="-122"/>
                <a:ea typeface="微软雅黑" panose="020B0503020204020204" charset="-122"/>
              </a:rPr>
              <a:t>次、下载</a:t>
            </a:r>
            <a:r>
              <a:rPr lang="en-US" sz="1050">
                <a:solidFill>
                  <a:srgbClr val="444444"/>
                </a:solidFill>
                <a:latin typeface="微软雅黑" panose="020B0503020204020204" charset="-122"/>
                <a:ea typeface="微软雅黑" panose="020B0503020204020204" charset="-122"/>
              </a:rPr>
              <a:t> </a:t>
            </a:r>
            <a:r>
              <a:rPr lang="en-US" sz="1050">
                <a:solidFill>
                  <a:srgbClr val="444444"/>
                </a:solidFill>
                <a:latin typeface="微软雅黑" panose="020B0503020204020204" charset="-122"/>
                <a:ea typeface="微软雅黑" panose="020B0503020204020204" charset="-122"/>
              </a:rPr>
              <a:t>27287</a:t>
            </a:r>
            <a:r>
              <a:rPr lang="en-US" sz="1050">
                <a:solidFill>
                  <a:srgbClr val="444444"/>
                </a:solidFill>
                <a:latin typeface="微软雅黑" panose="020B0503020204020204" charset="-122"/>
                <a:ea typeface="微软雅黑" panose="020B0503020204020204" charset="-122"/>
              </a:rPr>
              <a:t> </a:t>
            </a:r>
            <a:r>
              <a:rPr lang="zh-CN" sz="1050">
                <a:solidFill>
                  <a:srgbClr val="444444"/>
                </a:solidFill>
                <a:latin typeface="微软雅黑" panose="020B0503020204020204" charset="-122"/>
                <a:ea typeface="微软雅黑" panose="020B0503020204020204" charset="-122"/>
              </a:rPr>
              <a:t>次——选定它作为本组精读文献。</a:t>
            </a:r>
            <a:endParaRPr lang="zh-CN" sz="1050">
              <a:solidFill>
                <a:srgbClr val="444444"/>
              </a:solidFill>
              <a:latin typeface="微软雅黑" panose="020B0503020204020204" charset="-122"/>
              <a:ea typeface="微软雅黑" panose="020B0503020204020204" charset="-122"/>
            </a:endParaRPr>
          </a:p>
        </p:txBody>
      </p:sp>
      <p:sp>
        <p:nvSpPr>
          <p:cNvPr id="31" name="矩形 30"/>
          <p:cNvSpPr/>
          <p:nvPr/>
        </p:nvSpPr>
        <p:spPr>
          <a:xfrm>
            <a:off x="5905500" y="5086350"/>
            <a:ext cx="5753100" cy="838200"/>
          </a:xfrm>
          <a:prstGeom prst="rect">
            <a:avLst/>
          </a:prstGeom>
          <a:solidFill>
            <a:srgbClr val="FFF3F0"/>
          </a:solidFill>
        </p:spPr>
        <p:txBody>
          <a:bodyPr/>
          <a:p/>
        </p:txBody>
      </p:sp>
      <p:sp>
        <p:nvSpPr>
          <p:cNvPr id="32" name="任意多边形 31"/>
          <p:cNvSpPr/>
          <p:nvPr/>
        </p:nvSpPr>
        <p:spPr>
          <a:xfrm>
            <a:off x="5867400" y="5086350"/>
            <a:ext cx="5791200" cy="838200"/>
          </a:xfrm>
          <a:custGeom>
            <a:avLst/>
            <a:gdLst/>
            <a:ahLst/>
            <a:cxnLst/>
            <a:pathLst>
              <a:path w="608" h="88">
                <a:moveTo>
                  <a:pt x="0" y="0"/>
                </a:moveTo>
                <a:lnTo>
                  <a:pt x="4" y="0"/>
                </a:lnTo>
                <a:lnTo>
                  <a:pt x="4" y="88"/>
                </a:lnTo>
                <a:lnTo>
                  <a:pt x="0" y="88"/>
                </a:lnTo>
                <a:close/>
              </a:path>
            </a:pathLst>
          </a:custGeom>
          <a:solidFill>
            <a:srgbClr val="C0504D"/>
          </a:solidFill>
        </p:spPr>
        <p:txBody>
          <a:bodyPr/>
          <a:p/>
        </p:txBody>
      </p:sp>
      <p:sp>
        <p:nvSpPr>
          <p:cNvPr id="33" name="文本框 32" descr="{&quot;isTemplate&quot;:true,&quot;type&quot;:&quot;text&quot;}"/>
          <p:cNvSpPr txBox="1"/>
          <p:nvPr/>
        </p:nvSpPr>
        <p:spPr>
          <a:xfrm>
            <a:off x="6019800" y="5200650"/>
            <a:ext cx="5524500" cy="171450"/>
          </a:xfrm>
          <a:prstGeom prst="rect">
            <a:avLst/>
          </a:prstGeom>
        </p:spPr>
        <p:txBody>
          <a:bodyPr wrap="none" lIns="0" tIns="0" rIns="0" bIns="0"/>
          <a:p>
            <a:pPr>
              <a:lnSpc>
                <a:spcPct val="100000"/>
              </a:lnSpc>
            </a:pPr>
            <a:r>
              <a:rPr lang="en-US" sz="1125" b="1">
                <a:solidFill>
                  <a:srgbClr val="A03D3A"/>
                </a:solidFill>
                <a:latin typeface="微软雅黑" panose="020B0503020204020204" charset="-122"/>
                <a:ea typeface="微软雅黑" panose="020B0503020204020204" charset="-122"/>
              </a:rPr>
              <a:t>◆ </a:t>
            </a:r>
            <a:r>
              <a:rPr lang="zh-CN" sz="1125" b="1">
                <a:solidFill>
                  <a:srgbClr val="A03D3A"/>
                </a:solidFill>
                <a:latin typeface="微软雅黑" panose="020B0503020204020204" charset="-122"/>
                <a:ea typeface="微软雅黑" panose="020B0503020204020204" charset="-122"/>
              </a:rPr>
              <a:t>分工：刘坤（第一、二章）·</a:t>
            </a:r>
            <a:r>
              <a:rPr lang="en-US" sz="1125" b="1">
                <a:solidFill>
                  <a:srgbClr val="A03D3A"/>
                </a:solidFill>
                <a:latin typeface="微软雅黑" panose="020B0503020204020204" charset="-122"/>
                <a:ea typeface="微软雅黑" panose="020B0503020204020204" charset="-122"/>
              </a:rPr>
              <a:t> </a:t>
            </a:r>
            <a:r>
              <a:rPr lang="zh-CN" sz="1125" b="1">
                <a:solidFill>
                  <a:srgbClr val="A03D3A"/>
                </a:solidFill>
                <a:latin typeface="微软雅黑" panose="020B0503020204020204" charset="-122"/>
                <a:ea typeface="微软雅黑" panose="020B0503020204020204" charset="-122"/>
              </a:rPr>
              <a:t>杨茜</a:t>
            </a:r>
            <a:r>
              <a:rPr lang="en-US" sz="1125" b="1">
                <a:solidFill>
                  <a:srgbClr val="A03D3A"/>
                </a:solidFill>
                <a:latin typeface="微软雅黑" panose="020B0503020204020204" charset="-122"/>
                <a:ea typeface="微软雅黑" panose="020B0503020204020204" charset="-122"/>
              </a:rPr>
              <a:t> · </a:t>
            </a:r>
            <a:r>
              <a:rPr lang="zh-CN" sz="1125" b="1">
                <a:solidFill>
                  <a:srgbClr val="A03D3A"/>
                </a:solidFill>
                <a:latin typeface="微软雅黑" panose="020B0503020204020204" charset="-122"/>
                <a:ea typeface="微软雅黑" panose="020B0503020204020204" charset="-122"/>
              </a:rPr>
              <a:t>夏佳琳</a:t>
            </a:r>
            <a:r>
              <a:rPr lang="en-US" sz="1125" b="1">
                <a:solidFill>
                  <a:srgbClr val="A03D3A"/>
                </a:solidFill>
                <a:latin typeface="微软雅黑" panose="020B0503020204020204" charset="-122"/>
                <a:ea typeface="微软雅黑" panose="020B0503020204020204" charset="-122"/>
              </a:rPr>
              <a:t> · </a:t>
            </a:r>
            <a:r>
              <a:rPr lang="zh-CN" sz="1125" b="1">
                <a:solidFill>
                  <a:srgbClr val="A03D3A"/>
                </a:solidFill>
                <a:latin typeface="微软雅黑" panose="020B0503020204020204" charset="-122"/>
                <a:ea typeface="微软雅黑" panose="020B0503020204020204" charset="-122"/>
              </a:rPr>
              <a:t>韩逸海（后续章节）</a:t>
            </a:r>
            <a:endParaRPr lang="zh-CN" sz="1125" b="1">
              <a:solidFill>
                <a:srgbClr val="A03D3A"/>
              </a:solidFill>
              <a:latin typeface="微软雅黑" panose="020B0503020204020204" charset="-122"/>
              <a:ea typeface="微软雅黑" panose="020B0503020204020204" charset="-122"/>
            </a:endParaRPr>
          </a:p>
        </p:txBody>
      </p:sp>
      <p:sp>
        <p:nvSpPr>
          <p:cNvPr id="34" name="Rectangle 33"/>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开场与检索</a:t>
            </a:r>
          </a:p>
        </p:txBody>
      </p:sp>
      <p:sp>
        <p:nvSpPr>
          <p:cNvPr id="38" name="TextBox 37"/>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39" name="TextBox 38"/>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40" name="TextBox 39"/>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41" name="TextBox 40"/>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42" name="TextBox 41"/>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43" name="TextBox 42"/>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44" name="TextBox 43"/>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49" name="" descr="&lt;Slide style={{ width: 1280, height: 720, background: '#FFFFFF', padding: 0, flexDirection: 'column' }}&gt;&#13;&#10;    &lt;Image src=&quot;assets/deco_teal.png&quot; style={{ position: 'absolute', top: 0, left: 0, width: 1280, height: 720 }} /&gt;&#13;&#10;&#13;&#10;    &lt;Box style={{ position: 'absolute', top: 236, left: 116, width: 208, height: 208, border: '4px solid #FFFFFF', alignItems: 'center', justifyContent: 'center' }}&gt;&#13;&#10;        &lt;Text style={{ fontSize: 72, fontWeight: 'bold', color: '#FFFFFF', lineHeight: 1 }}&gt;04&lt;/Text&gt;&#13;&#10;    &lt;/Box&gt;&#13;&#10;&#13;&#10;    &lt;Text style={{ position: 'absolute', top: 296, left: 432, width: 790, fontSize: 52, fontWeight: 'bold', color: '#1F1F1F', lineHeight: 1.25 }}&gt;&#13;&#10;        研究方法的拆解&#13;&#10;    &lt;/Text&gt;&#13;&#10;    &lt;Box style={{ position: 'absolute', top: 386, left: 432, width: 88, height: 6, background: '#01A5B1' }} /&gt;&#13;&#10;    &lt;Text style={{ position: 'absolute', top: 416, left: 432, width: 770, fontSize: 20, color: '#5A5A5A', lineHeight: 1.62 }}&gt;&#13;&#10;        把方法章节逐句翻译成代码。公式与代码之间的实现 Gap，往往就是最高分的创新点。&#13;&#10;    &lt;/Text&gt;&#13;&#10;&#13;&#10;    &lt;Text style={{ position: 'absolute', top: 668, left: 1140, width: 90, fontSize: 14, color: '#B0B0B0', textAlign: 'right' }}&gt;22 / 37&lt;/Text&gt;&#13;&#10;&lt;/Slide&gt;"/>
        <p:cNvGrpSpPr/>
        <p:nvPr/>
      </p:nvGrpSpPr>
      <p:grpSpPr>
        <a:xfrm>
          <a:off x="0" y="0"/>
          <a:ext cx="0" cy="0"/>
          <a:chOff x="0" y="0"/>
          <a:chExt cx="0" cy="0"/>
        </a:xfrm>
      </p:grpSpPr>
      <p:sp>
        <p:nvSpPr>
          <p:cNvPr id="350" name="矩形 349"/>
          <p:cNvSpPr/>
          <p:nvPr/>
        </p:nvSpPr>
        <p:spPr>
          <a:xfrm>
            <a:off x="0" y="0"/>
            <a:ext cx="12192000" cy="6858000"/>
          </a:xfrm>
          <a:prstGeom prst="rect">
            <a:avLst/>
          </a:prstGeom>
          <a:solidFill>
            <a:srgbClr val="FFFFFF"/>
          </a:solidFill>
        </p:spPr>
        <p:txBody>
          <a:bodyPr/>
          <a:p/>
        </p:txBody>
      </p:sp>
      <p:pic>
        <p:nvPicPr>
          <p:cNvPr id="351" name="图片 350"/>
          <p:cNvPicPr>
            <a:picLocks noChangeAspect="1"/>
          </p:cNvPicPr>
          <p:nvPr/>
        </p:nvPicPr>
        <p:blipFill>
          <a:blip r:embed="rId1"/>
          <a:stretch>
            <a:fillRect/>
          </a:stretch>
        </p:blipFill>
        <p:spPr>
          <a:xfrm>
            <a:off x="0" y="0"/>
            <a:ext cx="12192000" cy="6858000"/>
          </a:xfrm>
          <a:prstGeom prst="rect">
            <a:avLst/>
          </a:prstGeom>
        </p:spPr>
      </p:pic>
      <p:sp>
        <p:nvSpPr>
          <p:cNvPr id="352" name="矩形 351"/>
          <p:cNvSpPr/>
          <p:nvPr/>
        </p:nvSpPr>
        <p:spPr>
          <a:xfrm>
            <a:off x="1104900" y="2247900"/>
            <a:ext cx="1981200" cy="1981200"/>
          </a:xfrm>
          <a:prstGeom prst="rect">
            <a:avLst/>
          </a:prstGeom>
          <a:ln w="50800">
            <a:solidFill>
              <a:srgbClr val="FFFFFF"/>
            </a:solidFill>
            <a:prstDash val="solid"/>
          </a:ln>
        </p:spPr>
        <p:txBody>
          <a:bodyPr/>
          <a:p/>
        </p:txBody>
      </p:sp>
      <p:sp>
        <p:nvSpPr>
          <p:cNvPr id="353" name="文本框 352"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01</a:t>
            </a:r>
            <a:endParaRPr lang="en-US" sz="5400" b="1">
              <a:solidFill>
                <a:srgbClr val="FFFFFF"/>
              </a:solidFill>
              <a:latin typeface="微软雅黑" panose="020B0503020204020204" charset="-122"/>
              <a:ea typeface="微软雅黑" panose="020B0503020204020204" charset="-122"/>
            </a:endParaRPr>
          </a:p>
        </p:txBody>
      </p:sp>
      <p:sp>
        <p:nvSpPr>
          <p:cNvPr id="354" name="文本框 353" descr="{&quot;isTemplate&quot;:true,&quot;type&quot;:&quot;text&quot;}"/>
          <p:cNvSpPr txBox="1"/>
          <p:nvPr/>
        </p:nvSpPr>
        <p:spPr>
          <a:xfrm>
            <a:off x="4114800" y="2819400"/>
            <a:ext cx="7524750" cy="742950"/>
          </a:xfrm>
          <a:prstGeom prst="rect">
            <a:avLst/>
          </a:prstGeom>
        </p:spPr>
        <p:txBody>
          <a:bodyPr wrap="none" lIns="0" tIns="0" rIns="0" bIns="0"/>
          <a:p>
            <a:pPr algn="l">
              <a:lnSpc>
                <a:spcPct val="125000"/>
              </a:lnSpc>
            </a:pPr>
            <a:r>
              <a:rPr lang="zh-CN" sz="3900" b="1">
                <a:solidFill>
                  <a:srgbClr val="1F1F1F"/>
                </a:solidFill>
                <a:latin typeface="微软雅黑" panose="020B0503020204020204" charset="-122"/>
                <a:ea typeface="微软雅黑" panose="020B0503020204020204" charset="-122"/>
                <a:sym typeface="+mn-ea"/>
              </a:rPr>
              <a:t>文献核心信息与研究背景</a:t>
            </a:r>
            <a:endParaRPr lang="zh-CN" sz="3900" b="1">
              <a:solidFill>
                <a:srgbClr val="1F1F1F"/>
              </a:solidFill>
              <a:latin typeface="微软雅黑" panose="020B0503020204020204" charset="-122"/>
              <a:ea typeface="微软雅黑" panose="020B0503020204020204" charset="-122"/>
            </a:endParaRPr>
          </a:p>
          <a:p>
            <a:pPr algn="l">
              <a:lnSpc>
                <a:spcPct val="125000"/>
              </a:lnSpc>
            </a:pPr>
            <a:endParaRPr lang="zh-CN" sz="3900" b="1">
              <a:solidFill>
                <a:srgbClr val="1F1F1F"/>
              </a:solidFill>
              <a:latin typeface="微软雅黑" panose="020B0503020204020204" charset="-122"/>
              <a:ea typeface="微软雅黑" panose="020B0503020204020204" charset="-122"/>
            </a:endParaRPr>
          </a:p>
        </p:txBody>
      </p:sp>
      <p:sp>
        <p:nvSpPr>
          <p:cNvPr id="355" name="矩形 354"/>
          <p:cNvSpPr/>
          <p:nvPr/>
        </p:nvSpPr>
        <p:spPr>
          <a:xfrm>
            <a:off x="4114800" y="3676650"/>
            <a:ext cx="838200" cy="57150"/>
          </a:xfrm>
          <a:prstGeom prst="rect">
            <a:avLst/>
          </a:prstGeom>
          <a:solidFill>
            <a:srgbClr val="01A5B1"/>
          </a:solidFill>
        </p:spPr>
        <p:txBody>
          <a:bodyPr/>
          <a:p/>
        </p:txBody>
      </p:sp>
      <p:sp>
        <p:nvSpPr>
          <p:cNvPr id="356" name="Rectangle 355"/>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TextBox 357"/>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359" name="Rectangle 358"/>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TextBox 359"/>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361" name="TextBox 360"/>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362" name="TextBox 36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363" name="TextBox 362"/>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364" name="TextBox 363"/>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365" name="TextBox 364"/>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366" name="TextBox 365"/>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4"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1.1 摘要：五条结论就是全文地图&lt;/Text&gt;&#10;    &lt;Text style={{ position: 'absolute', top: 34, left: 1080, width: 144, fontSize: 13, color: '#B0B0B0', textAlign: 'right' }}&gt;03 / 9&lt;/Text&gt;&#10;&#10;    &lt;Box style={{ position: 'absolute', top: 96, left: 56, width: 470, height: 372, background: '#FFFFFF', border: '1px solid #E4E4E4', boxShadow: '0 2px 10px rgba(0,0,0,0.07)', alignItems: 'center', justifyContent: 'center', padding: 6 }}&gt;&#10;        &lt;Image src=&quot;assets/u01_cover.png&quot; style={{ width: 456, height: 360, objectFit: 'contain' }} /&gt;&#10;    &lt;/Box&gt;&#10;    &lt;Text style={{ position: 'absolute', top: 476, left: 56, width: 470, fontSize: 12.5, color: '#8A8A8A', lineHeight: 1.6 }}&gt;&#10;        ▲ 原文 P191 摘要（刘坤标注版）：五条结论全部下划线，第 (5) 条&quot;有效&quot;二字被红圈标出&#10;    &lt;/Text&gt;&#10;    &lt;Box style={{ position: 'absolute', top: 540, left: 56, width: 470, height: 96, background: '#FFF8EE', borderLeft: '4px solid #D8952F', padding: 12, flexDirection: 'column' }}&gt;&#10;        &lt;Text style={{ fontSize: 14.5, fontWeight: 'bold', color: '#9A6A12', lineHeight: 1.6 }}&gt;&#10;            ◆ 五条结论 = 全文地图：后面每一部分都能在这里找到对应；第 (4) 条是第六章的伏笔&#10;        &lt;/Text&gt;&#10;    &lt;/Box&gt;&#10;&#10;    &lt;Box style={{ position: 'absolute', top: 96, left: 556, width: 668, height: 78, background: '#F5FBFB', borderLeft: '4px solid #01A5B1', padding: 9, flexDirection: 'column' }}&gt;&#10;        &lt;Text style={{ fontSize: 14.5, fontWeight: 'bold', color: '#0B7C86' }}&gt;(1) 全样本：规模、账面市值比效应显著；三因子调整后盈利、投资风格仍显著；无动量或反转&lt;/Text&gt;&#10;        &lt;Text style={{ fontSize: 12.5, color: '#777777' }}&gt;→ 第四部分（表 2、表 3）；&quot;无动量反转&quot;与结论 (4) 形成对照&lt;/Text&gt;&#10;    &lt;/Box&gt;&#10;    &lt;Box style={{ position: 'absolute', top: 182, left: 556, width: 668, height: 78, background: '#F5FBFB', borderLeft: '4px solid #01A5B1', padding: 9, flexDirection: 'column' }}&gt;&#10;        &lt;Text style={{ fontSize: 14.5, fontWeight: 'bold', color: '#0B7C86' }}&gt;(2) 五因子解释力非常强，优于 CAPM、三因子、Carhart 四因子&lt;/Text&gt;&#10;        &lt;Text style={{ fontSize: 12.5, color: '#777777' }}&gt;→ 第四部分模型比较（表 4），判定标准是 GRS 检验与截距项&lt;/Text&gt;&#10;    &lt;/Box&gt;&#10;    &lt;Box style={{ position: 'absolute', top: 268, left: 556, width: 668, height: 78, background: '#F5FBFB', borderLeft: '4px solid #01A5B1', padding: 9, flexDirection: 'column' }}&gt;&#10;        &lt;Text style={{ fontSize: 14.5, fontWeight: 'bold', color: '#0B7C86' }}&gt;(3) 股改前市场风险主导，盈利、投资、动量因子&quot;冗余&quot;；股改后这三个因子的风险溢价显著&lt;/Text&gt;&#10;        &lt;Text style={{ fontSize: 12.5, color: '#777777' }}&gt;→ 第五部分分期检验（表 5–表 7）&lt;/Text&gt;&#10;    &lt;/Box&gt;&#10;    &lt;Box style={{ position: 'absolute', top: 354, left: 556, width: 668, height: 78, background: '#FFF3F0', borderLeft: '4px solid #C0504D', padding: 9, flexDirection: 'column' }}&gt;&#10;        &lt;Text style={{ fontSize: 14.5, fontWeight: 'bold', color: '#A03D3A' }}&gt;(4) 股改后存在经五因子模型调整后仍显著的反转效应&lt;/Text&gt;&#10;        &lt;Text style={{ fontSize: 12.5, color: '#777777' }}&gt;→ 第六部分（表 8）——本组负责详讲的章节&lt;/Text&gt;&#10;    &lt;/Box&gt;&#10;    &lt;Box style={{ position: 'absolute', top: 440, left: 556, width: 668, height: 78, background: '#F5FBFB', borderLeft: '4px solid #01A5B1', padding: 9, flexDirection: 'column' }}&gt;&#10;        &lt;Text style={{ fontSize: 14.5, fontWeight: 'bold', color: '#0B7C86' }}&gt;(5) 股改后实际收益率与预期收益率的差异更接近 0，市场趋于&quot;有效&quot;&lt;/Text&gt;&#10;        &lt;Text style={{ fontSize: 12.5, color: '#777777' }}&gt;→ 第五部分 + 结论；&quot;有效&quot;被红圈标出，判定依据是截距项变小&lt;/Text&gt;&#10;    &lt;/Box&gt;&#10;    &lt;Box style={{ position: 'absolute', top: 540, left: 556, width: 668, height: 96, background: '#FFF8EE', borderLeft: '4px solid #D8952F', padding: 10, flexDirection: 'column' }}&gt;&#10;        &lt;Text style={{ fontSize: 14, fontWeight: 'bold', color: '#9A6A12', marginBottom: 3 }}&gt;◆ 一条主线串起五条&lt;/Text&gt;&#10;        &lt;Text style={{ fontSize: 13.5, color: '#4A4A4A', lineHeight: 1.6 }}&gt;&#10;            三因子不够用（提出五因子）→ 五因子在中国行不行（1、2）→ 股改前后比一比（3、5）→ 动量反转之争（4）&#10;        &lt;/Text&gt;&#10;    &lt;/Box&gt;&#10;&#10;&lt;/Slide&gt;"/>
        <p:cNvGrpSpPr/>
        <p:nvPr/>
      </p:nvGrpSpPr>
      <p:grpSpPr>
        <a:xfrm>
          <a:off x="0" y="0"/>
          <a:ext cx="0" cy="0"/>
          <a:chOff x="0" y="0"/>
          <a:chExt cx="0" cy="0"/>
        </a:xfrm>
      </p:grpSpPr>
      <p:sp>
        <p:nvSpPr>
          <p:cNvPr id="35" name="矩形 34"/>
          <p:cNvSpPr/>
          <p:nvPr/>
        </p:nvSpPr>
        <p:spPr>
          <a:xfrm>
            <a:off x="0" y="0"/>
            <a:ext cx="12192000" cy="6858000"/>
          </a:xfrm>
          <a:prstGeom prst="rect">
            <a:avLst/>
          </a:prstGeom>
          <a:solidFill>
            <a:srgbClr val="FFFFFF"/>
          </a:solidFill>
        </p:spPr>
        <p:txBody>
          <a:bodyPr/>
          <a:p/>
        </p:txBody>
      </p:sp>
      <p:sp>
        <p:nvSpPr>
          <p:cNvPr id="36" name="矩形 35"/>
          <p:cNvSpPr/>
          <p:nvPr/>
        </p:nvSpPr>
        <p:spPr>
          <a:xfrm>
            <a:off x="0" y="0"/>
            <a:ext cx="12192000" cy="57150"/>
          </a:xfrm>
          <a:prstGeom prst="rect">
            <a:avLst/>
          </a:prstGeom>
          <a:solidFill>
            <a:srgbClr val="01A5B1"/>
          </a:solidFill>
        </p:spPr>
        <p:txBody>
          <a:bodyPr/>
          <a:p/>
        </p:txBody>
      </p:sp>
      <p:sp>
        <p:nvSpPr>
          <p:cNvPr id="37" name="文本框 36" descr="{&quot;isTemplate&quot;:true,&quot;type&quot;:&quot;text&quot;}"/>
          <p:cNvSpPr txBox="1"/>
          <p:nvPr/>
        </p:nvSpPr>
        <p:spPr>
          <a:xfrm>
            <a:off x="530352" y="256032"/>
            <a:ext cx="10607040" cy="548640"/>
          </a:xfrm>
          <a:prstGeom prst="rect">
            <a:avLst/>
          </a:prstGeom>
        </p:spPr>
        <p:txBody>
          <a:bodyPr wrap="square" lIns="0" tIns="0" rIns="0" bIns="0"/>
          <a:p>
            <a:pPr algn="l">
              <a:lnSpc>
                <a:spcPct val="100000"/>
              </a:lnSpc>
            </a:pPr>
            <a:r>
              <a:rPr lang="en-US" sz="2200" b="1">
                <a:solidFill>
                  <a:srgbClr val="1F1F1F"/>
                </a:solidFill>
                <a:latin typeface="微软雅黑" panose="020B0503020204020204" charset="-122"/>
                <a:ea typeface="微软雅黑" panose="020B0503020204020204" charset="-122"/>
              </a:rPr>
              <a:t>1.1 </a:t>
            </a:r>
            <a:r>
              <a:rPr lang="zh-CN" sz="2200" b="1">
                <a:solidFill>
                  <a:srgbClr val="1F1F1F"/>
                </a:solidFill>
                <a:latin typeface="微软雅黑" panose="020B0503020204020204" charset="-122"/>
                <a:ea typeface="微软雅黑" panose="020B0503020204020204" charset="-122"/>
              </a:rPr>
              <a:t>摘要：</a:t>
            </a:r>
            <a:r>
              <a:rPr lang="zh-CN" sz="2200" b="1">
                <a:solidFill>
                  <a:srgbClr val="1F1F1F"/>
                </a:solidFill>
                <a:latin typeface="微软雅黑" panose="020B0503020204020204" charset="-122"/>
                <a:ea typeface="微软雅黑" panose="020B0503020204020204" charset="-122"/>
                <a:sym typeface="+mn-ea"/>
              </a:rPr>
              <a:t>文献基本信息与核心摘要</a:t>
            </a:r>
            <a:endParaRPr lang="zh-CN" sz="2175" b="1">
              <a:solidFill>
                <a:srgbClr val="1F1F1F"/>
              </a:solidFill>
              <a:latin typeface="微软雅黑" panose="020B0503020204020204" charset="-122"/>
              <a:ea typeface="微软雅黑" panose="020B0503020204020204" charset="-122"/>
            </a:endParaRPr>
          </a:p>
        </p:txBody>
      </p:sp>
      <p:sp>
        <p:nvSpPr>
          <p:cNvPr id="39" name="矩形 38"/>
          <p:cNvSpPr/>
          <p:nvPr/>
        </p:nvSpPr>
        <p:spPr>
          <a:xfrm>
            <a:off x="533400" y="914400"/>
            <a:ext cx="4476750" cy="35433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40" name="图片 39"/>
          <p:cNvPicPr>
            <a:picLocks noChangeAspect="1"/>
          </p:cNvPicPr>
          <p:nvPr/>
        </p:nvPicPr>
        <p:blipFill>
          <a:blip r:embed="rId1"/>
          <a:srcRect l="740" r="740"/>
          <a:stretch>
            <a:fillRect/>
          </a:stretch>
        </p:blipFill>
        <p:spPr>
          <a:xfrm>
            <a:off x="600075" y="971550"/>
            <a:ext cx="4343400" cy="3429000"/>
          </a:xfrm>
          <a:prstGeom prst="rect">
            <a:avLst/>
          </a:prstGeom>
        </p:spPr>
      </p:pic>
      <p:sp>
        <p:nvSpPr>
          <p:cNvPr id="41" name="文本框 40" descr="{&quot;isTemplate&quot;:true,&quot;type&quot;:&quot;text&quot;}"/>
          <p:cNvSpPr txBox="1"/>
          <p:nvPr/>
        </p:nvSpPr>
        <p:spPr>
          <a:xfrm>
            <a:off x="533400" y="4533900"/>
            <a:ext cx="4476750" cy="457200"/>
          </a:xfrm>
          <a:prstGeom prst="rect">
            <a:avLst/>
          </a:prstGeom>
        </p:spPr>
        <p:txBody>
          <a:bodyPr wrap="square" lIns="0" tIns="0" rIns="0" bIns="0">
            <a:normAutofit/>
          </a:bodyPr>
          <a:p>
            <a:pPr>
              <a:lnSpc>
                <a:spcPct val="160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原文</a:t>
            </a:r>
            <a:r>
              <a:rPr lang="en-US" sz="940">
                <a:solidFill>
                  <a:srgbClr val="8A8A8A"/>
                </a:solidFill>
                <a:latin typeface="微软雅黑" panose="020B0503020204020204" charset="-122"/>
                <a:ea typeface="微软雅黑" panose="020B0503020204020204" charset="-122"/>
              </a:rPr>
              <a:t> P191 </a:t>
            </a:r>
            <a:r>
              <a:rPr lang="zh-CN" sz="940">
                <a:solidFill>
                  <a:srgbClr val="8A8A8A"/>
                </a:solidFill>
                <a:latin typeface="微软雅黑" panose="020B0503020204020204" charset="-122"/>
                <a:ea typeface="微软雅黑" panose="020B0503020204020204" charset="-122"/>
              </a:rPr>
              <a:t>摘要（刘坤标注版）：五条结论全部下划线，第</a:t>
            </a:r>
            <a:r>
              <a:rPr lang="en-US" sz="940">
                <a:solidFill>
                  <a:srgbClr val="8A8A8A"/>
                </a:solidFill>
                <a:latin typeface="微软雅黑" panose="020B0503020204020204" charset="-122"/>
                <a:ea typeface="微软雅黑" panose="020B0503020204020204" charset="-122"/>
              </a:rPr>
              <a:t> (5) </a:t>
            </a:r>
            <a:r>
              <a:rPr lang="zh-CN" sz="940">
                <a:solidFill>
                  <a:srgbClr val="8A8A8A"/>
                </a:solidFill>
                <a:latin typeface="微软雅黑" panose="020B0503020204020204" charset="-122"/>
                <a:ea typeface="微软雅黑" panose="020B0503020204020204" charset="-122"/>
              </a:rPr>
              <a:t>条</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有效</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二字被红圈标出</a:t>
            </a:r>
            <a:endParaRPr lang="zh-CN" sz="940">
              <a:solidFill>
                <a:srgbClr val="8A8A8A"/>
              </a:solidFill>
              <a:latin typeface="微软雅黑" panose="020B0503020204020204" charset="-122"/>
              <a:ea typeface="微软雅黑" panose="020B0503020204020204" charset="-122"/>
            </a:endParaRPr>
          </a:p>
        </p:txBody>
      </p:sp>
      <p:sp>
        <p:nvSpPr>
          <p:cNvPr id="42" name="矩形 41"/>
          <p:cNvSpPr/>
          <p:nvPr/>
        </p:nvSpPr>
        <p:spPr>
          <a:xfrm>
            <a:off x="571500" y="5143500"/>
            <a:ext cx="4438650" cy="914400"/>
          </a:xfrm>
          <a:prstGeom prst="rect">
            <a:avLst/>
          </a:prstGeom>
          <a:solidFill>
            <a:srgbClr val="FFF8EE"/>
          </a:solidFill>
        </p:spPr>
        <p:txBody>
          <a:bodyPr/>
          <a:p/>
        </p:txBody>
      </p:sp>
      <p:sp>
        <p:nvSpPr>
          <p:cNvPr id="43" name="任意多边形 42"/>
          <p:cNvSpPr/>
          <p:nvPr/>
        </p:nvSpPr>
        <p:spPr>
          <a:xfrm>
            <a:off x="533400" y="5143500"/>
            <a:ext cx="4476750" cy="914400"/>
          </a:xfrm>
          <a:custGeom>
            <a:avLst/>
            <a:gdLst/>
            <a:ahLst/>
            <a:cxnLst/>
            <a:pathLst>
              <a:path w="470" h="96">
                <a:moveTo>
                  <a:pt x="0" y="0"/>
                </a:moveTo>
                <a:lnTo>
                  <a:pt x="4" y="0"/>
                </a:lnTo>
                <a:lnTo>
                  <a:pt x="4" y="96"/>
                </a:lnTo>
                <a:lnTo>
                  <a:pt x="0" y="96"/>
                </a:lnTo>
                <a:close/>
              </a:path>
            </a:pathLst>
          </a:custGeom>
          <a:solidFill>
            <a:srgbClr val="D8952F"/>
          </a:solidFill>
        </p:spPr>
        <p:txBody>
          <a:bodyPr/>
          <a:p/>
        </p:txBody>
      </p:sp>
      <p:sp>
        <p:nvSpPr>
          <p:cNvPr id="44" name="文本框 43" descr="{&quot;isTemplate&quot;:true,&quot;type&quot;:&quot;text&quot;}"/>
          <p:cNvSpPr txBox="1"/>
          <p:nvPr/>
        </p:nvSpPr>
        <p:spPr>
          <a:xfrm>
            <a:off x="685800" y="5257800"/>
            <a:ext cx="4210050" cy="533400"/>
          </a:xfrm>
          <a:prstGeom prst="rect">
            <a:avLst/>
          </a:prstGeom>
        </p:spPr>
        <p:txBody>
          <a:bodyPr wrap="square" lIns="0" tIns="0" rIns="0" bIns="0">
            <a:normAutofit/>
          </a:bodyPr>
          <a:p>
            <a:pPr>
              <a:lnSpc>
                <a:spcPct val="160000"/>
              </a:lnSpc>
            </a:pPr>
            <a:r>
              <a:rPr lang="en-US" sz="1090" b="1">
                <a:solidFill>
                  <a:srgbClr val="9A6A12"/>
                </a:solidFill>
                <a:latin typeface="微软雅黑" panose="020B0503020204020204" charset="-122"/>
                <a:ea typeface="微软雅黑" panose="020B0503020204020204" charset="-122"/>
              </a:rPr>
              <a:t>◆ </a:t>
            </a:r>
            <a:r>
              <a:rPr lang="zh-CN" sz="1090" b="1">
                <a:solidFill>
                  <a:srgbClr val="9A6A12"/>
                </a:solidFill>
                <a:latin typeface="微软雅黑" panose="020B0503020204020204" charset="-122"/>
                <a:ea typeface="微软雅黑" panose="020B0503020204020204" charset="-122"/>
              </a:rPr>
              <a:t>五条结论</a:t>
            </a:r>
            <a:r>
              <a:rPr lang="en-US" sz="1090" b="1">
                <a:solidFill>
                  <a:srgbClr val="9A6A12"/>
                </a:solidFill>
                <a:latin typeface="微软雅黑" panose="020B0503020204020204" charset="-122"/>
                <a:ea typeface="微软雅黑" panose="020B0503020204020204" charset="-122"/>
              </a:rPr>
              <a:t> = </a:t>
            </a:r>
            <a:r>
              <a:rPr lang="zh-CN" sz="1090" b="1">
                <a:solidFill>
                  <a:srgbClr val="9A6A12"/>
                </a:solidFill>
                <a:latin typeface="微软雅黑" panose="020B0503020204020204" charset="-122"/>
                <a:ea typeface="微软雅黑" panose="020B0503020204020204" charset="-122"/>
              </a:rPr>
              <a:t>全文地图：后面每一部分都能在这里找到对应；第</a:t>
            </a:r>
            <a:r>
              <a:rPr lang="en-US" sz="1090" b="1">
                <a:solidFill>
                  <a:srgbClr val="9A6A12"/>
                </a:solidFill>
                <a:latin typeface="微软雅黑" panose="020B0503020204020204" charset="-122"/>
                <a:ea typeface="微软雅黑" panose="020B0503020204020204" charset="-122"/>
              </a:rPr>
              <a:t> (4) </a:t>
            </a:r>
            <a:r>
              <a:rPr lang="zh-CN" sz="1090" b="1">
                <a:solidFill>
                  <a:srgbClr val="9A6A12"/>
                </a:solidFill>
                <a:latin typeface="微软雅黑" panose="020B0503020204020204" charset="-122"/>
                <a:ea typeface="微软雅黑" panose="020B0503020204020204" charset="-122"/>
              </a:rPr>
              <a:t>条是第六章的伏笔</a:t>
            </a:r>
            <a:endParaRPr lang="zh-CN" sz="1090" b="1">
              <a:solidFill>
                <a:srgbClr val="9A6A12"/>
              </a:solidFill>
              <a:latin typeface="微软雅黑" panose="020B0503020204020204" charset="-122"/>
              <a:ea typeface="微软雅黑" panose="020B0503020204020204" charset="-122"/>
            </a:endParaRPr>
          </a:p>
        </p:txBody>
      </p:sp>
      <p:sp>
        <p:nvSpPr>
          <p:cNvPr id="45" name="矩形 44"/>
          <p:cNvSpPr/>
          <p:nvPr/>
        </p:nvSpPr>
        <p:spPr>
          <a:xfrm>
            <a:off x="5334000" y="914400"/>
            <a:ext cx="6324600" cy="742950"/>
          </a:xfrm>
          <a:prstGeom prst="rect">
            <a:avLst/>
          </a:prstGeom>
          <a:solidFill>
            <a:srgbClr val="F5FBFB"/>
          </a:solidFill>
        </p:spPr>
        <p:txBody>
          <a:bodyPr/>
          <a:p/>
        </p:txBody>
      </p:sp>
      <p:sp>
        <p:nvSpPr>
          <p:cNvPr id="46" name="任意多边形 45"/>
          <p:cNvSpPr/>
          <p:nvPr/>
        </p:nvSpPr>
        <p:spPr>
          <a:xfrm>
            <a:off x="5295900" y="914400"/>
            <a:ext cx="6362700" cy="742950"/>
          </a:xfrm>
          <a:custGeom>
            <a:avLst/>
            <a:gdLst/>
            <a:ahLst/>
            <a:cxnLst/>
            <a:pathLst>
              <a:path w="668" h="78">
                <a:moveTo>
                  <a:pt x="0" y="0"/>
                </a:moveTo>
                <a:lnTo>
                  <a:pt x="4" y="0"/>
                </a:lnTo>
                <a:lnTo>
                  <a:pt x="4" y="78"/>
                </a:lnTo>
                <a:lnTo>
                  <a:pt x="0" y="78"/>
                </a:lnTo>
                <a:close/>
              </a:path>
            </a:pathLst>
          </a:custGeom>
          <a:solidFill>
            <a:srgbClr val="01A5B1"/>
          </a:solidFill>
        </p:spPr>
        <p:txBody>
          <a:bodyPr/>
          <a:p/>
        </p:txBody>
      </p:sp>
      <p:sp>
        <p:nvSpPr>
          <p:cNvPr id="47" name="文本框 46" descr="{&quot;isTemplate&quot;:true,&quot;type&quot;:&quot;text&quot;}"/>
          <p:cNvSpPr txBox="1"/>
          <p:nvPr/>
        </p:nvSpPr>
        <p:spPr>
          <a:xfrm>
            <a:off x="5419725" y="1000125"/>
            <a:ext cx="6153150" cy="171450"/>
          </a:xfrm>
          <a:prstGeom prst="rect">
            <a:avLst/>
          </a:prstGeom>
        </p:spPr>
        <p:txBody>
          <a:bodyPr wrap="none" lIns="0" tIns="0" rIns="0" bIns="0"/>
          <a:p>
            <a:pPr>
              <a:lnSpc>
                <a:spcPct val="100000"/>
              </a:lnSpc>
            </a:pPr>
            <a:r>
              <a:rPr lang="en-US" sz="1090" b="1">
                <a:solidFill>
                  <a:srgbClr val="0B7C86"/>
                </a:solidFill>
                <a:latin typeface="微软雅黑" panose="020B0503020204020204" charset="-122"/>
                <a:ea typeface="微软雅黑" panose="020B0503020204020204" charset="-122"/>
              </a:rPr>
              <a:t>(1) </a:t>
            </a:r>
            <a:r>
              <a:rPr lang="zh-CN" sz="1090" b="1">
                <a:solidFill>
                  <a:srgbClr val="0B7C86"/>
                </a:solidFill>
                <a:latin typeface="微软雅黑" panose="020B0503020204020204" charset="-122"/>
                <a:ea typeface="微软雅黑" panose="020B0503020204020204" charset="-122"/>
              </a:rPr>
              <a:t>全样本：规模、账面市值比效应显著；三因子调整后盈利、投资风格仍显著；无动量或反转</a:t>
            </a:r>
            <a:endParaRPr lang="zh-CN" sz="1090" b="1">
              <a:solidFill>
                <a:srgbClr val="0B7C86"/>
              </a:solidFill>
              <a:latin typeface="微软雅黑" panose="020B0503020204020204" charset="-122"/>
              <a:ea typeface="微软雅黑" panose="020B0503020204020204" charset="-122"/>
            </a:endParaRPr>
          </a:p>
        </p:txBody>
      </p:sp>
      <p:sp>
        <p:nvSpPr>
          <p:cNvPr id="48" name="文本框 47" descr="{&quot;isTemplate&quot;:true,&quot;type&quot;:&quot;text&quot;}"/>
          <p:cNvSpPr txBox="1"/>
          <p:nvPr/>
        </p:nvSpPr>
        <p:spPr>
          <a:xfrm>
            <a:off x="5419725" y="1171575"/>
            <a:ext cx="6153150" cy="142875"/>
          </a:xfrm>
          <a:prstGeom prst="rect">
            <a:avLst/>
          </a:prstGeom>
        </p:spPr>
        <p:txBody>
          <a:bodyPr wrap="none" lIns="0" tIns="0" rIns="0" bIns="0"/>
          <a:p>
            <a:pPr>
              <a:lnSpc>
                <a:spcPct val="100000"/>
              </a:lnSpc>
            </a:pPr>
            <a:r>
              <a:rPr lang="en-US" sz="940">
                <a:solidFill>
                  <a:srgbClr val="777777"/>
                </a:solidFill>
                <a:latin typeface="微软雅黑" panose="020B0503020204020204" charset="-122"/>
                <a:ea typeface="微软雅黑" panose="020B0503020204020204" charset="-122"/>
              </a:rPr>
              <a:t>→ </a:t>
            </a:r>
            <a:r>
              <a:rPr lang="zh-CN" sz="940">
                <a:solidFill>
                  <a:srgbClr val="777777"/>
                </a:solidFill>
                <a:latin typeface="微软雅黑" panose="020B0503020204020204" charset="-122"/>
                <a:ea typeface="微软雅黑" panose="020B0503020204020204" charset="-122"/>
              </a:rPr>
              <a:t>第四部分（表</a:t>
            </a:r>
            <a:r>
              <a:rPr lang="en-US" sz="940">
                <a:solidFill>
                  <a:srgbClr val="777777"/>
                </a:solidFill>
                <a:latin typeface="微软雅黑" panose="020B0503020204020204" charset="-122"/>
                <a:ea typeface="微软雅黑" panose="020B0503020204020204" charset="-122"/>
              </a:rPr>
              <a:t> 2</a:t>
            </a:r>
            <a:r>
              <a:rPr lang="zh-CN" sz="940">
                <a:solidFill>
                  <a:srgbClr val="777777"/>
                </a:solidFill>
                <a:latin typeface="微软雅黑" panose="020B0503020204020204" charset="-122"/>
                <a:ea typeface="微软雅黑" panose="020B0503020204020204" charset="-122"/>
              </a:rPr>
              <a:t>、表</a:t>
            </a:r>
            <a:r>
              <a:rPr lang="en-US" sz="940">
                <a:solidFill>
                  <a:srgbClr val="777777"/>
                </a:solidFill>
                <a:latin typeface="微软雅黑" panose="020B0503020204020204" charset="-122"/>
                <a:ea typeface="微软雅黑" panose="020B0503020204020204" charset="-122"/>
              </a:rPr>
              <a:t> 3</a:t>
            </a:r>
            <a:r>
              <a:rPr lang="zh-CN" sz="940">
                <a:solidFill>
                  <a:srgbClr val="777777"/>
                </a:solidFill>
                <a:latin typeface="微软雅黑" panose="020B0503020204020204" charset="-122"/>
                <a:ea typeface="微软雅黑" panose="020B0503020204020204" charset="-122"/>
              </a:rPr>
              <a:t>）；</a:t>
            </a:r>
            <a:r>
              <a:rPr lang="en-US" sz="940">
                <a:solidFill>
                  <a:srgbClr val="777777"/>
                </a:solidFill>
                <a:latin typeface="微软雅黑" panose="020B0503020204020204" charset="-122"/>
                <a:ea typeface="微软雅黑" panose="020B0503020204020204" charset="-122"/>
              </a:rPr>
              <a:t>"</a:t>
            </a:r>
            <a:r>
              <a:rPr lang="zh-CN" sz="940">
                <a:solidFill>
                  <a:srgbClr val="777777"/>
                </a:solidFill>
                <a:latin typeface="微软雅黑" panose="020B0503020204020204" charset="-122"/>
                <a:ea typeface="微软雅黑" panose="020B0503020204020204" charset="-122"/>
              </a:rPr>
              <a:t>无动量反转</a:t>
            </a:r>
            <a:r>
              <a:rPr lang="en-US" sz="940">
                <a:solidFill>
                  <a:srgbClr val="777777"/>
                </a:solidFill>
                <a:latin typeface="微软雅黑" panose="020B0503020204020204" charset="-122"/>
                <a:ea typeface="微软雅黑" panose="020B0503020204020204" charset="-122"/>
              </a:rPr>
              <a:t>"</a:t>
            </a:r>
            <a:r>
              <a:rPr lang="zh-CN" sz="940">
                <a:solidFill>
                  <a:srgbClr val="777777"/>
                </a:solidFill>
                <a:latin typeface="微软雅黑" panose="020B0503020204020204" charset="-122"/>
                <a:ea typeface="微软雅黑" panose="020B0503020204020204" charset="-122"/>
              </a:rPr>
              <a:t>与结论</a:t>
            </a:r>
            <a:r>
              <a:rPr lang="en-US" sz="940">
                <a:solidFill>
                  <a:srgbClr val="777777"/>
                </a:solidFill>
                <a:latin typeface="微软雅黑" panose="020B0503020204020204" charset="-122"/>
                <a:ea typeface="微软雅黑" panose="020B0503020204020204" charset="-122"/>
              </a:rPr>
              <a:t> (4) </a:t>
            </a:r>
            <a:r>
              <a:rPr lang="zh-CN" sz="940">
                <a:solidFill>
                  <a:srgbClr val="777777"/>
                </a:solidFill>
                <a:latin typeface="微软雅黑" panose="020B0503020204020204" charset="-122"/>
                <a:ea typeface="微软雅黑" panose="020B0503020204020204" charset="-122"/>
              </a:rPr>
              <a:t>形成对照</a:t>
            </a:r>
            <a:endParaRPr lang="zh-CN" sz="940">
              <a:solidFill>
                <a:srgbClr val="777777"/>
              </a:solidFill>
              <a:latin typeface="微软雅黑" panose="020B0503020204020204" charset="-122"/>
              <a:ea typeface="微软雅黑" panose="020B0503020204020204" charset="-122"/>
            </a:endParaRPr>
          </a:p>
        </p:txBody>
      </p:sp>
      <p:sp>
        <p:nvSpPr>
          <p:cNvPr id="49" name="矩形 48"/>
          <p:cNvSpPr/>
          <p:nvPr/>
        </p:nvSpPr>
        <p:spPr>
          <a:xfrm>
            <a:off x="5334000" y="1733550"/>
            <a:ext cx="6324600" cy="742950"/>
          </a:xfrm>
          <a:prstGeom prst="rect">
            <a:avLst/>
          </a:prstGeom>
          <a:solidFill>
            <a:srgbClr val="F5FBFB"/>
          </a:solidFill>
        </p:spPr>
        <p:txBody>
          <a:bodyPr/>
          <a:p/>
        </p:txBody>
      </p:sp>
      <p:sp>
        <p:nvSpPr>
          <p:cNvPr id="50" name="任意多边形 49"/>
          <p:cNvSpPr/>
          <p:nvPr/>
        </p:nvSpPr>
        <p:spPr>
          <a:xfrm>
            <a:off x="5295900" y="1733550"/>
            <a:ext cx="6362700" cy="742950"/>
          </a:xfrm>
          <a:custGeom>
            <a:avLst/>
            <a:gdLst/>
            <a:ahLst/>
            <a:cxnLst/>
            <a:pathLst>
              <a:path w="668" h="78">
                <a:moveTo>
                  <a:pt x="0" y="0"/>
                </a:moveTo>
                <a:lnTo>
                  <a:pt x="4" y="0"/>
                </a:lnTo>
                <a:lnTo>
                  <a:pt x="4" y="78"/>
                </a:lnTo>
                <a:lnTo>
                  <a:pt x="0" y="78"/>
                </a:lnTo>
                <a:close/>
              </a:path>
            </a:pathLst>
          </a:custGeom>
          <a:solidFill>
            <a:srgbClr val="01A5B1"/>
          </a:solidFill>
        </p:spPr>
        <p:txBody>
          <a:bodyPr/>
          <a:p/>
        </p:txBody>
      </p:sp>
      <p:sp>
        <p:nvSpPr>
          <p:cNvPr id="51" name="文本框 50" descr="{&quot;isTemplate&quot;:true,&quot;type&quot;:&quot;text&quot;}"/>
          <p:cNvSpPr txBox="1"/>
          <p:nvPr/>
        </p:nvSpPr>
        <p:spPr>
          <a:xfrm>
            <a:off x="5419725" y="1819275"/>
            <a:ext cx="6153150" cy="171450"/>
          </a:xfrm>
          <a:prstGeom prst="rect">
            <a:avLst/>
          </a:prstGeom>
        </p:spPr>
        <p:txBody>
          <a:bodyPr wrap="none" lIns="0" tIns="0" rIns="0" bIns="0"/>
          <a:p>
            <a:pPr>
              <a:lnSpc>
                <a:spcPct val="100000"/>
              </a:lnSpc>
            </a:pPr>
            <a:r>
              <a:rPr lang="en-US" sz="1090" b="1">
                <a:solidFill>
                  <a:srgbClr val="0B7C86"/>
                </a:solidFill>
                <a:latin typeface="微软雅黑" panose="020B0503020204020204" charset="-122"/>
                <a:ea typeface="微软雅黑" panose="020B0503020204020204" charset="-122"/>
              </a:rPr>
              <a:t>(2) </a:t>
            </a:r>
            <a:r>
              <a:rPr lang="zh-CN" sz="1090" b="1">
                <a:solidFill>
                  <a:srgbClr val="0B7C86"/>
                </a:solidFill>
                <a:latin typeface="微软雅黑" panose="020B0503020204020204" charset="-122"/>
                <a:ea typeface="微软雅黑" panose="020B0503020204020204" charset="-122"/>
              </a:rPr>
              <a:t>五因子解释力非常强，优于</a:t>
            </a:r>
            <a:r>
              <a:rPr lang="en-US" sz="1090" b="1">
                <a:solidFill>
                  <a:srgbClr val="0B7C86"/>
                </a:solidFill>
                <a:latin typeface="微软雅黑" panose="020B0503020204020204" charset="-122"/>
                <a:ea typeface="微软雅黑" panose="020B0503020204020204" charset="-122"/>
              </a:rPr>
              <a:t> CAPM</a:t>
            </a:r>
            <a:r>
              <a:rPr lang="zh-CN" sz="1090" b="1">
                <a:solidFill>
                  <a:srgbClr val="0B7C86"/>
                </a:solidFill>
                <a:latin typeface="微软雅黑" panose="020B0503020204020204" charset="-122"/>
                <a:ea typeface="微软雅黑" panose="020B0503020204020204" charset="-122"/>
              </a:rPr>
              <a:t>、三因子、</a:t>
            </a:r>
            <a:r>
              <a:rPr lang="en-US" sz="1090" b="1">
                <a:solidFill>
                  <a:srgbClr val="0B7C86"/>
                </a:solidFill>
                <a:latin typeface="微软雅黑" panose="020B0503020204020204" charset="-122"/>
                <a:ea typeface="微软雅黑" panose="020B0503020204020204" charset="-122"/>
              </a:rPr>
              <a:t>Carhart </a:t>
            </a:r>
            <a:r>
              <a:rPr lang="zh-CN" sz="1090" b="1">
                <a:solidFill>
                  <a:srgbClr val="0B7C86"/>
                </a:solidFill>
                <a:latin typeface="微软雅黑" panose="020B0503020204020204" charset="-122"/>
                <a:ea typeface="微软雅黑" panose="020B0503020204020204" charset="-122"/>
              </a:rPr>
              <a:t>四因子</a:t>
            </a:r>
            <a:endParaRPr lang="zh-CN" sz="1090" b="1">
              <a:solidFill>
                <a:srgbClr val="0B7C86"/>
              </a:solidFill>
              <a:latin typeface="微软雅黑" panose="020B0503020204020204" charset="-122"/>
              <a:ea typeface="微软雅黑" panose="020B0503020204020204" charset="-122"/>
            </a:endParaRPr>
          </a:p>
        </p:txBody>
      </p:sp>
      <p:sp>
        <p:nvSpPr>
          <p:cNvPr id="52" name="文本框 51" descr="{&quot;isTemplate&quot;:true,&quot;type&quot;:&quot;text&quot;}"/>
          <p:cNvSpPr txBox="1"/>
          <p:nvPr/>
        </p:nvSpPr>
        <p:spPr>
          <a:xfrm>
            <a:off x="5419725" y="1990725"/>
            <a:ext cx="6153150" cy="142875"/>
          </a:xfrm>
          <a:prstGeom prst="rect">
            <a:avLst/>
          </a:prstGeom>
        </p:spPr>
        <p:txBody>
          <a:bodyPr wrap="none" lIns="0" tIns="0" rIns="0" bIns="0"/>
          <a:p>
            <a:pPr>
              <a:lnSpc>
                <a:spcPct val="100000"/>
              </a:lnSpc>
            </a:pPr>
            <a:r>
              <a:rPr lang="en-US" sz="940">
                <a:solidFill>
                  <a:srgbClr val="777777"/>
                </a:solidFill>
                <a:latin typeface="微软雅黑" panose="020B0503020204020204" charset="-122"/>
                <a:ea typeface="微软雅黑" panose="020B0503020204020204" charset="-122"/>
              </a:rPr>
              <a:t>→ </a:t>
            </a:r>
            <a:r>
              <a:rPr lang="zh-CN" sz="940">
                <a:solidFill>
                  <a:srgbClr val="777777"/>
                </a:solidFill>
                <a:latin typeface="微软雅黑" panose="020B0503020204020204" charset="-122"/>
                <a:ea typeface="微软雅黑" panose="020B0503020204020204" charset="-122"/>
              </a:rPr>
              <a:t>第四部分模型比较（表</a:t>
            </a:r>
            <a:r>
              <a:rPr lang="en-US" sz="940">
                <a:solidFill>
                  <a:srgbClr val="777777"/>
                </a:solidFill>
                <a:latin typeface="微软雅黑" panose="020B0503020204020204" charset="-122"/>
                <a:ea typeface="微软雅黑" panose="020B0503020204020204" charset="-122"/>
              </a:rPr>
              <a:t> 4</a:t>
            </a:r>
            <a:r>
              <a:rPr lang="zh-CN" sz="940">
                <a:solidFill>
                  <a:srgbClr val="777777"/>
                </a:solidFill>
                <a:latin typeface="微软雅黑" panose="020B0503020204020204" charset="-122"/>
                <a:ea typeface="微软雅黑" panose="020B0503020204020204" charset="-122"/>
              </a:rPr>
              <a:t>），判定标准是</a:t>
            </a:r>
            <a:r>
              <a:rPr lang="en-US" sz="940">
                <a:solidFill>
                  <a:srgbClr val="777777"/>
                </a:solidFill>
                <a:latin typeface="微软雅黑" panose="020B0503020204020204" charset="-122"/>
                <a:ea typeface="微软雅黑" panose="020B0503020204020204" charset="-122"/>
              </a:rPr>
              <a:t> GRS </a:t>
            </a:r>
            <a:r>
              <a:rPr lang="zh-CN" sz="940">
                <a:solidFill>
                  <a:srgbClr val="777777"/>
                </a:solidFill>
                <a:latin typeface="微软雅黑" panose="020B0503020204020204" charset="-122"/>
                <a:ea typeface="微软雅黑" panose="020B0503020204020204" charset="-122"/>
              </a:rPr>
              <a:t>检验与截距项</a:t>
            </a:r>
            <a:endParaRPr lang="zh-CN" sz="940">
              <a:solidFill>
                <a:srgbClr val="777777"/>
              </a:solidFill>
              <a:latin typeface="微软雅黑" panose="020B0503020204020204" charset="-122"/>
              <a:ea typeface="微软雅黑" panose="020B0503020204020204" charset="-122"/>
            </a:endParaRPr>
          </a:p>
        </p:txBody>
      </p:sp>
      <p:sp>
        <p:nvSpPr>
          <p:cNvPr id="53" name="矩形 52"/>
          <p:cNvSpPr/>
          <p:nvPr/>
        </p:nvSpPr>
        <p:spPr>
          <a:xfrm>
            <a:off x="5334000" y="2552700"/>
            <a:ext cx="6324600" cy="742950"/>
          </a:xfrm>
          <a:prstGeom prst="rect">
            <a:avLst/>
          </a:prstGeom>
          <a:solidFill>
            <a:srgbClr val="F5FBFB"/>
          </a:solidFill>
        </p:spPr>
        <p:txBody>
          <a:bodyPr/>
          <a:p/>
        </p:txBody>
      </p:sp>
      <p:sp>
        <p:nvSpPr>
          <p:cNvPr id="54" name="任意多边形 53"/>
          <p:cNvSpPr/>
          <p:nvPr/>
        </p:nvSpPr>
        <p:spPr>
          <a:xfrm>
            <a:off x="5295900" y="2552700"/>
            <a:ext cx="6362700" cy="742950"/>
          </a:xfrm>
          <a:custGeom>
            <a:avLst/>
            <a:gdLst/>
            <a:ahLst/>
            <a:cxnLst/>
            <a:pathLst>
              <a:path w="668" h="78">
                <a:moveTo>
                  <a:pt x="0" y="0"/>
                </a:moveTo>
                <a:lnTo>
                  <a:pt x="4" y="0"/>
                </a:lnTo>
                <a:lnTo>
                  <a:pt x="4" y="78"/>
                </a:lnTo>
                <a:lnTo>
                  <a:pt x="0" y="78"/>
                </a:lnTo>
                <a:close/>
              </a:path>
            </a:pathLst>
          </a:custGeom>
          <a:solidFill>
            <a:srgbClr val="01A5B1"/>
          </a:solidFill>
        </p:spPr>
        <p:txBody>
          <a:bodyPr/>
          <a:p/>
        </p:txBody>
      </p:sp>
      <p:sp>
        <p:nvSpPr>
          <p:cNvPr id="55" name="文本框 54" descr="{&quot;isTemplate&quot;:true,&quot;type&quot;:&quot;text&quot;}"/>
          <p:cNvSpPr txBox="1"/>
          <p:nvPr/>
        </p:nvSpPr>
        <p:spPr>
          <a:xfrm>
            <a:off x="5419725" y="2638425"/>
            <a:ext cx="6153150" cy="171450"/>
          </a:xfrm>
          <a:prstGeom prst="rect">
            <a:avLst/>
          </a:prstGeom>
        </p:spPr>
        <p:txBody>
          <a:bodyPr wrap="none" lIns="0" tIns="0" rIns="0" bIns="0"/>
          <a:p>
            <a:pPr>
              <a:lnSpc>
                <a:spcPct val="100000"/>
              </a:lnSpc>
            </a:pPr>
            <a:r>
              <a:rPr lang="en-US" sz="1090" b="1">
                <a:solidFill>
                  <a:srgbClr val="0B7C86"/>
                </a:solidFill>
                <a:latin typeface="微软雅黑" panose="020B0503020204020204" charset="-122"/>
                <a:ea typeface="微软雅黑" panose="020B0503020204020204" charset="-122"/>
              </a:rPr>
              <a:t>(3) </a:t>
            </a:r>
            <a:r>
              <a:rPr lang="zh-CN" sz="1090" b="1">
                <a:solidFill>
                  <a:srgbClr val="0B7C86"/>
                </a:solidFill>
                <a:latin typeface="微软雅黑" panose="020B0503020204020204" charset="-122"/>
                <a:ea typeface="微软雅黑" panose="020B0503020204020204" charset="-122"/>
              </a:rPr>
              <a:t>股改前市场风险主导，盈利、投资、动量因子</a:t>
            </a:r>
            <a:r>
              <a:rPr lang="en-US" sz="1090" b="1">
                <a:solidFill>
                  <a:srgbClr val="0B7C86"/>
                </a:solidFill>
                <a:latin typeface="微软雅黑" panose="020B0503020204020204" charset="-122"/>
                <a:ea typeface="微软雅黑" panose="020B0503020204020204" charset="-122"/>
              </a:rPr>
              <a:t>"</a:t>
            </a:r>
            <a:r>
              <a:rPr lang="zh-CN" sz="1090" b="1">
                <a:solidFill>
                  <a:srgbClr val="0B7C86"/>
                </a:solidFill>
                <a:latin typeface="微软雅黑" panose="020B0503020204020204" charset="-122"/>
                <a:ea typeface="微软雅黑" panose="020B0503020204020204" charset="-122"/>
              </a:rPr>
              <a:t>冗余</a:t>
            </a:r>
            <a:r>
              <a:rPr lang="en-US" sz="1090" b="1">
                <a:solidFill>
                  <a:srgbClr val="0B7C86"/>
                </a:solidFill>
                <a:latin typeface="微软雅黑" panose="020B0503020204020204" charset="-122"/>
                <a:ea typeface="微软雅黑" panose="020B0503020204020204" charset="-122"/>
              </a:rPr>
              <a:t>"</a:t>
            </a:r>
            <a:r>
              <a:rPr lang="zh-CN" sz="1090" b="1">
                <a:solidFill>
                  <a:srgbClr val="0B7C86"/>
                </a:solidFill>
                <a:latin typeface="微软雅黑" panose="020B0503020204020204" charset="-122"/>
                <a:ea typeface="微软雅黑" panose="020B0503020204020204" charset="-122"/>
              </a:rPr>
              <a:t>；股改后这三个因子的风险溢价显著</a:t>
            </a:r>
            <a:endParaRPr lang="zh-CN" sz="1090" b="1">
              <a:solidFill>
                <a:srgbClr val="0B7C86"/>
              </a:solidFill>
              <a:latin typeface="微软雅黑" panose="020B0503020204020204" charset="-122"/>
              <a:ea typeface="微软雅黑" panose="020B0503020204020204" charset="-122"/>
            </a:endParaRPr>
          </a:p>
        </p:txBody>
      </p:sp>
      <p:sp>
        <p:nvSpPr>
          <p:cNvPr id="56" name="文本框 55" descr="{&quot;isTemplate&quot;:true,&quot;type&quot;:&quot;text&quot;}"/>
          <p:cNvSpPr txBox="1"/>
          <p:nvPr/>
        </p:nvSpPr>
        <p:spPr>
          <a:xfrm>
            <a:off x="5419725" y="2809875"/>
            <a:ext cx="6153150" cy="142875"/>
          </a:xfrm>
          <a:prstGeom prst="rect">
            <a:avLst/>
          </a:prstGeom>
        </p:spPr>
        <p:txBody>
          <a:bodyPr wrap="none" lIns="0" tIns="0" rIns="0" bIns="0"/>
          <a:p>
            <a:pPr>
              <a:lnSpc>
                <a:spcPct val="100000"/>
              </a:lnSpc>
            </a:pPr>
            <a:r>
              <a:rPr lang="en-US" sz="940">
                <a:solidFill>
                  <a:srgbClr val="777777"/>
                </a:solidFill>
                <a:latin typeface="微软雅黑" panose="020B0503020204020204" charset="-122"/>
                <a:ea typeface="微软雅黑" panose="020B0503020204020204" charset="-122"/>
              </a:rPr>
              <a:t>→ </a:t>
            </a:r>
            <a:r>
              <a:rPr lang="zh-CN" sz="940">
                <a:solidFill>
                  <a:srgbClr val="777777"/>
                </a:solidFill>
                <a:latin typeface="微软雅黑" panose="020B0503020204020204" charset="-122"/>
                <a:ea typeface="微软雅黑" panose="020B0503020204020204" charset="-122"/>
              </a:rPr>
              <a:t>第五部分分期检验（表</a:t>
            </a:r>
            <a:r>
              <a:rPr lang="en-US" sz="940">
                <a:solidFill>
                  <a:srgbClr val="777777"/>
                </a:solidFill>
                <a:latin typeface="微软雅黑" panose="020B0503020204020204" charset="-122"/>
                <a:ea typeface="微软雅黑" panose="020B0503020204020204" charset="-122"/>
              </a:rPr>
              <a:t> 5–</a:t>
            </a:r>
            <a:r>
              <a:rPr lang="zh-CN" sz="940">
                <a:solidFill>
                  <a:srgbClr val="777777"/>
                </a:solidFill>
                <a:latin typeface="微软雅黑" panose="020B0503020204020204" charset="-122"/>
                <a:ea typeface="微软雅黑" panose="020B0503020204020204" charset="-122"/>
              </a:rPr>
              <a:t>表</a:t>
            </a:r>
            <a:r>
              <a:rPr lang="en-US" sz="940">
                <a:solidFill>
                  <a:srgbClr val="777777"/>
                </a:solidFill>
                <a:latin typeface="微软雅黑" panose="020B0503020204020204" charset="-122"/>
                <a:ea typeface="微软雅黑" panose="020B0503020204020204" charset="-122"/>
              </a:rPr>
              <a:t> 7</a:t>
            </a:r>
            <a:r>
              <a:rPr lang="zh-CN" sz="940">
                <a:solidFill>
                  <a:srgbClr val="777777"/>
                </a:solidFill>
                <a:latin typeface="微软雅黑" panose="020B0503020204020204" charset="-122"/>
                <a:ea typeface="微软雅黑" panose="020B0503020204020204" charset="-122"/>
              </a:rPr>
              <a:t>）</a:t>
            </a:r>
            <a:endParaRPr lang="zh-CN" sz="940">
              <a:solidFill>
                <a:srgbClr val="777777"/>
              </a:solidFill>
              <a:latin typeface="微软雅黑" panose="020B0503020204020204" charset="-122"/>
              <a:ea typeface="微软雅黑" panose="020B0503020204020204" charset="-122"/>
            </a:endParaRPr>
          </a:p>
        </p:txBody>
      </p:sp>
      <p:sp>
        <p:nvSpPr>
          <p:cNvPr id="57" name="矩形 56"/>
          <p:cNvSpPr/>
          <p:nvPr/>
        </p:nvSpPr>
        <p:spPr>
          <a:xfrm>
            <a:off x="5334000" y="3371850"/>
            <a:ext cx="6324600" cy="742950"/>
          </a:xfrm>
          <a:prstGeom prst="rect">
            <a:avLst/>
          </a:prstGeom>
          <a:solidFill>
            <a:srgbClr val="FFF3F0"/>
          </a:solidFill>
        </p:spPr>
        <p:txBody>
          <a:bodyPr/>
          <a:p/>
        </p:txBody>
      </p:sp>
      <p:sp>
        <p:nvSpPr>
          <p:cNvPr id="58" name="任意多边形 57"/>
          <p:cNvSpPr/>
          <p:nvPr/>
        </p:nvSpPr>
        <p:spPr>
          <a:xfrm>
            <a:off x="5295900" y="3371850"/>
            <a:ext cx="6362700" cy="742950"/>
          </a:xfrm>
          <a:custGeom>
            <a:avLst/>
            <a:gdLst/>
            <a:ahLst/>
            <a:cxnLst/>
            <a:pathLst>
              <a:path w="668" h="78">
                <a:moveTo>
                  <a:pt x="0" y="0"/>
                </a:moveTo>
                <a:lnTo>
                  <a:pt x="4" y="0"/>
                </a:lnTo>
                <a:lnTo>
                  <a:pt x="4" y="78"/>
                </a:lnTo>
                <a:lnTo>
                  <a:pt x="0" y="78"/>
                </a:lnTo>
                <a:close/>
              </a:path>
            </a:pathLst>
          </a:custGeom>
          <a:solidFill>
            <a:srgbClr val="C0504D"/>
          </a:solidFill>
        </p:spPr>
        <p:txBody>
          <a:bodyPr/>
          <a:p/>
        </p:txBody>
      </p:sp>
      <p:sp>
        <p:nvSpPr>
          <p:cNvPr id="59" name="文本框 58" descr="{&quot;isTemplate&quot;:true,&quot;type&quot;:&quot;text&quot;}"/>
          <p:cNvSpPr txBox="1"/>
          <p:nvPr/>
        </p:nvSpPr>
        <p:spPr>
          <a:xfrm>
            <a:off x="5419725" y="3457575"/>
            <a:ext cx="6153150" cy="171450"/>
          </a:xfrm>
          <a:prstGeom prst="rect">
            <a:avLst/>
          </a:prstGeom>
        </p:spPr>
        <p:txBody>
          <a:bodyPr wrap="none" lIns="0" tIns="0" rIns="0" bIns="0"/>
          <a:p>
            <a:pPr>
              <a:lnSpc>
                <a:spcPct val="100000"/>
              </a:lnSpc>
            </a:pPr>
            <a:r>
              <a:rPr lang="en-US" sz="1090" b="1">
                <a:solidFill>
                  <a:srgbClr val="A03D3A"/>
                </a:solidFill>
                <a:latin typeface="微软雅黑" panose="020B0503020204020204" charset="-122"/>
                <a:ea typeface="微软雅黑" panose="020B0503020204020204" charset="-122"/>
              </a:rPr>
              <a:t>(4) </a:t>
            </a:r>
            <a:r>
              <a:rPr lang="zh-CN" sz="1090" b="1">
                <a:solidFill>
                  <a:srgbClr val="A03D3A"/>
                </a:solidFill>
                <a:latin typeface="微软雅黑" panose="020B0503020204020204" charset="-122"/>
                <a:ea typeface="微软雅黑" panose="020B0503020204020204" charset="-122"/>
              </a:rPr>
              <a:t>股改后存在经五因子模型调整后仍显著的反转效应</a:t>
            </a:r>
            <a:endParaRPr lang="zh-CN" sz="1090" b="1">
              <a:solidFill>
                <a:srgbClr val="A03D3A"/>
              </a:solidFill>
              <a:latin typeface="微软雅黑" panose="020B0503020204020204" charset="-122"/>
              <a:ea typeface="微软雅黑" panose="020B0503020204020204" charset="-122"/>
            </a:endParaRPr>
          </a:p>
        </p:txBody>
      </p:sp>
      <p:sp>
        <p:nvSpPr>
          <p:cNvPr id="60" name="文本框 59" descr="{&quot;isTemplate&quot;:true,&quot;type&quot;:&quot;text&quot;}"/>
          <p:cNvSpPr txBox="1"/>
          <p:nvPr/>
        </p:nvSpPr>
        <p:spPr>
          <a:xfrm>
            <a:off x="5419725" y="3629025"/>
            <a:ext cx="6153150" cy="142875"/>
          </a:xfrm>
          <a:prstGeom prst="rect">
            <a:avLst/>
          </a:prstGeom>
        </p:spPr>
        <p:txBody>
          <a:bodyPr wrap="none" lIns="0" tIns="0" rIns="0" bIns="0"/>
          <a:p>
            <a:pPr>
              <a:lnSpc>
                <a:spcPct val="100000"/>
              </a:lnSpc>
            </a:pPr>
            <a:r>
              <a:rPr lang="en-US" sz="940">
                <a:solidFill>
                  <a:srgbClr val="777777"/>
                </a:solidFill>
                <a:latin typeface="微软雅黑" panose="020B0503020204020204" charset="-122"/>
                <a:ea typeface="微软雅黑" panose="020B0503020204020204" charset="-122"/>
              </a:rPr>
              <a:t>→ </a:t>
            </a:r>
            <a:r>
              <a:rPr lang="zh-CN" sz="940">
                <a:solidFill>
                  <a:srgbClr val="777777"/>
                </a:solidFill>
                <a:latin typeface="微软雅黑" panose="020B0503020204020204" charset="-122"/>
                <a:ea typeface="微软雅黑" panose="020B0503020204020204" charset="-122"/>
              </a:rPr>
              <a:t>第六部分（表</a:t>
            </a:r>
            <a:r>
              <a:rPr lang="en-US" sz="940">
                <a:solidFill>
                  <a:srgbClr val="777777"/>
                </a:solidFill>
                <a:latin typeface="微软雅黑" panose="020B0503020204020204" charset="-122"/>
                <a:ea typeface="微软雅黑" panose="020B0503020204020204" charset="-122"/>
              </a:rPr>
              <a:t> 8</a:t>
            </a:r>
            <a:r>
              <a:rPr lang="zh-CN" sz="940">
                <a:solidFill>
                  <a:srgbClr val="777777"/>
                </a:solidFill>
                <a:latin typeface="微软雅黑" panose="020B0503020204020204" charset="-122"/>
                <a:ea typeface="微软雅黑" panose="020B0503020204020204" charset="-122"/>
              </a:rPr>
              <a:t>）——本组负责详讲的章节</a:t>
            </a:r>
            <a:endParaRPr lang="zh-CN" sz="940">
              <a:solidFill>
                <a:srgbClr val="777777"/>
              </a:solidFill>
              <a:latin typeface="微软雅黑" panose="020B0503020204020204" charset="-122"/>
              <a:ea typeface="微软雅黑" panose="020B0503020204020204" charset="-122"/>
            </a:endParaRPr>
          </a:p>
        </p:txBody>
      </p:sp>
      <p:sp>
        <p:nvSpPr>
          <p:cNvPr id="61" name="矩形 60"/>
          <p:cNvSpPr/>
          <p:nvPr/>
        </p:nvSpPr>
        <p:spPr>
          <a:xfrm>
            <a:off x="5334000" y="4191000"/>
            <a:ext cx="6324600" cy="742950"/>
          </a:xfrm>
          <a:prstGeom prst="rect">
            <a:avLst/>
          </a:prstGeom>
          <a:solidFill>
            <a:srgbClr val="F5FBFB"/>
          </a:solidFill>
        </p:spPr>
        <p:txBody>
          <a:bodyPr/>
          <a:p/>
        </p:txBody>
      </p:sp>
      <p:sp>
        <p:nvSpPr>
          <p:cNvPr id="62" name="任意多边形 61"/>
          <p:cNvSpPr/>
          <p:nvPr/>
        </p:nvSpPr>
        <p:spPr>
          <a:xfrm>
            <a:off x="5295900" y="4191000"/>
            <a:ext cx="6362700" cy="742950"/>
          </a:xfrm>
          <a:custGeom>
            <a:avLst/>
            <a:gdLst/>
            <a:ahLst/>
            <a:cxnLst/>
            <a:pathLst>
              <a:path w="668" h="78">
                <a:moveTo>
                  <a:pt x="0" y="0"/>
                </a:moveTo>
                <a:lnTo>
                  <a:pt x="4" y="0"/>
                </a:lnTo>
                <a:lnTo>
                  <a:pt x="4" y="78"/>
                </a:lnTo>
                <a:lnTo>
                  <a:pt x="0" y="78"/>
                </a:lnTo>
                <a:close/>
              </a:path>
            </a:pathLst>
          </a:custGeom>
          <a:solidFill>
            <a:srgbClr val="01A5B1"/>
          </a:solidFill>
        </p:spPr>
        <p:txBody>
          <a:bodyPr/>
          <a:p/>
        </p:txBody>
      </p:sp>
      <p:sp>
        <p:nvSpPr>
          <p:cNvPr id="63" name="文本框 62" descr="{&quot;isTemplate&quot;:true,&quot;type&quot;:&quot;text&quot;}"/>
          <p:cNvSpPr txBox="1"/>
          <p:nvPr/>
        </p:nvSpPr>
        <p:spPr>
          <a:xfrm>
            <a:off x="5419725" y="4276725"/>
            <a:ext cx="6153150" cy="171450"/>
          </a:xfrm>
          <a:prstGeom prst="rect">
            <a:avLst/>
          </a:prstGeom>
        </p:spPr>
        <p:txBody>
          <a:bodyPr wrap="none" lIns="0" tIns="0" rIns="0" bIns="0"/>
          <a:p>
            <a:pPr>
              <a:lnSpc>
                <a:spcPct val="100000"/>
              </a:lnSpc>
            </a:pPr>
            <a:r>
              <a:rPr lang="en-US" sz="1090" b="1">
                <a:solidFill>
                  <a:srgbClr val="0B7C86"/>
                </a:solidFill>
                <a:latin typeface="微软雅黑" panose="020B0503020204020204" charset="-122"/>
                <a:ea typeface="微软雅黑" panose="020B0503020204020204" charset="-122"/>
              </a:rPr>
              <a:t>(5) </a:t>
            </a:r>
            <a:r>
              <a:rPr lang="zh-CN" sz="1090" b="1">
                <a:solidFill>
                  <a:srgbClr val="0B7C86"/>
                </a:solidFill>
                <a:latin typeface="微软雅黑" panose="020B0503020204020204" charset="-122"/>
                <a:ea typeface="微软雅黑" panose="020B0503020204020204" charset="-122"/>
              </a:rPr>
              <a:t>股改后实际收益率与预期收益率的差异更接近</a:t>
            </a:r>
            <a:r>
              <a:rPr lang="en-US" sz="1090" b="1">
                <a:solidFill>
                  <a:srgbClr val="0B7C86"/>
                </a:solidFill>
                <a:latin typeface="微软雅黑" panose="020B0503020204020204" charset="-122"/>
                <a:ea typeface="微软雅黑" panose="020B0503020204020204" charset="-122"/>
              </a:rPr>
              <a:t> 0</a:t>
            </a:r>
            <a:r>
              <a:rPr lang="zh-CN" sz="1090" b="1">
                <a:solidFill>
                  <a:srgbClr val="0B7C86"/>
                </a:solidFill>
                <a:latin typeface="微软雅黑" panose="020B0503020204020204" charset="-122"/>
                <a:ea typeface="微软雅黑" panose="020B0503020204020204" charset="-122"/>
              </a:rPr>
              <a:t>，市场趋于</a:t>
            </a:r>
            <a:r>
              <a:rPr lang="en-US" sz="1090" b="1">
                <a:solidFill>
                  <a:srgbClr val="0B7C86"/>
                </a:solidFill>
                <a:latin typeface="微软雅黑" panose="020B0503020204020204" charset="-122"/>
                <a:ea typeface="微软雅黑" panose="020B0503020204020204" charset="-122"/>
              </a:rPr>
              <a:t>"</a:t>
            </a:r>
            <a:r>
              <a:rPr lang="zh-CN" sz="1090" b="1">
                <a:solidFill>
                  <a:srgbClr val="0B7C86"/>
                </a:solidFill>
                <a:latin typeface="微软雅黑" panose="020B0503020204020204" charset="-122"/>
                <a:ea typeface="微软雅黑" panose="020B0503020204020204" charset="-122"/>
              </a:rPr>
              <a:t>有效</a:t>
            </a:r>
            <a:r>
              <a:rPr lang="en-US" sz="1090" b="1">
                <a:solidFill>
                  <a:srgbClr val="0B7C86"/>
                </a:solidFill>
                <a:latin typeface="微软雅黑" panose="020B0503020204020204" charset="-122"/>
                <a:ea typeface="微软雅黑" panose="020B0503020204020204" charset="-122"/>
              </a:rPr>
              <a:t>"</a:t>
            </a:r>
            <a:endParaRPr lang="en-US" sz="1090" b="1">
              <a:solidFill>
                <a:srgbClr val="0B7C86"/>
              </a:solidFill>
              <a:latin typeface="微软雅黑" panose="020B0503020204020204" charset="-122"/>
              <a:ea typeface="微软雅黑" panose="020B0503020204020204" charset="-122"/>
            </a:endParaRPr>
          </a:p>
        </p:txBody>
      </p:sp>
      <p:sp>
        <p:nvSpPr>
          <p:cNvPr id="64" name="文本框 63" descr="{&quot;isTemplate&quot;:true,&quot;type&quot;:&quot;text&quot;}"/>
          <p:cNvSpPr txBox="1"/>
          <p:nvPr/>
        </p:nvSpPr>
        <p:spPr>
          <a:xfrm>
            <a:off x="5419725" y="4448175"/>
            <a:ext cx="6153150" cy="142875"/>
          </a:xfrm>
          <a:prstGeom prst="rect">
            <a:avLst/>
          </a:prstGeom>
        </p:spPr>
        <p:txBody>
          <a:bodyPr wrap="none" lIns="0" tIns="0" rIns="0" bIns="0"/>
          <a:p>
            <a:pPr>
              <a:lnSpc>
                <a:spcPct val="100000"/>
              </a:lnSpc>
            </a:pPr>
            <a:r>
              <a:rPr lang="en-US" sz="940">
                <a:solidFill>
                  <a:srgbClr val="777777"/>
                </a:solidFill>
                <a:latin typeface="微软雅黑" panose="020B0503020204020204" charset="-122"/>
                <a:ea typeface="微软雅黑" panose="020B0503020204020204" charset="-122"/>
              </a:rPr>
              <a:t>→ </a:t>
            </a:r>
            <a:r>
              <a:rPr lang="zh-CN" sz="940">
                <a:solidFill>
                  <a:srgbClr val="777777"/>
                </a:solidFill>
                <a:latin typeface="微软雅黑" panose="020B0503020204020204" charset="-122"/>
                <a:ea typeface="微软雅黑" panose="020B0503020204020204" charset="-122"/>
              </a:rPr>
              <a:t>第五部分</a:t>
            </a:r>
            <a:r>
              <a:rPr lang="en-US" sz="940">
                <a:solidFill>
                  <a:srgbClr val="777777"/>
                </a:solidFill>
                <a:latin typeface="微软雅黑" panose="020B0503020204020204" charset="-122"/>
                <a:ea typeface="微软雅黑" panose="020B0503020204020204" charset="-122"/>
              </a:rPr>
              <a:t> + </a:t>
            </a:r>
            <a:r>
              <a:rPr lang="zh-CN" sz="940">
                <a:solidFill>
                  <a:srgbClr val="777777"/>
                </a:solidFill>
                <a:latin typeface="微软雅黑" panose="020B0503020204020204" charset="-122"/>
                <a:ea typeface="微软雅黑" panose="020B0503020204020204" charset="-122"/>
              </a:rPr>
              <a:t>结论；</a:t>
            </a:r>
            <a:r>
              <a:rPr lang="en-US" sz="940">
                <a:solidFill>
                  <a:srgbClr val="777777"/>
                </a:solidFill>
                <a:latin typeface="微软雅黑" panose="020B0503020204020204" charset="-122"/>
                <a:ea typeface="微软雅黑" panose="020B0503020204020204" charset="-122"/>
              </a:rPr>
              <a:t>"</a:t>
            </a:r>
            <a:r>
              <a:rPr lang="zh-CN" sz="940">
                <a:solidFill>
                  <a:srgbClr val="777777"/>
                </a:solidFill>
                <a:latin typeface="微软雅黑" panose="020B0503020204020204" charset="-122"/>
                <a:ea typeface="微软雅黑" panose="020B0503020204020204" charset="-122"/>
              </a:rPr>
              <a:t>有效</a:t>
            </a:r>
            <a:r>
              <a:rPr lang="en-US" sz="940">
                <a:solidFill>
                  <a:srgbClr val="777777"/>
                </a:solidFill>
                <a:latin typeface="微软雅黑" panose="020B0503020204020204" charset="-122"/>
                <a:ea typeface="微软雅黑" panose="020B0503020204020204" charset="-122"/>
              </a:rPr>
              <a:t>"</a:t>
            </a:r>
            <a:r>
              <a:rPr lang="zh-CN" sz="940">
                <a:solidFill>
                  <a:srgbClr val="777777"/>
                </a:solidFill>
                <a:latin typeface="微软雅黑" panose="020B0503020204020204" charset="-122"/>
                <a:ea typeface="微软雅黑" panose="020B0503020204020204" charset="-122"/>
              </a:rPr>
              <a:t>被红圈标出，判定依据是截距项变小</a:t>
            </a:r>
            <a:endParaRPr lang="zh-CN" sz="940">
              <a:solidFill>
                <a:srgbClr val="777777"/>
              </a:solidFill>
              <a:latin typeface="微软雅黑" panose="020B0503020204020204" charset="-122"/>
              <a:ea typeface="微软雅黑" panose="020B0503020204020204" charset="-122"/>
            </a:endParaRPr>
          </a:p>
        </p:txBody>
      </p:sp>
      <p:sp>
        <p:nvSpPr>
          <p:cNvPr id="65" name="矩形 64"/>
          <p:cNvSpPr/>
          <p:nvPr/>
        </p:nvSpPr>
        <p:spPr>
          <a:xfrm>
            <a:off x="5334000" y="5143500"/>
            <a:ext cx="6324600" cy="914400"/>
          </a:xfrm>
          <a:prstGeom prst="rect">
            <a:avLst/>
          </a:prstGeom>
          <a:solidFill>
            <a:srgbClr val="FFF8EE"/>
          </a:solidFill>
        </p:spPr>
        <p:txBody>
          <a:bodyPr/>
          <a:p/>
        </p:txBody>
      </p:sp>
      <p:sp>
        <p:nvSpPr>
          <p:cNvPr id="66" name="任意多边形 65"/>
          <p:cNvSpPr/>
          <p:nvPr/>
        </p:nvSpPr>
        <p:spPr>
          <a:xfrm>
            <a:off x="5295900" y="5143500"/>
            <a:ext cx="6362700" cy="914400"/>
          </a:xfrm>
          <a:custGeom>
            <a:avLst/>
            <a:gdLst/>
            <a:ahLst/>
            <a:cxnLst/>
            <a:pathLst>
              <a:path w="668" h="96">
                <a:moveTo>
                  <a:pt x="0" y="0"/>
                </a:moveTo>
                <a:lnTo>
                  <a:pt x="4" y="0"/>
                </a:lnTo>
                <a:lnTo>
                  <a:pt x="4" y="96"/>
                </a:lnTo>
                <a:lnTo>
                  <a:pt x="0" y="96"/>
                </a:lnTo>
                <a:close/>
              </a:path>
            </a:pathLst>
          </a:custGeom>
          <a:solidFill>
            <a:srgbClr val="D8952F"/>
          </a:solidFill>
        </p:spPr>
        <p:txBody>
          <a:bodyPr/>
          <a:p/>
        </p:txBody>
      </p:sp>
      <p:sp>
        <p:nvSpPr>
          <p:cNvPr id="67" name="文本框 66" descr="{&quot;isTemplate&quot;:true,&quot;type&quot;:&quot;text&quot;}"/>
          <p:cNvSpPr txBox="1"/>
          <p:nvPr/>
        </p:nvSpPr>
        <p:spPr>
          <a:xfrm>
            <a:off x="5429250" y="5238750"/>
            <a:ext cx="6134100" cy="161925"/>
          </a:xfrm>
          <a:prstGeom prst="rect">
            <a:avLst/>
          </a:prstGeom>
        </p:spPr>
        <p:txBody>
          <a:bodyPr wrap="none" lIns="0" tIns="0" rIns="0" bIns="0"/>
          <a:p>
            <a:pPr>
              <a:lnSpc>
                <a:spcPct val="100000"/>
              </a:lnSpc>
            </a:pPr>
            <a:r>
              <a:rPr lang="en-US" sz="1050" b="1">
                <a:solidFill>
                  <a:srgbClr val="9A6A12"/>
                </a:solidFill>
                <a:latin typeface="微软雅黑" panose="020B0503020204020204" charset="-122"/>
                <a:ea typeface="微软雅黑" panose="020B0503020204020204" charset="-122"/>
              </a:rPr>
              <a:t>◆ </a:t>
            </a:r>
            <a:r>
              <a:rPr lang="zh-CN" sz="1050" b="1">
                <a:solidFill>
                  <a:srgbClr val="9A6A12"/>
                </a:solidFill>
                <a:latin typeface="微软雅黑" panose="020B0503020204020204" charset="-122"/>
                <a:ea typeface="微软雅黑" panose="020B0503020204020204" charset="-122"/>
              </a:rPr>
              <a:t>一条主线串起五条</a:t>
            </a:r>
            <a:endParaRPr lang="zh-CN" sz="1050" b="1">
              <a:solidFill>
                <a:srgbClr val="9A6A12"/>
              </a:solidFill>
              <a:latin typeface="微软雅黑" panose="020B0503020204020204" charset="-122"/>
              <a:ea typeface="微软雅黑" panose="020B0503020204020204" charset="-122"/>
            </a:endParaRPr>
          </a:p>
        </p:txBody>
      </p:sp>
      <p:sp>
        <p:nvSpPr>
          <p:cNvPr id="68" name="文本框 67" descr="{&quot;isTemplate&quot;:true,&quot;type&quot;:&quot;text&quot;}"/>
          <p:cNvSpPr txBox="1"/>
          <p:nvPr/>
        </p:nvSpPr>
        <p:spPr>
          <a:xfrm>
            <a:off x="5429250" y="5429250"/>
            <a:ext cx="6134100" cy="495300"/>
          </a:xfrm>
          <a:prstGeom prst="rect">
            <a:avLst/>
          </a:prstGeom>
        </p:spPr>
        <p:txBody>
          <a:bodyPr wrap="square" lIns="0" tIns="0" rIns="0" bIns="0">
            <a:normAutofit/>
          </a:bodyPr>
          <a:p>
            <a:pPr>
              <a:lnSpc>
                <a:spcPct val="160000"/>
              </a:lnSpc>
            </a:pPr>
            <a:r>
              <a:rPr lang="zh-CN" sz="1015">
                <a:solidFill>
                  <a:srgbClr val="4A4A4A"/>
                </a:solidFill>
                <a:latin typeface="微软雅黑" panose="020B0503020204020204" charset="-122"/>
                <a:ea typeface="微软雅黑" panose="020B0503020204020204" charset="-122"/>
              </a:rPr>
              <a:t>三因子不够用（提出五因子）→</a:t>
            </a:r>
            <a:r>
              <a:rPr lang="en-US" sz="1015">
                <a:solidFill>
                  <a:srgbClr val="4A4A4A"/>
                </a:solidFill>
                <a:latin typeface="微软雅黑" panose="020B0503020204020204" charset="-122"/>
                <a:ea typeface="微软雅黑" panose="020B0503020204020204" charset="-122"/>
              </a:rPr>
              <a:t> </a:t>
            </a:r>
            <a:r>
              <a:rPr lang="zh-CN" sz="1015">
                <a:solidFill>
                  <a:srgbClr val="4A4A4A"/>
                </a:solidFill>
                <a:latin typeface="微软雅黑" panose="020B0503020204020204" charset="-122"/>
                <a:ea typeface="微软雅黑" panose="020B0503020204020204" charset="-122"/>
              </a:rPr>
              <a:t>五因子在中国行不行（</a:t>
            </a:r>
            <a:r>
              <a:rPr lang="en-US" sz="1015">
                <a:solidFill>
                  <a:srgbClr val="4A4A4A"/>
                </a:solidFill>
                <a:latin typeface="微软雅黑" panose="020B0503020204020204" charset="-122"/>
                <a:ea typeface="微软雅黑" panose="020B0503020204020204" charset="-122"/>
              </a:rPr>
              <a:t>1</a:t>
            </a:r>
            <a:r>
              <a:rPr lang="zh-CN" sz="1015">
                <a:solidFill>
                  <a:srgbClr val="4A4A4A"/>
                </a:solidFill>
                <a:latin typeface="微软雅黑" panose="020B0503020204020204" charset="-122"/>
                <a:ea typeface="微软雅黑" panose="020B0503020204020204" charset="-122"/>
              </a:rPr>
              <a:t>、</a:t>
            </a:r>
            <a:r>
              <a:rPr lang="en-US" sz="1015">
                <a:solidFill>
                  <a:srgbClr val="4A4A4A"/>
                </a:solidFill>
                <a:latin typeface="微软雅黑" panose="020B0503020204020204" charset="-122"/>
                <a:ea typeface="微软雅黑" panose="020B0503020204020204" charset="-122"/>
              </a:rPr>
              <a:t>2</a:t>
            </a:r>
            <a:r>
              <a:rPr lang="zh-CN" sz="1015">
                <a:solidFill>
                  <a:srgbClr val="4A4A4A"/>
                </a:solidFill>
                <a:latin typeface="微软雅黑" panose="020B0503020204020204" charset="-122"/>
                <a:ea typeface="微软雅黑" panose="020B0503020204020204" charset="-122"/>
              </a:rPr>
              <a:t>）→</a:t>
            </a:r>
            <a:r>
              <a:rPr lang="en-US" sz="1015">
                <a:solidFill>
                  <a:srgbClr val="4A4A4A"/>
                </a:solidFill>
                <a:latin typeface="微软雅黑" panose="020B0503020204020204" charset="-122"/>
                <a:ea typeface="微软雅黑" panose="020B0503020204020204" charset="-122"/>
              </a:rPr>
              <a:t> </a:t>
            </a:r>
            <a:r>
              <a:rPr lang="zh-CN" sz="1015">
                <a:solidFill>
                  <a:srgbClr val="4A4A4A"/>
                </a:solidFill>
                <a:latin typeface="微软雅黑" panose="020B0503020204020204" charset="-122"/>
                <a:ea typeface="微软雅黑" panose="020B0503020204020204" charset="-122"/>
              </a:rPr>
              <a:t>股改前后比一比（</a:t>
            </a:r>
            <a:r>
              <a:rPr lang="en-US" sz="1015">
                <a:solidFill>
                  <a:srgbClr val="4A4A4A"/>
                </a:solidFill>
                <a:latin typeface="微软雅黑" panose="020B0503020204020204" charset="-122"/>
                <a:ea typeface="微软雅黑" panose="020B0503020204020204" charset="-122"/>
              </a:rPr>
              <a:t>3</a:t>
            </a:r>
            <a:r>
              <a:rPr lang="zh-CN" sz="1015">
                <a:solidFill>
                  <a:srgbClr val="4A4A4A"/>
                </a:solidFill>
                <a:latin typeface="微软雅黑" panose="020B0503020204020204" charset="-122"/>
                <a:ea typeface="微软雅黑" panose="020B0503020204020204" charset="-122"/>
              </a:rPr>
              <a:t>、</a:t>
            </a:r>
            <a:r>
              <a:rPr lang="en-US" sz="1015">
                <a:solidFill>
                  <a:srgbClr val="4A4A4A"/>
                </a:solidFill>
                <a:latin typeface="微软雅黑" panose="020B0503020204020204" charset="-122"/>
                <a:ea typeface="微软雅黑" panose="020B0503020204020204" charset="-122"/>
              </a:rPr>
              <a:t>5</a:t>
            </a:r>
            <a:r>
              <a:rPr lang="zh-CN" sz="1015">
                <a:solidFill>
                  <a:srgbClr val="4A4A4A"/>
                </a:solidFill>
                <a:latin typeface="微软雅黑" panose="020B0503020204020204" charset="-122"/>
                <a:ea typeface="微软雅黑" panose="020B0503020204020204" charset="-122"/>
              </a:rPr>
              <a:t>）→</a:t>
            </a:r>
            <a:r>
              <a:rPr lang="en-US" sz="1015">
                <a:solidFill>
                  <a:srgbClr val="4A4A4A"/>
                </a:solidFill>
                <a:latin typeface="微软雅黑" panose="020B0503020204020204" charset="-122"/>
                <a:ea typeface="微软雅黑" panose="020B0503020204020204" charset="-122"/>
              </a:rPr>
              <a:t> </a:t>
            </a:r>
            <a:r>
              <a:rPr lang="zh-CN" sz="1015">
                <a:solidFill>
                  <a:srgbClr val="4A4A4A"/>
                </a:solidFill>
                <a:latin typeface="微软雅黑" panose="020B0503020204020204" charset="-122"/>
                <a:ea typeface="微软雅黑" panose="020B0503020204020204" charset="-122"/>
              </a:rPr>
              <a:t>动量反转之争（</a:t>
            </a:r>
            <a:r>
              <a:rPr lang="en-US" sz="1015">
                <a:solidFill>
                  <a:srgbClr val="4A4A4A"/>
                </a:solidFill>
                <a:latin typeface="微软雅黑" panose="020B0503020204020204" charset="-122"/>
                <a:ea typeface="微软雅黑" panose="020B0503020204020204" charset="-122"/>
              </a:rPr>
              <a:t>4</a:t>
            </a:r>
            <a:r>
              <a:rPr lang="zh-CN" sz="1015">
                <a:solidFill>
                  <a:srgbClr val="4A4A4A"/>
                </a:solidFill>
                <a:latin typeface="微软雅黑" panose="020B0503020204020204" charset="-122"/>
                <a:ea typeface="微软雅黑" panose="020B0503020204020204" charset="-122"/>
              </a:rPr>
              <a:t>）</a:t>
            </a:r>
            <a:endParaRPr lang="zh-CN" sz="1015">
              <a:solidFill>
                <a:srgbClr val="4A4A4A"/>
              </a:solidFill>
              <a:latin typeface="微软雅黑" panose="020B0503020204020204" charset="-122"/>
              <a:ea typeface="微软雅黑" panose="020B0503020204020204" charset="-122"/>
            </a:endParaRPr>
          </a:p>
        </p:txBody>
      </p:sp>
      <p:sp>
        <p:nvSpPr>
          <p:cNvPr id="69" name="Rectangle 68"/>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72" name="Rectangle 71"/>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74" name="TextBox 73"/>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75" name="TextBox 74"/>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76" name="TextBox 75"/>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77" name="TextBox 76"/>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78" name="TextBox 77"/>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79" name="TextBox 78"/>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69"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1.2 引言①②：三因子的缺口与五因子的诞生&lt;/Text&gt;&#10;    &lt;Text style={{ position: 'absolute', top: 34, left: 1080, width: 144, fontSize: 13, color: '#B0B0B0', textAlign: 'right' }}&gt;04 / 9&lt;/Text&gt;&#10;&#10;    &lt;Box style={{ position: 'absolute', top: 96, left: 56, width: 680, height: 344, background: '#FFFFFF', border: '1px solid #E4E4E4', boxShadow: '0 2px 10px rgba(0,0,0,0.07)', alignItems: 'center', justifyContent: 'center', padding: 6 }}&gt;&#10;        &lt;Image src=&quot;assets/u02_intro1_join.png&quot; style={{ width: 668, height: 332, objectFit: 'contain' }} /&gt;&#10;    &lt;/Box&gt;&#10;    &lt;Text style={{ position: 'absolute', top: 448, left: 56, width: 680, fontSize: 12.5, color: '#8A8A8A', lineHeight: 1.55 }}&gt;&#10;        ▲ 原文 P191–192 引言第①②段（刘坤标注版，跨页拼接）：三处划线 + &quot;负相关&quot;&quot;正相关&quot;两处标红&#10;    &lt;/Text&gt;&#10;&#10;    &lt;Box style={{ position: 'absolute', top: 496, left: 56, width: 680, height: 140, background: '#FFFFFF', border: '1px solid #E4E4E4', boxShadow: '0 2px 10px rgba(0,0,0,0.07)', padding: 12, flexDirection: 'column' }}&gt;&#10;        &lt;Text style={{ fontSize: 14, fontWeight: 'bold', color: '#0B7C86', marginBottom: 4 }}&gt;◆ 段②原句（左图下半）&lt;/Text&gt;&#10;        &lt;Text style={{ width: 652, fontSize: 13.5, color: '#444444', lineHeight: 1.66 }}&gt;&#10;            &quot;Fama and French(2015a) 基于红利贴现模型的讨论框架提出五因子模型，在三因子模型基础上加入盈利能力和投资风格因子，以更好地描述横截面上股票组合的期望收益率。&quot;&#10;        &lt;/Text&gt;&#10;    &lt;/Box&gt;&#10;&#10;    &lt;Box style={{ position: 'absolute', top: 96, left: 706, width: 518, height: 172, background: '#F5FBFB', borderLeft: '4px solid #01A5B1', padding: 12, flexDirection: 'column' }}&gt;&#10;        &lt;Text style={{ fontSize: 15, fontWeight: 'bold', color: '#0B7C86', marginBottom: 4 }}&gt;◆ 段①先立后破（对照划线）&lt;/Text&gt;&#10;        &lt;Text style={{ width: 486, fontSize: 13.5, color: '#444444', lineHeight: 1.62 }}&gt;&#10;            FF(1993) 三因子&quot;可以很好地解释横截面上股票组合的期望收益率&quot;；学术惯例：检验新策略要&lt;b&gt;控制&lt;/b&gt;市场风险、规模、账面市值比这三个因子，看新指标还有没有预测力。&#10;        &lt;/Text&gt;&#10;    &lt;/Box&gt;&#10;    &lt;Box style={{ position: 'absolute', top: 280, left: 706, width: 518, height: 172, background: '#F5FBFB', borderLeft: '4px solid #01A5B1', padding: 12, flexDirection: 'column' }}&gt;&#10;        &lt;Text style={{ fontSize: 15, fontWeight: 'bold', color: '#0B7C86', marginBottom: 4 }}&gt;◆ 两处标红 = 两条新证据&lt;/Text&gt;&#10;        &lt;Text style={{ width: 486, fontSize: 13.5, color: '#444444', lineHeight: 1.62 }}&gt;&#10;            Aharoni et al.(2013)：公司资本投资与预期收益率&lt;b&gt;显著负相关&lt;/b&gt;；Novy-Marx(2013)：预期盈利能力与股票组合收益率&lt;b&gt;正相关&lt;/b&gt;——三因子解释不了&quot;盈利能力和投资风格&quot;相关的收益率变化。&#10;        &lt;/Text&gt;&#10;    &lt;/Box&gt;&#10;    &lt;Box style={{ position: 'absolute', top: 464, left: 706, width: 518, height: 158, background: '#FFF8EE', borderLeft: '4px solid #D8952F', padding: 12, flexDirection: 'column' }}&gt;&#10;        &lt;Text style={{ fontSize: 15, fontWeight: 'bold', color: '#9A6A12', marginBottom: 4 }}&gt;◆ 段②：五因子诞生（对照左图原句）&lt;/Text&gt;&#10;        &lt;Text style={{ width: 486, fontSize: 13.5, color: '#4A4A4A', lineHeight: 1.62 }}&gt;&#10;            FF(2015a) 基于&lt;b&gt;红利贴现模型&lt;/b&gt;的讨论框架，在三因子基础上加入&lt;b&gt;盈利能力&lt;/b&gt;和&lt;b&gt;投资风格&lt;/b&gt;两个因子，以更好地描述横截面上股票组合的期望收益率。&#10;        &lt;/Text&gt;&#10;    &lt;/Box&gt;&#10;&#10;&lt;/Slide&gt;"/>
        <p:cNvGrpSpPr/>
        <p:nvPr/>
      </p:nvGrpSpPr>
      <p:grpSpPr>
        <a:xfrm>
          <a:off x="0" y="0"/>
          <a:ext cx="0" cy="0"/>
          <a:chOff x="0" y="0"/>
          <a:chExt cx="0" cy="0"/>
        </a:xfrm>
      </p:grpSpPr>
      <p:sp>
        <p:nvSpPr>
          <p:cNvPr id="70" name="矩形 69"/>
          <p:cNvSpPr/>
          <p:nvPr/>
        </p:nvSpPr>
        <p:spPr>
          <a:xfrm>
            <a:off x="0" y="0"/>
            <a:ext cx="12192000" cy="6858000"/>
          </a:xfrm>
          <a:prstGeom prst="rect">
            <a:avLst/>
          </a:prstGeom>
          <a:solidFill>
            <a:srgbClr val="FFFFFF"/>
          </a:solidFill>
        </p:spPr>
        <p:txBody>
          <a:bodyPr/>
          <a:p/>
        </p:txBody>
      </p:sp>
      <p:sp>
        <p:nvSpPr>
          <p:cNvPr id="71" name="矩形 70"/>
          <p:cNvSpPr/>
          <p:nvPr/>
        </p:nvSpPr>
        <p:spPr>
          <a:xfrm>
            <a:off x="0" y="0"/>
            <a:ext cx="12192000" cy="57150"/>
          </a:xfrm>
          <a:prstGeom prst="rect">
            <a:avLst/>
          </a:prstGeom>
          <a:solidFill>
            <a:srgbClr val="01A5B1"/>
          </a:solidFill>
        </p:spPr>
        <p:txBody>
          <a:bodyPr/>
          <a:p/>
        </p:txBody>
      </p:sp>
      <p:sp>
        <p:nvSpPr>
          <p:cNvPr id="72" name="文本框 71"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en-US" sz="2200" b="1">
                <a:solidFill>
                  <a:srgbClr val="1F1F1F"/>
                </a:solidFill>
                <a:latin typeface="微软雅黑" panose="020B0503020204020204" charset="-122"/>
                <a:ea typeface="微软雅黑" panose="020B0503020204020204" charset="-122"/>
              </a:rPr>
              <a:t>1.2 </a:t>
            </a:r>
            <a:r>
              <a:rPr lang="zh-CN" sz="2200" b="1">
                <a:solidFill>
                  <a:srgbClr val="1F1F1F"/>
                </a:solidFill>
                <a:latin typeface="微软雅黑" panose="020B0503020204020204" charset="-122"/>
                <a:ea typeface="微软雅黑" panose="020B0503020204020204" charset="-122"/>
              </a:rPr>
              <a:t>引言①②：三因子的缺口与五因子的诞生</a:t>
            </a:r>
            <a:endParaRPr lang="zh-CN" sz="2175" b="1">
              <a:solidFill>
                <a:srgbClr val="1F1F1F"/>
              </a:solidFill>
              <a:latin typeface="微软雅黑" panose="020B0503020204020204" charset="-122"/>
              <a:ea typeface="微软雅黑" panose="020B0503020204020204" charset="-122"/>
            </a:endParaRPr>
          </a:p>
        </p:txBody>
      </p:sp>
      <p:sp>
        <p:nvSpPr>
          <p:cNvPr id="74" name="矩形 73"/>
          <p:cNvSpPr/>
          <p:nvPr/>
        </p:nvSpPr>
        <p:spPr>
          <a:xfrm>
            <a:off x="533400" y="914400"/>
            <a:ext cx="6477000" cy="32766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75" name="图片 74"/>
          <p:cNvPicPr>
            <a:picLocks noChangeAspect="1"/>
          </p:cNvPicPr>
          <p:nvPr/>
        </p:nvPicPr>
        <p:blipFill>
          <a:blip r:embed="rId1"/>
          <a:srcRect t="891" b="891"/>
          <a:stretch>
            <a:fillRect/>
          </a:stretch>
        </p:blipFill>
        <p:spPr>
          <a:xfrm>
            <a:off x="590550" y="971550"/>
            <a:ext cx="6362700" cy="3162300"/>
          </a:xfrm>
          <a:prstGeom prst="rect">
            <a:avLst/>
          </a:prstGeom>
        </p:spPr>
      </p:pic>
      <p:sp>
        <p:nvSpPr>
          <p:cNvPr id="76" name="文本框 75" descr="{&quot;isTemplate&quot;:true,&quot;type&quot;:&quot;text&quot;}"/>
          <p:cNvSpPr txBox="1"/>
          <p:nvPr/>
        </p:nvSpPr>
        <p:spPr>
          <a:xfrm>
            <a:off x="533400" y="4267200"/>
            <a:ext cx="6477000" cy="228600"/>
          </a:xfrm>
          <a:prstGeom prst="rect">
            <a:avLst/>
          </a:prstGeom>
        </p:spPr>
        <p:txBody>
          <a:bodyPr wrap="none" lIns="0" tIns="0" rIns="0" bIns="0"/>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原文</a:t>
            </a:r>
            <a:r>
              <a:rPr lang="en-US" sz="940">
                <a:solidFill>
                  <a:srgbClr val="8A8A8A"/>
                </a:solidFill>
                <a:latin typeface="微软雅黑" panose="020B0503020204020204" charset="-122"/>
                <a:ea typeface="微软雅黑" panose="020B0503020204020204" charset="-122"/>
              </a:rPr>
              <a:t> P191–192 </a:t>
            </a:r>
            <a:r>
              <a:rPr lang="zh-CN" sz="940">
                <a:solidFill>
                  <a:srgbClr val="8A8A8A"/>
                </a:solidFill>
                <a:latin typeface="微软雅黑" panose="020B0503020204020204" charset="-122"/>
                <a:ea typeface="微软雅黑" panose="020B0503020204020204" charset="-122"/>
              </a:rPr>
              <a:t>引言第①②段（刘坤标注版，跨页拼接）：三处划线</a:t>
            </a:r>
            <a:r>
              <a:rPr lang="en-US" sz="940">
                <a:solidFill>
                  <a:srgbClr val="8A8A8A"/>
                </a:solidFill>
                <a:latin typeface="微软雅黑" panose="020B0503020204020204" charset="-122"/>
                <a:ea typeface="微软雅黑" panose="020B0503020204020204" charset="-122"/>
              </a:rPr>
              <a:t> + "</a:t>
            </a:r>
            <a:r>
              <a:rPr lang="zh-CN" sz="940">
                <a:solidFill>
                  <a:srgbClr val="8A8A8A"/>
                </a:solidFill>
                <a:latin typeface="微软雅黑" panose="020B0503020204020204" charset="-122"/>
                <a:ea typeface="微软雅黑" panose="020B0503020204020204" charset="-122"/>
              </a:rPr>
              <a:t>负相关</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正相关</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两处标红</a:t>
            </a:r>
            <a:endParaRPr lang="zh-CN" sz="940">
              <a:solidFill>
                <a:srgbClr val="8A8A8A"/>
              </a:solidFill>
              <a:latin typeface="微软雅黑" panose="020B0503020204020204" charset="-122"/>
              <a:ea typeface="微软雅黑" panose="020B0503020204020204" charset="-122"/>
            </a:endParaRPr>
          </a:p>
        </p:txBody>
      </p:sp>
      <p:sp>
        <p:nvSpPr>
          <p:cNvPr id="77" name="矩形 76"/>
          <p:cNvSpPr/>
          <p:nvPr/>
        </p:nvSpPr>
        <p:spPr>
          <a:xfrm>
            <a:off x="533400" y="4724400"/>
            <a:ext cx="6477000" cy="13335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sp>
        <p:nvSpPr>
          <p:cNvPr id="78" name="文本框 77" descr="{&quot;isTemplate&quot;:true,&quot;type&quot;:&quot;text&quot;}"/>
          <p:cNvSpPr txBox="1"/>
          <p:nvPr/>
        </p:nvSpPr>
        <p:spPr>
          <a:xfrm>
            <a:off x="647700" y="4838700"/>
            <a:ext cx="6248400" cy="161925"/>
          </a:xfrm>
          <a:prstGeom prst="rect">
            <a:avLst/>
          </a:prstGeom>
        </p:spPr>
        <p:txBody>
          <a:bodyPr wrap="none" lIns="0" tIns="0" rIns="0" bIns="0"/>
          <a:p>
            <a:pPr>
              <a:lnSpc>
                <a:spcPct val="100000"/>
              </a:lnSpc>
            </a:pPr>
            <a:r>
              <a:rPr lang="en-US" sz="1050" b="1">
                <a:solidFill>
                  <a:srgbClr val="0B7C86"/>
                </a:solidFill>
                <a:latin typeface="微软雅黑" panose="020B0503020204020204" charset="-122"/>
                <a:ea typeface="微软雅黑" panose="020B0503020204020204" charset="-122"/>
              </a:rPr>
              <a:t>◆ </a:t>
            </a:r>
            <a:r>
              <a:rPr lang="zh-CN" sz="1050" b="1">
                <a:solidFill>
                  <a:srgbClr val="0B7C86"/>
                </a:solidFill>
                <a:latin typeface="微软雅黑" panose="020B0503020204020204" charset="-122"/>
                <a:ea typeface="微软雅黑" panose="020B0503020204020204" charset="-122"/>
              </a:rPr>
              <a:t>段②原句（左图下半）</a:t>
            </a:r>
            <a:endParaRPr lang="zh-CN" sz="1050" b="1">
              <a:solidFill>
                <a:srgbClr val="0B7C86"/>
              </a:solidFill>
              <a:latin typeface="微软雅黑" panose="020B0503020204020204" charset="-122"/>
              <a:ea typeface="微软雅黑" panose="020B0503020204020204" charset="-122"/>
            </a:endParaRPr>
          </a:p>
        </p:txBody>
      </p:sp>
      <p:sp>
        <p:nvSpPr>
          <p:cNvPr id="79" name="文本框 78" descr="{&quot;isTemplate&quot;:true,&quot;type&quot;:&quot;text&quot;}"/>
          <p:cNvSpPr txBox="1"/>
          <p:nvPr/>
        </p:nvSpPr>
        <p:spPr>
          <a:xfrm>
            <a:off x="647700" y="5038725"/>
            <a:ext cx="6210300" cy="514350"/>
          </a:xfrm>
          <a:prstGeom prst="rect">
            <a:avLst/>
          </a:prstGeom>
        </p:spPr>
        <p:txBody>
          <a:bodyPr wrap="square" lIns="0" tIns="0" rIns="0" bIns="0">
            <a:normAutofit/>
          </a:bodyPr>
          <a:p>
            <a:pPr>
              <a:lnSpc>
                <a:spcPct val="166000"/>
              </a:lnSpc>
            </a:pPr>
            <a:r>
              <a:rPr lang="en-US" sz="1015">
                <a:solidFill>
                  <a:srgbClr val="444444"/>
                </a:solidFill>
                <a:latin typeface="微软雅黑" panose="020B0503020204020204" charset="-122"/>
                <a:ea typeface="微软雅黑" panose="020B0503020204020204" charset="-122"/>
              </a:rPr>
              <a:t>"Fama and French(2015a) </a:t>
            </a:r>
            <a:r>
              <a:rPr lang="zh-CN" sz="1015">
                <a:solidFill>
                  <a:srgbClr val="444444"/>
                </a:solidFill>
                <a:latin typeface="微软雅黑" panose="020B0503020204020204" charset="-122"/>
                <a:ea typeface="微软雅黑" panose="020B0503020204020204" charset="-122"/>
              </a:rPr>
              <a:t>基于红利贴现模型的讨论框架提出五因子模型，在三因子模型基础上加入盈利能力和投资风格因子，以更好地描述横截面上股票组合的期望收益率。</a:t>
            </a:r>
            <a:r>
              <a:rPr lang="en-US" sz="1015">
                <a:solidFill>
                  <a:srgbClr val="444444"/>
                </a:solidFill>
                <a:latin typeface="微软雅黑" panose="020B0503020204020204" charset="-122"/>
                <a:ea typeface="微软雅黑" panose="020B0503020204020204" charset="-122"/>
              </a:rPr>
              <a:t>"</a:t>
            </a:r>
            <a:endParaRPr lang="en-US" sz="1015">
              <a:solidFill>
                <a:srgbClr val="444444"/>
              </a:solidFill>
              <a:latin typeface="微软雅黑" panose="020B0503020204020204" charset="-122"/>
              <a:ea typeface="微软雅黑" panose="020B0503020204020204" charset="-122"/>
            </a:endParaRPr>
          </a:p>
        </p:txBody>
      </p:sp>
      <p:sp>
        <p:nvSpPr>
          <p:cNvPr id="80" name="矩形 79"/>
          <p:cNvSpPr/>
          <p:nvPr/>
        </p:nvSpPr>
        <p:spPr>
          <a:xfrm>
            <a:off x="6762750" y="914400"/>
            <a:ext cx="4895850" cy="1638300"/>
          </a:xfrm>
          <a:prstGeom prst="rect">
            <a:avLst/>
          </a:prstGeom>
          <a:solidFill>
            <a:srgbClr val="F5FBFB"/>
          </a:solidFill>
        </p:spPr>
        <p:txBody>
          <a:bodyPr/>
          <a:p/>
        </p:txBody>
      </p:sp>
      <p:sp>
        <p:nvSpPr>
          <p:cNvPr id="81" name="任意多边形 80"/>
          <p:cNvSpPr/>
          <p:nvPr/>
        </p:nvSpPr>
        <p:spPr>
          <a:xfrm>
            <a:off x="6724650" y="914400"/>
            <a:ext cx="4933950" cy="1638300"/>
          </a:xfrm>
          <a:custGeom>
            <a:avLst/>
            <a:gdLst/>
            <a:ahLst/>
            <a:cxnLst/>
            <a:pathLst>
              <a:path w="518" h="172">
                <a:moveTo>
                  <a:pt x="0" y="0"/>
                </a:moveTo>
                <a:lnTo>
                  <a:pt x="4" y="0"/>
                </a:lnTo>
                <a:lnTo>
                  <a:pt x="4" y="172"/>
                </a:lnTo>
                <a:lnTo>
                  <a:pt x="0" y="172"/>
                </a:lnTo>
                <a:close/>
              </a:path>
            </a:pathLst>
          </a:custGeom>
          <a:solidFill>
            <a:srgbClr val="01A5B1"/>
          </a:solidFill>
        </p:spPr>
        <p:txBody>
          <a:bodyPr/>
          <a:p/>
        </p:txBody>
      </p:sp>
      <p:sp>
        <p:nvSpPr>
          <p:cNvPr id="82" name="文本框 81" descr="{&quot;isTemplate&quot;:true,&quot;type&quot;:&quot;text&quot;}"/>
          <p:cNvSpPr txBox="1"/>
          <p:nvPr/>
        </p:nvSpPr>
        <p:spPr>
          <a:xfrm>
            <a:off x="6877050" y="1028700"/>
            <a:ext cx="46672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段①先立后破（对照划线）</a:t>
            </a:r>
            <a:endParaRPr lang="zh-CN" sz="1125" b="1">
              <a:solidFill>
                <a:srgbClr val="0B7C86"/>
              </a:solidFill>
              <a:latin typeface="微软雅黑" panose="020B0503020204020204" charset="-122"/>
              <a:ea typeface="微软雅黑" panose="020B0503020204020204" charset="-122"/>
            </a:endParaRPr>
          </a:p>
        </p:txBody>
      </p:sp>
      <p:sp>
        <p:nvSpPr>
          <p:cNvPr id="83" name="文本框 82" descr="{&quot;isTemplate&quot;:true,&quot;type&quot;:&quot;text&quot;}"/>
          <p:cNvSpPr txBox="1"/>
          <p:nvPr/>
        </p:nvSpPr>
        <p:spPr>
          <a:xfrm>
            <a:off x="6877050" y="1238250"/>
            <a:ext cx="4629150" cy="752475"/>
          </a:xfrm>
          <a:prstGeom prst="rect">
            <a:avLst/>
          </a:prstGeom>
        </p:spPr>
        <p:txBody>
          <a:bodyPr wrap="square" lIns="0" tIns="0" rIns="0" bIns="0">
            <a:normAutofit/>
          </a:bodyPr>
          <a:p>
            <a:pPr>
              <a:lnSpc>
                <a:spcPct val="162000"/>
              </a:lnSpc>
            </a:pPr>
            <a:r>
              <a:rPr lang="en-US" sz="1015">
                <a:solidFill>
                  <a:srgbClr val="444444"/>
                </a:solidFill>
                <a:latin typeface="微软雅黑" panose="020B0503020204020204" charset="-122"/>
                <a:ea typeface="微软雅黑" panose="020B0503020204020204" charset="-122"/>
              </a:rPr>
              <a:t>FF(1993) </a:t>
            </a:r>
            <a:r>
              <a:rPr lang="zh-CN" sz="1015">
                <a:solidFill>
                  <a:srgbClr val="444444"/>
                </a:solidFill>
                <a:latin typeface="微软雅黑" panose="020B0503020204020204" charset="-122"/>
                <a:ea typeface="微软雅黑" panose="020B0503020204020204" charset="-122"/>
              </a:rPr>
              <a:t>三因子</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可以很好地解释横截面上股票组合的期望收益率</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；学术惯例：检验新策略要</a:t>
            </a:r>
            <a:r>
              <a:rPr lang="zh-CN" sz="1015">
                <a:solidFill>
                  <a:srgbClr val="444444"/>
                </a:solidFill>
                <a:latin typeface="微软雅黑" panose="020B0503020204020204" charset="-122"/>
                <a:ea typeface="微软雅黑" panose="020B0503020204020204" charset="-122"/>
              </a:rPr>
              <a:t>控制</a:t>
            </a:r>
            <a:r>
              <a:rPr lang="zh-CN" sz="1015">
                <a:solidFill>
                  <a:srgbClr val="444444"/>
                </a:solidFill>
                <a:latin typeface="微软雅黑" panose="020B0503020204020204" charset="-122"/>
                <a:ea typeface="微软雅黑" panose="020B0503020204020204" charset="-122"/>
              </a:rPr>
              <a:t>市场风险、规模、账面市值比这三个因子，看新指标还有没有预测力。</a:t>
            </a:r>
            <a:endParaRPr lang="zh-CN" sz="1015">
              <a:solidFill>
                <a:srgbClr val="444444"/>
              </a:solidFill>
              <a:latin typeface="微软雅黑" panose="020B0503020204020204" charset="-122"/>
              <a:ea typeface="微软雅黑" panose="020B0503020204020204" charset="-122"/>
            </a:endParaRPr>
          </a:p>
        </p:txBody>
      </p:sp>
      <p:sp>
        <p:nvSpPr>
          <p:cNvPr id="84" name="矩形 83"/>
          <p:cNvSpPr/>
          <p:nvPr/>
        </p:nvSpPr>
        <p:spPr>
          <a:xfrm>
            <a:off x="6762750" y="2667000"/>
            <a:ext cx="4895850" cy="1638300"/>
          </a:xfrm>
          <a:prstGeom prst="rect">
            <a:avLst/>
          </a:prstGeom>
          <a:solidFill>
            <a:srgbClr val="F5FBFB"/>
          </a:solidFill>
        </p:spPr>
        <p:txBody>
          <a:bodyPr/>
          <a:p/>
        </p:txBody>
      </p:sp>
      <p:sp>
        <p:nvSpPr>
          <p:cNvPr id="85" name="任意多边形 84"/>
          <p:cNvSpPr/>
          <p:nvPr/>
        </p:nvSpPr>
        <p:spPr>
          <a:xfrm>
            <a:off x="6724650" y="2667000"/>
            <a:ext cx="4933950" cy="1638300"/>
          </a:xfrm>
          <a:custGeom>
            <a:avLst/>
            <a:gdLst/>
            <a:ahLst/>
            <a:cxnLst/>
            <a:pathLst>
              <a:path w="518" h="172">
                <a:moveTo>
                  <a:pt x="0" y="0"/>
                </a:moveTo>
                <a:lnTo>
                  <a:pt x="4" y="0"/>
                </a:lnTo>
                <a:lnTo>
                  <a:pt x="4" y="172"/>
                </a:lnTo>
                <a:lnTo>
                  <a:pt x="0" y="172"/>
                </a:lnTo>
                <a:close/>
              </a:path>
            </a:pathLst>
          </a:custGeom>
          <a:solidFill>
            <a:srgbClr val="01A5B1"/>
          </a:solidFill>
        </p:spPr>
        <p:txBody>
          <a:bodyPr/>
          <a:p/>
        </p:txBody>
      </p:sp>
      <p:sp>
        <p:nvSpPr>
          <p:cNvPr id="86" name="文本框 85" descr="{&quot;isTemplate&quot;:true,&quot;type&quot;:&quot;text&quot;}"/>
          <p:cNvSpPr txBox="1"/>
          <p:nvPr/>
        </p:nvSpPr>
        <p:spPr>
          <a:xfrm>
            <a:off x="6877050" y="2781300"/>
            <a:ext cx="46672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两处标红</a:t>
            </a:r>
            <a:r>
              <a:rPr lang="en-US" sz="1125" b="1">
                <a:solidFill>
                  <a:srgbClr val="0B7C86"/>
                </a:solidFill>
                <a:latin typeface="微软雅黑" panose="020B0503020204020204" charset="-122"/>
                <a:ea typeface="微软雅黑" panose="020B0503020204020204" charset="-122"/>
              </a:rPr>
              <a:t> = </a:t>
            </a:r>
            <a:r>
              <a:rPr lang="zh-CN" sz="1125" b="1">
                <a:solidFill>
                  <a:srgbClr val="0B7C86"/>
                </a:solidFill>
                <a:latin typeface="微软雅黑" panose="020B0503020204020204" charset="-122"/>
                <a:ea typeface="微软雅黑" panose="020B0503020204020204" charset="-122"/>
              </a:rPr>
              <a:t>两条新证据</a:t>
            </a:r>
            <a:endParaRPr lang="zh-CN" sz="1125" b="1">
              <a:solidFill>
                <a:srgbClr val="0B7C86"/>
              </a:solidFill>
              <a:latin typeface="微软雅黑" panose="020B0503020204020204" charset="-122"/>
              <a:ea typeface="微软雅黑" panose="020B0503020204020204" charset="-122"/>
            </a:endParaRPr>
          </a:p>
        </p:txBody>
      </p:sp>
      <p:sp>
        <p:nvSpPr>
          <p:cNvPr id="87" name="文本框 86" descr="{&quot;isTemplate&quot;:true,&quot;type&quot;:&quot;text&quot;}"/>
          <p:cNvSpPr txBox="1"/>
          <p:nvPr/>
        </p:nvSpPr>
        <p:spPr>
          <a:xfrm>
            <a:off x="6877050" y="2990850"/>
            <a:ext cx="4629150" cy="752475"/>
          </a:xfrm>
          <a:prstGeom prst="rect">
            <a:avLst/>
          </a:prstGeom>
        </p:spPr>
        <p:txBody>
          <a:bodyPr wrap="square" lIns="0" tIns="0" rIns="0" bIns="0">
            <a:normAutofit/>
          </a:bodyPr>
          <a:p>
            <a:pPr>
              <a:lnSpc>
                <a:spcPct val="162000"/>
              </a:lnSpc>
            </a:pPr>
            <a:r>
              <a:rPr lang="en-US" sz="1015">
                <a:solidFill>
                  <a:srgbClr val="444444"/>
                </a:solidFill>
                <a:latin typeface="微软雅黑" panose="020B0503020204020204" charset="-122"/>
                <a:ea typeface="微软雅黑" panose="020B0503020204020204" charset="-122"/>
              </a:rPr>
              <a:t>Aharoni et al.(2013)</a:t>
            </a:r>
            <a:r>
              <a:rPr lang="zh-CN" sz="1015">
                <a:solidFill>
                  <a:srgbClr val="444444"/>
                </a:solidFill>
                <a:latin typeface="微软雅黑" panose="020B0503020204020204" charset="-122"/>
                <a:ea typeface="微软雅黑" panose="020B0503020204020204" charset="-122"/>
              </a:rPr>
              <a:t>：公司资本投资与预期收益率</a:t>
            </a:r>
            <a:r>
              <a:rPr lang="zh-CN" sz="1015">
                <a:solidFill>
                  <a:srgbClr val="444444"/>
                </a:solidFill>
                <a:latin typeface="微软雅黑" panose="020B0503020204020204" charset="-122"/>
                <a:ea typeface="微软雅黑" panose="020B0503020204020204" charset="-122"/>
              </a:rPr>
              <a:t>显著负相关</a:t>
            </a:r>
            <a:r>
              <a:rPr lang="zh-CN" sz="1015">
                <a:solidFill>
                  <a:srgbClr val="444444"/>
                </a:solidFill>
                <a:latin typeface="微软雅黑" panose="020B0503020204020204" charset="-122"/>
                <a:ea typeface="微软雅黑" panose="020B0503020204020204" charset="-122"/>
              </a:rPr>
              <a:t>；</a:t>
            </a:r>
            <a:r>
              <a:rPr lang="en-US" sz="1015">
                <a:solidFill>
                  <a:srgbClr val="444444"/>
                </a:solidFill>
                <a:latin typeface="微软雅黑" panose="020B0503020204020204" charset="-122"/>
                <a:ea typeface="微软雅黑" panose="020B0503020204020204" charset="-122"/>
              </a:rPr>
              <a:t>Novy-Marx(2013)</a:t>
            </a:r>
            <a:r>
              <a:rPr lang="zh-CN" sz="1015">
                <a:solidFill>
                  <a:srgbClr val="444444"/>
                </a:solidFill>
                <a:latin typeface="微软雅黑" panose="020B0503020204020204" charset="-122"/>
                <a:ea typeface="微软雅黑" panose="020B0503020204020204" charset="-122"/>
              </a:rPr>
              <a:t>：预期盈利能力与股票组合收益率</a:t>
            </a:r>
            <a:r>
              <a:rPr lang="zh-CN" sz="1015">
                <a:solidFill>
                  <a:srgbClr val="444444"/>
                </a:solidFill>
                <a:latin typeface="微软雅黑" panose="020B0503020204020204" charset="-122"/>
                <a:ea typeface="微软雅黑" panose="020B0503020204020204" charset="-122"/>
              </a:rPr>
              <a:t>正相关</a:t>
            </a:r>
            <a:r>
              <a:rPr lang="zh-CN" sz="1015">
                <a:solidFill>
                  <a:srgbClr val="444444"/>
                </a:solidFill>
                <a:latin typeface="微软雅黑" panose="020B0503020204020204" charset="-122"/>
                <a:ea typeface="微软雅黑" panose="020B0503020204020204" charset="-122"/>
              </a:rPr>
              <a:t>——三因子解释不了</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盈利能力和投资风格</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相关的收益率变化。</a:t>
            </a:r>
            <a:endParaRPr lang="zh-CN" sz="1015">
              <a:solidFill>
                <a:srgbClr val="444444"/>
              </a:solidFill>
              <a:latin typeface="微软雅黑" panose="020B0503020204020204" charset="-122"/>
              <a:ea typeface="微软雅黑" panose="020B0503020204020204" charset="-122"/>
            </a:endParaRPr>
          </a:p>
        </p:txBody>
      </p:sp>
      <p:sp>
        <p:nvSpPr>
          <p:cNvPr id="88" name="矩形 87"/>
          <p:cNvSpPr/>
          <p:nvPr/>
        </p:nvSpPr>
        <p:spPr>
          <a:xfrm>
            <a:off x="6762750" y="4419600"/>
            <a:ext cx="4895850" cy="1504950"/>
          </a:xfrm>
          <a:prstGeom prst="rect">
            <a:avLst/>
          </a:prstGeom>
          <a:solidFill>
            <a:srgbClr val="FFF8EE"/>
          </a:solidFill>
        </p:spPr>
        <p:txBody>
          <a:bodyPr/>
          <a:p/>
        </p:txBody>
      </p:sp>
      <p:sp>
        <p:nvSpPr>
          <p:cNvPr id="89" name="任意多边形 88"/>
          <p:cNvSpPr/>
          <p:nvPr/>
        </p:nvSpPr>
        <p:spPr>
          <a:xfrm>
            <a:off x="6724650" y="4419600"/>
            <a:ext cx="4933950" cy="1504950"/>
          </a:xfrm>
          <a:custGeom>
            <a:avLst/>
            <a:gdLst/>
            <a:ahLst/>
            <a:cxnLst/>
            <a:pathLst>
              <a:path w="518" h="158">
                <a:moveTo>
                  <a:pt x="0" y="0"/>
                </a:moveTo>
                <a:lnTo>
                  <a:pt x="4" y="0"/>
                </a:lnTo>
                <a:lnTo>
                  <a:pt x="4" y="158"/>
                </a:lnTo>
                <a:lnTo>
                  <a:pt x="0" y="158"/>
                </a:lnTo>
                <a:close/>
              </a:path>
            </a:pathLst>
          </a:custGeom>
          <a:solidFill>
            <a:srgbClr val="D8952F"/>
          </a:solidFill>
        </p:spPr>
        <p:txBody>
          <a:bodyPr/>
          <a:p/>
        </p:txBody>
      </p:sp>
      <p:sp>
        <p:nvSpPr>
          <p:cNvPr id="90" name="文本框 89" descr="{&quot;isTemplate&quot;:true,&quot;type&quot;:&quot;text&quot;}"/>
          <p:cNvSpPr txBox="1"/>
          <p:nvPr/>
        </p:nvSpPr>
        <p:spPr>
          <a:xfrm>
            <a:off x="6877050" y="4533900"/>
            <a:ext cx="4667250" cy="171450"/>
          </a:xfrm>
          <a:prstGeom prst="rect">
            <a:avLst/>
          </a:prstGeom>
        </p:spPr>
        <p:txBody>
          <a:bodyPr wrap="none" lIns="0" tIns="0" rIns="0" bIns="0"/>
          <a:p>
            <a:pPr>
              <a:lnSpc>
                <a:spcPct val="100000"/>
              </a:lnSpc>
            </a:pPr>
            <a:r>
              <a:rPr lang="en-US" sz="1125" b="1">
                <a:solidFill>
                  <a:srgbClr val="9A6A12"/>
                </a:solidFill>
                <a:latin typeface="微软雅黑" panose="020B0503020204020204" charset="-122"/>
                <a:ea typeface="微软雅黑" panose="020B0503020204020204" charset="-122"/>
              </a:rPr>
              <a:t>◆ </a:t>
            </a:r>
            <a:r>
              <a:rPr lang="zh-CN" sz="1125" b="1">
                <a:solidFill>
                  <a:srgbClr val="9A6A12"/>
                </a:solidFill>
                <a:latin typeface="微软雅黑" panose="020B0503020204020204" charset="-122"/>
                <a:ea typeface="微软雅黑" panose="020B0503020204020204" charset="-122"/>
              </a:rPr>
              <a:t>段②：五因子诞生（对照左图原句）</a:t>
            </a:r>
            <a:endParaRPr lang="zh-CN" sz="1125" b="1">
              <a:solidFill>
                <a:srgbClr val="9A6A12"/>
              </a:solidFill>
              <a:latin typeface="微软雅黑" panose="020B0503020204020204" charset="-122"/>
              <a:ea typeface="微软雅黑" panose="020B0503020204020204" charset="-122"/>
            </a:endParaRPr>
          </a:p>
        </p:txBody>
      </p:sp>
      <p:sp>
        <p:nvSpPr>
          <p:cNvPr id="91" name="文本框 90" descr="{&quot;isTemplate&quot;:true,&quot;type&quot;:&quot;text&quot;}"/>
          <p:cNvSpPr txBox="1"/>
          <p:nvPr/>
        </p:nvSpPr>
        <p:spPr>
          <a:xfrm>
            <a:off x="6877050" y="4743450"/>
            <a:ext cx="4629150" cy="504825"/>
          </a:xfrm>
          <a:prstGeom prst="rect">
            <a:avLst/>
          </a:prstGeom>
        </p:spPr>
        <p:txBody>
          <a:bodyPr wrap="square" lIns="0" tIns="0" rIns="0" bIns="0">
            <a:normAutofit/>
          </a:bodyPr>
          <a:p>
            <a:pPr>
              <a:lnSpc>
                <a:spcPct val="162000"/>
              </a:lnSpc>
            </a:pPr>
            <a:r>
              <a:rPr lang="en-US" sz="1015">
                <a:solidFill>
                  <a:srgbClr val="4A4A4A"/>
                </a:solidFill>
                <a:latin typeface="微软雅黑" panose="020B0503020204020204" charset="-122"/>
                <a:ea typeface="微软雅黑" panose="020B0503020204020204" charset="-122"/>
              </a:rPr>
              <a:t>FF(2015a) </a:t>
            </a:r>
            <a:r>
              <a:rPr lang="zh-CN" sz="1015">
                <a:solidFill>
                  <a:srgbClr val="4A4A4A"/>
                </a:solidFill>
                <a:latin typeface="微软雅黑" panose="020B0503020204020204" charset="-122"/>
                <a:ea typeface="微软雅黑" panose="020B0503020204020204" charset="-122"/>
              </a:rPr>
              <a:t>基于</a:t>
            </a:r>
            <a:r>
              <a:rPr lang="zh-CN" sz="1015">
                <a:solidFill>
                  <a:srgbClr val="4A4A4A"/>
                </a:solidFill>
                <a:latin typeface="微软雅黑" panose="020B0503020204020204" charset="-122"/>
                <a:ea typeface="微软雅黑" panose="020B0503020204020204" charset="-122"/>
              </a:rPr>
              <a:t>红利贴现模型</a:t>
            </a:r>
            <a:r>
              <a:rPr lang="zh-CN" sz="1015">
                <a:solidFill>
                  <a:srgbClr val="4A4A4A"/>
                </a:solidFill>
                <a:latin typeface="微软雅黑" panose="020B0503020204020204" charset="-122"/>
                <a:ea typeface="微软雅黑" panose="020B0503020204020204" charset="-122"/>
              </a:rPr>
              <a:t>的讨论框架，在三因子基础上加入</a:t>
            </a:r>
            <a:r>
              <a:rPr lang="zh-CN" sz="1015">
                <a:solidFill>
                  <a:srgbClr val="4A4A4A"/>
                </a:solidFill>
                <a:latin typeface="微软雅黑" panose="020B0503020204020204" charset="-122"/>
                <a:ea typeface="微软雅黑" panose="020B0503020204020204" charset="-122"/>
              </a:rPr>
              <a:t>盈利能力</a:t>
            </a:r>
            <a:r>
              <a:rPr lang="zh-CN" sz="1015">
                <a:solidFill>
                  <a:srgbClr val="4A4A4A"/>
                </a:solidFill>
                <a:latin typeface="微软雅黑" panose="020B0503020204020204" charset="-122"/>
                <a:ea typeface="微软雅黑" panose="020B0503020204020204" charset="-122"/>
              </a:rPr>
              <a:t>和</a:t>
            </a:r>
            <a:r>
              <a:rPr lang="zh-CN" sz="1015">
                <a:solidFill>
                  <a:srgbClr val="4A4A4A"/>
                </a:solidFill>
                <a:latin typeface="微软雅黑" panose="020B0503020204020204" charset="-122"/>
                <a:ea typeface="微软雅黑" panose="020B0503020204020204" charset="-122"/>
              </a:rPr>
              <a:t>投资风格</a:t>
            </a:r>
            <a:r>
              <a:rPr lang="zh-CN" sz="1015">
                <a:solidFill>
                  <a:srgbClr val="4A4A4A"/>
                </a:solidFill>
                <a:latin typeface="微软雅黑" panose="020B0503020204020204" charset="-122"/>
                <a:ea typeface="微软雅黑" panose="020B0503020204020204" charset="-122"/>
              </a:rPr>
              <a:t>两个因子，以更好地描述横截面上股票组合的期望收益率。</a:t>
            </a:r>
            <a:endParaRPr lang="zh-CN" sz="1015">
              <a:solidFill>
                <a:srgbClr val="4A4A4A"/>
              </a:solidFill>
              <a:latin typeface="微软雅黑" panose="020B0503020204020204" charset="-122"/>
              <a:ea typeface="微软雅黑" panose="020B0503020204020204" charset="-122"/>
            </a:endParaRPr>
          </a:p>
        </p:txBody>
      </p:sp>
      <p:sp>
        <p:nvSpPr>
          <p:cNvPr id="92" name="Rectangle 91"/>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95" name="Rectangle 94"/>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97" name="TextBox 96"/>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98" name="TextBox 97"/>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99" name="TextBox 98"/>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00" name="TextBox 99"/>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01" name="TextBox 100"/>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02" name="TextBox 101"/>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92"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1.3 引言③④：中国缺环与股改切分&lt;/Text&gt;&#10;    &lt;Text style={{ position: 'absolute', top: 34, left: 1080, width: 144, fontSize: 13, color: '#B0B0B0', textAlign: 'right' }}&gt;05 / 9&lt;/Text&gt;&#10;&#10;    &lt;Box style={{ position: 'absolute', top: 96, left: 56, width: 560, height: 206, background: '#FFFFFF', border: '1px solid #E4E4E4', boxShadow: '0 2px 10px rgba(0,0,0,0.07)', alignItems: 'center', justifyContent: 'center', padding: 6 }}&gt;&#10;        &lt;Image src=&quot;assets/u03_s2.png&quot; style={{ width: 548, height: 200, objectFit: 'contain' }} /&gt;&#10;    &lt;/Box&gt;&#10;    &lt;Text style={{ position: 'absolute', top: 310, left: 56, width: 560, fontSize: 12.5, color: '#8A8A8A', lineHeight: 1.55 }}&gt;&#10;        ▲ 段③：国际已检验（FF, 2015b）；国内&quot;仍以三因子模型为主&quot;、文献&quot;寥寥无几&quot;、&quot;结论出现不一致&quot;&#10;    &lt;/Text&gt;&#10;&#10;    &lt;Box style={{ position: 'absolute', top: 372, left: 56, width: 560, height: 144, background: '#FFFFFF', border: '1px solid #E4E4E4', boxShadow: '0 2px 10px rgba(0,0,0,0.07)', alignItems: 'center', justifyContent: 'center', padding: 6 }}&gt;&#10;        &lt;Image src=&quot;assets/u04_s3.png&quot; style={{ width: 548, height: 140, objectFit: 'contain' }} /&gt;&#10;    &lt;/Box&gt;&#10;    &lt;Text style={{ position: 'absolute', top: 524, left: 56, width: 560, fontSize: 12.5, color: '#8A8A8A', lineHeight: 1.55 }}&gt;&#10;        ▲ 段④：2005 年之前股权分置&quot;严重扭曲定价机制&quot;；2005.4.29 股改启动；股改后&quot;股价与公司内在价值的相关性显著提高&quot;&#10;    &lt;/Text&gt;&#10;&#10;    &lt;Box style={{ position: 'absolute', top: 96, left: 646, width: 578, height: 172, background: '#F5FBFB', borderLeft: '4px solid #01A5B1', padding: 12, flexDirection: 'column' }}&gt;&#10;        &lt;Text style={{ fontSize: 15, fontWeight: 'bold', color: '#0B7C86', marginBottom: 4 }}&gt;◆ 段③：为什么值得研究&lt;/Text&gt;&#10;        &lt;Text style={{ width: 546, fontSize: 13.5, color: '#444444', lineHeight: 1.64 }}&gt;&#10;            五因子适用性已在国际市场得到检验；但目前国内&quot;按照 FF(2015a) 中对盈利能力和投资风格因子的构建方法研究中国市场的文献&lt;b&gt;寥寥无几&lt;/b&gt;&quot;，&quot;仅有的几篇相关文章研究结论&lt;b&gt;出现不一致&lt;/b&gt;&quot;——需进一步的经验证据。&#10;        &lt;/Text&gt;&#10;    &lt;/Box&gt;&#10;    &lt;Box style={{ position: 'absolute', top: 280, left: 646, width: 578, height: 158, background: '#F5FBFB', borderLeft: '4px solid #01A5B1', padding: 12, flexDirection: 'column' }}&gt;&#10;        &lt;Text style={{ fontSize: 15, fontWeight: 'bold', color: '#0B7C86', marginBottom: 4 }}&gt;◆ 段④：制度背景（对照划线）&lt;/Text&gt;&#10;        &lt;Text style={{ width: 546, fontSize: 13.5, color: '#444444', lineHeight: 1.64 }}&gt;&#10;            股改前流通股与非流通股股东利益分割、&quot;严重扭曲了中国资本市场的定价机制&quot;；&lt;b&gt;2005 年 4 月 29 日股改正式启动&lt;/b&gt;，从根本上消除两类股份差异；股改后&quot;股价与公司内在价值的相关性显著提高&quot;。&#10;        &lt;/Text&gt;&#10;    &lt;/Box&gt;&#10;    &lt;Box style={{ position: 'absolute', top: 450, left: 646, width: 578, height: 172, background: '#FFF3F0', borderLeft: '4px solid #C0504D', padding: 12, flexDirection: 'column' }}&gt;&#10;        &lt;Text style={{ fontSize: 15, fontWeight: 'bold', color: '#A03D3A', marginBottom: 4 }}&gt;◆ 原文关键问句（本页最重要的一句）&lt;/Text&gt;&#10;        &lt;Text style={{ width: 546, fontSize: 13.5, color: '#444444', lineHeight: 1.66 }}&gt;&#10;            &quot;股改前后 A 股市场的数据结构很可能发生了重大变化，那么&lt;b&gt;因子模型的适用性在股改前后是否也会有所不同？&lt;/b&gt;&quot;——全文的分期检验设计（第五部分表 5–7、第六部分表 8 的三栏结构）都从这一问来。&#10;        &lt;/Text&gt;&#10;    &lt;/Box&gt;&#10;&#10;&lt;/Slide&gt;"/>
        <p:cNvGrpSpPr/>
        <p:nvPr/>
      </p:nvGrpSpPr>
      <p:grpSpPr>
        <a:xfrm>
          <a:off x="0" y="0"/>
          <a:ext cx="0" cy="0"/>
          <a:chOff x="0" y="0"/>
          <a:chExt cx="0" cy="0"/>
        </a:xfrm>
      </p:grpSpPr>
      <p:sp>
        <p:nvSpPr>
          <p:cNvPr id="93" name="矩形 92"/>
          <p:cNvSpPr/>
          <p:nvPr/>
        </p:nvSpPr>
        <p:spPr>
          <a:xfrm>
            <a:off x="0" y="0"/>
            <a:ext cx="12192000" cy="6858000"/>
          </a:xfrm>
          <a:prstGeom prst="rect">
            <a:avLst/>
          </a:prstGeom>
          <a:solidFill>
            <a:srgbClr val="FFFFFF"/>
          </a:solidFill>
        </p:spPr>
        <p:txBody>
          <a:bodyPr/>
          <a:p/>
        </p:txBody>
      </p:sp>
      <p:sp>
        <p:nvSpPr>
          <p:cNvPr id="94" name="矩形 93"/>
          <p:cNvSpPr/>
          <p:nvPr/>
        </p:nvSpPr>
        <p:spPr>
          <a:xfrm>
            <a:off x="0" y="0"/>
            <a:ext cx="12192000" cy="57150"/>
          </a:xfrm>
          <a:prstGeom prst="rect">
            <a:avLst/>
          </a:prstGeom>
          <a:solidFill>
            <a:srgbClr val="01A5B1"/>
          </a:solidFill>
        </p:spPr>
        <p:txBody>
          <a:bodyPr/>
          <a:p/>
        </p:txBody>
      </p:sp>
      <p:sp>
        <p:nvSpPr>
          <p:cNvPr id="95" name="文本框 94"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en-US" sz="2200" b="1">
                <a:solidFill>
                  <a:srgbClr val="1F1F1F"/>
                </a:solidFill>
                <a:latin typeface="微软雅黑" panose="020B0503020204020204" charset="-122"/>
                <a:ea typeface="微软雅黑" panose="020B0503020204020204" charset="-122"/>
              </a:rPr>
              <a:t>1.3 </a:t>
            </a:r>
            <a:r>
              <a:rPr lang="zh-CN" sz="2200" b="1">
                <a:solidFill>
                  <a:srgbClr val="1F1F1F"/>
                </a:solidFill>
                <a:latin typeface="微软雅黑" panose="020B0503020204020204" charset="-122"/>
                <a:ea typeface="微软雅黑" panose="020B0503020204020204" charset="-122"/>
              </a:rPr>
              <a:t>引言③④：中国缺环与股改切分</a:t>
            </a:r>
            <a:endParaRPr lang="zh-CN" sz="2175" b="1">
              <a:solidFill>
                <a:srgbClr val="1F1F1F"/>
              </a:solidFill>
              <a:latin typeface="微软雅黑" panose="020B0503020204020204" charset="-122"/>
              <a:ea typeface="微软雅黑" panose="020B0503020204020204" charset="-122"/>
            </a:endParaRPr>
          </a:p>
        </p:txBody>
      </p:sp>
      <p:sp>
        <p:nvSpPr>
          <p:cNvPr id="97" name="矩形 96"/>
          <p:cNvSpPr/>
          <p:nvPr/>
        </p:nvSpPr>
        <p:spPr>
          <a:xfrm>
            <a:off x="533400" y="914400"/>
            <a:ext cx="5334000" cy="196215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98" name="图片 97"/>
          <p:cNvPicPr>
            <a:picLocks noChangeAspect="1"/>
          </p:cNvPicPr>
          <p:nvPr/>
        </p:nvPicPr>
        <p:blipFill>
          <a:blip r:embed="rId1"/>
          <a:srcRect l="22522" r="22522"/>
          <a:stretch>
            <a:fillRect/>
          </a:stretch>
        </p:blipFill>
        <p:spPr>
          <a:xfrm>
            <a:off x="590550" y="942975"/>
            <a:ext cx="5219700" cy="1905000"/>
          </a:xfrm>
          <a:prstGeom prst="rect">
            <a:avLst/>
          </a:prstGeom>
        </p:spPr>
      </p:pic>
      <p:sp>
        <p:nvSpPr>
          <p:cNvPr id="99" name="文本框 98" descr="{&quot;isTemplate&quot;:true,&quot;type&quot;:&quot;text&quot;}"/>
          <p:cNvSpPr txBox="1"/>
          <p:nvPr/>
        </p:nvSpPr>
        <p:spPr>
          <a:xfrm>
            <a:off x="533400" y="2952750"/>
            <a:ext cx="5334000" cy="447675"/>
          </a:xfrm>
          <a:prstGeom prst="rect">
            <a:avLst/>
          </a:prstGeom>
        </p:spPr>
        <p:txBody>
          <a:bodyPr wrap="square" lIns="0" tIns="0" rIns="0" bIns="0">
            <a:normAutofit/>
          </a:bodyPr>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段③：国际已检验（</a:t>
            </a:r>
            <a:r>
              <a:rPr lang="en-US" sz="940">
                <a:solidFill>
                  <a:srgbClr val="8A8A8A"/>
                </a:solidFill>
                <a:latin typeface="微软雅黑" panose="020B0503020204020204" charset="-122"/>
                <a:ea typeface="微软雅黑" panose="020B0503020204020204" charset="-122"/>
              </a:rPr>
              <a:t>FF, 2015b</a:t>
            </a:r>
            <a:r>
              <a:rPr lang="zh-CN" sz="940">
                <a:solidFill>
                  <a:srgbClr val="8A8A8A"/>
                </a:solidFill>
                <a:latin typeface="微软雅黑" panose="020B0503020204020204" charset="-122"/>
                <a:ea typeface="微软雅黑" panose="020B0503020204020204" charset="-122"/>
              </a:rPr>
              <a:t>）；国内</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仍以三因子模型为主</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、文献</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寥寥无几</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结论出现不一致</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00" name="矩形 99"/>
          <p:cNvSpPr/>
          <p:nvPr/>
        </p:nvSpPr>
        <p:spPr>
          <a:xfrm>
            <a:off x="533400" y="3543300"/>
            <a:ext cx="5334000" cy="13716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01" name="图片 100"/>
          <p:cNvPicPr>
            <a:picLocks noChangeAspect="1"/>
          </p:cNvPicPr>
          <p:nvPr/>
        </p:nvPicPr>
        <p:blipFill>
          <a:blip r:embed="rId2"/>
          <a:srcRect t="13671" b="13671"/>
          <a:stretch>
            <a:fillRect/>
          </a:stretch>
        </p:blipFill>
        <p:spPr>
          <a:xfrm>
            <a:off x="590550" y="3562350"/>
            <a:ext cx="5219700" cy="1333500"/>
          </a:xfrm>
          <a:prstGeom prst="rect">
            <a:avLst/>
          </a:prstGeom>
        </p:spPr>
      </p:pic>
      <p:sp>
        <p:nvSpPr>
          <p:cNvPr id="102" name="文本框 101" descr="{&quot;isTemplate&quot;:true,&quot;type&quot;:&quot;text&quot;}"/>
          <p:cNvSpPr txBox="1"/>
          <p:nvPr/>
        </p:nvSpPr>
        <p:spPr>
          <a:xfrm>
            <a:off x="533400" y="4991100"/>
            <a:ext cx="5334000" cy="447675"/>
          </a:xfrm>
          <a:prstGeom prst="rect">
            <a:avLst/>
          </a:prstGeom>
        </p:spPr>
        <p:txBody>
          <a:bodyPr wrap="square" lIns="0" tIns="0" rIns="0" bIns="0">
            <a:normAutofit/>
          </a:bodyPr>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段④：</a:t>
            </a:r>
            <a:r>
              <a:rPr lang="en-US" sz="940">
                <a:solidFill>
                  <a:srgbClr val="8A8A8A"/>
                </a:solidFill>
                <a:latin typeface="微软雅黑" panose="020B0503020204020204" charset="-122"/>
                <a:ea typeface="微软雅黑" panose="020B0503020204020204" charset="-122"/>
              </a:rPr>
              <a:t>2005 </a:t>
            </a:r>
            <a:r>
              <a:rPr lang="zh-CN" sz="940">
                <a:solidFill>
                  <a:srgbClr val="8A8A8A"/>
                </a:solidFill>
                <a:latin typeface="微软雅黑" panose="020B0503020204020204" charset="-122"/>
                <a:ea typeface="微软雅黑" panose="020B0503020204020204" charset="-122"/>
              </a:rPr>
              <a:t>年之前股权分置</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严重扭曲定价机制</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a:t>
            </a:r>
            <a:r>
              <a:rPr lang="en-US" sz="940">
                <a:solidFill>
                  <a:srgbClr val="8A8A8A"/>
                </a:solidFill>
                <a:latin typeface="微软雅黑" panose="020B0503020204020204" charset="-122"/>
                <a:ea typeface="微软雅黑" panose="020B0503020204020204" charset="-122"/>
              </a:rPr>
              <a:t>2005.4.29 </a:t>
            </a:r>
            <a:r>
              <a:rPr lang="zh-CN" sz="940">
                <a:solidFill>
                  <a:srgbClr val="8A8A8A"/>
                </a:solidFill>
                <a:latin typeface="微软雅黑" panose="020B0503020204020204" charset="-122"/>
                <a:ea typeface="微软雅黑" panose="020B0503020204020204" charset="-122"/>
              </a:rPr>
              <a:t>股改启动；股改后</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股价与公司内在价值的相关性显著提高</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03" name="矩形 102"/>
          <p:cNvSpPr/>
          <p:nvPr/>
        </p:nvSpPr>
        <p:spPr>
          <a:xfrm>
            <a:off x="6191250" y="914400"/>
            <a:ext cx="5467350" cy="1638300"/>
          </a:xfrm>
          <a:prstGeom prst="rect">
            <a:avLst/>
          </a:prstGeom>
          <a:solidFill>
            <a:srgbClr val="F5FBFB"/>
          </a:solidFill>
        </p:spPr>
        <p:txBody>
          <a:bodyPr/>
          <a:p/>
        </p:txBody>
      </p:sp>
      <p:sp>
        <p:nvSpPr>
          <p:cNvPr id="104" name="任意多边形 103"/>
          <p:cNvSpPr/>
          <p:nvPr/>
        </p:nvSpPr>
        <p:spPr>
          <a:xfrm>
            <a:off x="6153150" y="914400"/>
            <a:ext cx="5505450" cy="1638300"/>
          </a:xfrm>
          <a:custGeom>
            <a:avLst/>
            <a:gdLst/>
            <a:ahLst/>
            <a:cxnLst/>
            <a:pathLst>
              <a:path w="578" h="172">
                <a:moveTo>
                  <a:pt x="0" y="0"/>
                </a:moveTo>
                <a:lnTo>
                  <a:pt x="4" y="0"/>
                </a:lnTo>
                <a:lnTo>
                  <a:pt x="4" y="172"/>
                </a:lnTo>
                <a:lnTo>
                  <a:pt x="0" y="172"/>
                </a:lnTo>
                <a:close/>
              </a:path>
            </a:pathLst>
          </a:custGeom>
          <a:solidFill>
            <a:srgbClr val="01A5B1"/>
          </a:solidFill>
        </p:spPr>
        <p:txBody>
          <a:bodyPr/>
          <a:p/>
        </p:txBody>
      </p:sp>
      <p:sp>
        <p:nvSpPr>
          <p:cNvPr id="105" name="文本框 104" descr="{&quot;isTemplate&quot;:true,&quot;type&quot;:&quot;text&quot;}"/>
          <p:cNvSpPr txBox="1"/>
          <p:nvPr/>
        </p:nvSpPr>
        <p:spPr>
          <a:xfrm>
            <a:off x="6305550" y="1028700"/>
            <a:ext cx="52387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段③：为什么值得研究</a:t>
            </a:r>
            <a:endParaRPr lang="zh-CN" sz="1125" b="1">
              <a:solidFill>
                <a:srgbClr val="0B7C86"/>
              </a:solidFill>
              <a:latin typeface="微软雅黑" panose="020B0503020204020204" charset="-122"/>
              <a:ea typeface="微软雅黑" panose="020B0503020204020204" charset="-122"/>
            </a:endParaRPr>
          </a:p>
        </p:txBody>
      </p:sp>
      <p:sp>
        <p:nvSpPr>
          <p:cNvPr id="106" name="文本框 105" descr="{&quot;isTemplate&quot;:true,&quot;type&quot;:&quot;text&quot;}"/>
          <p:cNvSpPr txBox="1"/>
          <p:nvPr/>
        </p:nvSpPr>
        <p:spPr>
          <a:xfrm>
            <a:off x="6305550" y="1238250"/>
            <a:ext cx="5200650" cy="762000"/>
          </a:xfrm>
          <a:prstGeom prst="rect">
            <a:avLst/>
          </a:prstGeom>
        </p:spPr>
        <p:txBody>
          <a:bodyPr wrap="square" lIns="0" tIns="0" rIns="0" bIns="0">
            <a:normAutofit/>
          </a:bodyPr>
          <a:p>
            <a:pPr>
              <a:lnSpc>
                <a:spcPct val="164000"/>
              </a:lnSpc>
            </a:pPr>
            <a:r>
              <a:rPr lang="zh-CN" sz="1015">
                <a:solidFill>
                  <a:srgbClr val="444444"/>
                </a:solidFill>
                <a:latin typeface="微软雅黑" panose="020B0503020204020204" charset="-122"/>
                <a:ea typeface="微软雅黑" panose="020B0503020204020204" charset="-122"/>
              </a:rPr>
              <a:t>五因子适用性已在国际市场得到检验；但目前国内</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按照</a:t>
            </a:r>
            <a:r>
              <a:rPr lang="en-US" sz="1015">
                <a:solidFill>
                  <a:srgbClr val="444444"/>
                </a:solidFill>
                <a:latin typeface="微软雅黑" panose="020B0503020204020204" charset="-122"/>
                <a:ea typeface="微软雅黑" panose="020B0503020204020204" charset="-122"/>
              </a:rPr>
              <a:t> FF(2015a) </a:t>
            </a:r>
            <a:r>
              <a:rPr lang="zh-CN" sz="1015">
                <a:solidFill>
                  <a:srgbClr val="444444"/>
                </a:solidFill>
                <a:latin typeface="微软雅黑" panose="020B0503020204020204" charset="-122"/>
                <a:ea typeface="微软雅黑" panose="020B0503020204020204" charset="-122"/>
              </a:rPr>
              <a:t>中对盈利能力和投资风格因子的构建方法研究中国市场的文献</a:t>
            </a:r>
            <a:r>
              <a:rPr lang="zh-CN" sz="1015">
                <a:solidFill>
                  <a:srgbClr val="444444"/>
                </a:solidFill>
                <a:latin typeface="微软雅黑" panose="020B0503020204020204" charset="-122"/>
                <a:ea typeface="微软雅黑" panose="020B0503020204020204" charset="-122"/>
              </a:rPr>
              <a:t>寥寥无几</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仅有的几篇相关文章研究结论</a:t>
            </a:r>
            <a:r>
              <a:rPr lang="zh-CN" sz="1015">
                <a:solidFill>
                  <a:srgbClr val="444444"/>
                </a:solidFill>
                <a:latin typeface="微软雅黑" panose="020B0503020204020204" charset="-122"/>
                <a:ea typeface="微软雅黑" panose="020B0503020204020204" charset="-122"/>
              </a:rPr>
              <a:t>出现不一致</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需进一步的经验证据。</a:t>
            </a:r>
            <a:endParaRPr lang="zh-CN" sz="1015">
              <a:solidFill>
                <a:srgbClr val="444444"/>
              </a:solidFill>
              <a:latin typeface="微软雅黑" panose="020B0503020204020204" charset="-122"/>
              <a:ea typeface="微软雅黑" panose="020B0503020204020204" charset="-122"/>
            </a:endParaRPr>
          </a:p>
        </p:txBody>
      </p:sp>
      <p:sp>
        <p:nvSpPr>
          <p:cNvPr id="107" name="矩形 106"/>
          <p:cNvSpPr/>
          <p:nvPr/>
        </p:nvSpPr>
        <p:spPr>
          <a:xfrm>
            <a:off x="6191250" y="2667000"/>
            <a:ext cx="5467350" cy="1504950"/>
          </a:xfrm>
          <a:prstGeom prst="rect">
            <a:avLst/>
          </a:prstGeom>
          <a:solidFill>
            <a:srgbClr val="F5FBFB"/>
          </a:solidFill>
        </p:spPr>
        <p:txBody>
          <a:bodyPr/>
          <a:p/>
        </p:txBody>
      </p:sp>
      <p:sp>
        <p:nvSpPr>
          <p:cNvPr id="108" name="任意多边形 107"/>
          <p:cNvSpPr/>
          <p:nvPr/>
        </p:nvSpPr>
        <p:spPr>
          <a:xfrm>
            <a:off x="6153150" y="2667000"/>
            <a:ext cx="5505450" cy="1504950"/>
          </a:xfrm>
          <a:custGeom>
            <a:avLst/>
            <a:gdLst/>
            <a:ahLst/>
            <a:cxnLst/>
            <a:pathLst>
              <a:path w="578" h="158">
                <a:moveTo>
                  <a:pt x="0" y="0"/>
                </a:moveTo>
                <a:lnTo>
                  <a:pt x="4" y="0"/>
                </a:lnTo>
                <a:lnTo>
                  <a:pt x="4" y="158"/>
                </a:lnTo>
                <a:lnTo>
                  <a:pt x="0" y="158"/>
                </a:lnTo>
                <a:close/>
              </a:path>
            </a:pathLst>
          </a:custGeom>
          <a:solidFill>
            <a:srgbClr val="01A5B1"/>
          </a:solidFill>
        </p:spPr>
        <p:txBody>
          <a:bodyPr/>
          <a:p/>
        </p:txBody>
      </p:sp>
      <p:sp>
        <p:nvSpPr>
          <p:cNvPr id="109" name="文本框 108" descr="{&quot;isTemplate&quot;:true,&quot;type&quot;:&quot;text&quot;}"/>
          <p:cNvSpPr txBox="1"/>
          <p:nvPr/>
        </p:nvSpPr>
        <p:spPr>
          <a:xfrm>
            <a:off x="6305550" y="2781300"/>
            <a:ext cx="52387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段④：制度背景（对照划线）</a:t>
            </a:r>
            <a:endParaRPr lang="zh-CN" sz="1125" b="1">
              <a:solidFill>
                <a:srgbClr val="0B7C86"/>
              </a:solidFill>
              <a:latin typeface="微软雅黑" panose="020B0503020204020204" charset="-122"/>
              <a:ea typeface="微软雅黑" panose="020B0503020204020204" charset="-122"/>
            </a:endParaRPr>
          </a:p>
        </p:txBody>
      </p:sp>
      <p:sp>
        <p:nvSpPr>
          <p:cNvPr id="110" name="文本框 109" descr="{&quot;isTemplate&quot;:true,&quot;type&quot;:&quot;text&quot;}"/>
          <p:cNvSpPr txBox="1"/>
          <p:nvPr/>
        </p:nvSpPr>
        <p:spPr>
          <a:xfrm>
            <a:off x="6305550" y="2990850"/>
            <a:ext cx="5200650" cy="762000"/>
          </a:xfrm>
          <a:prstGeom prst="rect">
            <a:avLst/>
          </a:prstGeom>
        </p:spPr>
        <p:txBody>
          <a:bodyPr wrap="square" lIns="0" tIns="0" rIns="0" bIns="0">
            <a:normAutofit/>
          </a:bodyPr>
          <a:p>
            <a:pPr>
              <a:lnSpc>
                <a:spcPct val="164000"/>
              </a:lnSpc>
            </a:pPr>
            <a:r>
              <a:rPr lang="zh-CN" sz="1015">
                <a:solidFill>
                  <a:srgbClr val="444444"/>
                </a:solidFill>
                <a:latin typeface="微软雅黑" panose="020B0503020204020204" charset="-122"/>
                <a:ea typeface="微软雅黑" panose="020B0503020204020204" charset="-122"/>
              </a:rPr>
              <a:t>股改前流通股与非流通股股东利益分割、</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严重扭曲了中国资本市场的定价机制</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a:t>
            </a:r>
            <a:r>
              <a:rPr lang="en-US" sz="1015">
                <a:solidFill>
                  <a:srgbClr val="444444"/>
                </a:solidFill>
                <a:latin typeface="微软雅黑" panose="020B0503020204020204" charset="-122"/>
                <a:ea typeface="微软雅黑" panose="020B0503020204020204" charset="-122"/>
              </a:rPr>
              <a:t>2005 </a:t>
            </a:r>
            <a:r>
              <a:rPr lang="zh-CN" sz="1015">
                <a:solidFill>
                  <a:srgbClr val="444444"/>
                </a:solidFill>
                <a:latin typeface="微软雅黑" panose="020B0503020204020204" charset="-122"/>
                <a:ea typeface="微软雅黑" panose="020B0503020204020204" charset="-122"/>
              </a:rPr>
              <a:t>年</a:t>
            </a:r>
            <a:r>
              <a:rPr lang="en-US" sz="1015">
                <a:solidFill>
                  <a:srgbClr val="444444"/>
                </a:solidFill>
                <a:latin typeface="微软雅黑" panose="020B0503020204020204" charset="-122"/>
                <a:ea typeface="微软雅黑" panose="020B0503020204020204" charset="-122"/>
              </a:rPr>
              <a:t> 4 </a:t>
            </a:r>
            <a:r>
              <a:rPr lang="zh-CN" sz="1015">
                <a:solidFill>
                  <a:srgbClr val="444444"/>
                </a:solidFill>
                <a:latin typeface="微软雅黑" panose="020B0503020204020204" charset="-122"/>
                <a:ea typeface="微软雅黑" panose="020B0503020204020204" charset="-122"/>
              </a:rPr>
              <a:t>月</a:t>
            </a:r>
            <a:r>
              <a:rPr lang="en-US" sz="1015">
                <a:solidFill>
                  <a:srgbClr val="444444"/>
                </a:solidFill>
                <a:latin typeface="微软雅黑" panose="020B0503020204020204" charset="-122"/>
                <a:ea typeface="微软雅黑" panose="020B0503020204020204" charset="-122"/>
              </a:rPr>
              <a:t> 29 </a:t>
            </a:r>
            <a:r>
              <a:rPr lang="zh-CN" sz="1015">
                <a:solidFill>
                  <a:srgbClr val="444444"/>
                </a:solidFill>
                <a:latin typeface="微软雅黑" panose="020B0503020204020204" charset="-122"/>
                <a:ea typeface="微软雅黑" panose="020B0503020204020204" charset="-122"/>
              </a:rPr>
              <a:t>日股改正式启动</a:t>
            </a:r>
            <a:r>
              <a:rPr lang="zh-CN" sz="1015">
                <a:solidFill>
                  <a:srgbClr val="444444"/>
                </a:solidFill>
                <a:latin typeface="微软雅黑" panose="020B0503020204020204" charset="-122"/>
                <a:ea typeface="微软雅黑" panose="020B0503020204020204" charset="-122"/>
              </a:rPr>
              <a:t>，从根本上消除两类股份差异；股改后</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股价与公司内在价值的相关性显著提高</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a:t>
            </a:r>
            <a:endParaRPr lang="zh-CN" sz="1015">
              <a:solidFill>
                <a:srgbClr val="444444"/>
              </a:solidFill>
              <a:latin typeface="微软雅黑" panose="020B0503020204020204" charset="-122"/>
              <a:ea typeface="微软雅黑" panose="020B0503020204020204" charset="-122"/>
            </a:endParaRPr>
          </a:p>
        </p:txBody>
      </p:sp>
      <p:sp>
        <p:nvSpPr>
          <p:cNvPr id="111" name="矩形 110"/>
          <p:cNvSpPr/>
          <p:nvPr/>
        </p:nvSpPr>
        <p:spPr>
          <a:xfrm>
            <a:off x="6191250" y="4286250"/>
            <a:ext cx="5467350" cy="1638300"/>
          </a:xfrm>
          <a:prstGeom prst="rect">
            <a:avLst/>
          </a:prstGeom>
          <a:solidFill>
            <a:srgbClr val="FFF3F0"/>
          </a:solidFill>
        </p:spPr>
        <p:txBody>
          <a:bodyPr/>
          <a:p/>
        </p:txBody>
      </p:sp>
      <p:sp>
        <p:nvSpPr>
          <p:cNvPr id="112" name="任意多边形 111"/>
          <p:cNvSpPr/>
          <p:nvPr/>
        </p:nvSpPr>
        <p:spPr>
          <a:xfrm>
            <a:off x="6153150" y="4286250"/>
            <a:ext cx="5505450" cy="1638300"/>
          </a:xfrm>
          <a:custGeom>
            <a:avLst/>
            <a:gdLst/>
            <a:ahLst/>
            <a:cxnLst/>
            <a:pathLst>
              <a:path w="578" h="172">
                <a:moveTo>
                  <a:pt x="0" y="0"/>
                </a:moveTo>
                <a:lnTo>
                  <a:pt x="4" y="0"/>
                </a:lnTo>
                <a:lnTo>
                  <a:pt x="4" y="172"/>
                </a:lnTo>
                <a:lnTo>
                  <a:pt x="0" y="172"/>
                </a:lnTo>
                <a:close/>
              </a:path>
            </a:pathLst>
          </a:custGeom>
          <a:solidFill>
            <a:srgbClr val="C0504D"/>
          </a:solidFill>
        </p:spPr>
        <p:txBody>
          <a:bodyPr/>
          <a:p/>
        </p:txBody>
      </p:sp>
      <p:sp>
        <p:nvSpPr>
          <p:cNvPr id="113" name="文本框 112" descr="{&quot;isTemplate&quot;:true,&quot;type&quot;:&quot;text&quot;}"/>
          <p:cNvSpPr txBox="1"/>
          <p:nvPr/>
        </p:nvSpPr>
        <p:spPr>
          <a:xfrm>
            <a:off x="6305550" y="4400550"/>
            <a:ext cx="5238750" cy="171450"/>
          </a:xfrm>
          <a:prstGeom prst="rect">
            <a:avLst/>
          </a:prstGeom>
        </p:spPr>
        <p:txBody>
          <a:bodyPr wrap="none" lIns="0" tIns="0" rIns="0" bIns="0"/>
          <a:p>
            <a:pPr>
              <a:lnSpc>
                <a:spcPct val="100000"/>
              </a:lnSpc>
            </a:pPr>
            <a:r>
              <a:rPr lang="en-US" sz="1125" b="1">
                <a:solidFill>
                  <a:srgbClr val="A03D3A"/>
                </a:solidFill>
                <a:latin typeface="微软雅黑" panose="020B0503020204020204" charset="-122"/>
                <a:ea typeface="微软雅黑" panose="020B0503020204020204" charset="-122"/>
              </a:rPr>
              <a:t>◆ </a:t>
            </a:r>
            <a:r>
              <a:rPr lang="zh-CN" sz="1125" b="1">
                <a:solidFill>
                  <a:srgbClr val="A03D3A"/>
                </a:solidFill>
                <a:latin typeface="微软雅黑" panose="020B0503020204020204" charset="-122"/>
                <a:ea typeface="微软雅黑" panose="020B0503020204020204" charset="-122"/>
              </a:rPr>
              <a:t>原文关键问句（本页最重要的一句）</a:t>
            </a:r>
            <a:endParaRPr lang="zh-CN" sz="1125" b="1">
              <a:solidFill>
                <a:srgbClr val="A03D3A"/>
              </a:solidFill>
              <a:latin typeface="微软雅黑" panose="020B0503020204020204" charset="-122"/>
              <a:ea typeface="微软雅黑" panose="020B0503020204020204" charset="-122"/>
            </a:endParaRPr>
          </a:p>
        </p:txBody>
      </p:sp>
      <p:sp>
        <p:nvSpPr>
          <p:cNvPr id="114" name="文本框 113" descr="{&quot;isTemplate&quot;:true,&quot;type&quot;:&quot;text&quot;}"/>
          <p:cNvSpPr txBox="1"/>
          <p:nvPr/>
        </p:nvSpPr>
        <p:spPr>
          <a:xfrm>
            <a:off x="6305550" y="4610100"/>
            <a:ext cx="5200650" cy="771525"/>
          </a:xfrm>
          <a:prstGeom prst="rect">
            <a:avLst/>
          </a:prstGeom>
        </p:spPr>
        <p:txBody>
          <a:bodyPr wrap="square" lIns="0" tIns="0" rIns="0" bIns="0">
            <a:normAutofit/>
          </a:bodyPr>
          <a:p>
            <a:pPr>
              <a:lnSpc>
                <a:spcPct val="166000"/>
              </a:lnSpc>
            </a:pP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股改前后</a:t>
            </a:r>
            <a:r>
              <a:rPr lang="en-US" sz="1015">
                <a:solidFill>
                  <a:srgbClr val="444444"/>
                </a:solidFill>
                <a:latin typeface="微软雅黑" panose="020B0503020204020204" charset="-122"/>
                <a:ea typeface="微软雅黑" panose="020B0503020204020204" charset="-122"/>
              </a:rPr>
              <a:t> A </a:t>
            </a:r>
            <a:r>
              <a:rPr lang="zh-CN" sz="1015">
                <a:solidFill>
                  <a:srgbClr val="444444"/>
                </a:solidFill>
                <a:latin typeface="微软雅黑" panose="020B0503020204020204" charset="-122"/>
                <a:ea typeface="微软雅黑" panose="020B0503020204020204" charset="-122"/>
              </a:rPr>
              <a:t>股市场的数据结构很可能发生了重大变化，那么</a:t>
            </a:r>
            <a:r>
              <a:rPr lang="zh-CN" sz="1015">
                <a:solidFill>
                  <a:srgbClr val="444444"/>
                </a:solidFill>
                <a:latin typeface="微软雅黑" panose="020B0503020204020204" charset="-122"/>
                <a:ea typeface="微软雅黑" panose="020B0503020204020204" charset="-122"/>
              </a:rPr>
              <a:t>因子模型的适用性在股改前后是否也会有所不同？</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全文的分期检验设计（第五部分表</a:t>
            </a:r>
            <a:r>
              <a:rPr lang="en-US" sz="1015">
                <a:solidFill>
                  <a:srgbClr val="444444"/>
                </a:solidFill>
                <a:latin typeface="微软雅黑" panose="020B0503020204020204" charset="-122"/>
                <a:ea typeface="微软雅黑" panose="020B0503020204020204" charset="-122"/>
              </a:rPr>
              <a:t> 5–7</a:t>
            </a:r>
            <a:r>
              <a:rPr lang="zh-CN" sz="1015">
                <a:solidFill>
                  <a:srgbClr val="444444"/>
                </a:solidFill>
                <a:latin typeface="微软雅黑" panose="020B0503020204020204" charset="-122"/>
                <a:ea typeface="微软雅黑" panose="020B0503020204020204" charset="-122"/>
              </a:rPr>
              <a:t>、第六部分表</a:t>
            </a:r>
            <a:r>
              <a:rPr lang="en-US" sz="1015">
                <a:solidFill>
                  <a:srgbClr val="444444"/>
                </a:solidFill>
                <a:latin typeface="微软雅黑" panose="020B0503020204020204" charset="-122"/>
                <a:ea typeface="微软雅黑" panose="020B0503020204020204" charset="-122"/>
              </a:rPr>
              <a:t> 8 </a:t>
            </a:r>
            <a:r>
              <a:rPr lang="zh-CN" sz="1015">
                <a:solidFill>
                  <a:srgbClr val="444444"/>
                </a:solidFill>
                <a:latin typeface="微软雅黑" panose="020B0503020204020204" charset="-122"/>
                <a:ea typeface="微软雅黑" panose="020B0503020204020204" charset="-122"/>
              </a:rPr>
              <a:t>的三栏结构）都从这一问来。</a:t>
            </a:r>
            <a:endParaRPr lang="zh-CN" sz="1015">
              <a:solidFill>
                <a:srgbClr val="444444"/>
              </a:solidFill>
              <a:latin typeface="微软雅黑" panose="020B0503020204020204" charset="-122"/>
              <a:ea typeface="微软雅黑" panose="020B0503020204020204" charset="-122"/>
            </a:endParaRPr>
          </a:p>
        </p:txBody>
      </p:sp>
      <p:sp>
        <p:nvSpPr>
          <p:cNvPr id="115" name="Rectangle 114"/>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18" name="Rectangle 117"/>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120" name="TextBox 119"/>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21" name="TextBox 120"/>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22" name="TextBox 121"/>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23" name="TextBox 122"/>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24" name="TextBox 123"/>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25" name="TextBox 124"/>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5"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1.4 引言⑤：动量效应之争&lt;/Text&gt;&#10;    &lt;Text style={{ position: 'absolute', top: 34, left: 1080, width: 144, fontSize: 13, color: '#B0B0B0', textAlign: 'right' }}&gt;06 / 9&lt;/Text&gt;&#10;&#10;    &lt;Box style={{ position: 'absolute', top: 96, left: 56, width: 680, height: 200, background: '#FFFFFF', border: '1px solid #E4E4E4', boxShadow: '0 2px 10px rgba(0,0,0,0.07)', alignItems: 'center', justifyContent: 'center', padding: 6 }}&gt;&#10;        &lt;Image src=&quot;assets/u05_s4.png&quot; style={{ width: 666, height: 158, objectFit: 'contain' }} /&gt;&#10;    &lt;/Box&gt;&#10;    &lt;Text style={{ position: 'absolute', top: 304, left: 56, width: 680, fontSize: 12.5, color: '#8A8A8A', lineHeight: 1.6 }}&gt;&#10;        ▲ 原文 P192 第⑤段（刘坤标注版）：段末连续两个问句（红色箭头标出）——&quot;A 股市场是否存在显著的动量或反转效应？如果存在的话能否被五因子模型解释？&quot;&#10;    &lt;/Text&gt;&#10;&#10;    &lt;Box style={{ position: 'absolute', top: 366, left: 56, width: 560, height: 180, background: '#F5FBFB', borderLeft: '4px solid #01A5B1', padding: 12, flexDirection: 'column' }}&gt;&#10;        &lt;Text style={{ fontSize: 15, fontWeight: 'bold', color: '#0B7C86', marginBottom: 4 }}&gt;◆ 三步链条（对照原文）&lt;/Text&gt;&#10;        &lt;Text style={{ width: 528, fontSize: 13.5, color: '#444444', lineHeight: 1.68 }}&gt;&#10;            ① Jegadeesh and Titman(1993)：美国股市存在显著的&lt;b&gt;动量效应&lt;/b&gt;；② Carhart(1997) 从动量效应中提取&lt;b&gt;动量因子&lt;/b&gt;，将三因子模型扩展为四因子模型；③ Fama and French(2016) 发现五因子模型&lt;b&gt;不能很好地解释&lt;/b&gt;美国股市的动量效应。&#10;        &lt;/Text&gt;&#10;    &lt;/Box&gt;&#10;    &lt;Box style={{ position: 'absolute', top: 366, left: 646, width: 578, height: 180, background: '#F5FBFB', borderLeft: '4px solid #01A5B1', padding: 12, flexDirection: 'column' }}&gt;&#10;        &lt;Text style={{ fontSize: 15, fontWeight: 'bold', color: '#0B7C86', marginBottom: 4 }}&gt;◆ 本文的做法（对照原文末句）&lt;/Text&gt;&#10;        &lt;Text style={{ width: 546, fontSize: 13.5, color: '#444444', lineHeight: 1.68 }}&gt;&#10;            &quot;本文将对 A 股市场动量或反转效应存在性这一&lt;b&gt;争议话题&lt;/b&gt;给出详细探讨，并在&lt;b&gt;股权分置改革前后的样本期内分别进行分析&lt;/b&gt;。&quot;——表 8 的&quot;全样本 / 股改前 / 股改后&quot;三栏结构由此而来。&#10;        &lt;/Text&gt;&#10;    &lt;/Box&gt;&#10;&#10;    &lt;Box style={{ position: 'absolute', top: 566, left: 56, width: 1168, height: 92, background: '#FFF3F0', borderLeft: '4px solid #C0504D', padding: 12, flexDirection: 'column' }}&gt;&#10;        &lt;Text style={{ fontSize: 14.5, fontWeight: 'bold', color: '#A03D3A', marginBottom: 3 }}&gt;◆ 与摘要的对照&lt;/Text&gt;&#10;        &lt;Text style={{ fontSize: 13.5, color: '#444444', lineHeight: 1.6 }}&gt;&#10;            结论 (1)：全样本&lt;b&gt;不存在&lt;/b&gt;显著的动量或反转效应；结论 (4)：股改后&lt;b&gt;存在&lt;/b&gt;经五因子调整仍显著的反转效应——两个问句的两个答案，分别在表 2/3 与表 8。&#10;        &lt;/Text&gt;&#10;    &lt;/Box&gt;&#10;&#10;&lt;/Slide&gt;"/>
        <p:cNvGrpSpPr/>
        <p:nvPr/>
      </p:nvGrpSpPr>
      <p:grpSpPr>
        <a:xfrm>
          <a:off x="0" y="0"/>
          <a:ext cx="0" cy="0"/>
          <a:chOff x="0" y="0"/>
          <a:chExt cx="0" cy="0"/>
        </a:xfrm>
      </p:grpSpPr>
      <p:sp>
        <p:nvSpPr>
          <p:cNvPr id="116" name="矩形 115"/>
          <p:cNvSpPr/>
          <p:nvPr/>
        </p:nvSpPr>
        <p:spPr>
          <a:xfrm>
            <a:off x="0" y="0"/>
            <a:ext cx="12192000" cy="6858000"/>
          </a:xfrm>
          <a:prstGeom prst="rect">
            <a:avLst/>
          </a:prstGeom>
          <a:solidFill>
            <a:srgbClr val="FFFFFF"/>
          </a:solidFill>
        </p:spPr>
        <p:txBody>
          <a:bodyPr/>
          <a:p/>
        </p:txBody>
      </p:sp>
      <p:sp>
        <p:nvSpPr>
          <p:cNvPr id="117" name="矩形 116"/>
          <p:cNvSpPr/>
          <p:nvPr/>
        </p:nvSpPr>
        <p:spPr>
          <a:xfrm>
            <a:off x="0" y="0"/>
            <a:ext cx="12192000" cy="57150"/>
          </a:xfrm>
          <a:prstGeom prst="rect">
            <a:avLst/>
          </a:prstGeom>
          <a:solidFill>
            <a:srgbClr val="01A5B1"/>
          </a:solidFill>
        </p:spPr>
        <p:txBody>
          <a:bodyPr/>
          <a:p/>
        </p:txBody>
      </p:sp>
      <p:sp>
        <p:nvSpPr>
          <p:cNvPr id="118" name="文本框 117"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en-US" sz="2200" b="1">
                <a:solidFill>
                  <a:srgbClr val="1F1F1F"/>
                </a:solidFill>
                <a:latin typeface="微软雅黑" panose="020B0503020204020204" charset="-122"/>
                <a:ea typeface="微软雅黑" panose="020B0503020204020204" charset="-122"/>
              </a:rPr>
              <a:t>1.4 </a:t>
            </a:r>
            <a:r>
              <a:rPr lang="zh-CN" sz="2200" b="1">
                <a:solidFill>
                  <a:srgbClr val="1F1F1F"/>
                </a:solidFill>
                <a:latin typeface="微软雅黑" panose="020B0503020204020204" charset="-122"/>
                <a:ea typeface="微软雅黑" panose="020B0503020204020204" charset="-122"/>
              </a:rPr>
              <a:t>引言⑤：动量效应之争</a:t>
            </a:r>
            <a:endParaRPr lang="zh-CN" sz="2175" b="1">
              <a:solidFill>
                <a:srgbClr val="1F1F1F"/>
              </a:solidFill>
              <a:latin typeface="微软雅黑" panose="020B0503020204020204" charset="-122"/>
              <a:ea typeface="微软雅黑" panose="020B0503020204020204" charset="-122"/>
            </a:endParaRPr>
          </a:p>
        </p:txBody>
      </p:sp>
      <p:sp>
        <p:nvSpPr>
          <p:cNvPr id="120" name="矩形 119"/>
          <p:cNvSpPr/>
          <p:nvPr/>
        </p:nvSpPr>
        <p:spPr>
          <a:xfrm>
            <a:off x="533400" y="914400"/>
            <a:ext cx="6477000" cy="19050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21" name="图片 120"/>
          <p:cNvPicPr>
            <a:picLocks noChangeAspect="1"/>
          </p:cNvPicPr>
          <p:nvPr/>
        </p:nvPicPr>
        <p:blipFill>
          <a:blip r:embed="rId1"/>
          <a:srcRect l="514" r="514"/>
          <a:stretch>
            <a:fillRect/>
          </a:stretch>
        </p:blipFill>
        <p:spPr>
          <a:xfrm>
            <a:off x="600075" y="1114425"/>
            <a:ext cx="6343650" cy="1504950"/>
          </a:xfrm>
          <a:prstGeom prst="rect">
            <a:avLst/>
          </a:prstGeom>
        </p:spPr>
      </p:pic>
      <p:sp>
        <p:nvSpPr>
          <p:cNvPr id="122" name="文本框 121" descr="{&quot;isTemplate&quot;:true,&quot;type&quot;:&quot;text&quot;}"/>
          <p:cNvSpPr txBox="1"/>
          <p:nvPr/>
        </p:nvSpPr>
        <p:spPr>
          <a:xfrm>
            <a:off x="533400" y="2895600"/>
            <a:ext cx="6477000" cy="457200"/>
          </a:xfrm>
          <a:prstGeom prst="rect">
            <a:avLst/>
          </a:prstGeom>
        </p:spPr>
        <p:txBody>
          <a:bodyPr wrap="square" lIns="0" tIns="0" rIns="0" bIns="0">
            <a:normAutofit/>
          </a:bodyPr>
          <a:p>
            <a:pPr>
              <a:lnSpc>
                <a:spcPct val="160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原文</a:t>
            </a:r>
            <a:r>
              <a:rPr lang="en-US" sz="940">
                <a:solidFill>
                  <a:srgbClr val="8A8A8A"/>
                </a:solidFill>
                <a:latin typeface="微软雅黑" panose="020B0503020204020204" charset="-122"/>
                <a:ea typeface="微软雅黑" panose="020B0503020204020204" charset="-122"/>
              </a:rPr>
              <a:t> P192 </a:t>
            </a:r>
            <a:r>
              <a:rPr lang="zh-CN" sz="940">
                <a:solidFill>
                  <a:srgbClr val="8A8A8A"/>
                </a:solidFill>
                <a:latin typeface="微软雅黑" panose="020B0503020204020204" charset="-122"/>
                <a:ea typeface="微软雅黑" panose="020B0503020204020204" charset="-122"/>
              </a:rPr>
              <a:t>第⑤段（刘坤标注版）：段末连续两个问句（红色箭头标出）——</a:t>
            </a:r>
            <a:r>
              <a:rPr lang="en-US" sz="940">
                <a:solidFill>
                  <a:srgbClr val="8A8A8A"/>
                </a:solidFill>
                <a:latin typeface="微软雅黑" panose="020B0503020204020204" charset="-122"/>
                <a:ea typeface="微软雅黑" panose="020B0503020204020204" charset="-122"/>
              </a:rPr>
              <a:t>"A </a:t>
            </a:r>
            <a:r>
              <a:rPr lang="zh-CN" sz="940">
                <a:solidFill>
                  <a:srgbClr val="8A8A8A"/>
                </a:solidFill>
                <a:latin typeface="微软雅黑" panose="020B0503020204020204" charset="-122"/>
                <a:ea typeface="微软雅黑" panose="020B0503020204020204" charset="-122"/>
              </a:rPr>
              <a:t>股市场是否存在显著的动量或反转效应？如果存在的话能否被五因子模型解释？</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23" name="矩形 122"/>
          <p:cNvSpPr/>
          <p:nvPr/>
        </p:nvSpPr>
        <p:spPr>
          <a:xfrm>
            <a:off x="571500" y="3486150"/>
            <a:ext cx="5295900" cy="1714500"/>
          </a:xfrm>
          <a:prstGeom prst="rect">
            <a:avLst/>
          </a:prstGeom>
          <a:solidFill>
            <a:srgbClr val="F5FBFB"/>
          </a:solidFill>
        </p:spPr>
        <p:txBody>
          <a:bodyPr/>
          <a:p/>
        </p:txBody>
      </p:sp>
      <p:sp>
        <p:nvSpPr>
          <p:cNvPr id="124" name="任意多边形 123"/>
          <p:cNvSpPr/>
          <p:nvPr/>
        </p:nvSpPr>
        <p:spPr>
          <a:xfrm>
            <a:off x="533400" y="3486150"/>
            <a:ext cx="5334000" cy="1714500"/>
          </a:xfrm>
          <a:custGeom>
            <a:avLst/>
            <a:gdLst/>
            <a:ahLst/>
            <a:cxnLst/>
            <a:pathLst>
              <a:path w="560" h="180">
                <a:moveTo>
                  <a:pt x="0" y="0"/>
                </a:moveTo>
                <a:lnTo>
                  <a:pt x="4" y="0"/>
                </a:lnTo>
                <a:lnTo>
                  <a:pt x="4" y="180"/>
                </a:lnTo>
                <a:lnTo>
                  <a:pt x="0" y="180"/>
                </a:lnTo>
                <a:close/>
              </a:path>
            </a:pathLst>
          </a:custGeom>
          <a:solidFill>
            <a:srgbClr val="01A5B1"/>
          </a:solidFill>
        </p:spPr>
        <p:txBody>
          <a:bodyPr/>
          <a:p/>
        </p:txBody>
      </p:sp>
      <p:sp>
        <p:nvSpPr>
          <p:cNvPr id="125" name="文本框 124" descr="{&quot;isTemplate&quot;:true,&quot;type&quot;:&quot;text&quot;}"/>
          <p:cNvSpPr txBox="1"/>
          <p:nvPr/>
        </p:nvSpPr>
        <p:spPr>
          <a:xfrm>
            <a:off x="685800" y="3600450"/>
            <a:ext cx="506730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三步链条（对照原文）</a:t>
            </a:r>
            <a:endParaRPr lang="zh-CN" sz="1125" b="1">
              <a:solidFill>
                <a:srgbClr val="0B7C86"/>
              </a:solidFill>
              <a:latin typeface="微软雅黑" panose="020B0503020204020204" charset="-122"/>
              <a:ea typeface="微软雅黑" panose="020B0503020204020204" charset="-122"/>
            </a:endParaRPr>
          </a:p>
        </p:txBody>
      </p:sp>
      <p:sp>
        <p:nvSpPr>
          <p:cNvPr id="126" name="文本框 125" descr="{&quot;isTemplate&quot;:true,&quot;type&quot;:&quot;text&quot;}"/>
          <p:cNvSpPr txBox="1"/>
          <p:nvPr/>
        </p:nvSpPr>
        <p:spPr>
          <a:xfrm>
            <a:off x="685800" y="3810000"/>
            <a:ext cx="5029200" cy="781050"/>
          </a:xfrm>
          <a:prstGeom prst="rect">
            <a:avLst/>
          </a:prstGeom>
        </p:spPr>
        <p:txBody>
          <a:bodyPr wrap="square" lIns="0" tIns="0" rIns="0" bIns="0">
            <a:normAutofit/>
          </a:bodyPr>
          <a:p>
            <a:pPr>
              <a:lnSpc>
                <a:spcPct val="168000"/>
              </a:lnSpc>
            </a:pPr>
            <a:r>
              <a:rPr lang="en-US" sz="1015">
                <a:solidFill>
                  <a:srgbClr val="444444"/>
                </a:solidFill>
                <a:latin typeface="微软雅黑" panose="020B0503020204020204" charset="-122"/>
                <a:ea typeface="微软雅黑" panose="020B0503020204020204" charset="-122"/>
              </a:rPr>
              <a:t>① Jegadeesh and Titman(1993)</a:t>
            </a:r>
            <a:r>
              <a:rPr lang="zh-CN" sz="1015">
                <a:solidFill>
                  <a:srgbClr val="444444"/>
                </a:solidFill>
                <a:latin typeface="微软雅黑" panose="020B0503020204020204" charset="-122"/>
                <a:ea typeface="微软雅黑" panose="020B0503020204020204" charset="-122"/>
              </a:rPr>
              <a:t>：美国股市存在显著的</a:t>
            </a:r>
            <a:r>
              <a:rPr lang="zh-CN" sz="1015">
                <a:solidFill>
                  <a:srgbClr val="444444"/>
                </a:solidFill>
                <a:latin typeface="微软雅黑" panose="020B0503020204020204" charset="-122"/>
                <a:ea typeface="微软雅黑" panose="020B0503020204020204" charset="-122"/>
              </a:rPr>
              <a:t>动量效应</a:t>
            </a:r>
            <a:r>
              <a:rPr lang="zh-CN" sz="1015">
                <a:solidFill>
                  <a:srgbClr val="444444"/>
                </a:solidFill>
                <a:latin typeface="微软雅黑" panose="020B0503020204020204" charset="-122"/>
                <a:ea typeface="微软雅黑" panose="020B0503020204020204" charset="-122"/>
              </a:rPr>
              <a:t>；②</a:t>
            </a:r>
            <a:r>
              <a:rPr lang="en-US" sz="1015">
                <a:solidFill>
                  <a:srgbClr val="444444"/>
                </a:solidFill>
                <a:latin typeface="微软雅黑" panose="020B0503020204020204" charset="-122"/>
                <a:ea typeface="微软雅黑" panose="020B0503020204020204" charset="-122"/>
              </a:rPr>
              <a:t> Carhart(1997) </a:t>
            </a:r>
            <a:r>
              <a:rPr lang="zh-CN" sz="1015">
                <a:solidFill>
                  <a:srgbClr val="444444"/>
                </a:solidFill>
                <a:latin typeface="微软雅黑" panose="020B0503020204020204" charset="-122"/>
                <a:ea typeface="微软雅黑" panose="020B0503020204020204" charset="-122"/>
              </a:rPr>
              <a:t>从动量效应中提取</a:t>
            </a:r>
            <a:r>
              <a:rPr lang="zh-CN" sz="1015">
                <a:solidFill>
                  <a:srgbClr val="444444"/>
                </a:solidFill>
                <a:latin typeface="微软雅黑" panose="020B0503020204020204" charset="-122"/>
                <a:ea typeface="微软雅黑" panose="020B0503020204020204" charset="-122"/>
              </a:rPr>
              <a:t>动量因子</a:t>
            </a:r>
            <a:r>
              <a:rPr lang="zh-CN" sz="1015">
                <a:solidFill>
                  <a:srgbClr val="444444"/>
                </a:solidFill>
                <a:latin typeface="微软雅黑" panose="020B0503020204020204" charset="-122"/>
                <a:ea typeface="微软雅黑" panose="020B0503020204020204" charset="-122"/>
              </a:rPr>
              <a:t>，将三因子模型扩展为四因子模型；③</a:t>
            </a:r>
            <a:r>
              <a:rPr lang="en-US" sz="1015">
                <a:solidFill>
                  <a:srgbClr val="444444"/>
                </a:solidFill>
                <a:latin typeface="微软雅黑" panose="020B0503020204020204" charset="-122"/>
                <a:ea typeface="微软雅黑" panose="020B0503020204020204" charset="-122"/>
              </a:rPr>
              <a:t> Fama and French(2016) </a:t>
            </a:r>
            <a:r>
              <a:rPr lang="zh-CN" sz="1015">
                <a:solidFill>
                  <a:srgbClr val="444444"/>
                </a:solidFill>
                <a:latin typeface="微软雅黑" panose="020B0503020204020204" charset="-122"/>
                <a:ea typeface="微软雅黑" panose="020B0503020204020204" charset="-122"/>
              </a:rPr>
              <a:t>发现五因子模型</a:t>
            </a:r>
            <a:r>
              <a:rPr lang="zh-CN" sz="1015">
                <a:solidFill>
                  <a:srgbClr val="444444"/>
                </a:solidFill>
                <a:latin typeface="微软雅黑" panose="020B0503020204020204" charset="-122"/>
                <a:ea typeface="微软雅黑" panose="020B0503020204020204" charset="-122"/>
              </a:rPr>
              <a:t>不能很好地解释</a:t>
            </a:r>
            <a:r>
              <a:rPr lang="zh-CN" sz="1015">
                <a:solidFill>
                  <a:srgbClr val="444444"/>
                </a:solidFill>
                <a:latin typeface="微软雅黑" panose="020B0503020204020204" charset="-122"/>
                <a:ea typeface="微软雅黑" panose="020B0503020204020204" charset="-122"/>
              </a:rPr>
              <a:t>美国股市的动量效应。</a:t>
            </a:r>
            <a:endParaRPr lang="zh-CN" sz="1015">
              <a:solidFill>
                <a:srgbClr val="444444"/>
              </a:solidFill>
              <a:latin typeface="微软雅黑" panose="020B0503020204020204" charset="-122"/>
              <a:ea typeface="微软雅黑" panose="020B0503020204020204" charset="-122"/>
            </a:endParaRPr>
          </a:p>
        </p:txBody>
      </p:sp>
      <p:sp>
        <p:nvSpPr>
          <p:cNvPr id="127" name="矩形 126"/>
          <p:cNvSpPr/>
          <p:nvPr/>
        </p:nvSpPr>
        <p:spPr>
          <a:xfrm>
            <a:off x="6191250" y="3486150"/>
            <a:ext cx="5467350" cy="1714500"/>
          </a:xfrm>
          <a:prstGeom prst="rect">
            <a:avLst/>
          </a:prstGeom>
          <a:solidFill>
            <a:srgbClr val="F5FBFB"/>
          </a:solidFill>
        </p:spPr>
        <p:txBody>
          <a:bodyPr/>
          <a:p/>
        </p:txBody>
      </p:sp>
      <p:sp>
        <p:nvSpPr>
          <p:cNvPr id="128" name="任意多边形 127"/>
          <p:cNvSpPr/>
          <p:nvPr/>
        </p:nvSpPr>
        <p:spPr>
          <a:xfrm>
            <a:off x="6153150" y="3486150"/>
            <a:ext cx="5505450" cy="1714500"/>
          </a:xfrm>
          <a:custGeom>
            <a:avLst/>
            <a:gdLst/>
            <a:ahLst/>
            <a:cxnLst/>
            <a:pathLst>
              <a:path w="578" h="180">
                <a:moveTo>
                  <a:pt x="0" y="0"/>
                </a:moveTo>
                <a:lnTo>
                  <a:pt x="4" y="0"/>
                </a:lnTo>
                <a:lnTo>
                  <a:pt x="4" y="180"/>
                </a:lnTo>
                <a:lnTo>
                  <a:pt x="0" y="180"/>
                </a:lnTo>
                <a:close/>
              </a:path>
            </a:pathLst>
          </a:custGeom>
          <a:solidFill>
            <a:srgbClr val="01A5B1"/>
          </a:solidFill>
        </p:spPr>
        <p:txBody>
          <a:bodyPr/>
          <a:p/>
        </p:txBody>
      </p:sp>
      <p:sp>
        <p:nvSpPr>
          <p:cNvPr id="129" name="文本框 128" descr="{&quot;isTemplate&quot;:true,&quot;type&quot;:&quot;text&quot;}"/>
          <p:cNvSpPr txBox="1"/>
          <p:nvPr/>
        </p:nvSpPr>
        <p:spPr>
          <a:xfrm>
            <a:off x="6305550" y="3600450"/>
            <a:ext cx="52387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本文的做法（对照原文末句）</a:t>
            </a:r>
            <a:endParaRPr lang="zh-CN" sz="1125" b="1">
              <a:solidFill>
                <a:srgbClr val="0B7C86"/>
              </a:solidFill>
              <a:latin typeface="微软雅黑" panose="020B0503020204020204" charset="-122"/>
              <a:ea typeface="微软雅黑" panose="020B0503020204020204" charset="-122"/>
            </a:endParaRPr>
          </a:p>
        </p:txBody>
      </p:sp>
      <p:sp>
        <p:nvSpPr>
          <p:cNvPr id="130" name="文本框 129" descr="{&quot;isTemplate&quot;:true,&quot;type&quot;:&quot;text&quot;}"/>
          <p:cNvSpPr txBox="1"/>
          <p:nvPr/>
        </p:nvSpPr>
        <p:spPr>
          <a:xfrm>
            <a:off x="6305550" y="3810000"/>
            <a:ext cx="5200650" cy="781050"/>
          </a:xfrm>
          <a:prstGeom prst="rect">
            <a:avLst/>
          </a:prstGeom>
        </p:spPr>
        <p:txBody>
          <a:bodyPr wrap="square" lIns="0" tIns="0" rIns="0" bIns="0">
            <a:normAutofit/>
          </a:bodyPr>
          <a:p>
            <a:pPr>
              <a:lnSpc>
                <a:spcPct val="168000"/>
              </a:lnSpc>
            </a:pP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本文将对</a:t>
            </a:r>
            <a:r>
              <a:rPr lang="en-US" sz="1015">
                <a:solidFill>
                  <a:srgbClr val="444444"/>
                </a:solidFill>
                <a:latin typeface="微软雅黑" panose="020B0503020204020204" charset="-122"/>
                <a:ea typeface="微软雅黑" panose="020B0503020204020204" charset="-122"/>
              </a:rPr>
              <a:t> A </a:t>
            </a:r>
            <a:r>
              <a:rPr lang="zh-CN" sz="1015">
                <a:solidFill>
                  <a:srgbClr val="444444"/>
                </a:solidFill>
                <a:latin typeface="微软雅黑" panose="020B0503020204020204" charset="-122"/>
                <a:ea typeface="微软雅黑" panose="020B0503020204020204" charset="-122"/>
              </a:rPr>
              <a:t>股市场动量或反转效应存在性这一</a:t>
            </a:r>
            <a:r>
              <a:rPr lang="zh-CN" sz="1015">
                <a:solidFill>
                  <a:srgbClr val="444444"/>
                </a:solidFill>
                <a:latin typeface="微软雅黑" panose="020B0503020204020204" charset="-122"/>
                <a:ea typeface="微软雅黑" panose="020B0503020204020204" charset="-122"/>
              </a:rPr>
              <a:t>争议话题</a:t>
            </a:r>
            <a:r>
              <a:rPr lang="zh-CN" sz="1015">
                <a:solidFill>
                  <a:srgbClr val="444444"/>
                </a:solidFill>
                <a:latin typeface="微软雅黑" panose="020B0503020204020204" charset="-122"/>
                <a:ea typeface="微软雅黑" panose="020B0503020204020204" charset="-122"/>
              </a:rPr>
              <a:t>给出详细探讨，并在</a:t>
            </a:r>
            <a:r>
              <a:rPr lang="zh-CN" sz="1015">
                <a:solidFill>
                  <a:srgbClr val="444444"/>
                </a:solidFill>
                <a:latin typeface="微软雅黑" panose="020B0503020204020204" charset="-122"/>
                <a:ea typeface="微软雅黑" panose="020B0503020204020204" charset="-122"/>
              </a:rPr>
              <a:t>股权分置改革前后的样本期内分别进行分析</a:t>
            </a:r>
            <a:r>
              <a:rPr lang="zh-CN" sz="1015">
                <a:solidFill>
                  <a:srgbClr val="444444"/>
                </a:solidFill>
                <a:latin typeface="微软雅黑" panose="020B0503020204020204" charset="-122"/>
                <a:ea typeface="微软雅黑" panose="020B0503020204020204" charset="-122"/>
              </a:rPr>
              <a:t>。</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表</a:t>
            </a:r>
            <a:r>
              <a:rPr lang="en-US" sz="1015">
                <a:solidFill>
                  <a:srgbClr val="444444"/>
                </a:solidFill>
                <a:latin typeface="微软雅黑" panose="020B0503020204020204" charset="-122"/>
                <a:ea typeface="微软雅黑" panose="020B0503020204020204" charset="-122"/>
              </a:rPr>
              <a:t> 8 </a:t>
            </a:r>
            <a:r>
              <a:rPr lang="zh-CN" sz="1015">
                <a:solidFill>
                  <a:srgbClr val="444444"/>
                </a:solidFill>
                <a:latin typeface="微软雅黑" panose="020B0503020204020204" charset="-122"/>
                <a:ea typeface="微软雅黑" panose="020B0503020204020204" charset="-122"/>
              </a:rPr>
              <a:t>的</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全样本</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股改前</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股改后</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三栏结构由此而来。</a:t>
            </a:r>
            <a:endParaRPr lang="zh-CN" sz="1015">
              <a:solidFill>
                <a:srgbClr val="444444"/>
              </a:solidFill>
              <a:latin typeface="微软雅黑" panose="020B0503020204020204" charset="-122"/>
              <a:ea typeface="微软雅黑" panose="020B0503020204020204" charset="-122"/>
            </a:endParaRPr>
          </a:p>
        </p:txBody>
      </p:sp>
      <p:sp>
        <p:nvSpPr>
          <p:cNvPr id="131" name="矩形 130"/>
          <p:cNvSpPr/>
          <p:nvPr/>
        </p:nvSpPr>
        <p:spPr>
          <a:xfrm>
            <a:off x="571500" y="5391150"/>
            <a:ext cx="11087100" cy="876300"/>
          </a:xfrm>
          <a:prstGeom prst="rect">
            <a:avLst/>
          </a:prstGeom>
          <a:solidFill>
            <a:srgbClr val="FFF3F0"/>
          </a:solidFill>
        </p:spPr>
        <p:txBody>
          <a:bodyPr/>
          <a:p/>
        </p:txBody>
      </p:sp>
      <p:sp>
        <p:nvSpPr>
          <p:cNvPr id="132" name="任意多边形 131"/>
          <p:cNvSpPr/>
          <p:nvPr/>
        </p:nvSpPr>
        <p:spPr>
          <a:xfrm>
            <a:off x="533400" y="5391150"/>
            <a:ext cx="11125200" cy="876300"/>
          </a:xfrm>
          <a:custGeom>
            <a:avLst/>
            <a:gdLst/>
            <a:ahLst/>
            <a:cxnLst/>
            <a:pathLst>
              <a:path w="1168" h="92">
                <a:moveTo>
                  <a:pt x="0" y="0"/>
                </a:moveTo>
                <a:lnTo>
                  <a:pt x="4" y="0"/>
                </a:lnTo>
                <a:lnTo>
                  <a:pt x="4" y="92"/>
                </a:lnTo>
                <a:lnTo>
                  <a:pt x="0" y="92"/>
                </a:lnTo>
                <a:close/>
              </a:path>
            </a:pathLst>
          </a:custGeom>
          <a:solidFill>
            <a:srgbClr val="C0504D"/>
          </a:solidFill>
        </p:spPr>
        <p:txBody>
          <a:bodyPr/>
          <a:p/>
        </p:txBody>
      </p:sp>
      <p:sp>
        <p:nvSpPr>
          <p:cNvPr id="133" name="文本框 132" descr="{&quot;isTemplate&quot;:true,&quot;type&quot;:&quot;text&quot;}"/>
          <p:cNvSpPr txBox="1"/>
          <p:nvPr/>
        </p:nvSpPr>
        <p:spPr>
          <a:xfrm>
            <a:off x="685800" y="5505450"/>
            <a:ext cx="10858500" cy="171450"/>
          </a:xfrm>
          <a:prstGeom prst="rect">
            <a:avLst/>
          </a:prstGeom>
        </p:spPr>
        <p:txBody>
          <a:bodyPr wrap="none" lIns="0" tIns="0" rIns="0" bIns="0"/>
          <a:p>
            <a:pPr>
              <a:lnSpc>
                <a:spcPct val="100000"/>
              </a:lnSpc>
            </a:pPr>
            <a:r>
              <a:rPr lang="en-US" sz="1090" b="1">
                <a:solidFill>
                  <a:srgbClr val="A03D3A"/>
                </a:solidFill>
                <a:latin typeface="微软雅黑" panose="020B0503020204020204" charset="-122"/>
                <a:ea typeface="微软雅黑" panose="020B0503020204020204" charset="-122"/>
              </a:rPr>
              <a:t>◆ </a:t>
            </a:r>
            <a:r>
              <a:rPr lang="zh-CN" sz="1090" b="1">
                <a:solidFill>
                  <a:srgbClr val="A03D3A"/>
                </a:solidFill>
                <a:latin typeface="微软雅黑" panose="020B0503020204020204" charset="-122"/>
                <a:ea typeface="微软雅黑" panose="020B0503020204020204" charset="-122"/>
              </a:rPr>
              <a:t>与摘要的对照</a:t>
            </a:r>
            <a:endParaRPr lang="zh-CN" sz="1090" b="1">
              <a:solidFill>
                <a:srgbClr val="A03D3A"/>
              </a:solidFill>
              <a:latin typeface="微软雅黑" panose="020B0503020204020204" charset="-122"/>
              <a:ea typeface="微软雅黑" panose="020B0503020204020204" charset="-122"/>
            </a:endParaRPr>
          </a:p>
        </p:txBody>
      </p:sp>
      <p:sp>
        <p:nvSpPr>
          <p:cNvPr id="134" name="文本框 133" descr="{&quot;isTemplate&quot;:true,&quot;type&quot;:&quot;text&quot;}"/>
          <p:cNvSpPr txBox="1"/>
          <p:nvPr/>
        </p:nvSpPr>
        <p:spPr>
          <a:xfrm>
            <a:off x="685800" y="5705475"/>
            <a:ext cx="10858500" cy="247650"/>
          </a:xfrm>
          <a:prstGeom prst="rect">
            <a:avLst/>
          </a:prstGeom>
        </p:spPr>
        <p:txBody>
          <a:bodyPr wrap="none" lIns="0" tIns="0" rIns="0" bIns="0"/>
          <a:p>
            <a:pPr>
              <a:lnSpc>
                <a:spcPct val="160000"/>
              </a:lnSpc>
            </a:pPr>
            <a:r>
              <a:rPr lang="zh-CN" sz="1015">
                <a:solidFill>
                  <a:srgbClr val="444444"/>
                </a:solidFill>
                <a:latin typeface="微软雅黑" panose="020B0503020204020204" charset="-122"/>
                <a:ea typeface="微软雅黑" panose="020B0503020204020204" charset="-122"/>
              </a:rPr>
              <a:t>结论</a:t>
            </a:r>
            <a:r>
              <a:rPr lang="en-US" sz="1015">
                <a:solidFill>
                  <a:srgbClr val="444444"/>
                </a:solidFill>
                <a:latin typeface="微软雅黑" panose="020B0503020204020204" charset="-122"/>
                <a:ea typeface="微软雅黑" panose="020B0503020204020204" charset="-122"/>
              </a:rPr>
              <a:t> (1)</a:t>
            </a:r>
            <a:r>
              <a:rPr lang="zh-CN" sz="1015">
                <a:solidFill>
                  <a:srgbClr val="444444"/>
                </a:solidFill>
                <a:latin typeface="微软雅黑" panose="020B0503020204020204" charset="-122"/>
                <a:ea typeface="微软雅黑" panose="020B0503020204020204" charset="-122"/>
              </a:rPr>
              <a:t>：全样本</a:t>
            </a:r>
            <a:r>
              <a:rPr lang="zh-CN" sz="1015">
                <a:solidFill>
                  <a:srgbClr val="444444"/>
                </a:solidFill>
                <a:latin typeface="微软雅黑" panose="020B0503020204020204" charset="-122"/>
                <a:ea typeface="微软雅黑" panose="020B0503020204020204" charset="-122"/>
              </a:rPr>
              <a:t>不存在</a:t>
            </a:r>
            <a:r>
              <a:rPr lang="zh-CN" sz="1015">
                <a:solidFill>
                  <a:srgbClr val="444444"/>
                </a:solidFill>
                <a:latin typeface="微软雅黑" panose="020B0503020204020204" charset="-122"/>
                <a:ea typeface="微软雅黑" panose="020B0503020204020204" charset="-122"/>
              </a:rPr>
              <a:t>显著的动量或反转效应；结论</a:t>
            </a:r>
            <a:r>
              <a:rPr lang="en-US" sz="1015">
                <a:solidFill>
                  <a:srgbClr val="444444"/>
                </a:solidFill>
                <a:latin typeface="微软雅黑" panose="020B0503020204020204" charset="-122"/>
                <a:ea typeface="微软雅黑" panose="020B0503020204020204" charset="-122"/>
              </a:rPr>
              <a:t> (4)</a:t>
            </a:r>
            <a:r>
              <a:rPr lang="zh-CN" sz="1015">
                <a:solidFill>
                  <a:srgbClr val="444444"/>
                </a:solidFill>
                <a:latin typeface="微软雅黑" panose="020B0503020204020204" charset="-122"/>
                <a:ea typeface="微软雅黑" panose="020B0503020204020204" charset="-122"/>
              </a:rPr>
              <a:t>：股改后</a:t>
            </a:r>
            <a:r>
              <a:rPr lang="zh-CN" sz="1015">
                <a:solidFill>
                  <a:srgbClr val="444444"/>
                </a:solidFill>
                <a:latin typeface="微软雅黑" panose="020B0503020204020204" charset="-122"/>
                <a:ea typeface="微软雅黑" panose="020B0503020204020204" charset="-122"/>
              </a:rPr>
              <a:t>存在</a:t>
            </a:r>
            <a:r>
              <a:rPr lang="zh-CN" sz="1015">
                <a:solidFill>
                  <a:srgbClr val="444444"/>
                </a:solidFill>
                <a:latin typeface="微软雅黑" panose="020B0503020204020204" charset="-122"/>
                <a:ea typeface="微软雅黑" panose="020B0503020204020204" charset="-122"/>
              </a:rPr>
              <a:t>经五因子调整仍显著的反转效应——两个问句的两个答案，分别在表</a:t>
            </a:r>
            <a:r>
              <a:rPr lang="en-US" sz="1015">
                <a:solidFill>
                  <a:srgbClr val="444444"/>
                </a:solidFill>
                <a:latin typeface="微软雅黑" panose="020B0503020204020204" charset="-122"/>
                <a:ea typeface="微软雅黑" panose="020B0503020204020204" charset="-122"/>
              </a:rPr>
              <a:t> 2/3 </a:t>
            </a:r>
            <a:r>
              <a:rPr lang="zh-CN" sz="1015">
                <a:solidFill>
                  <a:srgbClr val="444444"/>
                </a:solidFill>
                <a:latin typeface="微软雅黑" panose="020B0503020204020204" charset="-122"/>
                <a:ea typeface="微软雅黑" panose="020B0503020204020204" charset="-122"/>
              </a:rPr>
              <a:t>与表</a:t>
            </a:r>
            <a:r>
              <a:rPr lang="en-US" sz="1015">
                <a:solidFill>
                  <a:srgbClr val="444444"/>
                </a:solidFill>
                <a:latin typeface="微软雅黑" panose="020B0503020204020204" charset="-122"/>
                <a:ea typeface="微软雅黑" panose="020B0503020204020204" charset="-122"/>
              </a:rPr>
              <a:t> 8</a:t>
            </a:r>
            <a:r>
              <a:rPr lang="zh-CN" sz="1015">
                <a:solidFill>
                  <a:srgbClr val="444444"/>
                </a:solidFill>
                <a:latin typeface="微软雅黑" panose="020B0503020204020204" charset="-122"/>
                <a:ea typeface="微软雅黑" panose="020B0503020204020204" charset="-122"/>
              </a:rPr>
              <a:t>。</a:t>
            </a:r>
            <a:endParaRPr lang="zh-CN" sz="1015">
              <a:solidFill>
                <a:srgbClr val="444444"/>
              </a:solidFill>
              <a:latin typeface="微软雅黑" panose="020B0503020204020204" charset="-122"/>
              <a:ea typeface="微软雅黑" panose="020B0503020204020204" charset="-122"/>
            </a:endParaRPr>
          </a:p>
        </p:txBody>
      </p:sp>
      <p:sp>
        <p:nvSpPr>
          <p:cNvPr id="135" name="Rectangle 134"/>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38" name="Rectangle 137"/>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140" name="TextBox 139"/>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41" name="TextBox 140"/>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42" name="TextBox 141"/>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43" name="TextBox 142"/>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44" name="TextBox 143"/>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45" name="TextBox 144"/>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35"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1.5 引言⑥⑦：五个问题与七个部分&lt;/Text&gt;&#10;    &lt;Text style={{ position: 'absolute', top: 34, left: 1080, width: 144, fontSize: 13, color: '#B0B0B0', textAlign: 'right' }}&gt;07 / 9&lt;/Text&gt;&#10;&#10;    &lt;Box style={{ position: 'absolute', top: 96, left: 56, width: 660, height: 196, background: '#FFFFFF', border: '1px solid #E4E4E4', boxShadow: '0 2px 10px rgba(0,0,0,0.07)', alignItems: 'center', justifyContent: 'center', padding: 6 }}&gt;&#10;        &lt;Image src=&quot;assets/u06_s5.png&quot; style={{ width: 648, height: 186, objectFit: 'contain' }} /&gt;&#10;    &lt;/Box&gt;&#10;    &lt;Text style={{ position: 'absolute', top: 300, left: 56, width: 660, fontSize: 12.5, color: '#8A8A8A', lineHeight: 1.55 }}&gt;&#10;        ▲ 段⑥：&quot;主要解决 5 个问题&quot;（&quot;第一&quot;&quot;第二&quot;&quot;第三&quot;&quot;第四&quot;&quot;最后&quot;逐个划线）&#10;    &lt;/Text&gt;&#10;&#10;    &lt;Box style={{ position: 'absolute', top: 96, left: 746, width: 478, height: 250, background: '#F5FBFB', borderLeft: '4px solid #01A5B1', padding: 12, flexDirection: 'column' }}&gt;&#10;        &lt;Text style={{ fontSize: 15, fontWeight: 'bold', color: '#0B7C86', marginBottom: 4 }}&gt;◆ 五个研究问题（对照划线）&lt;/Text&gt;&#10;        &lt;Text style={{ width: 446, fontSize: 13.5, color: '#444444', lineHeight: 1.66 }}&gt;&#10;            ① 各风格效应检验；② 五因子对 A 股的解释能力并与其他模型比较；③ 动量或反转效应是否存在、能否被五因子解释；④ Carhart 四因子与 FF(2016) 六因子的中国证据；⑤ 股改前后数据结构、风险溢价、解释能力与市场效率。&#10;        &lt;/Text&gt;&#10;    &lt;/Box&gt;&#10;&#10;    &lt;Box style={{ position: 'absolute', top: 366, left: 56, width: 660, height: 122, background: '#FFFFFF', border: '1px solid #E4E4E4', boxShadow: '0 2px 10px rgba(0,0,0,0.07)', alignItems: 'center', justifyContent: 'center', padding: 6 }}&gt;&#10;        &lt;Image src=&quot;assets/u07_s6.png&quot; style={{ width: 648, height: 92, objectFit: 'contain' }} /&gt;&#10;    &lt;/Box&gt;&#10;    &lt;Text style={{ position: 'absolute', top: 496, left: 56, width: 660, fontSize: 12.5, color: '#8A8A8A' }}&gt;&#10;        ▲ 段⑦：&quot;本文分为七个部分&quot;&#10;    &lt;/Text&gt;&#10;&#10;    &lt;Box style={{ position: 'absolute', top: 366, left: 746, width: 478, height: 178, background: '#F5FBFB', borderLeft: '4px solid #01A5B1', padding: 12, flexDirection: 'column' }}&gt;&#10;        &lt;Text style={{ fontSize: 15, fontWeight: 'bold', color: '#0B7C86', marginBottom: 4 }}&gt;◆ 七个部分（对照左图）&lt;/Text&gt;&#10;        &lt;Text style={{ width: 446, fontSize: 13.5, color: '#444444', lineHeight: 1.66 }}&gt;&#10;            文献回顾 → 数据处理与因子构建 → 适用性考察 → &lt;b&gt;分时期检验&lt;/b&gt; → &lt;b&gt;动量因子在 A 股市场的表现（第六部分·本组负责）&lt;/b&gt; → 结论。&#10;        &lt;/Text&gt;&#10;    &lt;/Box&gt;&#10;&#10;    &lt;Box style={{ position: 'absolute', top: 576, left: 56, width: 1168, height: 86, background: '#FFF8EE', borderLeft: '4px solid #D8952F', padding: 11, flexDirection: 'column' }}&gt;&#10;        &lt;Text style={{ fontSize: 14, fontWeight: 'bold', color: '#9A6A12', lineHeight: 1.6 }}&gt;&#10;            ◆ 结构逻辑：先&quot;能不能用&quot;（第四部分），再&quot;什么时候不一样&quot;（第五部分），最后&quot;争议题单独答&quot;（第六部分）&#10;        &lt;/Text&gt;&#10;    &lt;/Box&gt;&#10;&#10;&lt;/Slide&gt;"/>
        <p:cNvGrpSpPr/>
        <p:nvPr/>
      </p:nvGrpSpPr>
      <p:grpSpPr>
        <a:xfrm>
          <a:off x="0" y="0"/>
          <a:ext cx="0" cy="0"/>
          <a:chOff x="0" y="0"/>
          <a:chExt cx="0" cy="0"/>
        </a:xfrm>
      </p:grpSpPr>
      <p:sp>
        <p:nvSpPr>
          <p:cNvPr id="136" name="矩形 135"/>
          <p:cNvSpPr/>
          <p:nvPr/>
        </p:nvSpPr>
        <p:spPr>
          <a:xfrm>
            <a:off x="0" y="0"/>
            <a:ext cx="12192000" cy="6858000"/>
          </a:xfrm>
          <a:prstGeom prst="rect">
            <a:avLst/>
          </a:prstGeom>
          <a:solidFill>
            <a:srgbClr val="FFFFFF"/>
          </a:solidFill>
        </p:spPr>
        <p:txBody>
          <a:bodyPr/>
          <a:p/>
        </p:txBody>
      </p:sp>
      <p:sp>
        <p:nvSpPr>
          <p:cNvPr id="137" name="矩形 136"/>
          <p:cNvSpPr/>
          <p:nvPr/>
        </p:nvSpPr>
        <p:spPr>
          <a:xfrm>
            <a:off x="0" y="0"/>
            <a:ext cx="12192000" cy="57150"/>
          </a:xfrm>
          <a:prstGeom prst="rect">
            <a:avLst/>
          </a:prstGeom>
          <a:solidFill>
            <a:srgbClr val="01A5B1"/>
          </a:solidFill>
        </p:spPr>
        <p:txBody>
          <a:bodyPr/>
          <a:p/>
        </p:txBody>
      </p:sp>
      <p:sp>
        <p:nvSpPr>
          <p:cNvPr id="138" name="文本框 137"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en-US" sz="2200" b="1">
                <a:solidFill>
                  <a:srgbClr val="1F1F1F"/>
                </a:solidFill>
                <a:latin typeface="微软雅黑" panose="020B0503020204020204" charset="-122"/>
                <a:ea typeface="微软雅黑" panose="020B0503020204020204" charset="-122"/>
              </a:rPr>
              <a:t>1.5 </a:t>
            </a:r>
            <a:r>
              <a:rPr lang="zh-CN" sz="2200" b="1">
                <a:solidFill>
                  <a:srgbClr val="1F1F1F"/>
                </a:solidFill>
                <a:latin typeface="微软雅黑" panose="020B0503020204020204" charset="-122"/>
                <a:ea typeface="微软雅黑" panose="020B0503020204020204" charset="-122"/>
              </a:rPr>
              <a:t>引言⑥⑦：五个问题与七个部分</a:t>
            </a:r>
            <a:endParaRPr lang="zh-CN" sz="2175" b="1">
              <a:solidFill>
                <a:srgbClr val="1F1F1F"/>
              </a:solidFill>
              <a:latin typeface="微软雅黑" panose="020B0503020204020204" charset="-122"/>
              <a:ea typeface="微软雅黑" panose="020B0503020204020204" charset="-122"/>
            </a:endParaRPr>
          </a:p>
        </p:txBody>
      </p:sp>
      <p:sp>
        <p:nvSpPr>
          <p:cNvPr id="140" name="矩形 139"/>
          <p:cNvSpPr/>
          <p:nvPr/>
        </p:nvSpPr>
        <p:spPr>
          <a:xfrm>
            <a:off x="533400" y="914400"/>
            <a:ext cx="6286500" cy="18669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41" name="图片 140"/>
          <p:cNvPicPr>
            <a:picLocks noChangeAspect="1"/>
          </p:cNvPicPr>
          <p:nvPr/>
        </p:nvPicPr>
        <p:blipFill>
          <a:blip r:embed="rId1"/>
          <a:srcRect l="2537" r="2537"/>
          <a:stretch>
            <a:fillRect/>
          </a:stretch>
        </p:blipFill>
        <p:spPr>
          <a:xfrm>
            <a:off x="590550" y="962025"/>
            <a:ext cx="6172200" cy="1771650"/>
          </a:xfrm>
          <a:prstGeom prst="rect">
            <a:avLst/>
          </a:prstGeom>
        </p:spPr>
      </p:pic>
      <p:sp>
        <p:nvSpPr>
          <p:cNvPr id="142" name="文本框 141" descr="{&quot;isTemplate&quot;:true,&quot;type&quot;:&quot;text&quot;}"/>
          <p:cNvSpPr txBox="1"/>
          <p:nvPr/>
        </p:nvSpPr>
        <p:spPr>
          <a:xfrm>
            <a:off x="533400" y="2857500"/>
            <a:ext cx="6286500" cy="228600"/>
          </a:xfrm>
          <a:prstGeom prst="rect">
            <a:avLst/>
          </a:prstGeom>
        </p:spPr>
        <p:txBody>
          <a:bodyPr wrap="none" lIns="0" tIns="0" rIns="0" bIns="0"/>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段⑥：</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主要解决</a:t>
            </a:r>
            <a:r>
              <a:rPr lang="en-US" sz="940">
                <a:solidFill>
                  <a:srgbClr val="8A8A8A"/>
                </a:solidFill>
                <a:latin typeface="微软雅黑" panose="020B0503020204020204" charset="-122"/>
                <a:ea typeface="微软雅黑" panose="020B0503020204020204" charset="-122"/>
              </a:rPr>
              <a:t> 5 </a:t>
            </a:r>
            <a:r>
              <a:rPr lang="zh-CN" sz="940">
                <a:solidFill>
                  <a:srgbClr val="8A8A8A"/>
                </a:solidFill>
                <a:latin typeface="微软雅黑" panose="020B0503020204020204" charset="-122"/>
                <a:ea typeface="微软雅黑" panose="020B0503020204020204" charset="-122"/>
              </a:rPr>
              <a:t>个问题</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第一</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第二</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第三</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第四</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最后</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逐个划线）</a:t>
            </a:r>
            <a:endParaRPr lang="zh-CN" sz="940">
              <a:solidFill>
                <a:srgbClr val="8A8A8A"/>
              </a:solidFill>
              <a:latin typeface="微软雅黑" panose="020B0503020204020204" charset="-122"/>
              <a:ea typeface="微软雅黑" panose="020B0503020204020204" charset="-122"/>
            </a:endParaRPr>
          </a:p>
        </p:txBody>
      </p:sp>
      <p:sp>
        <p:nvSpPr>
          <p:cNvPr id="143" name="矩形 142"/>
          <p:cNvSpPr/>
          <p:nvPr/>
        </p:nvSpPr>
        <p:spPr>
          <a:xfrm>
            <a:off x="7143750" y="914400"/>
            <a:ext cx="4514850" cy="2381250"/>
          </a:xfrm>
          <a:prstGeom prst="rect">
            <a:avLst/>
          </a:prstGeom>
          <a:solidFill>
            <a:srgbClr val="F5FBFB"/>
          </a:solidFill>
        </p:spPr>
        <p:txBody>
          <a:bodyPr/>
          <a:p/>
        </p:txBody>
      </p:sp>
      <p:sp>
        <p:nvSpPr>
          <p:cNvPr id="144" name="任意多边形 143"/>
          <p:cNvSpPr/>
          <p:nvPr/>
        </p:nvSpPr>
        <p:spPr>
          <a:xfrm>
            <a:off x="7105650" y="914400"/>
            <a:ext cx="4552950" cy="2381250"/>
          </a:xfrm>
          <a:custGeom>
            <a:avLst/>
            <a:gdLst/>
            <a:ahLst/>
            <a:cxnLst/>
            <a:pathLst>
              <a:path w="478" h="250">
                <a:moveTo>
                  <a:pt x="0" y="0"/>
                </a:moveTo>
                <a:lnTo>
                  <a:pt x="4" y="0"/>
                </a:lnTo>
                <a:lnTo>
                  <a:pt x="4" y="250"/>
                </a:lnTo>
                <a:lnTo>
                  <a:pt x="0" y="250"/>
                </a:lnTo>
                <a:close/>
              </a:path>
            </a:pathLst>
          </a:custGeom>
          <a:solidFill>
            <a:srgbClr val="01A5B1"/>
          </a:solidFill>
        </p:spPr>
        <p:txBody>
          <a:bodyPr/>
          <a:p/>
        </p:txBody>
      </p:sp>
      <p:sp>
        <p:nvSpPr>
          <p:cNvPr id="145" name="文本框 144" descr="{&quot;isTemplate&quot;:true,&quot;type&quot;:&quot;text&quot;}"/>
          <p:cNvSpPr txBox="1"/>
          <p:nvPr/>
        </p:nvSpPr>
        <p:spPr>
          <a:xfrm>
            <a:off x="7258050" y="1028700"/>
            <a:ext cx="42862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五个研究问题（对照划线）</a:t>
            </a:r>
            <a:endParaRPr lang="zh-CN" sz="1125" b="1">
              <a:solidFill>
                <a:srgbClr val="0B7C86"/>
              </a:solidFill>
              <a:latin typeface="微软雅黑" panose="020B0503020204020204" charset="-122"/>
              <a:ea typeface="微软雅黑" panose="020B0503020204020204" charset="-122"/>
            </a:endParaRPr>
          </a:p>
        </p:txBody>
      </p:sp>
      <p:sp>
        <p:nvSpPr>
          <p:cNvPr id="146" name="文本框 145" descr="{&quot;isTemplate&quot;:true,&quot;type&quot;:&quot;text&quot;}"/>
          <p:cNvSpPr txBox="1"/>
          <p:nvPr/>
        </p:nvSpPr>
        <p:spPr>
          <a:xfrm>
            <a:off x="7258050" y="1238250"/>
            <a:ext cx="4248150" cy="1028700"/>
          </a:xfrm>
          <a:prstGeom prst="rect">
            <a:avLst/>
          </a:prstGeom>
        </p:spPr>
        <p:txBody>
          <a:bodyPr wrap="square" lIns="0" tIns="0" rIns="0" bIns="0">
            <a:normAutofit/>
          </a:bodyPr>
          <a:p>
            <a:pPr>
              <a:lnSpc>
                <a:spcPct val="166000"/>
              </a:lnSpc>
            </a:pPr>
            <a:r>
              <a:rPr lang="en-US" sz="1015">
                <a:solidFill>
                  <a:srgbClr val="444444"/>
                </a:solidFill>
                <a:latin typeface="微软雅黑" panose="020B0503020204020204" charset="-122"/>
                <a:ea typeface="微软雅黑" panose="020B0503020204020204" charset="-122"/>
              </a:rPr>
              <a:t>① </a:t>
            </a:r>
            <a:r>
              <a:rPr lang="zh-CN" sz="1015">
                <a:solidFill>
                  <a:srgbClr val="444444"/>
                </a:solidFill>
                <a:latin typeface="微软雅黑" panose="020B0503020204020204" charset="-122"/>
                <a:ea typeface="微软雅黑" panose="020B0503020204020204" charset="-122"/>
              </a:rPr>
              <a:t>各风格效应检验；②</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五因子对</a:t>
            </a:r>
            <a:r>
              <a:rPr lang="en-US" sz="1015">
                <a:solidFill>
                  <a:srgbClr val="444444"/>
                </a:solidFill>
                <a:latin typeface="微软雅黑" panose="020B0503020204020204" charset="-122"/>
                <a:ea typeface="微软雅黑" panose="020B0503020204020204" charset="-122"/>
              </a:rPr>
              <a:t> A </a:t>
            </a:r>
            <a:r>
              <a:rPr lang="zh-CN" sz="1015">
                <a:solidFill>
                  <a:srgbClr val="444444"/>
                </a:solidFill>
                <a:latin typeface="微软雅黑" panose="020B0503020204020204" charset="-122"/>
                <a:ea typeface="微软雅黑" panose="020B0503020204020204" charset="-122"/>
              </a:rPr>
              <a:t>股的解释能力并与其他模型比较；③</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动量或反转效应是否存在、能否被五因子解释；④</a:t>
            </a:r>
            <a:r>
              <a:rPr lang="en-US" sz="1015">
                <a:solidFill>
                  <a:srgbClr val="444444"/>
                </a:solidFill>
                <a:latin typeface="微软雅黑" panose="020B0503020204020204" charset="-122"/>
                <a:ea typeface="微软雅黑" panose="020B0503020204020204" charset="-122"/>
              </a:rPr>
              <a:t> Carhart </a:t>
            </a:r>
            <a:r>
              <a:rPr lang="zh-CN" sz="1015">
                <a:solidFill>
                  <a:srgbClr val="444444"/>
                </a:solidFill>
                <a:latin typeface="微软雅黑" panose="020B0503020204020204" charset="-122"/>
                <a:ea typeface="微软雅黑" panose="020B0503020204020204" charset="-122"/>
              </a:rPr>
              <a:t>四因子与</a:t>
            </a:r>
            <a:r>
              <a:rPr lang="en-US" sz="1015">
                <a:solidFill>
                  <a:srgbClr val="444444"/>
                </a:solidFill>
                <a:latin typeface="微软雅黑" panose="020B0503020204020204" charset="-122"/>
                <a:ea typeface="微软雅黑" panose="020B0503020204020204" charset="-122"/>
              </a:rPr>
              <a:t> FF(2016) </a:t>
            </a:r>
            <a:r>
              <a:rPr lang="zh-CN" sz="1015">
                <a:solidFill>
                  <a:srgbClr val="444444"/>
                </a:solidFill>
                <a:latin typeface="微软雅黑" panose="020B0503020204020204" charset="-122"/>
                <a:ea typeface="微软雅黑" panose="020B0503020204020204" charset="-122"/>
              </a:rPr>
              <a:t>六因子的中国证据；⑤</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股改前后数据结构、风险溢价、解释能力与市场效率。</a:t>
            </a:r>
            <a:endParaRPr lang="zh-CN" sz="1015">
              <a:solidFill>
                <a:srgbClr val="444444"/>
              </a:solidFill>
              <a:latin typeface="微软雅黑" panose="020B0503020204020204" charset="-122"/>
              <a:ea typeface="微软雅黑" panose="020B0503020204020204" charset="-122"/>
            </a:endParaRPr>
          </a:p>
        </p:txBody>
      </p:sp>
      <p:sp>
        <p:nvSpPr>
          <p:cNvPr id="147" name="矩形 146"/>
          <p:cNvSpPr/>
          <p:nvPr/>
        </p:nvSpPr>
        <p:spPr>
          <a:xfrm>
            <a:off x="533400" y="3486150"/>
            <a:ext cx="6286500" cy="116205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48" name="图片 147"/>
          <p:cNvPicPr>
            <a:picLocks noChangeAspect="1"/>
          </p:cNvPicPr>
          <p:nvPr/>
        </p:nvPicPr>
        <p:blipFill>
          <a:blip r:embed="rId2"/>
          <a:srcRect l="685" r="685"/>
          <a:stretch>
            <a:fillRect/>
          </a:stretch>
        </p:blipFill>
        <p:spPr>
          <a:xfrm>
            <a:off x="590550" y="3629025"/>
            <a:ext cx="6172200" cy="876300"/>
          </a:xfrm>
          <a:prstGeom prst="rect">
            <a:avLst/>
          </a:prstGeom>
        </p:spPr>
      </p:pic>
      <p:sp>
        <p:nvSpPr>
          <p:cNvPr id="149" name="文本框 148" descr="{&quot;isTemplate&quot;:true,&quot;type&quot;:&quot;text&quot;}"/>
          <p:cNvSpPr txBox="1"/>
          <p:nvPr/>
        </p:nvSpPr>
        <p:spPr>
          <a:xfrm>
            <a:off x="533400" y="4724400"/>
            <a:ext cx="6286500" cy="142875"/>
          </a:xfrm>
          <a:prstGeom prst="rect">
            <a:avLst/>
          </a:prstGeom>
        </p:spPr>
        <p:txBody>
          <a:bodyPr wrap="none" lIns="0" tIns="0" rIns="0" bIns="0"/>
          <a:p>
            <a:pPr>
              <a:lnSpc>
                <a:spcPct val="100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段⑦：</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本文分为七个部分</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50" name="矩形 149"/>
          <p:cNvSpPr/>
          <p:nvPr/>
        </p:nvSpPr>
        <p:spPr>
          <a:xfrm>
            <a:off x="7143750" y="3486150"/>
            <a:ext cx="4514850" cy="1695450"/>
          </a:xfrm>
          <a:prstGeom prst="rect">
            <a:avLst/>
          </a:prstGeom>
          <a:solidFill>
            <a:srgbClr val="F5FBFB"/>
          </a:solidFill>
        </p:spPr>
        <p:txBody>
          <a:bodyPr/>
          <a:p/>
        </p:txBody>
      </p:sp>
      <p:sp>
        <p:nvSpPr>
          <p:cNvPr id="151" name="任意多边形 150"/>
          <p:cNvSpPr/>
          <p:nvPr/>
        </p:nvSpPr>
        <p:spPr>
          <a:xfrm>
            <a:off x="7105650" y="3486150"/>
            <a:ext cx="4552950" cy="1695450"/>
          </a:xfrm>
          <a:custGeom>
            <a:avLst/>
            <a:gdLst/>
            <a:ahLst/>
            <a:cxnLst/>
            <a:pathLst>
              <a:path w="478" h="178">
                <a:moveTo>
                  <a:pt x="0" y="0"/>
                </a:moveTo>
                <a:lnTo>
                  <a:pt x="4" y="0"/>
                </a:lnTo>
                <a:lnTo>
                  <a:pt x="4" y="178"/>
                </a:lnTo>
                <a:lnTo>
                  <a:pt x="0" y="178"/>
                </a:lnTo>
                <a:close/>
              </a:path>
            </a:pathLst>
          </a:custGeom>
          <a:solidFill>
            <a:srgbClr val="01A5B1"/>
          </a:solidFill>
        </p:spPr>
        <p:txBody>
          <a:bodyPr/>
          <a:p/>
        </p:txBody>
      </p:sp>
      <p:sp>
        <p:nvSpPr>
          <p:cNvPr id="152" name="文本框 151" descr="{&quot;isTemplate&quot;:true,&quot;type&quot;:&quot;text&quot;}"/>
          <p:cNvSpPr txBox="1"/>
          <p:nvPr/>
        </p:nvSpPr>
        <p:spPr>
          <a:xfrm>
            <a:off x="7258050" y="3600450"/>
            <a:ext cx="428625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七个部分（对照左图）</a:t>
            </a:r>
            <a:endParaRPr lang="zh-CN" sz="1125" b="1">
              <a:solidFill>
                <a:srgbClr val="0B7C86"/>
              </a:solidFill>
              <a:latin typeface="微软雅黑" panose="020B0503020204020204" charset="-122"/>
              <a:ea typeface="微软雅黑" panose="020B0503020204020204" charset="-122"/>
            </a:endParaRPr>
          </a:p>
        </p:txBody>
      </p:sp>
      <p:sp>
        <p:nvSpPr>
          <p:cNvPr id="153" name="文本框 152" descr="{&quot;isTemplate&quot;:true,&quot;type&quot;:&quot;text&quot;}"/>
          <p:cNvSpPr txBox="1"/>
          <p:nvPr/>
        </p:nvSpPr>
        <p:spPr>
          <a:xfrm>
            <a:off x="7258050" y="3810000"/>
            <a:ext cx="4248150" cy="514350"/>
          </a:xfrm>
          <a:prstGeom prst="rect">
            <a:avLst/>
          </a:prstGeom>
        </p:spPr>
        <p:txBody>
          <a:bodyPr wrap="square" lIns="0" tIns="0" rIns="0" bIns="0">
            <a:normAutofit/>
          </a:bodyPr>
          <a:p>
            <a:pPr>
              <a:lnSpc>
                <a:spcPct val="166000"/>
              </a:lnSpc>
            </a:pPr>
            <a:r>
              <a:rPr lang="zh-CN" sz="1015">
                <a:solidFill>
                  <a:srgbClr val="444444"/>
                </a:solidFill>
                <a:latin typeface="微软雅黑" panose="020B0503020204020204" charset="-122"/>
                <a:ea typeface="微软雅黑" panose="020B0503020204020204" charset="-122"/>
              </a:rPr>
              <a:t>文献回顾</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数据处理与因子构建</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适用性考察</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分时期检验</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动量因子在</a:t>
            </a:r>
            <a:r>
              <a:rPr lang="en-US" sz="1015">
                <a:solidFill>
                  <a:srgbClr val="444444"/>
                </a:solidFill>
                <a:latin typeface="微软雅黑" panose="020B0503020204020204" charset="-122"/>
                <a:ea typeface="微软雅黑" panose="020B0503020204020204" charset="-122"/>
              </a:rPr>
              <a:t> A </a:t>
            </a:r>
            <a:r>
              <a:rPr lang="zh-CN" sz="1015">
                <a:solidFill>
                  <a:srgbClr val="444444"/>
                </a:solidFill>
                <a:latin typeface="微软雅黑" panose="020B0503020204020204" charset="-122"/>
                <a:ea typeface="微软雅黑" panose="020B0503020204020204" charset="-122"/>
              </a:rPr>
              <a:t>股市场的表现（第六部分·本组负责）</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结论。</a:t>
            </a:r>
            <a:endParaRPr lang="zh-CN" sz="1015">
              <a:solidFill>
                <a:srgbClr val="444444"/>
              </a:solidFill>
              <a:latin typeface="微软雅黑" panose="020B0503020204020204" charset="-122"/>
              <a:ea typeface="微软雅黑" panose="020B0503020204020204" charset="-122"/>
            </a:endParaRPr>
          </a:p>
        </p:txBody>
      </p:sp>
      <p:sp>
        <p:nvSpPr>
          <p:cNvPr id="154" name="矩形 153"/>
          <p:cNvSpPr/>
          <p:nvPr/>
        </p:nvSpPr>
        <p:spPr>
          <a:xfrm>
            <a:off x="571500" y="5486400"/>
            <a:ext cx="11087100" cy="819150"/>
          </a:xfrm>
          <a:prstGeom prst="rect">
            <a:avLst/>
          </a:prstGeom>
          <a:solidFill>
            <a:srgbClr val="FFF8EE"/>
          </a:solidFill>
        </p:spPr>
        <p:txBody>
          <a:bodyPr/>
          <a:p/>
        </p:txBody>
      </p:sp>
      <p:sp>
        <p:nvSpPr>
          <p:cNvPr id="155" name="任意多边形 154"/>
          <p:cNvSpPr/>
          <p:nvPr/>
        </p:nvSpPr>
        <p:spPr>
          <a:xfrm>
            <a:off x="533400" y="5486400"/>
            <a:ext cx="11125200" cy="819150"/>
          </a:xfrm>
          <a:custGeom>
            <a:avLst/>
            <a:gdLst/>
            <a:ahLst/>
            <a:cxnLst/>
            <a:pathLst>
              <a:path w="1168" h="86">
                <a:moveTo>
                  <a:pt x="0" y="0"/>
                </a:moveTo>
                <a:lnTo>
                  <a:pt x="4" y="0"/>
                </a:lnTo>
                <a:lnTo>
                  <a:pt x="4" y="86"/>
                </a:lnTo>
                <a:lnTo>
                  <a:pt x="0" y="86"/>
                </a:lnTo>
                <a:close/>
              </a:path>
            </a:pathLst>
          </a:custGeom>
          <a:solidFill>
            <a:srgbClr val="D8952F"/>
          </a:solidFill>
        </p:spPr>
        <p:txBody>
          <a:bodyPr/>
          <a:p/>
        </p:txBody>
      </p:sp>
      <p:sp>
        <p:nvSpPr>
          <p:cNvPr id="156" name="文本框 155" descr="{&quot;isTemplate&quot;:true,&quot;type&quot;:&quot;text&quot;}"/>
          <p:cNvSpPr txBox="1"/>
          <p:nvPr/>
        </p:nvSpPr>
        <p:spPr>
          <a:xfrm>
            <a:off x="676275" y="5591175"/>
            <a:ext cx="10877550" cy="257175"/>
          </a:xfrm>
          <a:prstGeom prst="rect">
            <a:avLst/>
          </a:prstGeom>
        </p:spPr>
        <p:txBody>
          <a:bodyPr wrap="none" lIns="0" tIns="0" rIns="0" bIns="0"/>
          <a:p>
            <a:pPr>
              <a:lnSpc>
                <a:spcPct val="160000"/>
              </a:lnSpc>
            </a:pPr>
            <a:r>
              <a:rPr lang="en-US" sz="1050" b="1">
                <a:solidFill>
                  <a:srgbClr val="9A6A12"/>
                </a:solidFill>
                <a:latin typeface="微软雅黑" panose="020B0503020204020204" charset="-122"/>
                <a:ea typeface="微软雅黑" panose="020B0503020204020204" charset="-122"/>
              </a:rPr>
              <a:t>◆ </a:t>
            </a:r>
            <a:r>
              <a:rPr lang="zh-CN" sz="1050" b="1">
                <a:solidFill>
                  <a:srgbClr val="9A6A12"/>
                </a:solidFill>
                <a:latin typeface="微软雅黑" panose="020B0503020204020204" charset="-122"/>
                <a:ea typeface="微软雅黑" panose="020B0503020204020204" charset="-122"/>
              </a:rPr>
              <a:t>结构逻辑：先</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能不能用</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（第四部分），再</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什么时候不一样</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（第五部分），最后</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争议题单独答</a:t>
            </a:r>
            <a:r>
              <a:rPr lang="en-US" sz="1050" b="1">
                <a:solidFill>
                  <a:srgbClr val="9A6A12"/>
                </a:solidFill>
                <a:latin typeface="微软雅黑" panose="020B0503020204020204" charset="-122"/>
                <a:ea typeface="微软雅黑" panose="020B0503020204020204" charset="-122"/>
              </a:rPr>
              <a:t>"</a:t>
            </a:r>
            <a:r>
              <a:rPr lang="zh-CN" sz="1050" b="1">
                <a:solidFill>
                  <a:srgbClr val="9A6A12"/>
                </a:solidFill>
                <a:latin typeface="微软雅黑" panose="020B0503020204020204" charset="-122"/>
                <a:ea typeface="微软雅黑" panose="020B0503020204020204" charset="-122"/>
              </a:rPr>
              <a:t>（第六部分）</a:t>
            </a:r>
            <a:endParaRPr lang="zh-CN" sz="1050" b="1">
              <a:solidFill>
                <a:srgbClr val="9A6A12"/>
              </a:solidFill>
              <a:latin typeface="微软雅黑" panose="020B0503020204020204" charset="-122"/>
              <a:ea typeface="微软雅黑" panose="020B0503020204020204" charset="-122"/>
            </a:endParaRPr>
          </a:p>
        </p:txBody>
      </p:sp>
      <p:sp>
        <p:nvSpPr>
          <p:cNvPr id="157" name="Rectangle 156"/>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60" name="Rectangle 159"/>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162" name="TextBox 161"/>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63" name="TextBox 162"/>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64" name="TextBox 163"/>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65" name="TextBox 164"/>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66" name="TextBox 165"/>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67" name="TextBox 166"/>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49" name="" descr="&lt;Slide style={{ width: 1280, height: 720, background: '#FFFFFF', padding: 0, flexDirection: 'column' }}&gt;&#13;&#10;    &lt;Image src=&quot;assets/deco_teal.png&quot; style={{ position: 'absolute', top: 0, left: 0, width: 1280, height: 720 }} /&gt;&#13;&#10;&#13;&#10;    &lt;Box style={{ position: 'absolute', top: 236, left: 116, width: 208, height: 208, border: '4px solid #FFFFFF', alignItems: 'center', justifyContent: 'center' }}&gt;&#13;&#10;        &lt;Text style={{ fontSize: 72, fontWeight: 'bold', color: '#FFFFFF', lineHeight: 1 }}&gt;04&lt;/Text&gt;&#13;&#10;    &lt;/Box&gt;&#13;&#10;&#13;&#10;    &lt;Text style={{ position: 'absolute', top: 296, left: 432, width: 790, fontSize: 52, fontWeight: 'bold', color: '#1F1F1F', lineHeight: 1.25 }}&gt;&#13;&#10;        研究方法的拆解&#13;&#10;    &lt;/Text&gt;&#13;&#10;    &lt;Box style={{ position: 'absolute', top: 386, left: 432, width: 88, height: 6, background: '#01A5B1' }} /&gt;&#13;&#10;    &lt;Text style={{ position: 'absolute', top: 416, left: 432, width: 770, fontSize: 20, color: '#5A5A5A', lineHeight: 1.62 }}&gt;&#13;&#10;        把方法章节逐句翻译成代码。公式与代码之间的实现 Gap，往往就是最高分的创新点。&#13;&#10;    &lt;/Text&gt;&#13;&#10;&#13;&#10;    &lt;Text style={{ position: 'absolute', top: 668, left: 1140, width: 90, fontSize: 14, color: '#B0B0B0', textAlign: 'right' }}&gt;22 / 37&lt;/Text&gt;&#13;&#10;&lt;/Slide&gt;"/>
        <p:cNvGrpSpPr/>
        <p:nvPr/>
      </p:nvGrpSpPr>
      <p:grpSpPr>
        <a:xfrm>
          <a:off x="0" y="0"/>
          <a:ext cx="0" cy="0"/>
          <a:chOff x="0" y="0"/>
          <a:chExt cx="0" cy="0"/>
        </a:xfrm>
      </p:grpSpPr>
      <p:sp>
        <p:nvSpPr>
          <p:cNvPr id="350" name="矩形 349"/>
          <p:cNvSpPr/>
          <p:nvPr/>
        </p:nvSpPr>
        <p:spPr>
          <a:xfrm>
            <a:off x="0" y="0"/>
            <a:ext cx="12192000" cy="6858000"/>
          </a:xfrm>
          <a:prstGeom prst="rect">
            <a:avLst/>
          </a:prstGeom>
          <a:solidFill>
            <a:srgbClr val="FFFFFF"/>
          </a:solidFill>
        </p:spPr>
        <p:txBody>
          <a:bodyPr/>
          <a:p/>
        </p:txBody>
      </p:sp>
      <p:pic>
        <p:nvPicPr>
          <p:cNvPr id="351" name="图片 350"/>
          <p:cNvPicPr>
            <a:picLocks noChangeAspect="1"/>
          </p:cNvPicPr>
          <p:nvPr/>
        </p:nvPicPr>
        <p:blipFill>
          <a:blip r:embed="rId1"/>
          <a:stretch>
            <a:fillRect/>
          </a:stretch>
        </p:blipFill>
        <p:spPr>
          <a:xfrm>
            <a:off x="0" y="0"/>
            <a:ext cx="12192000" cy="6858000"/>
          </a:xfrm>
          <a:prstGeom prst="rect">
            <a:avLst/>
          </a:prstGeom>
        </p:spPr>
      </p:pic>
      <p:sp>
        <p:nvSpPr>
          <p:cNvPr id="352" name="矩形 351"/>
          <p:cNvSpPr/>
          <p:nvPr/>
        </p:nvSpPr>
        <p:spPr>
          <a:xfrm>
            <a:off x="1104900" y="2247900"/>
            <a:ext cx="1981200" cy="1981200"/>
          </a:xfrm>
          <a:prstGeom prst="rect">
            <a:avLst/>
          </a:prstGeom>
          <a:ln w="50800">
            <a:solidFill>
              <a:srgbClr val="FFFFFF"/>
            </a:solidFill>
            <a:prstDash val="solid"/>
          </a:ln>
        </p:spPr>
        <p:txBody>
          <a:bodyPr/>
          <a:p/>
        </p:txBody>
      </p:sp>
      <p:sp>
        <p:nvSpPr>
          <p:cNvPr id="353" name="文本框 352"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02</a:t>
            </a:r>
            <a:endParaRPr lang="en-US" sz="5400" b="1">
              <a:solidFill>
                <a:srgbClr val="FFFFFF"/>
              </a:solidFill>
              <a:latin typeface="微软雅黑" panose="020B0503020204020204" charset="-122"/>
              <a:ea typeface="微软雅黑" panose="020B0503020204020204" charset="-122"/>
            </a:endParaRPr>
          </a:p>
        </p:txBody>
      </p:sp>
      <p:sp>
        <p:nvSpPr>
          <p:cNvPr id="354" name="文本框 353" descr="{&quot;isTemplate&quot;:true,&quot;type&quot;:&quot;text&quot;}"/>
          <p:cNvSpPr txBox="1"/>
          <p:nvPr/>
        </p:nvSpPr>
        <p:spPr>
          <a:xfrm>
            <a:off x="4114800" y="2819400"/>
            <a:ext cx="7524750" cy="742950"/>
          </a:xfrm>
          <a:prstGeom prst="rect">
            <a:avLst/>
          </a:prstGeom>
        </p:spPr>
        <p:txBody>
          <a:bodyPr wrap="none" lIns="0" tIns="0" rIns="0" bIns="0"/>
          <a:p>
            <a:pPr algn="l">
              <a:lnSpc>
                <a:spcPct val="125000"/>
              </a:lnSpc>
            </a:pPr>
            <a:r>
              <a:rPr lang="zh-CN" sz="3900" b="1">
                <a:solidFill>
                  <a:srgbClr val="1F1F1F"/>
                </a:solidFill>
                <a:latin typeface="微软雅黑" panose="020B0503020204020204" charset="-122"/>
                <a:ea typeface="微软雅黑" panose="020B0503020204020204" charset="-122"/>
              </a:rPr>
              <a:t>文献回顾</a:t>
            </a:r>
            <a:endParaRPr lang="zh-CN" sz="3900" b="1">
              <a:solidFill>
                <a:srgbClr val="1F1F1F"/>
              </a:solidFill>
              <a:latin typeface="微软雅黑" panose="020B0503020204020204" charset="-122"/>
              <a:ea typeface="微软雅黑" panose="020B0503020204020204" charset="-122"/>
            </a:endParaRPr>
          </a:p>
        </p:txBody>
      </p:sp>
      <p:sp>
        <p:nvSpPr>
          <p:cNvPr id="355" name="矩形 354"/>
          <p:cNvSpPr/>
          <p:nvPr/>
        </p:nvSpPr>
        <p:spPr>
          <a:xfrm>
            <a:off x="4114800" y="3676650"/>
            <a:ext cx="838200" cy="57150"/>
          </a:xfrm>
          <a:prstGeom prst="rect">
            <a:avLst/>
          </a:prstGeom>
          <a:solidFill>
            <a:srgbClr val="01A5B1"/>
          </a:solidFill>
        </p:spPr>
        <p:txBody>
          <a:bodyPr/>
          <a:p/>
        </p:txBody>
      </p:sp>
      <p:sp>
        <p:nvSpPr>
          <p:cNvPr id="356" name="Rectangle 355"/>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TextBox 357"/>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359" name="Rectangle 358"/>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TextBox 359"/>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361" name="TextBox 360"/>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362" name="TextBox 36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363" name="TextBox 362"/>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364" name="TextBox 363"/>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365" name="TextBox 364"/>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366" name="TextBox 365"/>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57"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2.1 文献回顾①②：结论不一致与共同缺陷&lt;/Text&gt;&#10;    &lt;Text style={{ position: 'absolute', top: 34, left: 1080, width: 144, fontSize: 13, color: '#B0B0B0', textAlign: 'right' }}&gt;08 / 9&lt;/Text&gt;&#10;&#10;    &lt;Box style={{ position: 'absolute', top: 96, left: 56, width: 560, height: 280, background: '#FFFFFF', border: '1px solid #E4E4E4', boxShadow: '0 2px 10px rgba(0,0,0,0.07)', alignItems: 'center', justifyContent: 'center', padding: 6 }}&gt;&#10;        &lt;Image src=&quot;assets/u08_s7.png&quot; style={{ width: 548, height: 268, objectFit: 'contain' }} /&gt;&#10;    &lt;/Box&gt;&#10;    &lt;Text style={{ position: 'absolute', top: 384, left: 56, width: 560, fontSize: 12.5, color: '#8A8A8A', lineHeight: 1.55 }}&gt;&#10;        ▲ 原文 P193 二、文献回顾 第①段（刘坤标注版）：吴世农/田利辉划线 + 动量反转三家划线&#10;    &lt;/Text&gt;&#10;&#10;    &lt;Box style={{ position: 'absolute', top: 458, left: 56, width: 560, height: 102, background: '#F5FBFB', borderLeft: '4px solid #01A5B1', padding: 10, flexDirection: 'column' }}&gt;&#10;        &lt;Text style={{ fontSize: 14, fontWeight: 'bold', color: '#0B7C86', marginBottom: 3 }}&gt;◆ 段①：三因子国内检验不一致（对照划线）&lt;/Text&gt;&#10;        &lt;Text style={{ fontSize: 13, color: '#444444', lineHeight: 1.6 }}&gt;&#10;            吴世农、许年行(2004)：账面市值比 + 规模效应&lt;b&gt;都显著&lt;/b&gt;；田利辉等(2014)：规模显著、账面市值比&lt;b&gt;不显著&lt;/b&gt;。分歧归因于&quot;样本区间、样本范围、因子构建方法、分组方法&quot;。&#10;        &lt;/Text&gt;&#10;    &lt;/Box&gt;&#10;    &lt;Box style={{ position: 'absolute', top: 572, left: 56, width: 560, height: 102, background: '#F5FBFB', borderLeft: '4px solid #01A5B1', padding: 10, flexDirection: 'column' }}&gt;&#10;        &lt;Text style={{ fontSize: 14, fontWeight: 'bold', color: '#0B7C86', marginBottom: 3 }}&gt;◆ 段①：动量反转之争（对照划线）&lt;/Text&gt;&#10;        &lt;Text style={{ fontSize: 13, color: '#444444', lineHeight: 1.6 }}&gt;&#10;            高秋明等(2014)：月度频率&lt;b&gt;无&lt;/b&gt;显著动量；舒建平等(2012)：动量与反转&lt;b&gt;周期性演化&lt;/b&gt;、周期长度不固定；鲁臻、邹恒甫(2007)：明显&quot;反转效应&quot;。&#10;        &lt;/Text&gt;&#10;    &lt;/Box&gt;&#10;&#10;    &lt;Box style={{ position: 'absolute', top: 96, left: 646, width: 578, height: 210, background: '#FFFFFF', border: '1px solid #E4E4E4', boxShadow: '0 2px 10px rgba(0,0,0,0.07)', alignItems: 'center', justifyContent: 'center', padding: 6 }}&gt;&#10;        &lt;Image src=&quot;assets/u09_lit1.png&quot; style={{ width: 566, height: 198, objectFit: 'contain' }} /&gt;&#10;    &lt;/Box&gt;&#10;    &lt;Text style={{ position: 'absolute', top: 314, left: 646, width: 578, fontSize: 12.5, color: '#8A8A8A', lineHeight: 1.55 }}&gt;&#10;        ▲ 第②段：高春亭/赵胜民/Guo 三篇划线；&quot;仅在全样本下比较&quot;&quot;并没有对此进行检验&quot;&#10;    &lt;/Text&gt;&#10;&#10;    &lt;Box style={{ position: 'absolute', top: 382, left: 646, width: 578, height: 128, background: '#F5FBFB', borderLeft: '4px solid #01A5B1', padding: 10, flexDirection: 'column' }}&gt;&#10;        &lt;Text style={{ fontSize: 14, fontWeight: 'bold', color: '#0B7C86', marginBottom: 3 }}&gt;◆ 段②：五因子中国的三种声音&lt;/Text&gt;&#10;        &lt;Text style={{ fontSize: 13, color: '#444444', lineHeight: 1.6 }}&gt;&#10;            高春亭、周孝华(2016)：五因子&lt;b&gt;优于&lt;/b&gt;三因子；赵胜民等(2016)：盈利、投资因子&lt;b&gt;无益于&lt;/b&gt;诠释组合收益率；Guo et al.(2017)：投资风格因子&lt;b&gt;冗余&lt;/b&gt;。&#10;        &lt;/Text&gt;&#10;    &lt;/Box&gt;&#10;    &lt;Box style={{ position: 'absolute', top: 522, left: 646, width: 578, height: 152, background: '#FFF3F0', borderLeft: '4px solid #C0504D', padding: 10, flexDirection: 'column' }}&gt;&#10;        &lt;Text style={{ fontSize: 14, fontWeight: 'bold', color: '#A03D3A', marginBottom: 3 }}&gt;◆ 共同缺陷 → 本文三个动作（本页重点）&lt;/Text&gt;&#10;        &lt;Text style={{ fontSize: 13, color: '#444444', lineHeight: 1.62 }}&gt;&#10;            &quot;这几篇文章&lt;b&gt;仅在全样本下&lt;/b&gt;比较&quot;&quot;学术界更加关心……经过三因子模型风险调整后还是否具有显著的风险溢价，但这几篇文章&lt;b&gt;并没有对此进行检验&lt;/b&gt;&quot;。→ 动作① 补溢价检验（表 3）；② 分时期检验（表 5–7）；③ 动量反转新证据（表 8）。&#10;        &lt;/Text&gt;&#10;    &lt;/Box&gt;&#10;&#10;&lt;/Slide&gt;"/>
        <p:cNvGrpSpPr/>
        <p:nvPr/>
      </p:nvGrpSpPr>
      <p:grpSpPr>
        <a:xfrm>
          <a:off x="0" y="0"/>
          <a:ext cx="0" cy="0"/>
          <a:chOff x="0" y="0"/>
          <a:chExt cx="0" cy="0"/>
        </a:xfrm>
      </p:grpSpPr>
      <p:sp>
        <p:nvSpPr>
          <p:cNvPr id="158" name="矩形 157"/>
          <p:cNvSpPr/>
          <p:nvPr/>
        </p:nvSpPr>
        <p:spPr>
          <a:xfrm>
            <a:off x="0" y="0"/>
            <a:ext cx="12192000" cy="6858000"/>
          </a:xfrm>
          <a:prstGeom prst="rect">
            <a:avLst/>
          </a:prstGeom>
          <a:solidFill>
            <a:srgbClr val="FFFFFF"/>
          </a:solidFill>
        </p:spPr>
        <p:txBody>
          <a:bodyPr/>
          <a:p/>
        </p:txBody>
      </p:sp>
      <p:sp>
        <p:nvSpPr>
          <p:cNvPr id="159" name="矩形 158"/>
          <p:cNvSpPr/>
          <p:nvPr/>
        </p:nvSpPr>
        <p:spPr>
          <a:xfrm>
            <a:off x="0" y="0"/>
            <a:ext cx="12192000" cy="57150"/>
          </a:xfrm>
          <a:prstGeom prst="rect">
            <a:avLst/>
          </a:prstGeom>
          <a:solidFill>
            <a:srgbClr val="01A5B1"/>
          </a:solidFill>
        </p:spPr>
        <p:txBody>
          <a:bodyPr/>
          <a:p/>
        </p:txBody>
      </p:sp>
      <p:sp>
        <p:nvSpPr>
          <p:cNvPr id="160" name="文本框 159"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en-US" sz="2200" b="1">
                <a:solidFill>
                  <a:srgbClr val="1F1F1F"/>
                </a:solidFill>
                <a:latin typeface="微软雅黑" panose="020B0503020204020204" charset="-122"/>
                <a:ea typeface="微软雅黑" panose="020B0503020204020204" charset="-122"/>
              </a:rPr>
              <a:t>2.1 </a:t>
            </a:r>
            <a:r>
              <a:rPr lang="zh-CN" sz="2200" b="1">
                <a:solidFill>
                  <a:srgbClr val="1F1F1F"/>
                </a:solidFill>
                <a:latin typeface="微软雅黑" panose="020B0503020204020204" charset="-122"/>
                <a:ea typeface="微软雅黑" panose="020B0503020204020204" charset="-122"/>
              </a:rPr>
              <a:t>文献回顾①②：结论不一致与共同缺陷</a:t>
            </a:r>
            <a:endParaRPr lang="zh-CN" sz="2175" b="1">
              <a:solidFill>
                <a:srgbClr val="1F1F1F"/>
              </a:solidFill>
              <a:latin typeface="微软雅黑" panose="020B0503020204020204" charset="-122"/>
              <a:ea typeface="微软雅黑" panose="020B0503020204020204" charset="-122"/>
            </a:endParaRPr>
          </a:p>
        </p:txBody>
      </p:sp>
      <p:sp>
        <p:nvSpPr>
          <p:cNvPr id="162" name="矩形 161"/>
          <p:cNvSpPr/>
          <p:nvPr/>
        </p:nvSpPr>
        <p:spPr>
          <a:xfrm>
            <a:off x="533400" y="914400"/>
            <a:ext cx="5334000" cy="26670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63" name="图片 162"/>
          <p:cNvPicPr>
            <a:picLocks noChangeAspect="1"/>
          </p:cNvPicPr>
          <p:nvPr/>
        </p:nvPicPr>
        <p:blipFill>
          <a:blip r:embed="rId1"/>
          <a:srcRect l="799" r="799"/>
          <a:stretch>
            <a:fillRect/>
          </a:stretch>
        </p:blipFill>
        <p:spPr>
          <a:xfrm>
            <a:off x="590550" y="971550"/>
            <a:ext cx="5219700" cy="2552700"/>
          </a:xfrm>
          <a:prstGeom prst="rect">
            <a:avLst/>
          </a:prstGeom>
        </p:spPr>
      </p:pic>
      <p:sp>
        <p:nvSpPr>
          <p:cNvPr id="164" name="文本框 163" descr="{&quot;isTemplate&quot;:true,&quot;type&quot;:&quot;text&quot;}"/>
          <p:cNvSpPr txBox="1"/>
          <p:nvPr/>
        </p:nvSpPr>
        <p:spPr>
          <a:xfrm>
            <a:off x="533400" y="3657600"/>
            <a:ext cx="5334000" cy="228600"/>
          </a:xfrm>
          <a:prstGeom prst="rect">
            <a:avLst/>
          </a:prstGeom>
        </p:spPr>
        <p:txBody>
          <a:bodyPr wrap="none" lIns="0" tIns="0" rIns="0" bIns="0"/>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原文</a:t>
            </a:r>
            <a:r>
              <a:rPr lang="en-US" sz="940">
                <a:solidFill>
                  <a:srgbClr val="8A8A8A"/>
                </a:solidFill>
                <a:latin typeface="微软雅黑" panose="020B0503020204020204" charset="-122"/>
                <a:ea typeface="微软雅黑" panose="020B0503020204020204" charset="-122"/>
              </a:rPr>
              <a:t> P193 </a:t>
            </a:r>
            <a:r>
              <a:rPr lang="zh-CN" sz="940">
                <a:solidFill>
                  <a:srgbClr val="8A8A8A"/>
                </a:solidFill>
                <a:latin typeface="微软雅黑" panose="020B0503020204020204" charset="-122"/>
                <a:ea typeface="微软雅黑" panose="020B0503020204020204" charset="-122"/>
              </a:rPr>
              <a:t>二、文献回顾</a:t>
            </a: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第①段（刘坤标注版）：吴世农</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田利辉划线</a:t>
            </a:r>
            <a:r>
              <a:rPr lang="en-US" sz="940">
                <a:solidFill>
                  <a:srgbClr val="8A8A8A"/>
                </a:solidFill>
                <a:latin typeface="微软雅黑" panose="020B0503020204020204" charset="-122"/>
                <a:ea typeface="微软雅黑" panose="020B0503020204020204" charset="-122"/>
              </a:rPr>
              <a:t> + </a:t>
            </a:r>
            <a:r>
              <a:rPr lang="zh-CN" sz="940">
                <a:solidFill>
                  <a:srgbClr val="8A8A8A"/>
                </a:solidFill>
                <a:latin typeface="微软雅黑" panose="020B0503020204020204" charset="-122"/>
                <a:ea typeface="微软雅黑" panose="020B0503020204020204" charset="-122"/>
              </a:rPr>
              <a:t>动量反转三家划线</a:t>
            </a:r>
            <a:endParaRPr lang="zh-CN" sz="940">
              <a:solidFill>
                <a:srgbClr val="8A8A8A"/>
              </a:solidFill>
              <a:latin typeface="微软雅黑" panose="020B0503020204020204" charset="-122"/>
              <a:ea typeface="微软雅黑" panose="020B0503020204020204" charset="-122"/>
            </a:endParaRPr>
          </a:p>
        </p:txBody>
      </p:sp>
      <p:sp>
        <p:nvSpPr>
          <p:cNvPr id="165" name="矩形 164"/>
          <p:cNvSpPr/>
          <p:nvPr/>
        </p:nvSpPr>
        <p:spPr>
          <a:xfrm>
            <a:off x="571500" y="4362450"/>
            <a:ext cx="5295900" cy="971550"/>
          </a:xfrm>
          <a:prstGeom prst="rect">
            <a:avLst/>
          </a:prstGeom>
          <a:solidFill>
            <a:srgbClr val="F5FBFB"/>
          </a:solidFill>
        </p:spPr>
        <p:txBody>
          <a:bodyPr/>
          <a:p/>
        </p:txBody>
      </p:sp>
      <p:sp>
        <p:nvSpPr>
          <p:cNvPr id="166" name="任意多边形 165"/>
          <p:cNvSpPr/>
          <p:nvPr/>
        </p:nvSpPr>
        <p:spPr>
          <a:xfrm>
            <a:off x="533400" y="4362450"/>
            <a:ext cx="5334000" cy="971550"/>
          </a:xfrm>
          <a:custGeom>
            <a:avLst/>
            <a:gdLst/>
            <a:ahLst/>
            <a:cxnLst/>
            <a:pathLst>
              <a:path w="560" h="102">
                <a:moveTo>
                  <a:pt x="0" y="0"/>
                </a:moveTo>
                <a:lnTo>
                  <a:pt x="4" y="0"/>
                </a:lnTo>
                <a:lnTo>
                  <a:pt x="4" y="102"/>
                </a:lnTo>
                <a:lnTo>
                  <a:pt x="0" y="102"/>
                </a:lnTo>
                <a:close/>
              </a:path>
            </a:pathLst>
          </a:custGeom>
          <a:solidFill>
            <a:srgbClr val="01A5B1"/>
          </a:solidFill>
        </p:spPr>
        <p:txBody>
          <a:bodyPr/>
          <a:p/>
        </p:txBody>
      </p:sp>
      <p:sp>
        <p:nvSpPr>
          <p:cNvPr id="167" name="文本框 166" descr="{&quot;isTemplate&quot;:true,&quot;type&quot;:&quot;text&quot;}"/>
          <p:cNvSpPr txBox="1"/>
          <p:nvPr/>
        </p:nvSpPr>
        <p:spPr>
          <a:xfrm>
            <a:off x="666750" y="4457700"/>
            <a:ext cx="5105400" cy="161925"/>
          </a:xfrm>
          <a:prstGeom prst="rect">
            <a:avLst/>
          </a:prstGeom>
        </p:spPr>
        <p:txBody>
          <a:bodyPr wrap="none" lIns="0" tIns="0" rIns="0" bIns="0"/>
          <a:p>
            <a:pPr>
              <a:lnSpc>
                <a:spcPct val="100000"/>
              </a:lnSpc>
            </a:pPr>
            <a:r>
              <a:rPr lang="en-US" sz="1050" b="1">
                <a:solidFill>
                  <a:srgbClr val="0B7C86"/>
                </a:solidFill>
                <a:latin typeface="微软雅黑" panose="020B0503020204020204" charset="-122"/>
                <a:ea typeface="微软雅黑" panose="020B0503020204020204" charset="-122"/>
              </a:rPr>
              <a:t>◆ </a:t>
            </a:r>
            <a:r>
              <a:rPr lang="zh-CN" sz="1050" b="1">
                <a:solidFill>
                  <a:srgbClr val="0B7C86"/>
                </a:solidFill>
                <a:latin typeface="微软雅黑" panose="020B0503020204020204" charset="-122"/>
                <a:ea typeface="微软雅黑" panose="020B0503020204020204" charset="-122"/>
              </a:rPr>
              <a:t>段①：三因子国内检验不一致（对照划线）</a:t>
            </a:r>
            <a:endParaRPr lang="zh-CN" sz="1050" b="1">
              <a:solidFill>
                <a:srgbClr val="0B7C86"/>
              </a:solidFill>
              <a:latin typeface="微软雅黑" panose="020B0503020204020204" charset="-122"/>
              <a:ea typeface="微软雅黑" panose="020B0503020204020204" charset="-122"/>
            </a:endParaRPr>
          </a:p>
        </p:txBody>
      </p:sp>
      <p:sp>
        <p:nvSpPr>
          <p:cNvPr id="168" name="文本框 167" descr="{&quot;isTemplate&quot;:true,&quot;type&quot;:&quot;text&quot;}"/>
          <p:cNvSpPr txBox="1"/>
          <p:nvPr/>
        </p:nvSpPr>
        <p:spPr>
          <a:xfrm>
            <a:off x="666750" y="4648200"/>
            <a:ext cx="5105400" cy="476250"/>
          </a:xfrm>
          <a:prstGeom prst="rect">
            <a:avLst/>
          </a:prstGeom>
        </p:spPr>
        <p:txBody>
          <a:bodyPr wrap="square" lIns="0" tIns="0" rIns="0" bIns="0">
            <a:normAutofit/>
          </a:bodyPr>
          <a:p>
            <a:pPr>
              <a:lnSpc>
                <a:spcPct val="160000"/>
              </a:lnSpc>
            </a:pPr>
            <a:r>
              <a:rPr lang="zh-CN" sz="975">
                <a:solidFill>
                  <a:srgbClr val="444444"/>
                </a:solidFill>
                <a:latin typeface="微软雅黑" panose="020B0503020204020204" charset="-122"/>
                <a:ea typeface="微软雅黑" panose="020B0503020204020204" charset="-122"/>
              </a:rPr>
              <a:t>吴世农、许年行</a:t>
            </a:r>
            <a:r>
              <a:rPr lang="en-US" sz="975">
                <a:solidFill>
                  <a:srgbClr val="444444"/>
                </a:solidFill>
                <a:latin typeface="微软雅黑" panose="020B0503020204020204" charset="-122"/>
                <a:ea typeface="微软雅黑" panose="020B0503020204020204" charset="-122"/>
              </a:rPr>
              <a:t>(2004)</a:t>
            </a:r>
            <a:r>
              <a:rPr lang="zh-CN" sz="975">
                <a:solidFill>
                  <a:srgbClr val="444444"/>
                </a:solidFill>
                <a:latin typeface="微软雅黑" panose="020B0503020204020204" charset="-122"/>
                <a:ea typeface="微软雅黑" panose="020B0503020204020204" charset="-122"/>
              </a:rPr>
              <a:t>：账面市值比</a:t>
            </a:r>
            <a:r>
              <a:rPr lang="en-US" sz="975">
                <a:solidFill>
                  <a:srgbClr val="444444"/>
                </a:solidFill>
                <a:latin typeface="微软雅黑" panose="020B0503020204020204" charset="-122"/>
                <a:ea typeface="微软雅黑" panose="020B0503020204020204" charset="-122"/>
              </a:rPr>
              <a:t> + </a:t>
            </a:r>
            <a:r>
              <a:rPr lang="zh-CN" sz="975">
                <a:solidFill>
                  <a:srgbClr val="444444"/>
                </a:solidFill>
                <a:latin typeface="微软雅黑" panose="020B0503020204020204" charset="-122"/>
                <a:ea typeface="微软雅黑" panose="020B0503020204020204" charset="-122"/>
              </a:rPr>
              <a:t>规模效应</a:t>
            </a:r>
            <a:r>
              <a:rPr lang="zh-CN" sz="975">
                <a:solidFill>
                  <a:srgbClr val="444444"/>
                </a:solidFill>
                <a:latin typeface="微软雅黑" panose="020B0503020204020204" charset="-122"/>
                <a:ea typeface="微软雅黑" panose="020B0503020204020204" charset="-122"/>
              </a:rPr>
              <a:t>都显著</a:t>
            </a:r>
            <a:r>
              <a:rPr lang="zh-CN" sz="975">
                <a:solidFill>
                  <a:srgbClr val="444444"/>
                </a:solidFill>
                <a:latin typeface="微软雅黑" panose="020B0503020204020204" charset="-122"/>
                <a:ea typeface="微软雅黑" panose="020B0503020204020204" charset="-122"/>
              </a:rPr>
              <a:t>；田利辉等</a:t>
            </a:r>
            <a:r>
              <a:rPr lang="en-US" sz="975">
                <a:solidFill>
                  <a:srgbClr val="444444"/>
                </a:solidFill>
                <a:latin typeface="微软雅黑" panose="020B0503020204020204" charset="-122"/>
                <a:ea typeface="微软雅黑" panose="020B0503020204020204" charset="-122"/>
              </a:rPr>
              <a:t>(2014)</a:t>
            </a:r>
            <a:r>
              <a:rPr lang="zh-CN" sz="975">
                <a:solidFill>
                  <a:srgbClr val="444444"/>
                </a:solidFill>
                <a:latin typeface="微软雅黑" panose="020B0503020204020204" charset="-122"/>
                <a:ea typeface="微软雅黑" panose="020B0503020204020204" charset="-122"/>
              </a:rPr>
              <a:t>：规模显著、账面市值比</a:t>
            </a:r>
            <a:r>
              <a:rPr lang="zh-CN" sz="975">
                <a:solidFill>
                  <a:srgbClr val="444444"/>
                </a:solidFill>
                <a:latin typeface="微软雅黑" panose="020B0503020204020204" charset="-122"/>
                <a:ea typeface="微软雅黑" panose="020B0503020204020204" charset="-122"/>
              </a:rPr>
              <a:t>不显著</a:t>
            </a:r>
            <a:r>
              <a:rPr lang="zh-CN" sz="975">
                <a:solidFill>
                  <a:srgbClr val="444444"/>
                </a:solidFill>
                <a:latin typeface="微软雅黑" panose="020B0503020204020204" charset="-122"/>
                <a:ea typeface="微软雅黑" panose="020B0503020204020204" charset="-122"/>
              </a:rPr>
              <a:t>。分歧归因于</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样本区间、样本范围、因子构建方法、分组方法</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a:t>
            </a:r>
            <a:endParaRPr lang="zh-CN" sz="975">
              <a:solidFill>
                <a:srgbClr val="444444"/>
              </a:solidFill>
              <a:latin typeface="微软雅黑" panose="020B0503020204020204" charset="-122"/>
              <a:ea typeface="微软雅黑" panose="020B0503020204020204" charset="-122"/>
            </a:endParaRPr>
          </a:p>
        </p:txBody>
      </p:sp>
      <p:sp>
        <p:nvSpPr>
          <p:cNvPr id="169" name="矩形 168"/>
          <p:cNvSpPr/>
          <p:nvPr/>
        </p:nvSpPr>
        <p:spPr>
          <a:xfrm>
            <a:off x="571500" y="5448300"/>
            <a:ext cx="5295900" cy="971550"/>
          </a:xfrm>
          <a:prstGeom prst="rect">
            <a:avLst/>
          </a:prstGeom>
          <a:solidFill>
            <a:srgbClr val="F5FBFB"/>
          </a:solidFill>
        </p:spPr>
        <p:txBody>
          <a:bodyPr/>
          <a:p/>
        </p:txBody>
      </p:sp>
      <p:sp>
        <p:nvSpPr>
          <p:cNvPr id="170" name="任意多边形 169"/>
          <p:cNvSpPr/>
          <p:nvPr/>
        </p:nvSpPr>
        <p:spPr>
          <a:xfrm>
            <a:off x="533400" y="5448300"/>
            <a:ext cx="5334000" cy="971550"/>
          </a:xfrm>
          <a:custGeom>
            <a:avLst/>
            <a:gdLst/>
            <a:ahLst/>
            <a:cxnLst/>
            <a:pathLst>
              <a:path w="560" h="102">
                <a:moveTo>
                  <a:pt x="0" y="0"/>
                </a:moveTo>
                <a:lnTo>
                  <a:pt x="4" y="0"/>
                </a:lnTo>
                <a:lnTo>
                  <a:pt x="4" y="102"/>
                </a:lnTo>
                <a:lnTo>
                  <a:pt x="0" y="102"/>
                </a:lnTo>
                <a:close/>
              </a:path>
            </a:pathLst>
          </a:custGeom>
          <a:solidFill>
            <a:srgbClr val="01A5B1"/>
          </a:solidFill>
        </p:spPr>
        <p:txBody>
          <a:bodyPr/>
          <a:p/>
        </p:txBody>
      </p:sp>
      <p:sp>
        <p:nvSpPr>
          <p:cNvPr id="171" name="文本框 170" descr="{&quot;isTemplate&quot;:true,&quot;type&quot;:&quot;text&quot;}"/>
          <p:cNvSpPr txBox="1"/>
          <p:nvPr/>
        </p:nvSpPr>
        <p:spPr>
          <a:xfrm>
            <a:off x="666750" y="5543550"/>
            <a:ext cx="5105400" cy="161925"/>
          </a:xfrm>
          <a:prstGeom prst="rect">
            <a:avLst/>
          </a:prstGeom>
        </p:spPr>
        <p:txBody>
          <a:bodyPr wrap="none" lIns="0" tIns="0" rIns="0" bIns="0"/>
          <a:p>
            <a:pPr>
              <a:lnSpc>
                <a:spcPct val="100000"/>
              </a:lnSpc>
            </a:pPr>
            <a:r>
              <a:rPr lang="en-US" sz="1050" b="1">
                <a:solidFill>
                  <a:srgbClr val="0B7C86"/>
                </a:solidFill>
                <a:latin typeface="微软雅黑" panose="020B0503020204020204" charset="-122"/>
                <a:ea typeface="微软雅黑" panose="020B0503020204020204" charset="-122"/>
              </a:rPr>
              <a:t>◆ </a:t>
            </a:r>
            <a:r>
              <a:rPr lang="zh-CN" sz="1050" b="1">
                <a:solidFill>
                  <a:srgbClr val="0B7C86"/>
                </a:solidFill>
                <a:latin typeface="微软雅黑" panose="020B0503020204020204" charset="-122"/>
                <a:ea typeface="微软雅黑" panose="020B0503020204020204" charset="-122"/>
              </a:rPr>
              <a:t>段①：动量反转之争（对照划线）</a:t>
            </a:r>
            <a:endParaRPr lang="zh-CN" sz="1050" b="1">
              <a:solidFill>
                <a:srgbClr val="0B7C86"/>
              </a:solidFill>
              <a:latin typeface="微软雅黑" panose="020B0503020204020204" charset="-122"/>
              <a:ea typeface="微软雅黑" panose="020B0503020204020204" charset="-122"/>
            </a:endParaRPr>
          </a:p>
        </p:txBody>
      </p:sp>
      <p:sp>
        <p:nvSpPr>
          <p:cNvPr id="172" name="文本框 171" descr="{&quot;isTemplate&quot;:true,&quot;type&quot;:&quot;text&quot;}"/>
          <p:cNvSpPr txBox="1"/>
          <p:nvPr/>
        </p:nvSpPr>
        <p:spPr>
          <a:xfrm>
            <a:off x="666750" y="5734050"/>
            <a:ext cx="5105400" cy="476250"/>
          </a:xfrm>
          <a:prstGeom prst="rect">
            <a:avLst/>
          </a:prstGeom>
        </p:spPr>
        <p:txBody>
          <a:bodyPr wrap="square" lIns="0" tIns="0" rIns="0" bIns="0">
            <a:normAutofit/>
          </a:bodyPr>
          <a:p>
            <a:pPr>
              <a:lnSpc>
                <a:spcPct val="160000"/>
              </a:lnSpc>
            </a:pPr>
            <a:r>
              <a:rPr lang="zh-CN" sz="975">
                <a:solidFill>
                  <a:srgbClr val="444444"/>
                </a:solidFill>
                <a:latin typeface="微软雅黑" panose="020B0503020204020204" charset="-122"/>
                <a:ea typeface="微软雅黑" panose="020B0503020204020204" charset="-122"/>
              </a:rPr>
              <a:t>高秋明等</a:t>
            </a:r>
            <a:r>
              <a:rPr lang="en-US" sz="975">
                <a:solidFill>
                  <a:srgbClr val="444444"/>
                </a:solidFill>
                <a:latin typeface="微软雅黑" panose="020B0503020204020204" charset="-122"/>
                <a:ea typeface="微软雅黑" panose="020B0503020204020204" charset="-122"/>
              </a:rPr>
              <a:t>(2014)</a:t>
            </a:r>
            <a:r>
              <a:rPr lang="zh-CN" sz="975">
                <a:solidFill>
                  <a:srgbClr val="444444"/>
                </a:solidFill>
                <a:latin typeface="微软雅黑" panose="020B0503020204020204" charset="-122"/>
                <a:ea typeface="微软雅黑" panose="020B0503020204020204" charset="-122"/>
              </a:rPr>
              <a:t>：月度频率</a:t>
            </a:r>
            <a:r>
              <a:rPr lang="zh-CN" sz="975">
                <a:solidFill>
                  <a:srgbClr val="444444"/>
                </a:solidFill>
                <a:latin typeface="微软雅黑" panose="020B0503020204020204" charset="-122"/>
                <a:ea typeface="微软雅黑" panose="020B0503020204020204" charset="-122"/>
              </a:rPr>
              <a:t>无</a:t>
            </a:r>
            <a:r>
              <a:rPr lang="zh-CN" sz="975">
                <a:solidFill>
                  <a:srgbClr val="444444"/>
                </a:solidFill>
                <a:latin typeface="微软雅黑" panose="020B0503020204020204" charset="-122"/>
                <a:ea typeface="微软雅黑" panose="020B0503020204020204" charset="-122"/>
              </a:rPr>
              <a:t>显著动量；舒建平等</a:t>
            </a:r>
            <a:r>
              <a:rPr lang="en-US" sz="975">
                <a:solidFill>
                  <a:srgbClr val="444444"/>
                </a:solidFill>
                <a:latin typeface="微软雅黑" panose="020B0503020204020204" charset="-122"/>
                <a:ea typeface="微软雅黑" panose="020B0503020204020204" charset="-122"/>
              </a:rPr>
              <a:t>(2012)</a:t>
            </a:r>
            <a:r>
              <a:rPr lang="zh-CN" sz="975">
                <a:solidFill>
                  <a:srgbClr val="444444"/>
                </a:solidFill>
                <a:latin typeface="微软雅黑" panose="020B0503020204020204" charset="-122"/>
                <a:ea typeface="微软雅黑" panose="020B0503020204020204" charset="-122"/>
              </a:rPr>
              <a:t>：动量与反转</a:t>
            </a:r>
            <a:r>
              <a:rPr lang="zh-CN" sz="975">
                <a:solidFill>
                  <a:srgbClr val="444444"/>
                </a:solidFill>
                <a:latin typeface="微软雅黑" panose="020B0503020204020204" charset="-122"/>
                <a:ea typeface="微软雅黑" panose="020B0503020204020204" charset="-122"/>
              </a:rPr>
              <a:t>周期性演化</a:t>
            </a:r>
            <a:r>
              <a:rPr lang="zh-CN" sz="975">
                <a:solidFill>
                  <a:srgbClr val="444444"/>
                </a:solidFill>
                <a:latin typeface="微软雅黑" panose="020B0503020204020204" charset="-122"/>
                <a:ea typeface="微软雅黑" panose="020B0503020204020204" charset="-122"/>
              </a:rPr>
              <a:t>、周期长度不固定；鲁臻、邹恒甫</a:t>
            </a:r>
            <a:r>
              <a:rPr lang="en-US" sz="975">
                <a:solidFill>
                  <a:srgbClr val="444444"/>
                </a:solidFill>
                <a:latin typeface="微软雅黑" panose="020B0503020204020204" charset="-122"/>
                <a:ea typeface="微软雅黑" panose="020B0503020204020204" charset="-122"/>
              </a:rPr>
              <a:t>(2007)</a:t>
            </a:r>
            <a:r>
              <a:rPr lang="zh-CN" sz="975">
                <a:solidFill>
                  <a:srgbClr val="444444"/>
                </a:solidFill>
                <a:latin typeface="微软雅黑" panose="020B0503020204020204" charset="-122"/>
                <a:ea typeface="微软雅黑" panose="020B0503020204020204" charset="-122"/>
              </a:rPr>
              <a:t>：明显</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反转效应</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a:t>
            </a:r>
            <a:endParaRPr lang="zh-CN" sz="975">
              <a:solidFill>
                <a:srgbClr val="444444"/>
              </a:solidFill>
              <a:latin typeface="微软雅黑" panose="020B0503020204020204" charset="-122"/>
              <a:ea typeface="微软雅黑" panose="020B0503020204020204" charset="-122"/>
            </a:endParaRPr>
          </a:p>
        </p:txBody>
      </p:sp>
      <p:sp>
        <p:nvSpPr>
          <p:cNvPr id="173" name="矩形 172"/>
          <p:cNvSpPr/>
          <p:nvPr/>
        </p:nvSpPr>
        <p:spPr>
          <a:xfrm>
            <a:off x="6153150" y="914400"/>
            <a:ext cx="5505450" cy="200025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74" name="图片 173"/>
          <p:cNvPicPr>
            <a:picLocks noChangeAspect="1"/>
          </p:cNvPicPr>
          <p:nvPr/>
        </p:nvPicPr>
        <p:blipFill>
          <a:blip r:embed="rId2"/>
          <a:srcRect t="13591" b="13591"/>
          <a:stretch>
            <a:fillRect/>
          </a:stretch>
        </p:blipFill>
        <p:spPr>
          <a:xfrm>
            <a:off x="6210300" y="971550"/>
            <a:ext cx="5391150" cy="1885950"/>
          </a:xfrm>
          <a:prstGeom prst="rect">
            <a:avLst/>
          </a:prstGeom>
        </p:spPr>
      </p:pic>
      <p:sp>
        <p:nvSpPr>
          <p:cNvPr id="175" name="文本框 174" descr="{&quot;isTemplate&quot;:true,&quot;type&quot;:&quot;text&quot;}"/>
          <p:cNvSpPr txBox="1"/>
          <p:nvPr/>
        </p:nvSpPr>
        <p:spPr>
          <a:xfrm>
            <a:off x="6153150" y="2990850"/>
            <a:ext cx="5505450" cy="228600"/>
          </a:xfrm>
          <a:prstGeom prst="rect">
            <a:avLst/>
          </a:prstGeom>
        </p:spPr>
        <p:txBody>
          <a:bodyPr wrap="none" lIns="0" tIns="0" rIns="0" bIns="0"/>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第②段：高春亭</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赵胜民</a:t>
            </a:r>
            <a:r>
              <a:rPr lang="en-US" sz="940">
                <a:solidFill>
                  <a:srgbClr val="8A8A8A"/>
                </a:solidFill>
                <a:latin typeface="微软雅黑" panose="020B0503020204020204" charset="-122"/>
                <a:ea typeface="微软雅黑" panose="020B0503020204020204" charset="-122"/>
              </a:rPr>
              <a:t>/Guo </a:t>
            </a:r>
            <a:r>
              <a:rPr lang="zh-CN" sz="940">
                <a:solidFill>
                  <a:srgbClr val="8A8A8A"/>
                </a:solidFill>
                <a:latin typeface="微软雅黑" panose="020B0503020204020204" charset="-122"/>
                <a:ea typeface="微软雅黑" panose="020B0503020204020204" charset="-122"/>
              </a:rPr>
              <a:t>三篇划线；</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仅在全样本下比较</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并没有对此进行检验</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76" name="矩形 175"/>
          <p:cNvSpPr/>
          <p:nvPr/>
        </p:nvSpPr>
        <p:spPr>
          <a:xfrm>
            <a:off x="6191250" y="3638550"/>
            <a:ext cx="5467350" cy="1219200"/>
          </a:xfrm>
          <a:prstGeom prst="rect">
            <a:avLst/>
          </a:prstGeom>
          <a:solidFill>
            <a:srgbClr val="F5FBFB"/>
          </a:solidFill>
        </p:spPr>
        <p:txBody>
          <a:bodyPr/>
          <a:p/>
        </p:txBody>
      </p:sp>
      <p:sp>
        <p:nvSpPr>
          <p:cNvPr id="177" name="任意多边形 176"/>
          <p:cNvSpPr/>
          <p:nvPr/>
        </p:nvSpPr>
        <p:spPr>
          <a:xfrm>
            <a:off x="6153150" y="3638550"/>
            <a:ext cx="5505450" cy="1219200"/>
          </a:xfrm>
          <a:custGeom>
            <a:avLst/>
            <a:gdLst/>
            <a:ahLst/>
            <a:cxnLst/>
            <a:pathLst>
              <a:path w="578" h="128">
                <a:moveTo>
                  <a:pt x="0" y="0"/>
                </a:moveTo>
                <a:lnTo>
                  <a:pt x="4" y="0"/>
                </a:lnTo>
                <a:lnTo>
                  <a:pt x="4" y="128"/>
                </a:lnTo>
                <a:lnTo>
                  <a:pt x="0" y="128"/>
                </a:lnTo>
                <a:close/>
              </a:path>
            </a:pathLst>
          </a:custGeom>
          <a:solidFill>
            <a:srgbClr val="01A5B1"/>
          </a:solidFill>
        </p:spPr>
        <p:txBody>
          <a:bodyPr/>
          <a:p/>
        </p:txBody>
      </p:sp>
      <p:sp>
        <p:nvSpPr>
          <p:cNvPr id="178" name="文本框 177" descr="{&quot;isTemplate&quot;:true,&quot;type&quot;:&quot;text&quot;}"/>
          <p:cNvSpPr txBox="1"/>
          <p:nvPr/>
        </p:nvSpPr>
        <p:spPr>
          <a:xfrm>
            <a:off x="6286500" y="3733800"/>
            <a:ext cx="5276850" cy="161925"/>
          </a:xfrm>
          <a:prstGeom prst="rect">
            <a:avLst/>
          </a:prstGeom>
        </p:spPr>
        <p:txBody>
          <a:bodyPr wrap="none" lIns="0" tIns="0" rIns="0" bIns="0"/>
          <a:p>
            <a:pPr>
              <a:lnSpc>
                <a:spcPct val="100000"/>
              </a:lnSpc>
            </a:pPr>
            <a:r>
              <a:rPr lang="en-US" sz="1050" b="1">
                <a:solidFill>
                  <a:srgbClr val="0B7C86"/>
                </a:solidFill>
                <a:latin typeface="微软雅黑" panose="020B0503020204020204" charset="-122"/>
                <a:ea typeface="微软雅黑" panose="020B0503020204020204" charset="-122"/>
              </a:rPr>
              <a:t>◆ </a:t>
            </a:r>
            <a:r>
              <a:rPr lang="zh-CN" sz="1050" b="1">
                <a:solidFill>
                  <a:srgbClr val="0B7C86"/>
                </a:solidFill>
                <a:latin typeface="微软雅黑" panose="020B0503020204020204" charset="-122"/>
                <a:ea typeface="微软雅黑" panose="020B0503020204020204" charset="-122"/>
              </a:rPr>
              <a:t>段②：五因子中国的三种声音</a:t>
            </a:r>
            <a:endParaRPr lang="zh-CN" sz="1050" b="1">
              <a:solidFill>
                <a:srgbClr val="0B7C86"/>
              </a:solidFill>
              <a:latin typeface="微软雅黑" panose="020B0503020204020204" charset="-122"/>
              <a:ea typeface="微软雅黑" panose="020B0503020204020204" charset="-122"/>
            </a:endParaRPr>
          </a:p>
        </p:txBody>
      </p:sp>
      <p:sp>
        <p:nvSpPr>
          <p:cNvPr id="179" name="文本框 178" descr="{&quot;isTemplate&quot;:true,&quot;type&quot;:&quot;text&quot;}"/>
          <p:cNvSpPr txBox="1"/>
          <p:nvPr/>
        </p:nvSpPr>
        <p:spPr>
          <a:xfrm>
            <a:off x="6286500" y="3924300"/>
            <a:ext cx="5276850" cy="476250"/>
          </a:xfrm>
          <a:prstGeom prst="rect">
            <a:avLst/>
          </a:prstGeom>
        </p:spPr>
        <p:txBody>
          <a:bodyPr wrap="square" lIns="0" tIns="0" rIns="0" bIns="0">
            <a:normAutofit/>
          </a:bodyPr>
          <a:p>
            <a:pPr>
              <a:lnSpc>
                <a:spcPct val="160000"/>
              </a:lnSpc>
            </a:pPr>
            <a:r>
              <a:rPr lang="zh-CN" sz="975">
                <a:solidFill>
                  <a:srgbClr val="444444"/>
                </a:solidFill>
                <a:latin typeface="微软雅黑" panose="020B0503020204020204" charset="-122"/>
                <a:ea typeface="微软雅黑" panose="020B0503020204020204" charset="-122"/>
              </a:rPr>
              <a:t>高春亭、周孝华</a:t>
            </a:r>
            <a:r>
              <a:rPr lang="en-US" sz="975">
                <a:solidFill>
                  <a:srgbClr val="444444"/>
                </a:solidFill>
                <a:latin typeface="微软雅黑" panose="020B0503020204020204" charset="-122"/>
                <a:ea typeface="微软雅黑" panose="020B0503020204020204" charset="-122"/>
              </a:rPr>
              <a:t>(2016)</a:t>
            </a:r>
            <a:r>
              <a:rPr lang="zh-CN" sz="975">
                <a:solidFill>
                  <a:srgbClr val="444444"/>
                </a:solidFill>
                <a:latin typeface="微软雅黑" panose="020B0503020204020204" charset="-122"/>
                <a:ea typeface="微软雅黑" panose="020B0503020204020204" charset="-122"/>
              </a:rPr>
              <a:t>：五因子</a:t>
            </a:r>
            <a:r>
              <a:rPr lang="zh-CN" sz="975">
                <a:solidFill>
                  <a:srgbClr val="444444"/>
                </a:solidFill>
                <a:latin typeface="微软雅黑" panose="020B0503020204020204" charset="-122"/>
                <a:ea typeface="微软雅黑" panose="020B0503020204020204" charset="-122"/>
              </a:rPr>
              <a:t>优于</a:t>
            </a:r>
            <a:r>
              <a:rPr lang="zh-CN" sz="975">
                <a:solidFill>
                  <a:srgbClr val="444444"/>
                </a:solidFill>
                <a:latin typeface="微软雅黑" panose="020B0503020204020204" charset="-122"/>
                <a:ea typeface="微软雅黑" panose="020B0503020204020204" charset="-122"/>
              </a:rPr>
              <a:t>三因子；赵胜民等</a:t>
            </a:r>
            <a:r>
              <a:rPr lang="en-US" sz="975">
                <a:solidFill>
                  <a:srgbClr val="444444"/>
                </a:solidFill>
                <a:latin typeface="微软雅黑" panose="020B0503020204020204" charset="-122"/>
                <a:ea typeface="微软雅黑" panose="020B0503020204020204" charset="-122"/>
              </a:rPr>
              <a:t>(2016)</a:t>
            </a:r>
            <a:r>
              <a:rPr lang="zh-CN" sz="975">
                <a:solidFill>
                  <a:srgbClr val="444444"/>
                </a:solidFill>
                <a:latin typeface="微软雅黑" panose="020B0503020204020204" charset="-122"/>
                <a:ea typeface="微软雅黑" panose="020B0503020204020204" charset="-122"/>
              </a:rPr>
              <a:t>：盈利、投资因子</a:t>
            </a:r>
            <a:r>
              <a:rPr lang="zh-CN" sz="975">
                <a:solidFill>
                  <a:srgbClr val="444444"/>
                </a:solidFill>
                <a:latin typeface="微软雅黑" panose="020B0503020204020204" charset="-122"/>
                <a:ea typeface="微软雅黑" panose="020B0503020204020204" charset="-122"/>
              </a:rPr>
              <a:t>无益于</a:t>
            </a:r>
            <a:r>
              <a:rPr lang="zh-CN" sz="975">
                <a:solidFill>
                  <a:srgbClr val="444444"/>
                </a:solidFill>
                <a:latin typeface="微软雅黑" panose="020B0503020204020204" charset="-122"/>
                <a:ea typeface="微软雅黑" panose="020B0503020204020204" charset="-122"/>
              </a:rPr>
              <a:t>诠释组合收益率；</a:t>
            </a:r>
            <a:r>
              <a:rPr lang="en-US" sz="975">
                <a:solidFill>
                  <a:srgbClr val="444444"/>
                </a:solidFill>
                <a:latin typeface="微软雅黑" panose="020B0503020204020204" charset="-122"/>
                <a:ea typeface="微软雅黑" panose="020B0503020204020204" charset="-122"/>
              </a:rPr>
              <a:t>Guo et al.(2017)</a:t>
            </a:r>
            <a:r>
              <a:rPr lang="zh-CN" sz="975">
                <a:solidFill>
                  <a:srgbClr val="444444"/>
                </a:solidFill>
                <a:latin typeface="微软雅黑" panose="020B0503020204020204" charset="-122"/>
                <a:ea typeface="微软雅黑" panose="020B0503020204020204" charset="-122"/>
              </a:rPr>
              <a:t>：投资风格因子</a:t>
            </a:r>
            <a:r>
              <a:rPr lang="zh-CN" sz="975">
                <a:solidFill>
                  <a:srgbClr val="444444"/>
                </a:solidFill>
                <a:latin typeface="微软雅黑" panose="020B0503020204020204" charset="-122"/>
                <a:ea typeface="微软雅黑" panose="020B0503020204020204" charset="-122"/>
              </a:rPr>
              <a:t>冗余</a:t>
            </a:r>
            <a:r>
              <a:rPr lang="zh-CN" sz="975">
                <a:solidFill>
                  <a:srgbClr val="444444"/>
                </a:solidFill>
                <a:latin typeface="微软雅黑" panose="020B0503020204020204" charset="-122"/>
                <a:ea typeface="微软雅黑" panose="020B0503020204020204" charset="-122"/>
              </a:rPr>
              <a:t>。</a:t>
            </a:r>
            <a:endParaRPr lang="zh-CN" sz="975">
              <a:solidFill>
                <a:srgbClr val="444444"/>
              </a:solidFill>
              <a:latin typeface="微软雅黑" panose="020B0503020204020204" charset="-122"/>
              <a:ea typeface="微软雅黑" panose="020B0503020204020204" charset="-122"/>
            </a:endParaRPr>
          </a:p>
        </p:txBody>
      </p:sp>
      <p:sp>
        <p:nvSpPr>
          <p:cNvPr id="180" name="矩形 179"/>
          <p:cNvSpPr/>
          <p:nvPr/>
        </p:nvSpPr>
        <p:spPr>
          <a:xfrm>
            <a:off x="6191250" y="4972050"/>
            <a:ext cx="5467350" cy="1447800"/>
          </a:xfrm>
          <a:prstGeom prst="rect">
            <a:avLst/>
          </a:prstGeom>
          <a:solidFill>
            <a:srgbClr val="FFF3F0"/>
          </a:solidFill>
        </p:spPr>
        <p:txBody>
          <a:bodyPr/>
          <a:p/>
        </p:txBody>
      </p:sp>
      <p:sp>
        <p:nvSpPr>
          <p:cNvPr id="181" name="任意多边形 180"/>
          <p:cNvSpPr/>
          <p:nvPr/>
        </p:nvSpPr>
        <p:spPr>
          <a:xfrm>
            <a:off x="6153150" y="4972050"/>
            <a:ext cx="5505450" cy="1447800"/>
          </a:xfrm>
          <a:custGeom>
            <a:avLst/>
            <a:gdLst/>
            <a:ahLst/>
            <a:cxnLst/>
            <a:pathLst>
              <a:path w="578" h="152">
                <a:moveTo>
                  <a:pt x="0" y="0"/>
                </a:moveTo>
                <a:lnTo>
                  <a:pt x="4" y="0"/>
                </a:lnTo>
                <a:lnTo>
                  <a:pt x="4" y="152"/>
                </a:lnTo>
                <a:lnTo>
                  <a:pt x="0" y="152"/>
                </a:lnTo>
                <a:close/>
              </a:path>
            </a:pathLst>
          </a:custGeom>
          <a:solidFill>
            <a:srgbClr val="C0504D"/>
          </a:solidFill>
        </p:spPr>
        <p:txBody>
          <a:bodyPr/>
          <a:p/>
        </p:txBody>
      </p:sp>
      <p:sp>
        <p:nvSpPr>
          <p:cNvPr id="182" name="文本框 181" descr="{&quot;isTemplate&quot;:true,&quot;type&quot;:&quot;text&quot;}"/>
          <p:cNvSpPr txBox="1"/>
          <p:nvPr/>
        </p:nvSpPr>
        <p:spPr>
          <a:xfrm>
            <a:off x="6286500" y="5067300"/>
            <a:ext cx="5276850" cy="161925"/>
          </a:xfrm>
          <a:prstGeom prst="rect">
            <a:avLst/>
          </a:prstGeom>
        </p:spPr>
        <p:txBody>
          <a:bodyPr wrap="none" lIns="0" tIns="0" rIns="0" bIns="0"/>
          <a:p>
            <a:pPr>
              <a:lnSpc>
                <a:spcPct val="100000"/>
              </a:lnSpc>
            </a:pPr>
            <a:r>
              <a:rPr lang="en-US" sz="1050" b="1">
                <a:solidFill>
                  <a:srgbClr val="A03D3A"/>
                </a:solidFill>
                <a:latin typeface="微软雅黑" panose="020B0503020204020204" charset="-122"/>
                <a:ea typeface="微软雅黑" panose="020B0503020204020204" charset="-122"/>
              </a:rPr>
              <a:t>◆ </a:t>
            </a:r>
            <a:r>
              <a:rPr lang="zh-CN" sz="1050" b="1">
                <a:solidFill>
                  <a:srgbClr val="A03D3A"/>
                </a:solidFill>
                <a:latin typeface="微软雅黑" panose="020B0503020204020204" charset="-122"/>
                <a:ea typeface="微软雅黑" panose="020B0503020204020204" charset="-122"/>
              </a:rPr>
              <a:t>共同缺陷</a:t>
            </a:r>
            <a:r>
              <a:rPr lang="en-US" sz="1050" b="1">
                <a:solidFill>
                  <a:srgbClr val="A03D3A"/>
                </a:solidFill>
                <a:latin typeface="微软雅黑" panose="020B0503020204020204" charset="-122"/>
                <a:ea typeface="微软雅黑" panose="020B0503020204020204" charset="-122"/>
              </a:rPr>
              <a:t> → </a:t>
            </a:r>
            <a:r>
              <a:rPr lang="zh-CN" sz="1050" b="1">
                <a:solidFill>
                  <a:srgbClr val="A03D3A"/>
                </a:solidFill>
                <a:latin typeface="微软雅黑" panose="020B0503020204020204" charset="-122"/>
                <a:ea typeface="微软雅黑" panose="020B0503020204020204" charset="-122"/>
              </a:rPr>
              <a:t>本文三个动作（本页重点）</a:t>
            </a:r>
            <a:endParaRPr lang="zh-CN" sz="1050" b="1">
              <a:solidFill>
                <a:srgbClr val="A03D3A"/>
              </a:solidFill>
              <a:latin typeface="微软雅黑" panose="020B0503020204020204" charset="-122"/>
              <a:ea typeface="微软雅黑" panose="020B0503020204020204" charset="-122"/>
            </a:endParaRPr>
          </a:p>
        </p:txBody>
      </p:sp>
      <p:sp>
        <p:nvSpPr>
          <p:cNvPr id="183" name="文本框 182" descr="{&quot;isTemplate&quot;:true,&quot;type&quot;:&quot;text&quot;}"/>
          <p:cNvSpPr txBox="1"/>
          <p:nvPr/>
        </p:nvSpPr>
        <p:spPr>
          <a:xfrm>
            <a:off x="6286500" y="5257800"/>
            <a:ext cx="5276850" cy="723900"/>
          </a:xfrm>
          <a:prstGeom prst="rect">
            <a:avLst/>
          </a:prstGeom>
        </p:spPr>
        <p:txBody>
          <a:bodyPr wrap="square" lIns="0" tIns="0" rIns="0" bIns="0">
            <a:normAutofit/>
          </a:bodyPr>
          <a:p>
            <a:pPr>
              <a:lnSpc>
                <a:spcPct val="162000"/>
              </a:lnSpc>
            </a:pP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这几篇文章</a:t>
            </a:r>
            <a:r>
              <a:rPr lang="zh-CN" sz="975">
                <a:solidFill>
                  <a:srgbClr val="444444"/>
                </a:solidFill>
                <a:latin typeface="微软雅黑" panose="020B0503020204020204" charset="-122"/>
                <a:ea typeface="微软雅黑" panose="020B0503020204020204" charset="-122"/>
              </a:rPr>
              <a:t>仅在全样本下</a:t>
            </a:r>
            <a:r>
              <a:rPr lang="zh-CN" sz="975">
                <a:solidFill>
                  <a:srgbClr val="444444"/>
                </a:solidFill>
                <a:latin typeface="微软雅黑" panose="020B0503020204020204" charset="-122"/>
                <a:ea typeface="微软雅黑" panose="020B0503020204020204" charset="-122"/>
              </a:rPr>
              <a:t>比较</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学术界更加关心……经过三因子模型风险调整后还是否具有显著的风险溢价，但这几篇文章</a:t>
            </a:r>
            <a:r>
              <a:rPr lang="zh-CN" sz="975">
                <a:solidFill>
                  <a:srgbClr val="444444"/>
                </a:solidFill>
                <a:latin typeface="微软雅黑" panose="020B0503020204020204" charset="-122"/>
                <a:ea typeface="微软雅黑" panose="020B0503020204020204" charset="-122"/>
              </a:rPr>
              <a:t>并没有对此进行检验</a:t>
            </a:r>
            <a:r>
              <a:rPr lang="en-US" sz="975">
                <a:solidFill>
                  <a:srgbClr val="444444"/>
                </a:solidFill>
                <a:latin typeface="微软雅黑" panose="020B0503020204020204" charset="-122"/>
                <a:ea typeface="微软雅黑" panose="020B0503020204020204" charset="-122"/>
              </a:rPr>
              <a:t>"</a:t>
            </a:r>
            <a:r>
              <a:rPr lang="zh-CN" sz="975">
                <a:solidFill>
                  <a:srgbClr val="444444"/>
                </a:solidFill>
                <a:latin typeface="微软雅黑" panose="020B0503020204020204" charset="-122"/>
                <a:ea typeface="微软雅黑" panose="020B0503020204020204" charset="-122"/>
              </a:rPr>
              <a:t>。→</a:t>
            </a:r>
            <a:r>
              <a:rPr lang="en-US" sz="975">
                <a:solidFill>
                  <a:srgbClr val="444444"/>
                </a:solidFill>
                <a:latin typeface="微软雅黑" panose="020B0503020204020204" charset="-122"/>
                <a:ea typeface="微软雅黑" panose="020B0503020204020204" charset="-122"/>
              </a:rPr>
              <a:t> </a:t>
            </a:r>
            <a:r>
              <a:rPr lang="zh-CN" sz="975">
                <a:solidFill>
                  <a:srgbClr val="444444"/>
                </a:solidFill>
                <a:latin typeface="微软雅黑" panose="020B0503020204020204" charset="-122"/>
                <a:ea typeface="微软雅黑" panose="020B0503020204020204" charset="-122"/>
              </a:rPr>
              <a:t>动作①</a:t>
            </a:r>
            <a:r>
              <a:rPr lang="en-US" sz="975">
                <a:solidFill>
                  <a:srgbClr val="444444"/>
                </a:solidFill>
                <a:latin typeface="微软雅黑" panose="020B0503020204020204" charset="-122"/>
                <a:ea typeface="微软雅黑" panose="020B0503020204020204" charset="-122"/>
              </a:rPr>
              <a:t> </a:t>
            </a:r>
            <a:r>
              <a:rPr lang="zh-CN" sz="975">
                <a:solidFill>
                  <a:srgbClr val="444444"/>
                </a:solidFill>
                <a:latin typeface="微软雅黑" panose="020B0503020204020204" charset="-122"/>
                <a:ea typeface="微软雅黑" panose="020B0503020204020204" charset="-122"/>
              </a:rPr>
              <a:t>补溢价检验（表</a:t>
            </a:r>
            <a:r>
              <a:rPr lang="en-US" sz="975">
                <a:solidFill>
                  <a:srgbClr val="444444"/>
                </a:solidFill>
                <a:latin typeface="微软雅黑" panose="020B0503020204020204" charset="-122"/>
                <a:ea typeface="微软雅黑" panose="020B0503020204020204" charset="-122"/>
              </a:rPr>
              <a:t> 3</a:t>
            </a:r>
            <a:r>
              <a:rPr lang="zh-CN" sz="975">
                <a:solidFill>
                  <a:srgbClr val="444444"/>
                </a:solidFill>
                <a:latin typeface="微软雅黑" panose="020B0503020204020204" charset="-122"/>
                <a:ea typeface="微软雅黑" panose="020B0503020204020204" charset="-122"/>
              </a:rPr>
              <a:t>）；②</a:t>
            </a:r>
            <a:r>
              <a:rPr lang="en-US" sz="975">
                <a:solidFill>
                  <a:srgbClr val="444444"/>
                </a:solidFill>
                <a:latin typeface="微软雅黑" panose="020B0503020204020204" charset="-122"/>
                <a:ea typeface="微软雅黑" panose="020B0503020204020204" charset="-122"/>
              </a:rPr>
              <a:t> </a:t>
            </a:r>
            <a:r>
              <a:rPr lang="zh-CN" sz="975">
                <a:solidFill>
                  <a:srgbClr val="444444"/>
                </a:solidFill>
                <a:latin typeface="微软雅黑" panose="020B0503020204020204" charset="-122"/>
                <a:ea typeface="微软雅黑" panose="020B0503020204020204" charset="-122"/>
              </a:rPr>
              <a:t>分时期检验（表</a:t>
            </a:r>
            <a:r>
              <a:rPr lang="en-US" sz="975">
                <a:solidFill>
                  <a:srgbClr val="444444"/>
                </a:solidFill>
                <a:latin typeface="微软雅黑" panose="020B0503020204020204" charset="-122"/>
                <a:ea typeface="微软雅黑" panose="020B0503020204020204" charset="-122"/>
              </a:rPr>
              <a:t> 5–7</a:t>
            </a:r>
            <a:r>
              <a:rPr lang="zh-CN" sz="975">
                <a:solidFill>
                  <a:srgbClr val="444444"/>
                </a:solidFill>
                <a:latin typeface="微软雅黑" panose="020B0503020204020204" charset="-122"/>
                <a:ea typeface="微软雅黑" panose="020B0503020204020204" charset="-122"/>
              </a:rPr>
              <a:t>）；③</a:t>
            </a:r>
            <a:r>
              <a:rPr lang="en-US" sz="975">
                <a:solidFill>
                  <a:srgbClr val="444444"/>
                </a:solidFill>
                <a:latin typeface="微软雅黑" panose="020B0503020204020204" charset="-122"/>
                <a:ea typeface="微软雅黑" panose="020B0503020204020204" charset="-122"/>
              </a:rPr>
              <a:t> </a:t>
            </a:r>
            <a:r>
              <a:rPr lang="zh-CN" sz="975">
                <a:solidFill>
                  <a:srgbClr val="444444"/>
                </a:solidFill>
                <a:latin typeface="微软雅黑" panose="020B0503020204020204" charset="-122"/>
                <a:ea typeface="微软雅黑" panose="020B0503020204020204" charset="-122"/>
              </a:rPr>
              <a:t>动量反转新证据（表</a:t>
            </a:r>
            <a:r>
              <a:rPr lang="en-US" sz="975">
                <a:solidFill>
                  <a:srgbClr val="444444"/>
                </a:solidFill>
                <a:latin typeface="微软雅黑" panose="020B0503020204020204" charset="-122"/>
                <a:ea typeface="微软雅黑" panose="020B0503020204020204" charset="-122"/>
              </a:rPr>
              <a:t> 8</a:t>
            </a:r>
            <a:r>
              <a:rPr lang="zh-CN" sz="975">
                <a:solidFill>
                  <a:srgbClr val="444444"/>
                </a:solidFill>
                <a:latin typeface="微软雅黑" panose="020B0503020204020204" charset="-122"/>
                <a:ea typeface="微软雅黑" panose="020B0503020204020204" charset="-122"/>
              </a:rPr>
              <a:t>）。</a:t>
            </a:r>
            <a:endParaRPr lang="zh-CN" sz="975">
              <a:solidFill>
                <a:srgbClr val="444444"/>
              </a:solidFill>
              <a:latin typeface="微软雅黑" panose="020B0503020204020204" charset="-122"/>
              <a:ea typeface="微软雅黑" panose="020B0503020204020204" charset="-122"/>
            </a:endParaRPr>
          </a:p>
        </p:txBody>
      </p:sp>
      <p:sp>
        <p:nvSpPr>
          <p:cNvPr id="184" name="Rectangle 183"/>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87" name="Rectangle 186"/>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189" name="TextBox 188"/>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90" name="TextBox 189"/>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91" name="TextBox 190"/>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92" name="TextBox 191"/>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93" name="TextBox 192"/>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94" name="TextBox 193"/>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84" name="" descr="&lt;Slide style={{ width: 1280, height: 720, background: '#FFFFFF', padding: 0, flexDirection: 'column' }}&gt;&#10;    &lt;Box style={{ position: 'absolute', top: 0, left: 0, width: 1280, height: 6, background: '#01A5B1' }} /&gt;&#10;    &lt;Text style={{ position: 'absolute', top: 30, left: 56, width: 1000, fontSize: 29, fontWeight: 'bold', color: '#1F1F1F' }}&gt;2.2 文献回顾③：前作局限与本文改进&lt;/Text&gt;&#10;    &lt;Text style={{ position: 'absolute', top: 34, left: 1080, width: 144, fontSize: 13, color: '#B0B0B0', textAlign: 'right' }}&gt;09 / 9&lt;/Text&gt;&#10;&#10;    &lt;Box style={{ position: 'absolute', top: 96, left: 56, width: 620, height: 200, background: '#FFFFFF', border: '1px solid #E4E4E4', boxShadow: '0 2px 10px rgba(0,0,0,0.07)', alignItems: 'center', justifyContent: 'center', padding: 6 }}&gt;&#10;        &lt;Image src=&quot;assets/u10_s2.png&quot; style={{ width: 608, height: 182, objectFit: 'contain' }} /&gt;&#10;    &lt;/Box&gt;&#10;    &lt;Text style={{ position: 'absolute', top: 304, left: 56, width: 620, fontSize: 12.5, color: '#8A8A8A', lineHeight: 1.55 }}&gt;&#10;        ▲ 原文 P193 第③段（刘坤标注版）：划线&quot;数据结构在股改前后是否发生变化&quot;与&quot;多种分组方式下通过分时期检验&quot;&#10;    &lt;/Text&gt;&#10;&#10;    &lt;Box style={{ position: 'absolute', top: 376, left: 56, width: 620, height: 168, background: '#F5FBFB', borderLeft: '4px solid #01A5B1', padding: 12, flexDirection: 'column' }}&gt;&#10;        &lt;Text style={{ fontSize: 15, fontWeight: 'bold', color: '#0B7C86', marginBottom: 4 }}&gt;◆ 前作：刘维奇等(2010) 及其两条局限&lt;/Text&gt;&#10;        &lt;Text style={{ width: 588, fontSize: 13.5, color: '#444444', lineHeight: 1.66 }}&gt;&#10;            以三因子模型为检验框架，通过&quot;股改后&lt;b&gt;回归截距项更小&lt;/b&gt;&quot;说明股改后市场效率提高。局限（原文点名）：① &quot;仅按照&lt;b&gt;规模和账面市值比&lt;/b&gt;分组进行研究&quot;；② &quot;股改后样本&lt;b&gt;仅做到 2009 年&lt;/b&gt;&quot;。&#10;        &lt;/Text&gt;&#10;    &lt;/Box&gt;&#10;    &lt;Box style={{ position: 'absolute', top: 556, left: 56, width: 620, height: 118, background: '#F5FBFB', borderLeft: '4px solid #01A5B1', padding: 12, flexDirection: 'column' }}&gt;&#10;        &lt;Text style={{ fontSize: 15, fontWeight: 'bold', color: '#0B7C86', marginBottom: 4 }}&gt;◆ 本文四点改进（原文一一对应）&lt;/Text&gt;&#10;        &lt;Text style={{ width: 588, fontSize: 13.5, color: '#444444', lineHeight: 1.6 }}&gt;&#10;            ① &lt;b&gt;先检验&lt;/b&gt;数据结构是否变化；② 改以&lt;b&gt;五因子模型&lt;/b&gt;为基础；③ &lt;b&gt;更长时间段&lt;/b&gt;+&lt;b&gt;多个评价指标&lt;/b&gt;；④ &lt;b&gt;多种分组方式&lt;/b&gt;下分时期检验。&#10;        &lt;/Text&gt;&#10;    &lt;/Box&gt;&#10;&#10;    &lt;Box style={{ position: 'absolute', top: 96, left: 706, width: 518, height: 210, background: '#FFF8EE', borderLeft: '4px solid #D8952F', padding: 12, flexDirection: 'column' }}&gt;&#10;        &lt;Text style={{ fontSize: 15, fontWeight: 'bold', color: '#9A6A12', marginBottom: 4 }}&gt;◆ &quot;截距项&quot;贯穿全文&lt;/Text&gt;&#10;        &lt;Text style={{ width: 486, fontSize: 13.5, color: '#4A4A4A', lineHeight: 1.66 }}&gt;&#10;            截距 α = 模型解释不掉的超额收益：α 越接近 0，模型越好或市场越有效。结论 (2) &quot;五因子优于其他模型&quot; = 全样本 α 更小；结论 (5) &quot;市场趋于'有效'&quot;（红圈词）= 股改后 α 更小。&#10;        &lt;/Text&gt;&#10;    &lt;/Box&gt;&#10;&#10;    &lt;Box style={{ position: 'absolute', top: 320, left: 706, width: 518, height: 340, background: '#FFF3F0', borderLeft: '4px solid #C0504D', padding: 12, flexDirection: 'column' }}&gt;&#10;        &lt;Text style={{ fontSize: 15, fontWeight: 'bold', color: '#A03D3A', marginBottom: 4 }}&gt;◆ 收尾：第一、二章的接力棒&lt;/Text&gt;&#10;        &lt;Text style={{ width: 486, fontSize: 13.5, color: '#444444', lineHeight: 1.7 }}&gt;&#10;            引言负责&quot;提出问题&quot;（五问），文献回顾负责&quot;找出缺口&quot;（三个没人做）：&lt;br /&gt;&#10;            缺口① 溢价检验没人做 → 表 3&lt;br /&gt;&#10;            缺口② 全都只做全样本 → 表 5–7&lt;br /&gt;&#10;            缺口③ 动量反转无统一裁决 → 表 8（本组第六章）&lt;br /&gt;&#10;            三个缺口，后面各章逐一兑现。&#10;        &lt;/Text&gt;&#10;    &lt;/Box&gt;&#10;&#10;&lt;/Slide&gt;"/>
        <p:cNvGrpSpPr/>
        <p:nvPr/>
      </p:nvGrpSpPr>
      <p:grpSpPr>
        <a:xfrm>
          <a:off x="0" y="0"/>
          <a:ext cx="0" cy="0"/>
          <a:chOff x="0" y="0"/>
          <a:chExt cx="0" cy="0"/>
        </a:xfrm>
      </p:grpSpPr>
      <p:sp>
        <p:nvSpPr>
          <p:cNvPr id="185" name="矩形 184"/>
          <p:cNvSpPr/>
          <p:nvPr/>
        </p:nvSpPr>
        <p:spPr>
          <a:xfrm>
            <a:off x="0" y="0"/>
            <a:ext cx="12192000" cy="6858000"/>
          </a:xfrm>
          <a:prstGeom prst="rect">
            <a:avLst/>
          </a:prstGeom>
          <a:solidFill>
            <a:srgbClr val="FFFFFF"/>
          </a:solidFill>
        </p:spPr>
        <p:txBody>
          <a:bodyPr/>
          <a:p/>
        </p:txBody>
      </p:sp>
      <p:sp>
        <p:nvSpPr>
          <p:cNvPr id="186" name="矩形 185"/>
          <p:cNvSpPr/>
          <p:nvPr/>
        </p:nvSpPr>
        <p:spPr>
          <a:xfrm>
            <a:off x="0" y="0"/>
            <a:ext cx="12192000" cy="57150"/>
          </a:xfrm>
          <a:prstGeom prst="rect">
            <a:avLst/>
          </a:prstGeom>
          <a:solidFill>
            <a:srgbClr val="01A5B1"/>
          </a:solidFill>
        </p:spPr>
        <p:txBody>
          <a:bodyPr/>
          <a:p/>
        </p:txBody>
      </p:sp>
      <p:sp>
        <p:nvSpPr>
          <p:cNvPr id="187" name="文本框 186"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en-US" sz="2200" b="1">
                <a:solidFill>
                  <a:srgbClr val="1F1F1F"/>
                </a:solidFill>
                <a:latin typeface="微软雅黑" panose="020B0503020204020204" charset="-122"/>
                <a:ea typeface="微软雅黑" panose="020B0503020204020204" charset="-122"/>
              </a:rPr>
              <a:t>2.2 </a:t>
            </a:r>
            <a:r>
              <a:rPr lang="zh-CN" sz="2200" b="1">
                <a:solidFill>
                  <a:srgbClr val="1F1F1F"/>
                </a:solidFill>
                <a:latin typeface="微软雅黑" panose="020B0503020204020204" charset="-122"/>
                <a:ea typeface="微软雅黑" panose="020B0503020204020204" charset="-122"/>
              </a:rPr>
              <a:t>文献回顾③：前作局限与本文改进</a:t>
            </a:r>
            <a:endParaRPr lang="zh-CN" sz="2175" b="1">
              <a:solidFill>
                <a:srgbClr val="1F1F1F"/>
              </a:solidFill>
              <a:latin typeface="微软雅黑" panose="020B0503020204020204" charset="-122"/>
              <a:ea typeface="微软雅黑" panose="020B0503020204020204" charset="-122"/>
            </a:endParaRPr>
          </a:p>
        </p:txBody>
      </p:sp>
      <p:sp>
        <p:nvSpPr>
          <p:cNvPr id="189" name="矩形 188"/>
          <p:cNvSpPr/>
          <p:nvPr/>
        </p:nvSpPr>
        <p:spPr>
          <a:xfrm>
            <a:off x="533400" y="914400"/>
            <a:ext cx="5905500" cy="1905000"/>
          </a:xfrm>
          <a:prstGeom prst="rect">
            <a:avLst/>
          </a:prstGeom>
          <a:solidFill>
            <a:srgbClr val="FFFFFF"/>
          </a:solidFill>
          <a:ln w="12700">
            <a:solidFill>
              <a:srgbClr val="E4E4E4"/>
            </a:solidFill>
            <a:prstDash val="solid"/>
          </a:ln>
          <a:effectLst>
            <a:outerShdw blurRad="95250" dist="19050" dir="5400000">
              <a:srgbClr val="000000">
                <a:alpha val="7000"/>
              </a:srgbClr>
            </a:outerShdw>
          </a:effectLst>
        </p:spPr>
        <p:txBody>
          <a:bodyPr/>
          <a:p/>
        </p:txBody>
      </p:sp>
      <p:pic>
        <p:nvPicPr>
          <p:cNvPr id="190" name="图片 189"/>
          <p:cNvPicPr>
            <a:picLocks noChangeAspect="1"/>
          </p:cNvPicPr>
          <p:nvPr/>
        </p:nvPicPr>
        <p:blipFill>
          <a:blip r:embed="rId1"/>
          <a:srcRect l="32" r="32"/>
          <a:stretch>
            <a:fillRect/>
          </a:stretch>
        </p:blipFill>
        <p:spPr>
          <a:xfrm>
            <a:off x="590550" y="1000125"/>
            <a:ext cx="5791200" cy="1733550"/>
          </a:xfrm>
          <a:prstGeom prst="rect">
            <a:avLst/>
          </a:prstGeom>
        </p:spPr>
      </p:pic>
      <p:sp>
        <p:nvSpPr>
          <p:cNvPr id="191" name="文本框 190" descr="{&quot;isTemplate&quot;:true,&quot;type&quot;:&quot;text&quot;}"/>
          <p:cNvSpPr txBox="1"/>
          <p:nvPr/>
        </p:nvSpPr>
        <p:spPr>
          <a:xfrm>
            <a:off x="533400" y="2895600"/>
            <a:ext cx="5905500" cy="447675"/>
          </a:xfrm>
          <a:prstGeom prst="rect">
            <a:avLst/>
          </a:prstGeom>
        </p:spPr>
        <p:txBody>
          <a:bodyPr wrap="square" lIns="0" tIns="0" rIns="0" bIns="0">
            <a:normAutofit/>
          </a:bodyPr>
          <a:p>
            <a:pPr>
              <a:lnSpc>
                <a:spcPct val="155000"/>
              </a:lnSpc>
            </a:pPr>
            <a:r>
              <a:rPr lang="en-US" sz="940">
                <a:solidFill>
                  <a:srgbClr val="8A8A8A"/>
                </a:solidFill>
                <a:latin typeface="微软雅黑" panose="020B0503020204020204" charset="-122"/>
                <a:ea typeface="微软雅黑" panose="020B0503020204020204" charset="-122"/>
              </a:rPr>
              <a:t>▲ </a:t>
            </a:r>
            <a:r>
              <a:rPr lang="zh-CN" sz="940">
                <a:solidFill>
                  <a:srgbClr val="8A8A8A"/>
                </a:solidFill>
                <a:latin typeface="微软雅黑" panose="020B0503020204020204" charset="-122"/>
                <a:ea typeface="微软雅黑" panose="020B0503020204020204" charset="-122"/>
              </a:rPr>
              <a:t>原文</a:t>
            </a:r>
            <a:r>
              <a:rPr lang="en-US" sz="940">
                <a:solidFill>
                  <a:srgbClr val="8A8A8A"/>
                </a:solidFill>
                <a:latin typeface="微软雅黑" panose="020B0503020204020204" charset="-122"/>
                <a:ea typeface="微软雅黑" panose="020B0503020204020204" charset="-122"/>
              </a:rPr>
              <a:t> P193 </a:t>
            </a:r>
            <a:r>
              <a:rPr lang="zh-CN" sz="940">
                <a:solidFill>
                  <a:srgbClr val="8A8A8A"/>
                </a:solidFill>
                <a:latin typeface="微软雅黑" panose="020B0503020204020204" charset="-122"/>
                <a:ea typeface="微软雅黑" panose="020B0503020204020204" charset="-122"/>
              </a:rPr>
              <a:t>第③段（刘坤标注版）：划线</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数据结构在股改前后是否发生变化</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与</a:t>
            </a:r>
            <a:r>
              <a:rPr lang="en-US" sz="940">
                <a:solidFill>
                  <a:srgbClr val="8A8A8A"/>
                </a:solidFill>
                <a:latin typeface="微软雅黑" panose="020B0503020204020204" charset="-122"/>
                <a:ea typeface="微软雅黑" panose="020B0503020204020204" charset="-122"/>
              </a:rPr>
              <a:t>"</a:t>
            </a:r>
            <a:r>
              <a:rPr lang="zh-CN" sz="940">
                <a:solidFill>
                  <a:srgbClr val="8A8A8A"/>
                </a:solidFill>
                <a:latin typeface="微软雅黑" panose="020B0503020204020204" charset="-122"/>
                <a:ea typeface="微软雅黑" panose="020B0503020204020204" charset="-122"/>
              </a:rPr>
              <a:t>多种分组方式下通过分时期检验</a:t>
            </a:r>
            <a:r>
              <a:rPr lang="en-US" sz="940">
                <a:solidFill>
                  <a:srgbClr val="8A8A8A"/>
                </a:solidFill>
                <a:latin typeface="微软雅黑" panose="020B0503020204020204" charset="-122"/>
                <a:ea typeface="微软雅黑" panose="020B0503020204020204" charset="-122"/>
              </a:rPr>
              <a:t>"</a:t>
            </a:r>
            <a:endParaRPr lang="en-US" sz="940">
              <a:solidFill>
                <a:srgbClr val="8A8A8A"/>
              </a:solidFill>
              <a:latin typeface="微软雅黑" panose="020B0503020204020204" charset="-122"/>
              <a:ea typeface="微软雅黑" panose="020B0503020204020204" charset="-122"/>
            </a:endParaRPr>
          </a:p>
        </p:txBody>
      </p:sp>
      <p:sp>
        <p:nvSpPr>
          <p:cNvPr id="192" name="矩形 191"/>
          <p:cNvSpPr/>
          <p:nvPr/>
        </p:nvSpPr>
        <p:spPr>
          <a:xfrm>
            <a:off x="571500" y="3581400"/>
            <a:ext cx="5867400" cy="1600200"/>
          </a:xfrm>
          <a:prstGeom prst="rect">
            <a:avLst/>
          </a:prstGeom>
          <a:solidFill>
            <a:srgbClr val="F5FBFB"/>
          </a:solidFill>
        </p:spPr>
        <p:txBody>
          <a:bodyPr/>
          <a:p/>
        </p:txBody>
      </p:sp>
      <p:sp>
        <p:nvSpPr>
          <p:cNvPr id="193" name="任意多边形 192"/>
          <p:cNvSpPr/>
          <p:nvPr/>
        </p:nvSpPr>
        <p:spPr>
          <a:xfrm>
            <a:off x="533400" y="3581400"/>
            <a:ext cx="5905500" cy="1600200"/>
          </a:xfrm>
          <a:custGeom>
            <a:avLst/>
            <a:gdLst/>
            <a:ahLst/>
            <a:cxnLst/>
            <a:pathLst>
              <a:path w="620" h="168">
                <a:moveTo>
                  <a:pt x="0" y="0"/>
                </a:moveTo>
                <a:lnTo>
                  <a:pt x="4" y="0"/>
                </a:lnTo>
                <a:lnTo>
                  <a:pt x="4" y="168"/>
                </a:lnTo>
                <a:lnTo>
                  <a:pt x="0" y="168"/>
                </a:lnTo>
                <a:close/>
              </a:path>
            </a:pathLst>
          </a:custGeom>
          <a:solidFill>
            <a:srgbClr val="01A5B1"/>
          </a:solidFill>
        </p:spPr>
        <p:txBody>
          <a:bodyPr/>
          <a:p/>
        </p:txBody>
      </p:sp>
      <p:sp>
        <p:nvSpPr>
          <p:cNvPr id="194" name="文本框 193" descr="{&quot;isTemplate&quot;:true,&quot;type&quot;:&quot;text&quot;}"/>
          <p:cNvSpPr txBox="1"/>
          <p:nvPr/>
        </p:nvSpPr>
        <p:spPr>
          <a:xfrm>
            <a:off x="685800" y="3695700"/>
            <a:ext cx="563880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前作：刘维奇等</a:t>
            </a:r>
            <a:r>
              <a:rPr lang="en-US" sz="1125" b="1">
                <a:solidFill>
                  <a:srgbClr val="0B7C86"/>
                </a:solidFill>
                <a:latin typeface="微软雅黑" panose="020B0503020204020204" charset="-122"/>
                <a:ea typeface="微软雅黑" panose="020B0503020204020204" charset="-122"/>
              </a:rPr>
              <a:t>(2010) </a:t>
            </a:r>
            <a:r>
              <a:rPr lang="zh-CN" sz="1125" b="1">
                <a:solidFill>
                  <a:srgbClr val="0B7C86"/>
                </a:solidFill>
                <a:latin typeface="微软雅黑" panose="020B0503020204020204" charset="-122"/>
                <a:ea typeface="微软雅黑" panose="020B0503020204020204" charset="-122"/>
              </a:rPr>
              <a:t>及其两条局限</a:t>
            </a:r>
            <a:endParaRPr lang="zh-CN" sz="1125" b="1">
              <a:solidFill>
                <a:srgbClr val="0B7C86"/>
              </a:solidFill>
              <a:latin typeface="微软雅黑" panose="020B0503020204020204" charset="-122"/>
              <a:ea typeface="微软雅黑" panose="020B0503020204020204" charset="-122"/>
            </a:endParaRPr>
          </a:p>
        </p:txBody>
      </p:sp>
      <p:sp>
        <p:nvSpPr>
          <p:cNvPr id="195" name="文本框 194" descr="{&quot;isTemplate&quot;:true,&quot;type&quot;:&quot;text&quot;}"/>
          <p:cNvSpPr txBox="1"/>
          <p:nvPr/>
        </p:nvSpPr>
        <p:spPr>
          <a:xfrm>
            <a:off x="685800" y="3905250"/>
            <a:ext cx="5600700" cy="514350"/>
          </a:xfrm>
          <a:prstGeom prst="rect">
            <a:avLst/>
          </a:prstGeom>
        </p:spPr>
        <p:txBody>
          <a:bodyPr wrap="square" lIns="0" tIns="0" rIns="0" bIns="0">
            <a:normAutofit/>
          </a:bodyPr>
          <a:p>
            <a:pPr>
              <a:lnSpc>
                <a:spcPct val="166000"/>
              </a:lnSpc>
            </a:pPr>
            <a:r>
              <a:rPr lang="zh-CN" sz="1015">
                <a:solidFill>
                  <a:srgbClr val="444444"/>
                </a:solidFill>
                <a:latin typeface="微软雅黑" panose="020B0503020204020204" charset="-122"/>
                <a:ea typeface="微软雅黑" panose="020B0503020204020204" charset="-122"/>
              </a:rPr>
              <a:t>以三因子模型为检验框架，通过</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股改后</a:t>
            </a:r>
            <a:r>
              <a:rPr lang="zh-CN" sz="1015">
                <a:solidFill>
                  <a:srgbClr val="444444"/>
                </a:solidFill>
                <a:latin typeface="微软雅黑" panose="020B0503020204020204" charset="-122"/>
                <a:ea typeface="微软雅黑" panose="020B0503020204020204" charset="-122"/>
              </a:rPr>
              <a:t>回归截距项更小</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说明股改后市场效率提高。局限（原文点名）：①</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仅按照</a:t>
            </a:r>
            <a:r>
              <a:rPr lang="zh-CN" sz="1015">
                <a:solidFill>
                  <a:srgbClr val="444444"/>
                </a:solidFill>
                <a:latin typeface="微软雅黑" panose="020B0503020204020204" charset="-122"/>
                <a:ea typeface="微软雅黑" panose="020B0503020204020204" charset="-122"/>
              </a:rPr>
              <a:t>规模和账面市值比</a:t>
            </a:r>
            <a:r>
              <a:rPr lang="zh-CN" sz="1015">
                <a:solidFill>
                  <a:srgbClr val="444444"/>
                </a:solidFill>
                <a:latin typeface="微软雅黑" panose="020B0503020204020204" charset="-122"/>
                <a:ea typeface="微软雅黑" panose="020B0503020204020204" charset="-122"/>
              </a:rPr>
              <a:t>分组进行研究</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；②</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股改后样本</a:t>
            </a:r>
            <a:r>
              <a:rPr lang="zh-CN" sz="1015">
                <a:solidFill>
                  <a:srgbClr val="444444"/>
                </a:solidFill>
                <a:latin typeface="微软雅黑" panose="020B0503020204020204" charset="-122"/>
                <a:ea typeface="微软雅黑" panose="020B0503020204020204" charset="-122"/>
              </a:rPr>
              <a:t>仅做到</a:t>
            </a:r>
            <a:r>
              <a:rPr lang="en-US" sz="1015">
                <a:solidFill>
                  <a:srgbClr val="444444"/>
                </a:solidFill>
                <a:latin typeface="微软雅黑" panose="020B0503020204020204" charset="-122"/>
                <a:ea typeface="微软雅黑" panose="020B0503020204020204" charset="-122"/>
              </a:rPr>
              <a:t> 2009 </a:t>
            </a:r>
            <a:r>
              <a:rPr lang="zh-CN" sz="1015">
                <a:solidFill>
                  <a:srgbClr val="444444"/>
                </a:solidFill>
                <a:latin typeface="微软雅黑" panose="020B0503020204020204" charset="-122"/>
                <a:ea typeface="微软雅黑" panose="020B0503020204020204" charset="-122"/>
              </a:rPr>
              <a:t>年</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a:t>
            </a:r>
            <a:endParaRPr lang="zh-CN" sz="1015">
              <a:solidFill>
                <a:srgbClr val="444444"/>
              </a:solidFill>
              <a:latin typeface="微软雅黑" panose="020B0503020204020204" charset="-122"/>
              <a:ea typeface="微软雅黑" panose="020B0503020204020204" charset="-122"/>
            </a:endParaRPr>
          </a:p>
        </p:txBody>
      </p:sp>
      <p:sp>
        <p:nvSpPr>
          <p:cNvPr id="196" name="矩形 195"/>
          <p:cNvSpPr/>
          <p:nvPr/>
        </p:nvSpPr>
        <p:spPr>
          <a:xfrm>
            <a:off x="571500" y="5295900"/>
            <a:ext cx="5867400" cy="1123950"/>
          </a:xfrm>
          <a:prstGeom prst="rect">
            <a:avLst/>
          </a:prstGeom>
          <a:solidFill>
            <a:srgbClr val="F5FBFB"/>
          </a:solidFill>
        </p:spPr>
        <p:txBody>
          <a:bodyPr/>
          <a:p/>
        </p:txBody>
      </p:sp>
      <p:sp>
        <p:nvSpPr>
          <p:cNvPr id="197" name="任意多边形 196"/>
          <p:cNvSpPr/>
          <p:nvPr/>
        </p:nvSpPr>
        <p:spPr>
          <a:xfrm>
            <a:off x="533400" y="5295900"/>
            <a:ext cx="5905500" cy="1123950"/>
          </a:xfrm>
          <a:custGeom>
            <a:avLst/>
            <a:gdLst/>
            <a:ahLst/>
            <a:cxnLst/>
            <a:pathLst>
              <a:path w="620" h="118">
                <a:moveTo>
                  <a:pt x="0" y="0"/>
                </a:moveTo>
                <a:lnTo>
                  <a:pt x="4" y="0"/>
                </a:lnTo>
                <a:lnTo>
                  <a:pt x="4" y="118"/>
                </a:lnTo>
                <a:lnTo>
                  <a:pt x="0" y="118"/>
                </a:lnTo>
                <a:close/>
              </a:path>
            </a:pathLst>
          </a:custGeom>
          <a:solidFill>
            <a:srgbClr val="01A5B1"/>
          </a:solidFill>
        </p:spPr>
        <p:txBody>
          <a:bodyPr/>
          <a:p/>
        </p:txBody>
      </p:sp>
      <p:sp>
        <p:nvSpPr>
          <p:cNvPr id="198" name="文本框 197" descr="{&quot;isTemplate&quot;:true,&quot;type&quot;:&quot;text&quot;}"/>
          <p:cNvSpPr txBox="1"/>
          <p:nvPr/>
        </p:nvSpPr>
        <p:spPr>
          <a:xfrm>
            <a:off x="685800" y="5410200"/>
            <a:ext cx="5638800" cy="171450"/>
          </a:xfrm>
          <a:prstGeom prst="rect">
            <a:avLst/>
          </a:prstGeom>
        </p:spPr>
        <p:txBody>
          <a:bodyPr wrap="none" lIns="0" tIns="0" rIns="0" bIns="0"/>
          <a:p>
            <a:pPr>
              <a:lnSpc>
                <a:spcPct val="100000"/>
              </a:lnSpc>
            </a:pPr>
            <a:r>
              <a:rPr lang="en-US" sz="1125" b="1">
                <a:solidFill>
                  <a:srgbClr val="0B7C86"/>
                </a:solidFill>
                <a:latin typeface="微软雅黑" panose="020B0503020204020204" charset="-122"/>
                <a:ea typeface="微软雅黑" panose="020B0503020204020204" charset="-122"/>
              </a:rPr>
              <a:t>◆ </a:t>
            </a:r>
            <a:r>
              <a:rPr lang="zh-CN" sz="1125" b="1">
                <a:solidFill>
                  <a:srgbClr val="0B7C86"/>
                </a:solidFill>
                <a:latin typeface="微软雅黑" panose="020B0503020204020204" charset="-122"/>
                <a:ea typeface="微软雅黑" panose="020B0503020204020204" charset="-122"/>
              </a:rPr>
              <a:t>本文四点改进（原文一一对应）</a:t>
            </a:r>
            <a:endParaRPr lang="zh-CN" sz="1125" b="1">
              <a:solidFill>
                <a:srgbClr val="0B7C86"/>
              </a:solidFill>
              <a:latin typeface="微软雅黑" panose="020B0503020204020204" charset="-122"/>
              <a:ea typeface="微软雅黑" panose="020B0503020204020204" charset="-122"/>
            </a:endParaRPr>
          </a:p>
        </p:txBody>
      </p:sp>
      <p:sp>
        <p:nvSpPr>
          <p:cNvPr id="199" name="文本框 198" descr="{&quot;isTemplate&quot;:true,&quot;type&quot;:&quot;text&quot;}"/>
          <p:cNvSpPr txBox="1"/>
          <p:nvPr/>
        </p:nvSpPr>
        <p:spPr>
          <a:xfrm>
            <a:off x="685800" y="5619750"/>
            <a:ext cx="5600700" cy="495300"/>
          </a:xfrm>
          <a:prstGeom prst="rect">
            <a:avLst/>
          </a:prstGeom>
        </p:spPr>
        <p:txBody>
          <a:bodyPr wrap="square" lIns="0" tIns="0" rIns="0" bIns="0">
            <a:normAutofit/>
          </a:bodyPr>
          <a:p>
            <a:pPr>
              <a:lnSpc>
                <a:spcPct val="160000"/>
              </a:lnSpc>
            </a:pPr>
            <a:r>
              <a:rPr lang="en-US" sz="1015">
                <a:solidFill>
                  <a:srgbClr val="444444"/>
                </a:solidFill>
                <a:latin typeface="微软雅黑" panose="020B0503020204020204" charset="-122"/>
                <a:ea typeface="微软雅黑" panose="020B0503020204020204" charset="-122"/>
              </a:rPr>
              <a:t>① </a:t>
            </a:r>
            <a:r>
              <a:rPr lang="zh-CN" sz="1015">
                <a:solidFill>
                  <a:srgbClr val="444444"/>
                </a:solidFill>
                <a:latin typeface="微软雅黑" panose="020B0503020204020204" charset="-122"/>
                <a:ea typeface="微软雅黑" panose="020B0503020204020204" charset="-122"/>
              </a:rPr>
              <a:t>先检验</a:t>
            </a:r>
            <a:r>
              <a:rPr lang="zh-CN" sz="1015">
                <a:solidFill>
                  <a:srgbClr val="444444"/>
                </a:solidFill>
                <a:latin typeface="微软雅黑" panose="020B0503020204020204" charset="-122"/>
                <a:ea typeface="微软雅黑" panose="020B0503020204020204" charset="-122"/>
              </a:rPr>
              <a:t>数据结构是否变化；②</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改以</a:t>
            </a:r>
            <a:r>
              <a:rPr lang="zh-CN" sz="1015">
                <a:solidFill>
                  <a:srgbClr val="444444"/>
                </a:solidFill>
                <a:latin typeface="微软雅黑" panose="020B0503020204020204" charset="-122"/>
                <a:ea typeface="微软雅黑" panose="020B0503020204020204" charset="-122"/>
              </a:rPr>
              <a:t>五因子模型</a:t>
            </a:r>
            <a:r>
              <a:rPr lang="zh-CN" sz="1015">
                <a:solidFill>
                  <a:srgbClr val="444444"/>
                </a:solidFill>
                <a:latin typeface="微软雅黑" panose="020B0503020204020204" charset="-122"/>
                <a:ea typeface="微软雅黑" panose="020B0503020204020204" charset="-122"/>
              </a:rPr>
              <a:t>为基础；③</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更长时间段</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多个评价指标</a:t>
            </a:r>
            <a:r>
              <a:rPr lang="zh-CN" sz="1015">
                <a:solidFill>
                  <a:srgbClr val="444444"/>
                </a:solidFill>
                <a:latin typeface="微软雅黑" panose="020B0503020204020204" charset="-122"/>
                <a:ea typeface="微软雅黑" panose="020B0503020204020204" charset="-122"/>
              </a:rPr>
              <a:t>；④</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多种分组方式</a:t>
            </a:r>
            <a:r>
              <a:rPr lang="zh-CN" sz="1015">
                <a:solidFill>
                  <a:srgbClr val="444444"/>
                </a:solidFill>
                <a:latin typeface="微软雅黑" panose="020B0503020204020204" charset="-122"/>
                <a:ea typeface="微软雅黑" panose="020B0503020204020204" charset="-122"/>
              </a:rPr>
              <a:t>下分时期检验。</a:t>
            </a:r>
            <a:endParaRPr lang="zh-CN" sz="1015">
              <a:solidFill>
                <a:srgbClr val="444444"/>
              </a:solidFill>
              <a:latin typeface="微软雅黑" panose="020B0503020204020204" charset="-122"/>
              <a:ea typeface="微软雅黑" panose="020B0503020204020204" charset="-122"/>
            </a:endParaRPr>
          </a:p>
        </p:txBody>
      </p:sp>
      <p:sp>
        <p:nvSpPr>
          <p:cNvPr id="200" name="矩形 199"/>
          <p:cNvSpPr/>
          <p:nvPr/>
        </p:nvSpPr>
        <p:spPr>
          <a:xfrm>
            <a:off x="6762750" y="914400"/>
            <a:ext cx="4895850" cy="2000250"/>
          </a:xfrm>
          <a:prstGeom prst="rect">
            <a:avLst/>
          </a:prstGeom>
          <a:solidFill>
            <a:srgbClr val="FFF8EE"/>
          </a:solidFill>
        </p:spPr>
        <p:txBody>
          <a:bodyPr/>
          <a:p/>
        </p:txBody>
      </p:sp>
      <p:sp>
        <p:nvSpPr>
          <p:cNvPr id="201" name="任意多边形 200"/>
          <p:cNvSpPr/>
          <p:nvPr/>
        </p:nvSpPr>
        <p:spPr>
          <a:xfrm>
            <a:off x="6724650" y="914400"/>
            <a:ext cx="4933950" cy="2000250"/>
          </a:xfrm>
          <a:custGeom>
            <a:avLst/>
            <a:gdLst/>
            <a:ahLst/>
            <a:cxnLst/>
            <a:pathLst>
              <a:path w="518" h="210">
                <a:moveTo>
                  <a:pt x="0" y="0"/>
                </a:moveTo>
                <a:lnTo>
                  <a:pt x="4" y="0"/>
                </a:lnTo>
                <a:lnTo>
                  <a:pt x="4" y="210"/>
                </a:lnTo>
                <a:lnTo>
                  <a:pt x="0" y="210"/>
                </a:lnTo>
                <a:close/>
              </a:path>
            </a:pathLst>
          </a:custGeom>
          <a:solidFill>
            <a:srgbClr val="D8952F"/>
          </a:solidFill>
        </p:spPr>
        <p:txBody>
          <a:bodyPr/>
          <a:p/>
        </p:txBody>
      </p:sp>
      <p:sp>
        <p:nvSpPr>
          <p:cNvPr id="202" name="文本框 201" descr="{&quot;isTemplate&quot;:true,&quot;type&quot;:&quot;text&quot;}"/>
          <p:cNvSpPr txBox="1"/>
          <p:nvPr/>
        </p:nvSpPr>
        <p:spPr>
          <a:xfrm>
            <a:off x="6877050" y="1028700"/>
            <a:ext cx="4667250" cy="171450"/>
          </a:xfrm>
          <a:prstGeom prst="rect">
            <a:avLst/>
          </a:prstGeom>
        </p:spPr>
        <p:txBody>
          <a:bodyPr wrap="none" lIns="0" tIns="0" rIns="0" bIns="0"/>
          <a:p>
            <a:pPr>
              <a:lnSpc>
                <a:spcPct val="100000"/>
              </a:lnSpc>
            </a:pPr>
            <a:r>
              <a:rPr lang="en-US" sz="1125" b="1">
                <a:solidFill>
                  <a:srgbClr val="9A6A12"/>
                </a:solidFill>
                <a:latin typeface="微软雅黑" panose="020B0503020204020204" charset="-122"/>
                <a:ea typeface="微软雅黑" panose="020B0503020204020204" charset="-122"/>
              </a:rPr>
              <a:t>◆ "</a:t>
            </a:r>
            <a:r>
              <a:rPr lang="zh-CN" sz="1125" b="1">
                <a:solidFill>
                  <a:srgbClr val="9A6A12"/>
                </a:solidFill>
                <a:latin typeface="微软雅黑" panose="020B0503020204020204" charset="-122"/>
                <a:ea typeface="微软雅黑" panose="020B0503020204020204" charset="-122"/>
              </a:rPr>
              <a:t>截距项</a:t>
            </a:r>
            <a:r>
              <a:rPr lang="en-US" sz="1125" b="1">
                <a:solidFill>
                  <a:srgbClr val="9A6A12"/>
                </a:solidFill>
                <a:latin typeface="微软雅黑" panose="020B0503020204020204" charset="-122"/>
                <a:ea typeface="微软雅黑" panose="020B0503020204020204" charset="-122"/>
              </a:rPr>
              <a:t>"</a:t>
            </a:r>
            <a:r>
              <a:rPr lang="zh-CN" sz="1125" b="1">
                <a:solidFill>
                  <a:srgbClr val="9A6A12"/>
                </a:solidFill>
                <a:latin typeface="微软雅黑" panose="020B0503020204020204" charset="-122"/>
                <a:ea typeface="微软雅黑" panose="020B0503020204020204" charset="-122"/>
              </a:rPr>
              <a:t>贯穿全文</a:t>
            </a:r>
            <a:endParaRPr lang="zh-CN" sz="1125" b="1">
              <a:solidFill>
                <a:srgbClr val="9A6A12"/>
              </a:solidFill>
              <a:latin typeface="微软雅黑" panose="020B0503020204020204" charset="-122"/>
              <a:ea typeface="微软雅黑" panose="020B0503020204020204" charset="-122"/>
            </a:endParaRPr>
          </a:p>
        </p:txBody>
      </p:sp>
      <p:sp>
        <p:nvSpPr>
          <p:cNvPr id="203" name="文本框 202" descr="{&quot;isTemplate&quot;:true,&quot;type&quot;:&quot;text&quot;}"/>
          <p:cNvSpPr txBox="1"/>
          <p:nvPr/>
        </p:nvSpPr>
        <p:spPr>
          <a:xfrm>
            <a:off x="6877050" y="1238250"/>
            <a:ext cx="4629150" cy="771525"/>
          </a:xfrm>
          <a:prstGeom prst="rect">
            <a:avLst/>
          </a:prstGeom>
        </p:spPr>
        <p:txBody>
          <a:bodyPr wrap="square" lIns="0" tIns="0" rIns="0" bIns="0">
            <a:normAutofit/>
          </a:bodyPr>
          <a:p>
            <a:pPr>
              <a:lnSpc>
                <a:spcPct val="166000"/>
              </a:lnSpc>
            </a:pPr>
            <a:r>
              <a:rPr lang="zh-CN" sz="1015">
                <a:solidFill>
                  <a:srgbClr val="4A4A4A"/>
                </a:solidFill>
                <a:latin typeface="微软雅黑" panose="020B0503020204020204" charset="-122"/>
                <a:ea typeface="微软雅黑" panose="020B0503020204020204" charset="-122"/>
              </a:rPr>
              <a:t>截距</a:t>
            </a:r>
            <a:r>
              <a:rPr lang="en-US" sz="1015">
                <a:solidFill>
                  <a:srgbClr val="4A4A4A"/>
                </a:solidFill>
                <a:latin typeface="微软雅黑" panose="020B0503020204020204" charset="-122"/>
                <a:ea typeface="微软雅黑" panose="020B0503020204020204" charset="-122"/>
              </a:rPr>
              <a:t> α = </a:t>
            </a:r>
            <a:r>
              <a:rPr lang="zh-CN" sz="1015">
                <a:solidFill>
                  <a:srgbClr val="4A4A4A"/>
                </a:solidFill>
                <a:latin typeface="微软雅黑" panose="020B0503020204020204" charset="-122"/>
                <a:ea typeface="微软雅黑" panose="020B0503020204020204" charset="-122"/>
              </a:rPr>
              <a:t>模型解释不掉的超额收益：α</a:t>
            </a:r>
            <a:r>
              <a:rPr lang="en-US" sz="1015">
                <a:solidFill>
                  <a:srgbClr val="4A4A4A"/>
                </a:solidFill>
                <a:latin typeface="微软雅黑" panose="020B0503020204020204" charset="-122"/>
                <a:ea typeface="微软雅黑" panose="020B0503020204020204" charset="-122"/>
              </a:rPr>
              <a:t> </a:t>
            </a:r>
            <a:r>
              <a:rPr lang="zh-CN" sz="1015">
                <a:solidFill>
                  <a:srgbClr val="4A4A4A"/>
                </a:solidFill>
                <a:latin typeface="微软雅黑" panose="020B0503020204020204" charset="-122"/>
                <a:ea typeface="微软雅黑" panose="020B0503020204020204" charset="-122"/>
              </a:rPr>
              <a:t>越接近</a:t>
            </a:r>
            <a:r>
              <a:rPr lang="en-US" sz="1015">
                <a:solidFill>
                  <a:srgbClr val="4A4A4A"/>
                </a:solidFill>
                <a:latin typeface="微软雅黑" panose="020B0503020204020204" charset="-122"/>
                <a:ea typeface="微软雅黑" panose="020B0503020204020204" charset="-122"/>
              </a:rPr>
              <a:t> 0</a:t>
            </a:r>
            <a:r>
              <a:rPr lang="zh-CN" sz="1015">
                <a:solidFill>
                  <a:srgbClr val="4A4A4A"/>
                </a:solidFill>
                <a:latin typeface="微软雅黑" panose="020B0503020204020204" charset="-122"/>
                <a:ea typeface="微软雅黑" panose="020B0503020204020204" charset="-122"/>
              </a:rPr>
              <a:t>，模型越好或市场越有效。结论</a:t>
            </a:r>
            <a:r>
              <a:rPr lang="en-US" sz="1015">
                <a:solidFill>
                  <a:srgbClr val="4A4A4A"/>
                </a:solidFill>
                <a:latin typeface="微软雅黑" panose="020B0503020204020204" charset="-122"/>
                <a:ea typeface="微软雅黑" panose="020B0503020204020204" charset="-122"/>
              </a:rPr>
              <a:t> (2) "</a:t>
            </a:r>
            <a:r>
              <a:rPr lang="zh-CN" sz="1015">
                <a:solidFill>
                  <a:srgbClr val="4A4A4A"/>
                </a:solidFill>
                <a:latin typeface="微软雅黑" panose="020B0503020204020204" charset="-122"/>
                <a:ea typeface="微软雅黑" panose="020B0503020204020204" charset="-122"/>
              </a:rPr>
              <a:t>五因子优于其他模型</a:t>
            </a:r>
            <a:r>
              <a:rPr lang="en-US" sz="1015">
                <a:solidFill>
                  <a:srgbClr val="4A4A4A"/>
                </a:solidFill>
                <a:latin typeface="微软雅黑" panose="020B0503020204020204" charset="-122"/>
                <a:ea typeface="微软雅黑" panose="020B0503020204020204" charset="-122"/>
              </a:rPr>
              <a:t>" = </a:t>
            </a:r>
            <a:r>
              <a:rPr lang="zh-CN" sz="1015">
                <a:solidFill>
                  <a:srgbClr val="4A4A4A"/>
                </a:solidFill>
                <a:latin typeface="微软雅黑" panose="020B0503020204020204" charset="-122"/>
                <a:ea typeface="微软雅黑" panose="020B0503020204020204" charset="-122"/>
              </a:rPr>
              <a:t>全样本</a:t>
            </a:r>
            <a:r>
              <a:rPr lang="en-US" sz="1015">
                <a:solidFill>
                  <a:srgbClr val="4A4A4A"/>
                </a:solidFill>
                <a:latin typeface="微软雅黑" panose="020B0503020204020204" charset="-122"/>
                <a:ea typeface="微软雅黑" panose="020B0503020204020204" charset="-122"/>
              </a:rPr>
              <a:t> α </a:t>
            </a:r>
            <a:r>
              <a:rPr lang="zh-CN" sz="1015">
                <a:solidFill>
                  <a:srgbClr val="4A4A4A"/>
                </a:solidFill>
                <a:latin typeface="微软雅黑" panose="020B0503020204020204" charset="-122"/>
                <a:ea typeface="微软雅黑" panose="020B0503020204020204" charset="-122"/>
              </a:rPr>
              <a:t>更小；结论</a:t>
            </a:r>
            <a:r>
              <a:rPr lang="en-US" sz="1015">
                <a:solidFill>
                  <a:srgbClr val="4A4A4A"/>
                </a:solidFill>
                <a:latin typeface="微软雅黑" panose="020B0503020204020204" charset="-122"/>
                <a:ea typeface="微软雅黑" panose="020B0503020204020204" charset="-122"/>
              </a:rPr>
              <a:t> (5) "</a:t>
            </a:r>
            <a:r>
              <a:rPr lang="zh-CN" sz="1015">
                <a:solidFill>
                  <a:srgbClr val="4A4A4A"/>
                </a:solidFill>
                <a:latin typeface="微软雅黑" panose="020B0503020204020204" charset="-122"/>
                <a:ea typeface="微软雅黑" panose="020B0503020204020204" charset="-122"/>
              </a:rPr>
              <a:t>市场趋于</a:t>
            </a:r>
            <a:r>
              <a:rPr lang="en-US" sz="1015">
                <a:solidFill>
                  <a:srgbClr val="4A4A4A"/>
                </a:solidFill>
                <a:latin typeface="微软雅黑" panose="020B0503020204020204" charset="-122"/>
                <a:ea typeface="微软雅黑" panose="020B0503020204020204" charset="-122"/>
              </a:rPr>
              <a:t>'</a:t>
            </a:r>
            <a:r>
              <a:rPr lang="zh-CN" sz="1015">
                <a:solidFill>
                  <a:srgbClr val="4A4A4A"/>
                </a:solidFill>
                <a:latin typeface="微软雅黑" panose="020B0503020204020204" charset="-122"/>
                <a:ea typeface="微软雅黑" panose="020B0503020204020204" charset="-122"/>
              </a:rPr>
              <a:t>有效</a:t>
            </a:r>
            <a:r>
              <a:rPr lang="en-US" sz="1015">
                <a:solidFill>
                  <a:srgbClr val="4A4A4A"/>
                </a:solidFill>
                <a:latin typeface="微软雅黑" panose="020B0503020204020204" charset="-122"/>
                <a:ea typeface="微软雅黑" panose="020B0503020204020204" charset="-122"/>
              </a:rPr>
              <a:t>'"</a:t>
            </a:r>
            <a:r>
              <a:rPr lang="zh-CN" sz="1015">
                <a:solidFill>
                  <a:srgbClr val="4A4A4A"/>
                </a:solidFill>
                <a:latin typeface="微软雅黑" panose="020B0503020204020204" charset="-122"/>
                <a:ea typeface="微软雅黑" panose="020B0503020204020204" charset="-122"/>
              </a:rPr>
              <a:t>（红圈词）</a:t>
            </a:r>
            <a:r>
              <a:rPr lang="en-US" sz="1015">
                <a:solidFill>
                  <a:srgbClr val="4A4A4A"/>
                </a:solidFill>
                <a:latin typeface="微软雅黑" panose="020B0503020204020204" charset="-122"/>
                <a:ea typeface="微软雅黑" panose="020B0503020204020204" charset="-122"/>
              </a:rPr>
              <a:t>= </a:t>
            </a:r>
            <a:r>
              <a:rPr lang="zh-CN" sz="1015">
                <a:solidFill>
                  <a:srgbClr val="4A4A4A"/>
                </a:solidFill>
                <a:latin typeface="微软雅黑" panose="020B0503020204020204" charset="-122"/>
                <a:ea typeface="微软雅黑" panose="020B0503020204020204" charset="-122"/>
              </a:rPr>
              <a:t>股改后</a:t>
            </a:r>
            <a:r>
              <a:rPr lang="en-US" sz="1015">
                <a:solidFill>
                  <a:srgbClr val="4A4A4A"/>
                </a:solidFill>
                <a:latin typeface="微软雅黑" panose="020B0503020204020204" charset="-122"/>
                <a:ea typeface="微软雅黑" panose="020B0503020204020204" charset="-122"/>
              </a:rPr>
              <a:t> α </a:t>
            </a:r>
            <a:r>
              <a:rPr lang="zh-CN" sz="1015">
                <a:solidFill>
                  <a:srgbClr val="4A4A4A"/>
                </a:solidFill>
                <a:latin typeface="微软雅黑" panose="020B0503020204020204" charset="-122"/>
                <a:ea typeface="微软雅黑" panose="020B0503020204020204" charset="-122"/>
              </a:rPr>
              <a:t>更小。</a:t>
            </a:r>
            <a:endParaRPr lang="zh-CN" sz="1015">
              <a:solidFill>
                <a:srgbClr val="4A4A4A"/>
              </a:solidFill>
              <a:latin typeface="微软雅黑" panose="020B0503020204020204" charset="-122"/>
              <a:ea typeface="微软雅黑" panose="020B0503020204020204" charset="-122"/>
            </a:endParaRPr>
          </a:p>
        </p:txBody>
      </p:sp>
      <p:sp>
        <p:nvSpPr>
          <p:cNvPr id="204" name="矩形 203"/>
          <p:cNvSpPr/>
          <p:nvPr/>
        </p:nvSpPr>
        <p:spPr>
          <a:xfrm>
            <a:off x="6762750" y="3048000"/>
            <a:ext cx="4895850" cy="3238500"/>
          </a:xfrm>
          <a:prstGeom prst="rect">
            <a:avLst/>
          </a:prstGeom>
          <a:solidFill>
            <a:srgbClr val="FFF3F0"/>
          </a:solidFill>
        </p:spPr>
        <p:txBody>
          <a:bodyPr/>
          <a:p/>
        </p:txBody>
      </p:sp>
      <p:sp>
        <p:nvSpPr>
          <p:cNvPr id="205" name="任意多边形 204"/>
          <p:cNvSpPr/>
          <p:nvPr/>
        </p:nvSpPr>
        <p:spPr>
          <a:xfrm>
            <a:off x="6724650" y="3048000"/>
            <a:ext cx="4933950" cy="3238500"/>
          </a:xfrm>
          <a:custGeom>
            <a:avLst/>
            <a:gdLst/>
            <a:ahLst/>
            <a:cxnLst/>
            <a:pathLst>
              <a:path w="518" h="340">
                <a:moveTo>
                  <a:pt x="0" y="0"/>
                </a:moveTo>
                <a:lnTo>
                  <a:pt x="4" y="0"/>
                </a:lnTo>
                <a:lnTo>
                  <a:pt x="4" y="340"/>
                </a:lnTo>
                <a:lnTo>
                  <a:pt x="0" y="340"/>
                </a:lnTo>
                <a:close/>
              </a:path>
            </a:pathLst>
          </a:custGeom>
          <a:solidFill>
            <a:srgbClr val="C0504D"/>
          </a:solidFill>
        </p:spPr>
        <p:txBody>
          <a:bodyPr/>
          <a:p/>
        </p:txBody>
      </p:sp>
      <p:sp>
        <p:nvSpPr>
          <p:cNvPr id="206" name="文本框 205" descr="{&quot;isTemplate&quot;:true,&quot;type&quot;:&quot;text&quot;}"/>
          <p:cNvSpPr txBox="1"/>
          <p:nvPr/>
        </p:nvSpPr>
        <p:spPr>
          <a:xfrm>
            <a:off x="6877050" y="3162300"/>
            <a:ext cx="4667250" cy="171450"/>
          </a:xfrm>
          <a:prstGeom prst="rect">
            <a:avLst/>
          </a:prstGeom>
        </p:spPr>
        <p:txBody>
          <a:bodyPr wrap="none" lIns="0" tIns="0" rIns="0" bIns="0"/>
          <a:p>
            <a:pPr>
              <a:lnSpc>
                <a:spcPct val="100000"/>
              </a:lnSpc>
            </a:pPr>
            <a:r>
              <a:rPr lang="en-US" sz="1125" b="1">
                <a:solidFill>
                  <a:srgbClr val="A03D3A"/>
                </a:solidFill>
                <a:latin typeface="微软雅黑" panose="020B0503020204020204" charset="-122"/>
                <a:ea typeface="微软雅黑" panose="020B0503020204020204" charset="-122"/>
              </a:rPr>
              <a:t>◆ </a:t>
            </a:r>
            <a:r>
              <a:rPr lang="zh-CN" sz="1125" b="1">
                <a:solidFill>
                  <a:srgbClr val="A03D3A"/>
                </a:solidFill>
                <a:latin typeface="微软雅黑" panose="020B0503020204020204" charset="-122"/>
                <a:ea typeface="微软雅黑" panose="020B0503020204020204" charset="-122"/>
              </a:rPr>
              <a:t>收尾：第一、二章的接力棒</a:t>
            </a:r>
            <a:endParaRPr lang="zh-CN" sz="1125" b="1">
              <a:solidFill>
                <a:srgbClr val="A03D3A"/>
              </a:solidFill>
              <a:latin typeface="微软雅黑" panose="020B0503020204020204" charset="-122"/>
              <a:ea typeface="微软雅黑" panose="020B0503020204020204" charset="-122"/>
            </a:endParaRPr>
          </a:p>
        </p:txBody>
      </p:sp>
      <p:sp>
        <p:nvSpPr>
          <p:cNvPr id="207" name="文本框 206" descr="{&quot;isTemplate&quot;:true,&quot;type&quot;:&quot;text&quot;}"/>
          <p:cNvSpPr txBox="1"/>
          <p:nvPr/>
        </p:nvSpPr>
        <p:spPr>
          <a:xfrm>
            <a:off x="6877050" y="3371850"/>
            <a:ext cx="4629150" cy="1314450"/>
          </a:xfrm>
          <a:prstGeom prst="rect">
            <a:avLst/>
          </a:prstGeom>
        </p:spPr>
        <p:txBody>
          <a:bodyPr wrap="none" lIns="0" tIns="0" rIns="0" bIns="0"/>
          <a:p>
            <a:pPr>
              <a:lnSpc>
                <a:spcPct val="170000"/>
              </a:lnSpc>
            </a:pPr>
            <a:r>
              <a:rPr lang="zh-CN" sz="1015">
                <a:solidFill>
                  <a:srgbClr val="444444"/>
                </a:solidFill>
                <a:latin typeface="微软雅黑" panose="020B0503020204020204" charset="-122"/>
                <a:ea typeface="微软雅黑" panose="020B0503020204020204" charset="-122"/>
              </a:rPr>
              <a:t>引言负责</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提出问题</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（五问），文献回顾负责</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找出缺口</a:t>
            </a:r>
            <a:r>
              <a:rPr lang="en-US" sz="1015">
                <a:solidFill>
                  <a:srgbClr val="444444"/>
                </a:solidFill>
                <a:latin typeface="微软雅黑" panose="020B0503020204020204" charset="-122"/>
                <a:ea typeface="微软雅黑" panose="020B0503020204020204" charset="-122"/>
              </a:rPr>
              <a:t>"</a:t>
            </a:r>
            <a:r>
              <a:rPr lang="zh-CN" sz="1015">
                <a:solidFill>
                  <a:srgbClr val="444444"/>
                </a:solidFill>
                <a:latin typeface="微软雅黑" panose="020B0503020204020204" charset="-122"/>
                <a:ea typeface="微软雅黑" panose="020B0503020204020204" charset="-122"/>
              </a:rPr>
              <a:t>（三个没人做）：</a:t>
            </a:r>
            <a:endParaRPr lang="zh-CN" sz="1015">
              <a:solidFill>
                <a:srgbClr val="444444"/>
              </a:solidFill>
              <a:latin typeface="微软雅黑" panose="020B0503020204020204" charset="-122"/>
              <a:ea typeface="微软雅黑" panose="020B0503020204020204" charset="-122"/>
            </a:endParaRPr>
          </a:p>
          <a:p>
            <a:pPr>
              <a:lnSpc>
                <a:spcPct val="170000"/>
              </a:lnSpc>
            </a:pPr>
            <a:r>
              <a:rPr lang="zh-CN" sz="1015">
                <a:solidFill>
                  <a:srgbClr val="444444"/>
                </a:solidFill>
                <a:latin typeface="微软雅黑" panose="020B0503020204020204" charset="-122"/>
                <a:ea typeface="微软雅黑" panose="020B0503020204020204" charset="-122"/>
              </a:rPr>
              <a:t>缺口①</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溢价检验没人做</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表</a:t>
            </a:r>
            <a:r>
              <a:rPr lang="en-US" sz="1015">
                <a:solidFill>
                  <a:srgbClr val="444444"/>
                </a:solidFill>
                <a:latin typeface="微软雅黑" panose="020B0503020204020204" charset="-122"/>
                <a:ea typeface="微软雅黑" panose="020B0503020204020204" charset="-122"/>
              </a:rPr>
              <a:t> 3</a:t>
            </a:r>
            <a:endParaRPr lang="en-US" sz="1015">
              <a:solidFill>
                <a:srgbClr val="444444"/>
              </a:solidFill>
              <a:latin typeface="微软雅黑" panose="020B0503020204020204" charset="-122"/>
              <a:ea typeface="微软雅黑" panose="020B0503020204020204" charset="-122"/>
            </a:endParaRPr>
          </a:p>
          <a:p>
            <a:pPr>
              <a:lnSpc>
                <a:spcPct val="170000"/>
              </a:lnSpc>
            </a:pPr>
            <a:r>
              <a:rPr lang="zh-CN" sz="1015">
                <a:solidFill>
                  <a:srgbClr val="444444"/>
                </a:solidFill>
                <a:latin typeface="微软雅黑" panose="020B0503020204020204" charset="-122"/>
                <a:ea typeface="微软雅黑" panose="020B0503020204020204" charset="-122"/>
              </a:rPr>
              <a:t>缺口②</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全都只做全样本</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表</a:t>
            </a:r>
            <a:r>
              <a:rPr lang="en-US" sz="1015">
                <a:solidFill>
                  <a:srgbClr val="444444"/>
                </a:solidFill>
                <a:latin typeface="微软雅黑" panose="020B0503020204020204" charset="-122"/>
                <a:ea typeface="微软雅黑" panose="020B0503020204020204" charset="-122"/>
              </a:rPr>
              <a:t> 5–7</a:t>
            </a:r>
            <a:endParaRPr lang="en-US" sz="1015">
              <a:solidFill>
                <a:srgbClr val="444444"/>
              </a:solidFill>
              <a:latin typeface="微软雅黑" panose="020B0503020204020204" charset="-122"/>
              <a:ea typeface="微软雅黑" panose="020B0503020204020204" charset="-122"/>
            </a:endParaRPr>
          </a:p>
          <a:p>
            <a:pPr>
              <a:lnSpc>
                <a:spcPct val="170000"/>
              </a:lnSpc>
            </a:pPr>
            <a:r>
              <a:rPr lang="zh-CN" sz="1015">
                <a:solidFill>
                  <a:srgbClr val="444444"/>
                </a:solidFill>
                <a:latin typeface="微软雅黑" panose="020B0503020204020204" charset="-122"/>
                <a:ea typeface="微软雅黑" panose="020B0503020204020204" charset="-122"/>
              </a:rPr>
              <a:t>缺口③</a:t>
            </a:r>
            <a:r>
              <a:rPr lang="en-US" sz="1015">
                <a:solidFill>
                  <a:srgbClr val="444444"/>
                </a:solidFill>
                <a:latin typeface="微软雅黑" panose="020B0503020204020204" charset="-122"/>
                <a:ea typeface="微软雅黑" panose="020B0503020204020204" charset="-122"/>
              </a:rPr>
              <a:t> </a:t>
            </a:r>
            <a:r>
              <a:rPr lang="zh-CN" sz="1015">
                <a:solidFill>
                  <a:srgbClr val="444444"/>
                </a:solidFill>
                <a:latin typeface="微软雅黑" panose="020B0503020204020204" charset="-122"/>
                <a:ea typeface="微软雅黑" panose="020B0503020204020204" charset="-122"/>
              </a:rPr>
              <a:t>动量反转无统一裁决</a:t>
            </a:r>
            <a:r>
              <a:rPr lang="en-US" sz="1015">
                <a:solidFill>
                  <a:srgbClr val="444444"/>
                </a:solidFill>
                <a:latin typeface="微软雅黑" panose="020B0503020204020204" charset="-122"/>
                <a:ea typeface="微软雅黑" panose="020B0503020204020204" charset="-122"/>
              </a:rPr>
              <a:t> → </a:t>
            </a:r>
            <a:r>
              <a:rPr lang="zh-CN" sz="1015">
                <a:solidFill>
                  <a:srgbClr val="444444"/>
                </a:solidFill>
                <a:latin typeface="微软雅黑" panose="020B0503020204020204" charset="-122"/>
                <a:ea typeface="微软雅黑" panose="020B0503020204020204" charset="-122"/>
              </a:rPr>
              <a:t>表</a:t>
            </a:r>
            <a:r>
              <a:rPr lang="en-US" sz="1015">
                <a:solidFill>
                  <a:srgbClr val="444444"/>
                </a:solidFill>
                <a:latin typeface="微软雅黑" panose="020B0503020204020204" charset="-122"/>
                <a:ea typeface="微软雅黑" panose="020B0503020204020204" charset="-122"/>
              </a:rPr>
              <a:t> 8</a:t>
            </a:r>
            <a:r>
              <a:rPr lang="zh-CN" sz="1015">
                <a:solidFill>
                  <a:srgbClr val="444444"/>
                </a:solidFill>
                <a:latin typeface="微软雅黑" panose="020B0503020204020204" charset="-122"/>
                <a:ea typeface="微软雅黑" panose="020B0503020204020204" charset="-122"/>
              </a:rPr>
              <a:t>（本组第六章）</a:t>
            </a:r>
            <a:endParaRPr lang="zh-CN" sz="1015">
              <a:solidFill>
                <a:srgbClr val="444444"/>
              </a:solidFill>
              <a:latin typeface="微软雅黑" panose="020B0503020204020204" charset="-122"/>
              <a:ea typeface="微软雅黑" panose="020B0503020204020204" charset="-122"/>
            </a:endParaRPr>
          </a:p>
          <a:p>
            <a:pPr>
              <a:lnSpc>
                <a:spcPct val="170000"/>
              </a:lnSpc>
            </a:pPr>
            <a:r>
              <a:rPr lang="zh-CN" sz="1015">
                <a:solidFill>
                  <a:srgbClr val="444444"/>
                </a:solidFill>
                <a:latin typeface="微软雅黑" panose="020B0503020204020204" charset="-122"/>
                <a:ea typeface="微软雅黑" panose="020B0503020204020204" charset="-122"/>
              </a:rPr>
              <a:t>三个缺口，后面各章逐一兑现。</a:t>
            </a:r>
            <a:endParaRPr lang="zh-CN" sz="1015">
              <a:solidFill>
                <a:srgbClr val="444444"/>
              </a:solidFill>
              <a:latin typeface="微软雅黑" panose="020B0503020204020204" charset="-122"/>
              <a:ea typeface="微软雅黑" panose="020B0503020204020204" charset="-122"/>
            </a:endParaRPr>
          </a:p>
        </p:txBody>
      </p:sp>
      <p:sp>
        <p:nvSpPr>
          <p:cNvPr id="208" name="Rectangle 207"/>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211" name="Rectangle 210"/>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213" name="TextBox 212"/>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214" name="TextBox 213"/>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215" name="TextBox 214"/>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216" name="TextBox 215"/>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217" name="TextBox 216"/>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218" name="TextBox 217"/>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28750" y="1419225"/>
            <a:ext cx="9334500" cy="4019550"/>
          </a:xfrm>
          <a:prstGeom prst="rect">
            <a:avLst/>
          </a:prstGeom>
        </p:spPr>
      </p:pic>
      <p:sp>
        <p:nvSpPr>
          <p:cNvPr id="3" name="Rectangle 2"/>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6" name="Rectangle 5"/>
          <p:cNvSpPr/>
          <p:nvPr/>
        </p:nvSpPr>
        <p:spPr>
          <a:xfrm>
            <a:off x="152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6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引言与文献回顾</a:t>
            </a:r>
          </a:p>
        </p:txBody>
      </p:sp>
      <p:sp>
        <p:nvSpPr>
          <p:cNvPr id="8" name="TextBox 7"/>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9" name="TextBox 8"/>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0" name="TextBox 9"/>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1" name="TextBox 10"/>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2" name="TextBox 11"/>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3" name="TextBox 12"/>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
        <p:nvSpPr>
          <p:cNvPr id="14" name="TextBox 13"/>
          <p:cNvSpPr txBox="1"/>
          <p:nvPr/>
        </p:nvSpPr>
        <p:spPr>
          <a:xfrm>
            <a:off x="530352" y="256032"/>
            <a:ext cx="10607040" cy="548640"/>
          </a:xfrm>
          <a:prstGeom prst="rect">
            <a:avLst/>
          </a:prstGeom>
          <a:noFill/>
        </p:spPr>
        <p:txBody>
          <a:bodyPr wrap="square" anchor="t" lIns="0" rIns="0" tIns="0" bIns="0">
            <a:spAutoFit/>
          </a:bodyPr>
          <a:lstStyle/>
          <a:p>
            <a:pPr algn="l">
              <a:lnSpc>
                <a:spcPct val="125000"/>
              </a:lnSpc>
            </a:pPr>
            <a:r>
              <a:rPr sz="2200" b="1">
                <a:solidFill>
                  <a:srgbClr val="1F1F1F"/>
                </a:solidFill>
                <a:latin typeface="微软雅黑"/>
                <a:ea typeface="微软雅黑"/>
              </a:rPr>
              <a:t>2.3 文献综述汇总：外围文献三类立场与分歧根源</a:t>
            </a:r>
          </a:p>
        </p:txBody>
      </p:sp>
      <p:sp>
        <p:nvSpPr>
          <p:cNvPr id="15" name="TextBox 14"/>
          <p:cNvSpPr txBox="1"/>
          <p:nvPr/>
        </p:nvSpPr>
        <p:spPr>
          <a:xfrm>
            <a:off x="530352" y="841248"/>
            <a:ext cx="10607040" cy="457200"/>
          </a:xfrm>
          <a:prstGeom prst="rect">
            <a:avLst/>
          </a:prstGeom>
          <a:noFill/>
        </p:spPr>
        <p:txBody>
          <a:bodyPr wrap="square" anchor="t" lIns="0" rIns="0" tIns="0" bIns="0">
            <a:spAutoFit/>
          </a:bodyPr>
          <a:lstStyle/>
          <a:p>
            <a:pPr algn="l">
              <a:lnSpc>
                <a:spcPct val="125000"/>
              </a:lnSpc>
            </a:pPr>
            <a:r>
              <a:rPr sz="1300" b="0">
                <a:solidFill>
                  <a:srgbClr val="0B7C86"/>
                </a:solidFill>
                <a:latin typeface="微软雅黑"/>
                <a:ea typeface="微软雅黑"/>
              </a:rPr>
              <a:t>◆ 本页根据前文文献回顾与综述内容整理：以目标文献为中心，按「支持 / 对立 / 拓展」三类立场归位外围文献，并落到分歧根源——为后文分时期检验与动量因子研究铺垫。</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49" name="" descr="&lt;Slide style={{ width: 1280, height: 720, background: '#FFFFFF', padding: 0, flexDirection: 'column' }}&gt;&#13;&#10;    &lt;Image src=&quot;assets/deco_teal.png&quot; style={{ position: 'absolute', top: 0, left: 0, width: 1280, height: 720 }} /&gt;&#13;&#10;&#13;&#10;    &lt;Box style={{ position: 'absolute', top: 236, left: 116, width: 208, height: 208, border: '4px solid #FFFFFF', alignItems: 'center', justifyContent: 'center' }}&gt;&#13;&#10;        &lt;Text style={{ fontSize: 72, fontWeight: 'bold', color: '#FFFFFF', lineHeight: 1 }}&gt;04&lt;/Text&gt;&#13;&#10;    &lt;/Box&gt;&#13;&#10;&#13;&#10;    &lt;Text style={{ position: 'absolute', top: 296, left: 432, width: 790, fontSize: 52, fontWeight: 'bold', color: '#1F1F1F', lineHeight: 1.25 }}&gt;&#13;&#10;        研究方法的拆解&#13;&#10;    &lt;/Text&gt;&#13;&#10;    &lt;Box style={{ position: 'absolute', top: 386, left: 432, width: 88, height: 6, background: '#01A5B1' }} /&gt;&#13;&#10;    &lt;Text style={{ position: 'absolute', top: 416, left: 432, width: 770, fontSize: 20, color: '#5A5A5A', lineHeight: 1.62 }}&gt;&#13;&#10;        把方法章节逐句翻译成代码。公式与代码之间的实现 Gap，往往就是最高分的创新点。&#13;&#10;    &lt;/Text&gt;&#13;&#10;&#13;&#10;    &lt;Text style={{ position: 'absolute', top: 668, left: 1140, width: 90, fontSize: 14, color: '#B0B0B0', textAlign: 'right' }}&gt;22 / 37&lt;/Text&gt;&#13;&#10;&lt;/Slide&gt;"/>
        <p:cNvGrpSpPr/>
        <p:nvPr/>
      </p:nvGrpSpPr>
      <p:grpSpPr>
        <a:xfrm>
          <a:off x="0" y="0"/>
          <a:ext cx="0" cy="0"/>
          <a:chOff x="0" y="0"/>
          <a:chExt cx="0" cy="0"/>
        </a:xfrm>
      </p:grpSpPr>
      <p:sp>
        <p:nvSpPr>
          <p:cNvPr id="350" name="矩形 349"/>
          <p:cNvSpPr/>
          <p:nvPr/>
        </p:nvSpPr>
        <p:spPr>
          <a:xfrm>
            <a:off x="0" y="0"/>
            <a:ext cx="12192000" cy="6858000"/>
          </a:xfrm>
          <a:prstGeom prst="rect">
            <a:avLst/>
          </a:prstGeom>
          <a:solidFill>
            <a:srgbClr val="FFFFFF"/>
          </a:solidFill>
        </p:spPr>
        <p:txBody>
          <a:bodyPr/>
          <a:p/>
        </p:txBody>
      </p:sp>
      <p:pic>
        <p:nvPicPr>
          <p:cNvPr id="351" name="图片 350"/>
          <p:cNvPicPr>
            <a:picLocks noChangeAspect="1"/>
          </p:cNvPicPr>
          <p:nvPr/>
        </p:nvPicPr>
        <p:blipFill>
          <a:blip r:embed="rId1"/>
          <a:stretch>
            <a:fillRect/>
          </a:stretch>
        </p:blipFill>
        <p:spPr>
          <a:xfrm>
            <a:off x="0" y="0"/>
            <a:ext cx="12192000" cy="6858000"/>
          </a:xfrm>
          <a:prstGeom prst="rect">
            <a:avLst/>
          </a:prstGeom>
        </p:spPr>
      </p:pic>
      <p:sp>
        <p:nvSpPr>
          <p:cNvPr id="352" name="矩形 351"/>
          <p:cNvSpPr/>
          <p:nvPr/>
        </p:nvSpPr>
        <p:spPr>
          <a:xfrm>
            <a:off x="1104900" y="2247900"/>
            <a:ext cx="1981200" cy="1981200"/>
          </a:xfrm>
          <a:prstGeom prst="rect">
            <a:avLst/>
          </a:prstGeom>
          <a:ln w="50800">
            <a:solidFill>
              <a:srgbClr val="FFFFFF"/>
            </a:solidFill>
            <a:prstDash val="solid"/>
          </a:ln>
        </p:spPr>
        <p:txBody>
          <a:bodyPr/>
          <a:p/>
        </p:txBody>
      </p:sp>
      <p:sp>
        <p:nvSpPr>
          <p:cNvPr id="353" name="文本框 352"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03</a:t>
            </a:r>
            <a:endParaRPr lang="en-US" sz="5400" b="1">
              <a:solidFill>
                <a:srgbClr val="FFFFFF"/>
              </a:solidFill>
              <a:latin typeface="微软雅黑" panose="020B0503020204020204" charset="-122"/>
              <a:ea typeface="微软雅黑" panose="020B0503020204020204" charset="-122"/>
            </a:endParaRPr>
          </a:p>
        </p:txBody>
      </p:sp>
      <p:sp>
        <p:nvSpPr>
          <p:cNvPr id="354" name="文本框 353" descr="{&quot;isTemplate&quot;:true,&quot;type&quot;:&quot;text&quot;}"/>
          <p:cNvSpPr txBox="1"/>
          <p:nvPr/>
        </p:nvSpPr>
        <p:spPr>
          <a:xfrm>
            <a:off x="4114800" y="2819400"/>
            <a:ext cx="7524750" cy="742950"/>
          </a:xfrm>
          <a:prstGeom prst="rect">
            <a:avLst/>
          </a:prstGeom>
        </p:spPr>
        <p:txBody>
          <a:bodyPr wrap="none" lIns="0" tIns="0" rIns="0" bIns="0"/>
          <a:p>
            <a:pPr>
              <a:lnSpc>
                <a:spcPct val="125000"/>
              </a:lnSpc>
            </a:pPr>
            <a:r>
              <a:rPr lang="zh-CN" sz="3900" b="1">
                <a:solidFill>
                  <a:srgbClr val="1F1F1F"/>
                </a:solidFill>
                <a:latin typeface="微软雅黑" panose="020B0503020204020204" charset="-122"/>
                <a:ea typeface="微软雅黑" panose="020B0503020204020204" charset="-122"/>
              </a:rPr>
              <a:t>研究方法的拆解</a:t>
            </a:r>
            <a:endParaRPr lang="zh-CN" sz="3900" b="1">
              <a:solidFill>
                <a:srgbClr val="1F1F1F"/>
              </a:solidFill>
              <a:latin typeface="微软雅黑" panose="020B0503020204020204" charset="-122"/>
              <a:ea typeface="微软雅黑" panose="020B0503020204020204" charset="-122"/>
            </a:endParaRPr>
          </a:p>
        </p:txBody>
      </p:sp>
      <p:sp>
        <p:nvSpPr>
          <p:cNvPr id="355" name="矩形 354"/>
          <p:cNvSpPr/>
          <p:nvPr/>
        </p:nvSpPr>
        <p:spPr>
          <a:xfrm>
            <a:off x="4114800" y="3676650"/>
            <a:ext cx="838200" cy="57150"/>
          </a:xfrm>
          <a:prstGeom prst="rect">
            <a:avLst/>
          </a:prstGeom>
          <a:solidFill>
            <a:srgbClr val="01A5B1"/>
          </a:solidFill>
        </p:spPr>
        <p:txBody>
          <a:bodyPr/>
          <a:p/>
        </p:txBody>
      </p:sp>
      <p:sp>
        <p:nvSpPr>
          <p:cNvPr id="7" name="文本框 6"/>
          <p:cNvSpPr txBox="1"/>
          <p:nvPr/>
        </p:nvSpPr>
        <p:spPr>
          <a:xfrm>
            <a:off x="4289425" y="3936365"/>
            <a:ext cx="438150" cy="368300"/>
          </a:xfrm>
          <a:prstGeom prst="rect">
            <a:avLst/>
          </a:prstGeom>
          <a:noFill/>
        </p:spPr>
        <p:txBody>
          <a:bodyPr wrap="square" rtlCol="0">
            <a:spAutoFit/>
          </a:bodyPr>
          <a:p>
            <a:r>
              <a:rPr lang="en-US" altLang="zh-CN"/>
              <a:t>01</a:t>
            </a:r>
            <a:endParaRPr lang="en-US" altLang="zh-CN"/>
          </a:p>
        </p:txBody>
      </p:sp>
      <p:sp>
        <p:nvSpPr>
          <p:cNvPr id="2" name="文本框 1"/>
          <p:cNvSpPr txBox="1"/>
          <p:nvPr/>
        </p:nvSpPr>
        <p:spPr>
          <a:xfrm>
            <a:off x="4876165" y="3936365"/>
            <a:ext cx="7057390" cy="1198880"/>
          </a:xfrm>
          <a:prstGeom prst="rect">
            <a:avLst/>
          </a:prstGeom>
          <a:noFill/>
        </p:spPr>
        <p:txBody>
          <a:bodyPr wrap="square" rtlCol="0">
            <a:spAutoFit/>
          </a:bodyPr>
          <a:p>
            <a:r>
              <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样本数据选取与处理</a:t>
            </a:r>
            <a:endPar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r>
              <a:rPr lang="zh-CN" alt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数</a:t>
            </a:r>
            <a:r>
              <a:rPr 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据来源、样本区间、无风险利率、IPO剔除、市值加权方式</a:t>
            </a:r>
            <a:endParaRPr lang="en-US"/>
          </a:p>
          <a:p>
            <a:endParaRPr lang="en-US"/>
          </a:p>
          <a:p>
            <a:endParaRPr lang="zh-CN" altLang="en-US"/>
          </a:p>
        </p:txBody>
      </p:sp>
      <p:sp>
        <p:nvSpPr>
          <p:cNvPr id="3" name="文本框 2"/>
          <p:cNvSpPr txBox="1"/>
          <p:nvPr/>
        </p:nvSpPr>
        <p:spPr>
          <a:xfrm>
            <a:off x="4311015" y="4766945"/>
            <a:ext cx="446405" cy="368300"/>
          </a:xfrm>
          <a:prstGeom prst="rect">
            <a:avLst/>
          </a:prstGeom>
          <a:noFill/>
        </p:spPr>
        <p:txBody>
          <a:bodyPr wrap="square" rtlCol="0">
            <a:spAutoFit/>
          </a:bodyPr>
          <a:p>
            <a:r>
              <a:rPr lang="en-US" altLang="zh-CN"/>
              <a:t>02</a:t>
            </a:r>
            <a:endParaRPr lang="en-US" altLang="zh-CN"/>
          </a:p>
        </p:txBody>
      </p:sp>
      <p:sp>
        <p:nvSpPr>
          <p:cNvPr id="4" name="文本框 3"/>
          <p:cNvSpPr txBox="1"/>
          <p:nvPr/>
        </p:nvSpPr>
        <p:spPr>
          <a:xfrm>
            <a:off x="4876165" y="4725670"/>
            <a:ext cx="6826250" cy="645160"/>
          </a:xfrm>
          <a:prstGeom prst="rect">
            <a:avLst/>
          </a:prstGeom>
          <a:noFill/>
        </p:spPr>
        <p:txBody>
          <a:bodyPr wrap="square" rtlCol="0">
            <a:spAutoFit/>
          </a:bodyPr>
          <a:p>
            <a:r>
              <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五因子模型公式与因子定义</a:t>
            </a:r>
            <a:endParaRPr lang="en-US"/>
          </a:p>
          <a:p>
            <a:r>
              <a:rPr lang="zh-CN" alt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五</a:t>
            </a:r>
            <a:r>
              <a:rPr 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因子回归方程、市场/规模/价值/盈利/投资五个因子的经济含义</a:t>
            </a:r>
            <a:endParaRPr lang="zh-CN" altLang="en-US"/>
          </a:p>
        </p:txBody>
      </p:sp>
      <p:sp>
        <p:nvSpPr>
          <p:cNvPr id="5" name="文本框 4"/>
          <p:cNvSpPr txBox="1"/>
          <p:nvPr/>
        </p:nvSpPr>
        <p:spPr>
          <a:xfrm>
            <a:off x="4311015" y="5647690"/>
            <a:ext cx="473710" cy="368300"/>
          </a:xfrm>
          <a:prstGeom prst="rect">
            <a:avLst/>
          </a:prstGeom>
          <a:noFill/>
        </p:spPr>
        <p:txBody>
          <a:bodyPr wrap="square" rtlCol="0">
            <a:spAutoFit/>
          </a:bodyPr>
          <a:p>
            <a:r>
              <a:rPr lang="en-US" altLang="zh-CN"/>
              <a:t>03</a:t>
            </a:r>
            <a:endParaRPr lang="en-US" altLang="zh-CN"/>
          </a:p>
        </p:txBody>
      </p:sp>
      <p:sp>
        <p:nvSpPr>
          <p:cNvPr id="6" name="文本框 5"/>
          <p:cNvSpPr txBox="1"/>
          <p:nvPr/>
        </p:nvSpPr>
        <p:spPr>
          <a:xfrm>
            <a:off x="4953000" y="5034153"/>
            <a:ext cx="7082155" cy="1476375"/>
          </a:xfrm>
          <a:prstGeom prst="rect">
            <a:avLst/>
          </a:prstGeom>
          <a:noFill/>
        </p:spPr>
        <p:txBody>
          <a:bodyPr wrap="square" rtlCol="0">
            <a:spAutoFit/>
          </a:bodyPr>
          <a:p>
            <a:pPr marL="0" indent="0" algn="l">
              <a:lnSpc>
                <a:spcPct val="125000"/>
              </a:lnSpc>
              <a:defRPr/>
            </a:pPr>
            <a:r>
              <a:rPr lang="zh-CN" alt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因</a:t>
            </a:r>
            <a:r>
              <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子指标计算与分组构建方法</a:t>
            </a:r>
            <a:endPar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Size/BM/OP/Inv指标口径、2×3 / 2×2 / 2×2×2×2三种分组法、动量因子</a:t>
            </a:r>
            <a:endParaRPr lang="en-US"/>
          </a:p>
          <a:p>
            <a:pPr marL="0" indent="0" algn="l">
              <a:lnSpc>
                <a:spcPct val="125000"/>
              </a:lnSpc>
              <a:defRPr/>
            </a:pPr>
            <a:endParaRPr lang="zh-CN" altLang="en-US"/>
          </a:p>
        </p:txBody>
      </p:sp>
      <p:sp>
        <p:nvSpPr>
          <p:cNvPr id="356" name="Rectangle 355"/>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TextBox 357"/>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359" name="TextBox 358"/>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360" name="Rectangle 359"/>
          <p:cNvSpPr/>
          <p:nvPr/>
        </p:nvSpPr>
        <p:spPr>
          <a:xfrm>
            <a:off x="304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TextBox 360"/>
          <p:cNvSpPr txBox="1"/>
          <p:nvPr/>
        </p:nvSpPr>
        <p:spPr>
          <a:xfrm>
            <a:off x="309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研究方法</a:t>
            </a:r>
          </a:p>
        </p:txBody>
      </p:sp>
      <p:sp>
        <p:nvSpPr>
          <p:cNvPr id="362" name="TextBox 36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363" name="TextBox 362"/>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364" name="TextBox 363"/>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365" name="TextBox 364"/>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366" name="TextBox 365"/>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58"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全链路：把每一句话翻译成一行代码&lt;/Text&gt;&#10;        &lt;/Box&gt;&#10;&#10;        &lt;Box style={{ height: 544, flexDirection: 'column' }}&gt;&#10;            &lt;Table&#10;                style={{ width: '100%', height: 420 }}&#10;                defaultTextStyle={{ fontSize: 16, textAlign: 'left', color: '#1F1F1F' }}&#10;                defaultCellStyle={{&#10;                    border: {&#10;                        left: { width: 1, color: '#EAEAEA' },&#10;                        right: { width: 1, color: '#EAEAEA' },&#10;                        top: { width: 1, color: '#EAEAEA' },&#10;                        bottom: { width: 1, color: '#EAEAEA' },&#10;                    },&#10;                    padding: 8,&#10;                }}&#10;                cells={[&#10;                    [&#10;                        { text: '原文口径（含页码）', textStyle: { bold: true, color: '#FFFFFF', fontSize: 16 }, cellStyle: { background: { color: '#1F1F1F' } } },&#10;                        { text: '代码实现（脚本中的函数）', textStyle: { bold: true, color: '#FFFFFF', fontSize: 16 }, cellStyle: { background: { color: '#1F1F1F' } } },&#10;                    ],&#10;                    ['样本 254 个月（p.194）', 'PeriodRange(&quot;1994-07&quot;, &quot;2015-08&quot;)'],&#10;                    [&#10;                        { text: '流通市值加权（p.194）', cellStyle: { background: { color: '#F7F7F7' } } },&#10;                        { text: 'vw_return()：Σ(ret·size) / Σ(size)', cellStyle: { background: { color: '#F7F7F7' } } },&#10;                    ],&#10;                    ['Size：第 t 年 6 月底流通市值', 'assign2(df, &quot;size&quot;) 截面中位数分组'],&#10;                    [&#10;                        { text: 'B/M：t−1 年末账面价值 / 流通市值', cellStyle: { background: { color: '#F7F7F7' } } },&#10;                        { text: 'assign3(df, &quot;bm&quot;, (&quot;L&quot;,&quot;N&quot;,&quot;H&quot;)) 30/70 分位', cellStyle: { background: { color: '#F7F7F7' } } },&#10;                    ],&#10;                    ['OP：营业利润 / 股东权益合计', 'assign3(df, &quot;op&quot;, (&quot;W&quot;,&quot;N&quot;,&quot;R&quot;))'],&#10;                    [&#10;                        { text: 'Inv：(TA_{t−1} − TA_{t−2}) / TA_{t−2}', cellStyle: { background: { color: '#F7F7F7' } } },&#10;                        { text: 'assign3(df, &quot;inv&quot;, (&quot;A&quot;,&quot;N&quot;,&quot;C&quot;))', cellStyle: { background: { color: '#F7F7F7' } } },&#10;                    ],&#10;                    ['MOM：t−12 至 t−2 累计历史收益率', 'log1p(R).rolling(11).sum().shift(2)'],&#10;                    [&#10;                        { text: 'GRS 检验 + 截距项四指标（p.199）', cellStyle: { background: { color: '#F7F7F7' } } },&#10;                        { text: 'grs_stat() / evaluate()', cellStyle: { background: { color: '#F7F7F7' } } },&#10;                    ],&#10;                    [&#10;                        { text: '邹至庄检验：25 个 panel（p.200 脚注）', cellStyle: { background: { color: 'rgba(1,165,177,0.12)' } } },&#10;                        { text: 'panel_chow()：逐 panel 检验 + Fisher 合并 p 值', cellStyle: { background: { color: 'rgba(1,165,177,0.12)' } } },&#10;                    ],&#10;                ]}&#10;            /&gt;&#10;&#10;            &lt;Box style={{ height: 104, flexDirection: 'row', gap: 20, marginTop: 20 }}&gt;&#10;                &lt;Box style={{ width: 700, height: 104, background: 'rgba(1,165,177,0.10)', flexDirection: 'row' }}&gt;&#10;                    &lt;Box style={{ width: 4, height: 104, background: '#01A5B1' }} /&gt;&#10;                    &lt;Box style={{ width: 696, padding: 14, flexDirection: 'row', alignItems: 'center' }}&gt;&#10;                        &lt;Text style={{ width: 666, fontSize: 16.5, color: '#1F1F1F', lineHeight: 1.55 }}&gt;&#10;                            脚本用&lt;span style={{ fontWeight: 'bold' }}&gt;合成数据&lt;/span&gt;端到端跑通全链路。换成 Wind / CSMAR 真实面板（保持列名 date / code / size / bm / ep / op / inv / ret），全链路无需改动。&#10;                        &lt;/Text&gt;&#10;                    &lt;/Box&gt;&#10;                &lt;/Box&gt;&#10;                &lt;Box style={{ width: 400, height: 104, background: '#FFFFFF', border: '1px solid #EAEAEA', borderTop: '4px solid #01A5B1', padding: 14, flexDirection: 'column' }}&gt;&#10;                    &lt;Text style={{ fontSize: 16.5, fontWeight: 'bold', color: '#1F1F1F' }}&gt;附件&lt;/Text&gt;&#10;                    &lt;Text style={{ width: 368, fontSize: 15.5, color: '#5A5A5A', lineHeight: 1.5, marginTop: 6 }}&gt;&#10;                        ff5_3d_repro.py（可运行，seed = 201706）&#10;                    &lt;/Text&gt;&#10;                &lt;/Box&gt;&#10;            &lt;/Box&gt;&#10;        &lt;/Box&gt;&#10;&#10;        &lt;Box style={{ height: 40, flexDirection: 'row', justifyContent: 'space-between', alignItems: 'center' }}&gt;&#10;            &lt;Text style={{ fontSize: 14, color: '#8A8A8A' }}&gt;三维结构法 · FF5 中国实证拆解&lt;/Text&gt;&#10;            &lt;Text style={{ fontSize: 14, color: '#8A8A8A' }}&gt;23 / 37&lt;/Text&gt;&#10;        &lt;/Box&gt;&#10;    &lt;/Box&gt;&#10;&lt;/Slide&gt;"/>
        <p:cNvGrpSpPr/>
        <p:nvPr/>
      </p:nvGrpSpPr>
      <p:grpSpPr>
        <a:xfrm>
          <a:off x="0" y="0"/>
          <a:ext cx="0" cy="0"/>
          <a:chOff x="0" y="0"/>
          <a:chExt cx="0" cy="0"/>
        </a:xfrm>
      </p:grpSpPr>
      <p:sp>
        <p:nvSpPr>
          <p:cNvPr id="359" name="矩形 358"/>
          <p:cNvSpPr/>
          <p:nvPr/>
        </p:nvSpPr>
        <p:spPr>
          <a:xfrm>
            <a:off x="0" y="0"/>
            <a:ext cx="12192000" cy="6858000"/>
          </a:xfrm>
          <a:prstGeom prst="rect">
            <a:avLst/>
          </a:prstGeom>
          <a:solidFill>
            <a:srgbClr val="FFFFFF"/>
          </a:solidFill>
        </p:spPr>
        <p:txBody>
          <a:bodyPr/>
          <a:p/>
        </p:txBody>
      </p:sp>
      <p:pic>
        <p:nvPicPr>
          <p:cNvPr id="360" name="图片 359"/>
          <p:cNvPicPr>
            <a:picLocks noChangeAspect="1"/>
          </p:cNvPicPr>
          <p:nvPr/>
        </p:nvPicPr>
        <p:blipFill>
          <a:blip r:embed="rId1"/>
          <a:stretch>
            <a:fillRect/>
          </a:stretch>
        </p:blipFill>
        <p:spPr>
          <a:xfrm>
            <a:off x="0" y="0"/>
            <a:ext cx="12192000" cy="6858000"/>
          </a:xfrm>
          <a:prstGeom prst="rect">
            <a:avLst/>
          </a:prstGeom>
        </p:spPr>
      </p:pic>
      <p:sp>
        <p:nvSpPr>
          <p:cNvPr id="361" name="矩形 360"/>
          <p:cNvSpPr/>
          <p:nvPr/>
        </p:nvSpPr>
        <p:spPr>
          <a:xfrm>
            <a:off x="762000" y="476250"/>
            <a:ext cx="57150" cy="342900"/>
          </a:xfrm>
          <a:prstGeom prst="rect">
            <a:avLst/>
          </a:prstGeom>
          <a:solidFill>
            <a:srgbClr val="01A5B1"/>
          </a:solidFill>
        </p:spPr>
        <p:txBody>
          <a:bodyPr/>
          <a:p/>
        </p:txBody>
      </p:sp>
      <p:sp>
        <p:nvSpPr>
          <p:cNvPr id="362" name="文本框 361" descr="{&quot;isTemplate&quot;:true,&quot;type&quot;:&quot;text&quot;}"/>
          <p:cNvSpPr txBox="1"/>
          <p:nvPr/>
        </p:nvSpPr>
        <p:spPr>
          <a:xfrm>
            <a:off x="530352" y="256032"/>
            <a:ext cx="10607040" cy="548640"/>
          </a:xfrm>
          <a:prstGeom prst="rect">
            <a:avLst/>
          </a:prstGeom>
        </p:spPr>
        <p:txBody>
          <a:bodyPr wrap="square" lIns="0" tIns="0" rIns="0" bIns="0"/>
          <a:p>
            <a:pPr algn="l">
              <a:lnSpc>
                <a:spcPct val="100000"/>
              </a:lnSpc>
            </a:pPr>
            <a:r>
              <a:rPr lang="zh-CN" sz="2200" b="1">
                <a:solidFill>
                  <a:srgbClr val="1F1F1F"/>
                </a:solidFill>
                <a:latin typeface="微软雅黑" panose="020B0503020204020204" charset="-122"/>
                <a:ea typeface="微软雅黑" panose="020B0503020204020204" charset="-122"/>
                <a:sym typeface="Noto Serif SC" panose="02020200000000000000" charset="-122"/>
              </a:rPr>
              <a:t>数据处理与因子构建方法</a:t>
            </a:r>
            <a:endParaRPr lang="zh-CN" sz="2550" b="1">
              <a:solidFill>
                <a:srgbClr val="01A5B1"/>
              </a:solidFill>
              <a:latin typeface="微软雅黑" panose="020B0503020204020204" charset="-122"/>
              <a:ea typeface="微软雅黑" panose="020B0503020204020204" charset="-122"/>
            </a:endParaRPr>
          </a:p>
        </p:txBody>
      </p:sp>
      <p:sp>
        <p:nvSpPr>
          <p:cNvPr id="4" name="矩形 3"/>
          <p:cNvSpPr/>
          <p:nvPr/>
        </p:nvSpPr>
        <p:spPr>
          <a:xfrm>
            <a:off x="593090" y="1043305"/>
            <a:ext cx="5061585" cy="2595245"/>
          </a:xfrm>
          <a:prstGeom prst="rect">
            <a:avLst/>
          </a:prstGeom>
          <a:solidFill>
            <a:srgbClr val="01A5B1">
              <a:alpha val="10000"/>
            </a:srgbClr>
          </a:solidFill>
        </p:spPr>
        <p:txBody>
          <a:bodyPr/>
          <a:p>
            <a:r>
              <a:rPr lang="zh-CN"/>
              <a:t>数据来源与样本范围</a:t>
            </a:r>
            <a:endParaRPr lang="zh-CN"/>
          </a:p>
          <a:p>
            <a:pPr marL="0" indent="0" algn="l">
              <a:lnSpc>
                <a:spcPct val="142000"/>
              </a:lnSpc>
              <a:defRPr/>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数据库：北京量邦科技金融数据库（整合交易所授权数据与上市公司公开资料）</a:t>
            </a:r>
            <a:endParaRPr lang="en-US"/>
          </a:p>
          <a:p>
            <a:pPr marL="0" indent="0" algn="l">
              <a:lnSpc>
                <a:spcPct val="142000"/>
              </a:lnSpc>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样本标的：仅A股股票（境内机构、组织、个人主要参与市场）</a:t>
            </a:r>
            <a:endParaRPr lang="en-US"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样本区间：1994年7月 — 2015年8月，共254个月月度数据</a:t>
            </a:r>
            <a:endParaRPr lang="en-US"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endParaRPr lang="zh-CN"/>
          </a:p>
        </p:txBody>
      </p:sp>
      <p:sp>
        <p:nvSpPr>
          <p:cNvPr id="2" name="任意多边形 1"/>
          <p:cNvSpPr/>
          <p:nvPr/>
        </p:nvSpPr>
        <p:spPr>
          <a:xfrm>
            <a:off x="541020" y="3736975"/>
            <a:ext cx="5062220" cy="2776855"/>
          </a:xfrm>
          <a:custGeom>
            <a:avLst/>
            <a:gdLst/>
            <a:ahLst/>
            <a:cxnLst/>
            <a:pathLst>
              <a:path w="400" h="104">
                <a:moveTo>
                  <a:pt x="0" y="0"/>
                </a:moveTo>
                <a:lnTo>
                  <a:pt x="400" y="0"/>
                </a:lnTo>
                <a:lnTo>
                  <a:pt x="400" y="4"/>
                </a:lnTo>
                <a:lnTo>
                  <a:pt x="0" y="4"/>
                </a:lnTo>
                <a:close/>
              </a:path>
            </a:pathLst>
          </a:custGeom>
          <a:solidFill>
            <a:srgbClr val="01A5B1"/>
          </a:solidFill>
        </p:spPr>
        <p:txBody>
          <a:bodyPr/>
          <a:p>
            <a:pPr marL="0" indent="0" algn="l">
              <a:lnSpc>
                <a:spcPct val="125000"/>
              </a:lnSpc>
              <a:defRPr/>
            </a:pPr>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三项关键数据处理</a:t>
            </a:r>
            <a:endPar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①</a:t>
            </a:r>
            <a:r>
              <a:rPr lang="en-US"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市值加权权重</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：直接以流通股本计算，而非总股本</a:t>
            </a:r>
            <a:endPar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②</a:t>
            </a:r>
            <a:r>
              <a:rPr lang="en-US"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IPO剔除</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：剔除所有股票上市后最初120个交易日数据，消除新股定价过低与上市后低迷表现的异常干扰</a:t>
            </a:r>
            <a:endPar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③</a:t>
            </a:r>
            <a:r>
              <a:rPr lang="en-US"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财务数据口径</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：所有上市公司财务数据均来自合并后报表</a:t>
            </a:r>
            <a:endParaRPr lang="en-US"/>
          </a:p>
          <a:p>
            <a:pPr marL="0" indent="0" algn="l">
              <a:lnSpc>
                <a:spcPct val="125000"/>
              </a:lnSpc>
              <a:defRPr/>
            </a:pPr>
            <a:endParaRPr lang="en-US"/>
          </a:p>
          <a:p>
            <a:pPr marL="0" indent="0" algn="l">
              <a:lnSpc>
                <a:spcPct val="125000"/>
              </a:lnSpc>
              <a:defRPr/>
            </a:pPr>
            <a:endParaRPr lang="en-US"/>
          </a:p>
          <a:p>
            <a:pPr marL="0" indent="0" algn="l">
              <a:lnSpc>
                <a:spcPct val="125000"/>
              </a:lnSpc>
              <a:defRPr/>
            </a:pPr>
            <a:endParaRPr lang="en-US"/>
          </a:p>
          <a:p>
            <a:pPr marL="0" indent="0" algn="l">
              <a:lnSpc>
                <a:spcPct val="125000"/>
              </a:lnSpc>
              <a:defRPr/>
            </a:pPr>
            <a:endParaRPr lang="en-US"/>
          </a:p>
          <a:p>
            <a:pPr marL="0" indent="0" algn="l">
              <a:lnSpc>
                <a:spcPct val="125000"/>
              </a:lnSpc>
              <a:defRPr/>
            </a:pPr>
          </a:p>
        </p:txBody>
      </p:sp>
      <p:sp>
        <p:nvSpPr>
          <p:cNvPr id="343" name="矩形 342"/>
          <p:cNvSpPr/>
          <p:nvPr/>
        </p:nvSpPr>
        <p:spPr>
          <a:xfrm>
            <a:off x="6229350" y="4603750"/>
            <a:ext cx="5466715" cy="1402715"/>
          </a:xfrm>
          <a:prstGeom prst="rect">
            <a:avLst/>
          </a:prstGeom>
          <a:solidFill>
            <a:srgbClr val="E8503A">
              <a:alpha val="10000"/>
            </a:srgbClr>
          </a:solidFill>
        </p:spPr>
        <p:txBody>
          <a:bodyPr/>
          <a:p>
            <a:r>
              <a:rPr lang="zh-CN" b="1">
                <a:solidFill>
                  <a:srgbClr val="FF0000"/>
                </a:solidFill>
              </a:rPr>
              <a:t>流通股：</a:t>
            </a:r>
            <a:r>
              <a:rPr lang="zh-CN"/>
              <a:t>可以在证券市场自由买卖、随时交易的股票</a:t>
            </a:r>
            <a:endParaRPr lang="zh-CN"/>
          </a:p>
          <a:p>
            <a:r>
              <a:rPr lang="en-US"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IPO</a:t>
            </a:r>
            <a:r>
              <a:rPr lang="zh-CN" altLang="en-US"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r>
              <a:rPr lang="zh-CN">
                <a:sym typeface="Noto Serif SC" panose="02020200000000000000" charset="-122"/>
              </a:rPr>
              <a:t>公司第一次面向全社会大众发行新股，在交易所挂牌上市，股票之后就可以在股市交易。</a:t>
            </a:r>
            <a:endParaRPr lang="zh-CN">
              <a:sym typeface="Noto Serif SC" panose="02020200000000000000" charset="-122"/>
            </a:endParaRPr>
          </a:p>
          <a:p>
            <a:endParaRPr lang="zh-CN" b="1">
              <a:solidFill>
                <a:srgbClr val="FF0000"/>
              </a:solidFill>
            </a:endParaRPr>
          </a:p>
        </p:txBody>
      </p:sp>
      <p:pic>
        <p:nvPicPr>
          <p:cNvPr id="3" name="图片 2"/>
          <p:cNvPicPr>
            <a:picLocks noChangeAspect="1"/>
          </p:cNvPicPr>
          <p:nvPr/>
        </p:nvPicPr>
        <p:blipFill>
          <a:blip r:embed="rId2"/>
          <a:stretch>
            <a:fillRect/>
          </a:stretch>
        </p:blipFill>
        <p:spPr>
          <a:xfrm>
            <a:off x="6153150" y="553720"/>
            <a:ext cx="5542915" cy="3818255"/>
          </a:xfrm>
          <a:prstGeom prst="rect">
            <a:avLst/>
          </a:prstGeom>
        </p:spPr>
      </p:pic>
      <p:sp>
        <p:nvSpPr>
          <p:cNvPr id="363" name="Rectangle 362"/>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364"/>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366" name="TextBox 365"/>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367" name="Rectangle 366"/>
          <p:cNvSpPr/>
          <p:nvPr/>
        </p:nvSpPr>
        <p:spPr>
          <a:xfrm>
            <a:off x="304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Box 367"/>
          <p:cNvSpPr txBox="1"/>
          <p:nvPr/>
        </p:nvSpPr>
        <p:spPr>
          <a:xfrm>
            <a:off x="309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研究方法</a:t>
            </a:r>
          </a:p>
        </p:txBody>
      </p:sp>
      <p:sp>
        <p:nvSpPr>
          <p:cNvPr id="369" name="TextBox 368"/>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370" name="TextBox 369"/>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371" name="TextBox 370"/>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372" name="TextBox 371"/>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373" name="TextBox 372"/>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37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GRS 检验与截距项四指标&lt;/Text&gt;&#10;        &lt;/Box&gt;&#10;&#10;        &lt;Box style={{ height: 544, flexDirection: 'row', gap: 32 }}&gt;&#10;            &lt;Box style={{ width: 522, height: 544, flexDirection: 'column' }}&gt;&#10;                &lt;Box style={{ width: 522, height: 240, background: '#FFFFFF', border: '1px solid #EAEAEA', boxShadow: '0 2px 12px rgba(0,0,0,0.08)', alignItems: 'center', justifyContent: 'center', padding: 8 }}&gt;&#10;                    &lt;Image src=&quot;assets/grs.png&quot; style={{ width: 506, height: 132, objectFit: 'contain' }} /&gt;&#10;                &lt;/Box&gt;&#10;                &lt;Text style={{ width: 522, fontSize: 15, color: '#8A8A8A', marginTop: 8 }}&gt;&#10;                    原文 P199：GRS 检验与另外三个衡量截距项的指标&#10;                &lt;/Text&gt;&#10;                &lt;Box style={{ width: 522, height: 261, background: 'rgba(1,165,177,0.10)', flexDirection: 'row', marginTop: 14 }}&gt;&#10;                    &lt;Box style={{ width: 4, height: 261, background: '#01A5B1' }} /&gt;&#10;                    &lt;Box style={{ width: 518, padding: 16, flexDirection: 'column' }}&gt;&#10;                        &lt;Text style={{ fontSize: 19, fontWeight: 'bold', color: '#01A5B1', marginBottom: 10 }}&gt;GRS 在检验什么&lt;/Text&gt;&#10;                        &lt;Text style={{ width: 486, fontSize: 16.5, color: '#1F1F1F', lineHeight: 1.62 }}&gt;&#10;                            H₀：&lt;span style={{ fontWeight: 'bold' }}&gt;所有股票组合的回归截距项同时为 0&lt;/span&gt;。&lt;br /&gt;&lt;br /&gt;&#10;                            如果定价模型能完全解释横截面上的超额收益率，那么联合检验就不应拒绝原假设。&lt;br /&gt;&#10;                            拒绝得越厉害，说明模型漏掉的东西越多。&#10;                        &lt;/Text&gt;&#10;                    &lt;/Box&gt;&#10;                &lt;/Box&gt;&#10;            &lt;/Box&gt;&#10;&#10;            &lt;Box style={{ width: 566, height: 544, flexDirection: 'column' }}&gt;&#10;                &lt;Box style={{ width: 566, height: 124, background: '#FFFFFF', border: '1px solid #EAEAEA', borderLeft: '4px solid #01A5B1', padding: 14, flexDirection: 'column', marginBottom: 15 }}&gt;&#10;                    &lt;Text style={{ fontSize: 18, fontWeight: 'bold', color: '#01A5B1', marginBottom: 6 }}&gt;指标 ① GRS 统计量&lt;/Text&gt;&#10;                    &lt;Text style={{ width: 534, fontSize: 16, color: '#5A5A5A', lineHeight: 1.52 }}&gt;&#10;                        对全部截距项做联合检验，服从 F(N, T−N−L)。越小越好。&#10;                    &lt;/Text&gt;&#10;                &lt;/Box&gt;&#10;                &lt;Box style={{ width: 566, height: 124, background: '#FFFFFF', border: '1px solid #EAEAEA', borderLeft: '4px solid #01A5B1', padding: 14, flexDirection: 'column', marginBottom: 15 }}&gt;&#10;                    &lt;Text style={{ fontSize: 18, fontWeight: 'bold', color: '#01A5B1', marginBottom: 6 }}&gt;指标 ② A|a|&lt;/Text&gt;&#10;                    &lt;Text style={{ width: 534, fontSize: 16, color: '#5A5A5A', lineHeight: 1.52 }}&gt;&#10;                        25 个（或 32 个）回归截距项绝对值的平均值。衡量&quot;平均漏了多少&quot;。&#10;                    &lt;/Text&gt;&#10;                &lt;/Box&gt;&#10;                &lt;Box style={{ width: 566, height: 124, background: '#FFFFFF', border: '1px solid #EAEAEA', borderLeft: '4px solid #01A5B1', padding: 14, flexDirection: 'column', marginBottom: 15 }}&gt;&#10;                    &lt;Text style={{ fontSize: 18, fontWeight: 'bold', color: '#01A5B1', marginBottom: 6 }}&gt;指标 ③ A|a| / A|r|&lt;/Text&gt;&#10;                    &lt;Text style={{ width: 534, fontSize: 16, color: '#5A5A5A', lineHeight: 1.52 }}&gt;&#10;                        一阶意义上：实际收益率中&lt;span style={{ fontWeight: 'bold', color: '#1F1F1F' }}&gt;不能被模型解释的部分所占比例&lt;/span&gt;。本文用它比较股改前后的市场效率。&#10;                    &lt;/Text&gt;&#10;                &lt;/Box&gt;&#10;                &lt;Box style={{ width: 566, height: 124, background: 'rgba(232,80,58,0.10)', flexDirection: 'row' }}&gt;&#10;                    &lt;Box style={{ width: 4, height: 124, background: '#E8503A' }} /&gt;&#10;                    &lt;Box style={{ width: 562, padding: 14, flexDirection: 'column' }}&gt;&#10;                        &lt;Text style={{ fontSize: 18, fontWeight: 'bold', color: '#E8503A', marginBottom: 6 }}&gt;指标 ④ Aa² / Ar²&lt;/Text&gt;&#10;                        &lt;Text style={{ width: 530, fontSize: 16, color: '#1F1F1F', lineHeight: 1.52 }}&gt;&#10;                            二阶意义上同样的比例。用四个指标一起看，避免单一指标的偶然性。&#10;                        &lt;/Text&gt;&#10;                    &lt;/Box&gt;&#10;                &lt;/Box&gt;&#10;            &lt;/Box&gt;&#10;        &lt;/Box&gt;&#10;&#10;        &lt;Box style={{ height: 40, flexDirection: 'row', justifyContent: 'space-between', alignItems: 'center' }}&gt;&#10;            &lt;Text style={{ fontSize: 14, color: '#8A8A8A' }}&gt;三维结构法 · FF5 中国实证拆解&lt;/Text&gt;&#10;            &lt;Text style={{ fontSize: 14, color: '#8A8A8A' }}&gt;24 / 37&lt;/Text&gt;&#10;        &lt;/Box&gt;&#10;    &lt;/Box&gt;&#10;&lt;/Slide&gt;"/>
        <p:cNvGrpSpPr/>
        <p:nvPr/>
      </p:nvGrpSpPr>
      <p:grpSpPr>
        <a:xfrm>
          <a:off x="0" y="0"/>
          <a:ext cx="0" cy="0"/>
          <a:chOff x="0" y="0"/>
          <a:chExt cx="0" cy="0"/>
        </a:xfrm>
      </p:grpSpPr>
      <p:sp>
        <p:nvSpPr>
          <p:cNvPr id="374" name="矩形 373"/>
          <p:cNvSpPr/>
          <p:nvPr/>
        </p:nvSpPr>
        <p:spPr>
          <a:xfrm>
            <a:off x="0" y="0"/>
            <a:ext cx="12192000" cy="6858000"/>
          </a:xfrm>
          <a:prstGeom prst="rect">
            <a:avLst/>
          </a:prstGeom>
          <a:solidFill>
            <a:srgbClr val="FFFFFF"/>
          </a:solidFill>
        </p:spPr>
        <p:txBody>
          <a:bodyPr/>
          <a:p/>
        </p:txBody>
      </p:sp>
      <p:pic>
        <p:nvPicPr>
          <p:cNvPr id="375" name="图片 374"/>
          <p:cNvPicPr>
            <a:picLocks noChangeAspect="1"/>
          </p:cNvPicPr>
          <p:nvPr/>
        </p:nvPicPr>
        <p:blipFill>
          <a:blip r:embed="rId1"/>
          <a:stretch>
            <a:fillRect/>
          </a:stretch>
        </p:blipFill>
        <p:spPr>
          <a:xfrm>
            <a:off x="0" y="-49530"/>
            <a:ext cx="12192000" cy="6858000"/>
          </a:xfrm>
          <a:prstGeom prst="rect">
            <a:avLst/>
          </a:prstGeom>
        </p:spPr>
      </p:pic>
      <p:sp>
        <p:nvSpPr>
          <p:cNvPr id="376" name="矩形 375"/>
          <p:cNvSpPr/>
          <p:nvPr/>
        </p:nvSpPr>
        <p:spPr>
          <a:xfrm>
            <a:off x="762000" y="476250"/>
            <a:ext cx="57150" cy="342900"/>
          </a:xfrm>
          <a:prstGeom prst="rect">
            <a:avLst/>
          </a:prstGeom>
          <a:solidFill>
            <a:srgbClr val="01A5B1"/>
          </a:solidFill>
        </p:spPr>
        <p:txBody>
          <a:bodyPr/>
          <a:p/>
        </p:txBody>
      </p:sp>
      <p:sp>
        <p:nvSpPr>
          <p:cNvPr id="377" name="文本框 376"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altLang="en-US" sz="2200" b="1">
                <a:solidFill>
                  <a:srgbClr val="1F1F1F"/>
                </a:solidFill>
                <a:latin typeface="微软雅黑" panose="020B0503020204020204" charset="-122"/>
                <a:ea typeface="微软雅黑" panose="020B0503020204020204" charset="-122"/>
              </a:rPr>
              <a:t>五因子模型以及定义</a:t>
            </a:r>
            <a:endParaRPr lang="zh-CN" altLang="en-US" sz="2550" b="1">
              <a:solidFill>
                <a:srgbClr val="01A5B1"/>
              </a:solidFill>
              <a:latin typeface="微软雅黑" panose="020B0503020204020204" charset="-122"/>
              <a:ea typeface="微软雅黑" panose="020B0503020204020204" charset="-122"/>
            </a:endParaRPr>
          </a:p>
        </p:txBody>
      </p:sp>
      <p:sp>
        <p:nvSpPr>
          <p:cNvPr id="385" name="矩形 384"/>
          <p:cNvSpPr/>
          <p:nvPr/>
        </p:nvSpPr>
        <p:spPr>
          <a:xfrm>
            <a:off x="6000750" y="194310"/>
            <a:ext cx="5467350" cy="906780"/>
          </a:xfrm>
          <a:prstGeom prst="rect">
            <a:avLst/>
          </a:prstGeom>
          <a:solidFill>
            <a:srgbClr val="FFFFFF"/>
          </a:solidFill>
        </p:spPr>
        <p:txBody>
          <a:bodyPr/>
          <a:p/>
        </p:txBody>
      </p:sp>
      <p:sp>
        <p:nvSpPr>
          <p:cNvPr id="386" name="任意多边形 385"/>
          <p:cNvSpPr/>
          <p:nvPr/>
        </p:nvSpPr>
        <p:spPr>
          <a:xfrm>
            <a:off x="6010275" y="266700"/>
            <a:ext cx="5352415" cy="888365"/>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87" name="文本框 386" descr="{&quot;isTemplate&quot;:true,&quot;type&quot;:&quot;text&quot;}"/>
          <p:cNvSpPr txBox="1"/>
          <p:nvPr/>
        </p:nvSpPr>
        <p:spPr>
          <a:xfrm>
            <a:off x="6076950" y="266700"/>
            <a:ext cx="5086350" cy="209550"/>
          </a:xfrm>
          <a:prstGeom prst="rect">
            <a:avLst/>
          </a:prstGeom>
        </p:spPr>
        <p:txBody>
          <a:bodyPr wrap="none" lIns="0" tIns="0" rIns="0" bIns="0"/>
          <a:p>
            <a:pPr marL="0" indent="0" algn="l">
              <a:lnSpc>
                <a:spcPct val="125000"/>
              </a:lnSpc>
              <a:defRPr/>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MKT 市场因子</a:t>
            </a:r>
            <a:endPar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endPar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r>
              <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市场组合收益率减无风险利率</a:t>
            </a:r>
            <a:r>
              <a:rPr lang="zh-CN" alt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反</a:t>
            </a:r>
            <a:r>
              <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映系统性风险溢价</a:t>
            </a:r>
            <a:endParaRPr lang="en-US" sz="135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ctr">
              <a:lnSpc>
                <a:spcPct val="125000"/>
              </a:lnSpc>
              <a:defRPr/>
            </a:pPr>
            <a:endParaRPr lang="zh-CN" sz="1350" b="1">
              <a:solidFill>
                <a:srgbClr val="01A5B1"/>
              </a:solidFill>
              <a:latin typeface="微软雅黑" panose="020B0503020204020204" charset="-122"/>
              <a:ea typeface="微软雅黑" panose="020B0503020204020204" charset="-122"/>
            </a:endParaRPr>
          </a:p>
        </p:txBody>
      </p:sp>
      <p:sp>
        <p:nvSpPr>
          <p:cNvPr id="389" name="矩形 388"/>
          <p:cNvSpPr/>
          <p:nvPr/>
        </p:nvSpPr>
        <p:spPr>
          <a:xfrm>
            <a:off x="6077585" y="2225675"/>
            <a:ext cx="5353050" cy="1028700"/>
          </a:xfrm>
          <a:prstGeom prst="rect">
            <a:avLst/>
          </a:prstGeom>
          <a:solidFill>
            <a:srgbClr val="FFFFFF"/>
          </a:solidFill>
        </p:spPr>
        <p:txBody>
          <a:bodyPr/>
          <a:p/>
        </p:txBody>
      </p:sp>
      <p:sp>
        <p:nvSpPr>
          <p:cNvPr id="390" name="任意多边形 389"/>
          <p:cNvSpPr/>
          <p:nvPr/>
        </p:nvSpPr>
        <p:spPr>
          <a:xfrm>
            <a:off x="6077585" y="2240280"/>
            <a:ext cx="5353050" cy="99949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1" name="文本框 390" descr="{&quot;isTemplate&quot;:true,&quot;type&quot;:&quot;text&quot;}"/>
          <p:cNvSpPr txBox="1"/>
          <p:nvPr/>
        </p:nvSpPr>
        <p:spPr>
          <a:xfrm>
            <a:off x="6143625" y="2348865"/>
            <a:ext cx="5086350" cy="209550"/>
          </a:xfrm>
          <a:prstGeom prst="rect">
            <a:avLst/>
          </a:prstGeom>
        </p:spPr>
        <p:txBody>
          <a:bodyPr wrap="none" lIns="0" tIns="0" rIns="0" bIns="0"/>
          <a:p>
            <a:pPr algn="l">
              <a:lnSpc>
                <a:spcPct val="100000"/>
              </a:lnSpc>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HML 价值因子</a:t>
            </a:r>
            <a:endPar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gn="l">
              <a:lnSpc>
                <a:spcPct val="100000"/>
              </a:lnSpc>
            </a:pPr>
            <a:endPar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gn="l">
              <a:lnSpc>
                <a:spcPct val="100000"/>
              </a:lnSpc>
            </a:pPr>
            <a:r>
              <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endPar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gn="l">
              <a:lnSpc>
                <a:spcPct val="100000"/>
              </a:lnSpc>
            </a:pPr>
            <a:r>
              <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高账面市值比减低账面市值比捕捉价值效应</a:t>
            </a:r>
            <a:endParaRPr lang="en-US" sz="135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gn="l">
              <a:lnSpc>
                <a:spcPct val="100000"/>
              </a:lnSpc>
            </a:pPr>
            <a:endParaRPr lang="en-US" sz="1350"/>
          </a:p>
          <a:p>
            <a:pPr algn="l">
              <a:lnSpc>
                <a:spcPct val="100000"/>
              </a:lnSpc>
            </a:pPr>
            <a:endParaRPr lang="en-US" sz="1350" b="1">
              <a:solidFill>
                <a:srgbClr val="01A5B1"/>
              </a:solidFill>
              <a:latin typeface="微软雅黑" panose="020B0503020204020204" charset="-122"/>
              <a:ea typeface="微软雅黑" panose="020B0503020204020204" charset="-122"/>
            </a:endParaRPr>
          </a:p>
        </p:txBody>
      </p:sp>
      <p:sp>
        <p:nvSpPr>
          <p:cNvPr id="392" name="文本框 391" descr="{&quot;isTemplate&quot;:true,&quot;type&quot;:&quot;text&quot;}"/>
          <p:cNvSpPr txBox="1"/>
          <p:nvPr/>
        </p:nvSpPr>
        <p:spPr>
          <a:xfrm>
            <a:off x="6016625" y="3077210"/>
            <a:ext cx="5086350" cy="285750"/>
          </a:xfrm>
          <a:prstGeom prst="rect">
            <a:avLst/>
          </a:prstGeom>
        </p:spPr>
        <p:txBody>
          <a:bodyPr wrap="none" lIns="0" tIns="0" rIns="0" bIns="0"/>
          <a:p>
            <a:pPr algn="ctr">
              <a:lnSpc>
                <a:spcPct val="152000"/>
              </a:lnSpc>
            </a:pPr>
            <a:r>
              <a:rPr lang="zh-CN" sz="1200">
                <a:solidFill>
                  <a:srgbClr val="5A5A5A"/>
                </a:solidFill>
                <a:latin typeface="微软雅黑" panose="020B0503020204020204" charset="-122"/>
                <a:ea typeface="微软雅黑" panose="020B0503020204020204" charset="-122"/>
              </a:rPr>
              <a:t>。</a:t>
            </a:r>
            <a:endParaRPr lang="zh-CN" sz="1200">
              <a:solidFill>
                <a:srgbClr val="5A5A5A"/>
              </a:solidFill>
              <a:latin typeface="微软雅黑" panose="020B0503020204020204" charset="-122"/>
              <a:ea typeface="微软雅黑" panose="020B0503020204020204" charset="-122"/>
            </a:endParaRPr>
          </a:p>
        </p:txBody>
      </p:sp>
      <p:sp>
        <p:nvSpPr>
          <p:cNvPr id="393" name="矩形 392"/>
          <p:cNvSpPr/>
          <p:nvPr/>
        </p:nvSpPr>
        <p:spPr>
          <a:xfrm>
            <a:off x="6173470" y="3362960"/>
            <a:ext cx="5268595" cy="1042670"/>
          </a:xfrm>
          <a:prstGeom prst="rect">
            <a:avLst/>
          </a:prstGeom>
          <a:solidFill>
            <a:srgbClr val="FFFFFF"/>
          </a:solidFill>
        </p:spPr>
        <p:txBody>
          <a:bodyPr/>
          <a:p/>
        </p:txBody>
      </p:sp>
      <p:sp>
        <p:nvSpPr>
          <p:cNvPr id="394" name="任意多边形 393"/>
          <p:cNvSpPr/>
          <p:nvPr/>
        </p:nvSpPr>
        <p:spPr>
          <a:xfrm>
            <a:off x="6131560" y="3453130"/>
            <a:ext cx="5352415" cy="9525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5" name="文本框 394" descr="{&quot;isTemplate&quot;:true,&quot;type&quot;:&quot;text&quot;}"/>
          <p:cNvSpPr txBox="1"/>
          <p:nvPr/>
        </p:nvSpPr>
        <p:spPr>
          <a:xfrm>
            <a:off x="6077585" y="3362960"/>
            <a:ext cx="5086350" cy="209550"/>
          </a:xfrm>
          <a:prstGeom prst="rect">
            <a:avLst/>
          </a:prstGeom>
        </p:spPr>
        <p:txBody>
          <a:bodyPr wrap="none" lIns="0" tIns="0" rIns="0" bIns="0"/>
          <a:p>
            <a:pPr algn="l">
              <a:lnSpc>
                <a:spcPct val="100000"/>
              </a:lnSpc>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endPar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gn="l">
              <a:lnSpc>
                <a:spcPct val="100000"/>
              </a:lnSpc>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RMW 盈利因子</a:t>
            </a:r>
            <a:endParaRPr lang="en-US" sz="1350"/>
          </a:p>
          <a:p>
            <a:pPr algn="l">
              <a:lnSpc>
                <a:spcPct val="100000"/>
              </a:lnSpc>
            </a:pPr>
            <a:endParaRPr lang="en-US" sz="1350" b="1">
              <a:solidFill>
                <a:srgbClr val="01A5B1"/>
              </a:solidFill>
              <a:latin typeface="微软雅黑" panose="020B0503020204020204" charset="-122"/>
              <a:ea typeface="微软雅黑" panose="020B0503020204020204" charset="-122"/>
            </a:endParaRPr>
          </a:p>
        </p:txBody>
      </p:sp>
      <p:sp>
        <p:nvSpPr>
          <p:cNvPr id="396" name="文本框 395" descr="{&quot;isTemplate&quot;:true,&quot;type&quot;:&quot;text&quot;}"/>
          <p:cNvSpPr txBox="1"/>
          <p:nvPr/>
        </p:nvSpPr>
        <p:spPr>
          <a:xfrm>
            <a:off x="6293485" y="3758565"/>
            <a:ext cx="5086350" cy="561975"/>
          </a:xfrm>
          <a:prstGeom prst="rect">
            <a:avLst/>
          </a:prstGeom>
        </p:spPr>
        <p:txBody>
          <a:bodyPr wrap="square" lIns="0" tIns="0" rIns="0" bIns="0">
            <a:normAutofit/>
          </a:bodyPr>
          <a:p>
            <a:pPr marL="0" indent="0" algn="l">
              <a:lnSpc>
                <a:spcPct val="125000"/>
              </a:lnSpc>
              <a:defRPr/>
            </a:pP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endPar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盈利稳健减盈利较弱捕捉盈利能力效应</a:t>
            </a:r>
            <a:endParaRPr lang="zh-CN" sz="1200">
              <a:solidFill>
                <a:srgbClr val="5A5A5A"/>
              </a:solidFill>
              <a:latin typeface="微软雅黑" panose="020B0503020204020204" charset="-122"/>
              <a:ea typeface="微软雅黑" panose="020B0503020204020204" charset="-122"/>
            </a:endParaRPr>
          </a:p>
        </p:txBody>
      </p:sp>
      <p:sp>
        <p:nvSpPr>
          <p:cNvPr id="397" name="矩形 396"/>
          <p:cNvSpPr/>
          <p:nvPr/>
        </p:nvSpPr>
        <p:spPr>
          <a:xfrm>
            <a:off x="6162675" y="4510405"/>
            <a:ext cx="5390515" cy="953135"/>
          </a:xfrm>
          <a:prstGeom prst="rect">
            <a:avLst/>
          </a:prstGeom>
          <a:solidFill>
            <a:srgbClr val="E8503A">
              <a:alpha val="10000"/>
            </a:srgbClr>
          </a:solidFill>
        </p:spPr>
        <p:txBody>
          <a:bodyPr/>
          <a:p/>
        </p:txBody>
      </p:sp>
      <p:sp>
        <p:nvSpPr>
          <p:cNvPr id="398" name="矩形 397"/>
          <p:cNvSpPr/>
          <p:nvPr/>
        </p:nvSpPr>
        <p:spPr>
          <a:xfrm flipH="1">
            <a:off x="6134100" y="4517390"/>
            <a:ext cx="76200" cy="949325"/>
          </a:xfrm>
          <a:prstGeom prst="rect">
            <a:avLst/>
          </a:prstGeom>
          <a:solidFill>
            <a:srgbClr val="E8503A"/>
          </a:solidFill>
        </p:spPr>
        <p:txBody>
          <a:bodyPr/>
          <a:p/>
        </p:txBody>
      </p:sp>
      <p:sp>
        <p:nvSpPr>
          <p:cNvPr id="399" name="文本框 398" descr="{&quot;isTemplate&quot;:true,&quot;type&quot;:&quot;text&quot;}"/>
          <p:cNvSpPr txBox="1"/>
          <p:nvPr/>
        </p:nvSpPr>
        <p:spPr>
          <a:xfrm>
            <a:off x="6191250" y="4510405"/>
            <a:ext cx="5086350" cy="209550"/>
          </a:xfrm>
          <a:prstGeom prst="rect">
            <a:avLst/>
          </a:prstGeom>
        </p:spPr>
        <p:txBody>
          <a:bodyPr wrap="none" lIns="0" tIns="0" rIns="0" bIns="0"/>
          <a:p>
            <a:pPr algn="l">
              <a:lnSpc>
                <a:spcPct val="100000"/>
              </a:lnSpc>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CMA 投资因子</a:t>
            </a:r>
            <a:endParaRPr lang="en-US" sz="1350" b="1">
              <a:solidFill>
                <a:srgbClr val="E8503A"/>
              </a:solidFill>
              <a:latin typeface="微软雅黑" panose="020B0503020204020204" charset="-122"/>
              <a:ea typeface="微软雅黑" panose="020B0503020204020204" charset="-122"/>
            </a:endParaRPr>
          </a:p>
        </p:txBody>
      </p:sp>
      <p:sp>
        <p:nvSpPr>
          <p:cNvPr id="400" name="文本框 399" descr="{&quot;isTemplate&quot;:true,&quot;type&quot;:&quot;text&quot;}"/>
          <p:cNvSpPr txBox="1"/>
          <p:nvPr/>
        </p:nvSpPr>
        <p:spPr>
          <a:xfrm>
            <a:off x="6210300" y="4719955"/>
            <a:ext cx="5048250" cy="285750"/>
          </a:xfrm>
          <a:prstGeom prst="rect">
            <a:avLst/>
          </a:prstGeom>
        </p:spPr>
        <p:txBody>
          <a:bodyPr wrap="none" lIns="0" tIns="0" rIns="0" bIns="0"/>
          <a:p>
            <a:pPr marL="0" indent="0" algn="l">
              <a:lnSpc>
                <a:spcPct val="125000"/>
              </a:lnSpc>
              <a:defRPr/>
            </a:pPr>
            <a:endPar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投资保守减投资激进</a:t>
            </a:r>
            <a:r>
              <a:rPr lang="zh-CN" alt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捕</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捉投资风格效应</a:t>
            </a:r>
            <a:endParaRPr lang="zh-CN" sz="1200">
              <a:solidFill>
                <a:srgbClr val="1F1F1F"/>
              </a:solidFill>
              <a:latin typeface="微软雅黑" panose="020B0503020204020204" charset="-122"/>
              <a:ea typeface="微软雅黑" panose="020B0503020204020204" charset="-122"/>
            </a:endParaRPr>
          </a:p>
        </p:txBody>
      </p:sp>
      <p:sp>
        <p:nvSpPr>
          <p:cNvPr id="3" name="矩形 2"/>
          <p:cNvSpPr/>
          <p:nvPr/>
        </p:nvSpPr>
        <p:spPr>
          <a:xfrm>
            <a:off x="5991225" y="1254760"/>
            <a:ext cx="5486400" cy="884555"/>
          </a:xfrm>
          <a:prstGeom prst="rect">
            <a:avLst/>
          </a:prstGeom>
          <a:solidFill>
            <a:schemeClr val="bg1"/>
          </a:solidFill>
        </p:spPr>
        <p:txBody>
          <a:bodyPr/>
          <a:p>
            <a:pPr marL="0" algn="l">
              <a:lnSpc>
                <a:spcPct val="125000"/>
              </a:lnSpc>
              <a:buClrTx/>
              <a:buSzTx/>
              <a:buFontTx/>
              <a:defRPr/>
            </a:pPr>
            <a:r>
              <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SMB 规模因子</a:t>
            </a:r>
            <a:endParaRPr lang="en-US" sz="135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endPar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35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小市值组合减大市值组合捕捉规模效应</a:t>
            </a:r>
            <a:endParaRPr lang="en-US" sz="135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endParaRPr lang="en-US" sz="135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cxnSp>
        <p:nvCxnSpPr>
          <p:cNvPr id="4" name="直接连接符 3"/>
          <p:cNvCxnSpPr/>
          <p:nvPr/>
        </p:nvCxnSpPr>
        <p:spPr>
          <a:xfrm>
            <a:off x="6010275" y="1285240"/>
            <a:ext cx="22225" cy="823595"/>
          </a:xfrm>
          <a:prstGeom prst="line">
            <a:avLst/>
          </a:prstGeom>
          <a:ln w="28575" cmpd="sng">
            <a:solidFill>
              <a:schemeClr val="accent5"/>
            </a:solidFill>
            <a:prstDash val="solid"/>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285750" y="5034153"/>
            <a:ext cx="10876915" cy="1476375"/>
          </a:xfrm>
          <a:prstGeom prst="rect">
            <a:avLst/>
          </a:prstGeom>
          <a:noFill/>
        </p:spPr>
        <p:txBody>
          <a:bodyPr wrap="square" rtlCol="0">
            <a:spAutoFit/>
          </a:bodyPr>
          <a:p>
            <a:r>
              <a:rPr lang="en-US" altLang="zh-CN" b="1">
                <a:solidFill>
                  <a:schemeClr val="accent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a:t>
            </a:r>
            <a:r>
              <a:rPr lang="zh-CN" altLang="en-US" b="1">
                <a:solidFill>
                  <a:schemeClr val="accent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小提示：</a:t>
            </a:r>
            <a:r>
              <a:rPr 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公式（1）· 被解释变量为投资组合超额收益率，解释变量为五个风险因子</a:t>
            </a:r>
            <a:endParaRPr lang="en-US">
              <a:solidFill>
                <a:srgbClr val="646464"/>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理论基础：</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Fama &amp; French（2015a）基于红利贴现模型推导，在三因子（MKT/SMB/HML）基础上加入盈利能力RMW和投资风格CMA两个因子，以更好描述横截面股票期望收益率。</a:t>
            </a:r>
            <a:endParaRPr lang="en-US"/>
          </a:p>
          <a:p>
            <a:endParaRPr lang="en-US"/>
          </a:p>
          <a:p>
            <a:endParaRPr lang="zh-CN" altLang="en-US"/>
          </a:p>
        </p:txBody>
      </p:sp>
      <p:sp>
        <p:nvSpPr>
          <p:cNvPr id="9" name="爆炸形 1 8"/>
          <p:cNvSpPr/>
          <p:nvPr/>
        </p:nvSpPr>
        <p:spPr>
          <a:xfrm>
            <a:off x="450850" y="5640070"/>
            <a:ext cx="259080" cy="393065"/>
          </a:xfrm>
          <a:prstGeom prst="irregularSeal1">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rcRect t="3898" r="-1073"/>
          <a:stretch>
            <a:fillRect/>
          </a:stretch>
        </p:blipFill>
        <p:spPr>
          <a:xfrm>
            <a:off x="55880" y="959485"/>
            <a:ext cx="5934710" cy="4046220"/>
          </a:xfrm>
          <a:prstGeom prst="rect">
            <a:avLst/>
          </a:prstGeom>
        </p:spPr>
      </p:pic>
      <p:sp>
        <p:nvSpPr>
          <p:cNvPr id="401" name="Rectangle 400"/>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Rectangle 401"/>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TextBox 402"/>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404" name="TextBox 403"/>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405" name="Rectangle 404"/>
          <p:cNvSpPr/>
          <p:nvPr/>
        </p:nvSpPr>
        <p:spPr>
          <a:xfrm>
            <a:off x="304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TextBox 405"/>
          <p:cNvSpPr txBox="1"/>
          <p:nvPr/>
        </p:nvSpPr>
        <p:spPr>
          <a:xfrm>
            <a:off x="309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研究方法</a:t>
            </a:r>
          </a:p>
        </p:txBody>
      </p:sp>
      <p:sp>
        <p:nvSpPr>
          <p:cNvPr id="407" name="TextBox 406"/>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408" name="TextBox 407"/>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409" name="TextBox 408"/>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410" name="TextBox 409"/>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411" name="TextBox 410"/>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0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表 5 模型赛马：FF5 全面胜出&lt;/Text&gt;&#10;        &lt;/Box&gt;&#10;&#10;        &lt;Box style={{ height: 544, flexDirection: 'column' }}&gt;&#10;            &lt;Box style={{ width: 1120, height: 300, background: '#FFFFFF', border: '1px solid #EAEAEA', boxShadow: '0 2px 12px rgba(0,0,0,0.08)', alignItems: 'center', justifyContent: 'center', padding: 8 }}&gt;&#10;                &lt;Image src=&quot;assets/t5.png&quot; style={{ width: 1104, height: 284, objectFit: 'contain' }} /&gt;&#10;            &lt;/Box&gt;&#10;            &lt;Text style={{ width: 1120, fontSize: 15, color: '#8A8A8A', marginTop: 8 }}&gt;&#10;                原文 P199 表 5：Size-OP 分组下五因子与三因子、Carhart 四因子模型的比较（2×3 方法）&#10;            &lt;/Text&gt;&#10;&#10;            &lt;Box style={{ height: 199, flexDirection: 'row', gap: 20, marginTop: 16 }}&gt;&#10;                &lt;Box style={{ width: 360, height: 199, background: '#FFFFFF', border: '1px solid #EAEAEA', borderTop: '4px solid #8A8A8A', padding: 15, flexDirection: 'column' }}&gt;&#10;                    &lt;Text style={{ fontSize: 18, fontWeight: 'bold', color: '#1F1F1F', marginBottom: 8 }}&gt;三因子模型 FF3&lt;/Text&gt;&#10;                    &lt;Text style={{ width: 328, fontSize: 16, color: '#5A5A5A', lineHeight: 1.6 }}&gt;&#10;                        GRS &lt;span style={{ fontWeight: 'bold' }}&gt;2.23***&lt;/span&gt;&lt;br /&gt;&#10;                        A|a| 0.30　｜　A|a|/A|r| &lt;span style={{ fontWeight: 'bold' }}&gt;0.76&lt;/span&gt;&lt;br /&gt;&#10;                        Aa²/Ar² 0.64&#10;                    &lt;/Text&gt;&#10;                    &lt;Text style={{ fontSize: 15, color: '#8A8A8A', marginTop: 'auto' }}&gt;四个指标全面落后&lt;/Text&gt;&#10;                &lt;/Box&gt;&#10;&#10;                &lt;Box style={{ width: 360, height: 199, background: 'rgba(232,80,58,0.10)', flexDirection: 'row' }}&gt;&#10;                    &lt;Box style={{ width: 4, height: 199, background: '#E8503A' }} /&gt;&#10;                    &lt;Box style={{ width: 356, padding: 15, flexDirection: 'column' }}&gt;&#10;                        &lt;Text style={{ fontSize: 18, fontWeight: 'bold', color: '#E8503A', marginBottom: 8 }}&gt;红框读数：76% → 51%&lt;/Text&gt;&#10;                        &lt;Text style={{ width: 324, fontSize: 16, color: '#1F1F1F', lineHeight: 1.6 }}&gt;&#10;                            以 size-op 分组的第 3 个指标为例：三因子模型不能解释的部分占 &lt;span style={{ fontWeight: 'bold' }}&gt;76%&lt;/span&gt;，五因子模型仅占 &lt;span style={{ fontWeight: 'bold' }}&gt;51%&lt;/span&gt;。&#10;                        &lt;/Text&gt;&#10;                        &lt;Text style={{ fontSize: 15, color: '#8A8A8A', marginTop: 'auto' }}&gt;—— 原文 p.200&lt;/Text&gt;&#10;                    &lt;/Box&gt;&#10;                &lt;/Box&gt;&#10;&#10;                &lt;Box style={{ width: 360, height: 199, background: '#FFFFFF', border: '1px solid #EAEAEA', borderTop: '4px solid #01A5B1', padding: 15, flexDirection: 'column' }}&gt;&#10;                    &lt;Text style={{ fontSize: 18, fontWeight: 'bold', color: '#01A5B1', marginBottom: 8 }}&gt;五因子模型 FF5&lt;/Text&gt;&#10;                    &lt;Text style={{ width: 328, fontSize: 16, color: '#5A5A5A', lineHeight: 1.6 }}&gt;&#10;                        GRS &lt;span style={{ fontWeight: 'bold', color: '#01A5B1' }}&gt;1.55*&lt;/span&gt;&lt;br /&gt;&#10;                        A|a| 0.20　｜　A|a|/A|r| &lt;span style={{ fontWeight: 'bold', color: '#01A5B1' }}&gt;0.51&lt;/span&gt;&lt;br /&gt;&#10;                        Aa²/Ar² 0.27&#10;                    &lt;/Text&gt;&#10;                    &lt;Text style={{ fontSize: 15, color: '#8A8A8A', marginTop: 'auto' }}&gt;除按 size-prior 分组外全面最优&lt;/Text&gt;&#10;                &lt;/Box&gt;&#10;            &lt;/Box&gt;&#10;        &lt;/Box&gt;&#10;&#10;        &lt;Box style={{ height: 40, flexDirection: 'row', justifyContent: 'space-between', alignItems: 'center' }}&gt;&#10;            &lt;Text style={{ fontSize: 14, color: '#8A8A8A' }}&gt;三维结构法 · FF5 中国实证拆解&lt;/Text&gt;&#10;            &lt;Text style={{ fontSize: 14, color: '#8A8A8A' }}&gt;25 / 37&lt;/Text&gt;&#10;        &lt;/Box&gt;&#10;    &lt;/Box&gt;&#10;&lt;/Slide&gt;"/>
        <p:cNvGrpSpPr/>
        <p:nvPr/>
      </p:nvGrpSpPr>
      <p:grpSpPr>
        <a:xfrm>
          <a:off x="0" y="0"/>
          <a:ext cx="0" cy="0"/>
          <a:chOff x="0" y="0"/>
          <a:chExt cx="0" cy="0"/>
        </a:xfrm>
      </p:grpSpPr>
      <p:sp>
        <p:nvSpPr>
          <p:cNvPr id="404" name="矩形 403"/>
          <p:cNvSpPr/>
          <p:nvPr/>
        </p:nvSpPr>
        <p:spPr>
          <a:xfrm>
            <a:off x="0" y="0"/>
            <a:ext cx="12192000" cy="6858000"/>
          </a:xfrm>
          <a:prstGeom prst="rect">
            <a:avLst/>
          </a:prstGeom>
          <a:solidFill>
            <a:srgbClr val="FFFFFF"/>
          </a:solidFill>
        </p:spPr>
        <p:txBody>
          <a:bodyPr/>
          <a:p/>
        </p:txBody>
      </p:sp>
      <p:pic>
        <p:nvPicPr>
          <p:cNvPr id="405" name="图片 404"/>
          <p:cNvPicPr>
            <a:picLocks noChangeAspect="1"/>
          </p:cNvPicPr>
          <p:nvPr/>
        </p:nvPicPr>
        <p:blipFill>
          <a:blip r:embed="rId1"/>
          <a:stretch>
            <a:fillRect/>
          </a:stretch>
        </p:blipFill>
        <p:spPr>
          <a:xfrm>
            <a:off x="0" y="0"/>
            <a:ext cx="12192000" cy="6858000"/>
          </a:xfrm>
          <a:prstGeom prst="rect">
            <a:avLst/>
          </a:prstGeom>
        </p:spPr>
      </p:pic>
      <p:sp>
        <p:nvSpPr>
          <p:cNvPr id="406" name="矩形 405"/>
          <p:cNvSpPr/>
          <p:nvPr/>
        </p:nvSpPr>
        <p:spPr>
          <a:xfrm>
            <a:off x="762000" y="476250"/>
            <a:ext cx="57150" cy="342900"/>
          </a:xfrm>
          <a:prstGeom prst="rect">
            <a:avLst/>
          </a:prstGeom>
          <a:solidFill>
            <a:srgbClr val="01A5B1"/>
          </a:solidFill>
        </p:spPr>
        <p:txBody>
          <a:bodyPr/>
          <a:p/>
        </p:txBody>
      </p:sp>
      <p:sp>
        <p:nvSpPr>
          <p:cNvPr id="407" name="文本框 406"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分组方法与因子构建</a:t>
            </a:r>
            <a:endParaRPr lang="zh-CN" sz="2550" b="1">
              <a:solidFill>
                <a:srgbClr val="01A5B1"/>
              </a:solidFill>
              <a:latin typeface="微软雅黑" panose="020B0503020204020204" charset="-122"/>
              <a:ea typeface="微软雅黑" panose="020B0503020204020204" charset="-122"/>
            </a:endParaRPr>
          </a:p>
        </p:txBody>
      </p:sp>
      <p:sp>
        <p:nvSpPr>
          <p:cNvPr id="411" name="矩形 410"/>
          <p:cNvSpPr/>
          <p:nvPr/>
        </p:nvSpPr>
        <p:spPr>
          <a:xfrm>
            <a:off x="762000" y="4400550"/>
            <a:ext cx="3429000" cy="1857375"/>
          </a:xfrm>
          <a:prstGeom prst="rect">
            <a:avLst/>
          </a:prstGeom>
          <a:solidFill>
            <a:srgbClr val="FFFFFF"/>
          </a:solidFill>
        </p:spPr>
        <p:txBody>
          <a:bodyPr/>
          <a:p/>
        </p:txBody>
      </p:sp>
      <p:sp>
        <p:nvSpPr>
          <p:cNvPr id="412" name="任意多边形 411"/>
          <p:cNvSpPr/>
          <p:nvPr/>
        </p:nvSpPr>
        <p:spPr>
          <a:xfrm>
            <a:off x="762000" y="4362450"/>
            <a:ext cx="3429000" cy="1895475"/>
          </a:xfrm>
          <a:custGeom>
            <a:avLst/>
            <a:gdLst/>
            <a:ahLst/>
            <a:cxnLst/>
            <a:pathLst>
              <a:path w="360" h="199">
                <a:moveTo>
                  <a:pt x="0" y="0"/>
                </a:moveTo>
                <a:lnTo>
                  <a:pt x="360" y="0"/>
                </a:lnTo>
                <a:lnTo>
                  <a:pt x="360" y="4"/>
                </a:lnTo>
                <a:lnTo>
                  <a:pt x="0" y="4"/>
                </a:lnTo>
                <a:close/>
              </a:path>
            </a:pathLst>
          </a:custGeom>
          <a:solidFill>
            <a:srgbClr val="8A8A8A"/>
          </a:solidFill>
        </p:spPr>
        <p:txBody>
          <a:bodyPr/>
          <a:p/>
        </p:txBody>
      </p:sp>
      <p:sp>
        <p:nvSpPr>
          <p:cNvPr id="413" name="文本框 412" descr="{&quot;isTemplate&quot;:true,&quot;type&quot;:&quot;text&quot;}"/>
          <p:cNvSpPr txBox="1"/>
          <p:nvPr/>
        </p:nvSpPr>
        <p:spPr>
          <a:xfrm>
            <a:off x="904875" y="4543425"/>
            <a:ext cx="3143250" cy="209550"/>
          </a:xfrm>
          <a:prstGeom prst="rect">
            <a:avLst/>
          </a:prstGeom>
        </p:spPr>
        <p:txBody>
          <a:bodyPr wrap="none" lIns="0" tIns="0" rIns="0" bIns="0"/>
          <a:p>
            <a:pPr algn="l">
              <a:lnSpc>
                <a:spcPct val="100000"/>
              </a:lnSpc>
            </a:pPr>
            <a:r>
              <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2×3方法：</a:t>
            </a:r>
            <a:endPar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414" name="文本框 413" descr="{&quot;isTemplate&quot;:true,&quot;type&quot;:&quot;text&quot;}"/>
          <p:cNvSpPr txBox="1"/>
          <p:nvPr/>
        </p:nvSpPr>
        <p:spPr>
          <a:xfrm>
            <a:off x="904875" y="4791075"/>
            <a:ext cx="3143885" cy="1323975"/>
          </a:xfrm>
          <a:prstGeom prst="rect">
            <a:avLst/>
          </a:prstGeom>
        </p:spPr>
        <p:txBody>
          <a:bodyPr wrap="none" lIns="0" tIns="0" rIns="0" bIns="0"/>
          <a:p>
            <a:pPr marL="0" indent="0" algn="l">
              <a:lnSpc>
                <a:spcPct val="142000"/>
              </a:lnSpc>
              <a:defRPr/>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市值：</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中位数分2组（S/B）</a:t>
            </a:r>
            <a:endParaRPr lang="en-US" sz="1200"/>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B/M·OP·Inv：</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30%/70%分位点分3组（H/N/L 等）</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交叉组合：</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6 + 12 = 18个组合</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特点：</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区分度高，高低组差异显著</a:t>
            </a:r>
            <a:endPar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是FF五因子的标准做法</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33000"/>
              </a:lnSpc>
              <a:defRPr/>
            </a:pPr>
            <a:endParaRPr lang="en-US" sz="1200">
              <a:solidFill>
                <a:srgbClr val="5A5A5A"/>
              </a:solidFill>
              <a:latin typeface="微软雅黑" panose="020B0503020204020204" charset="-122"/>
              <a:ea typeface="微软雅黑" panose="020B0503020204020204" charset="-122"/>
            </a:endParaRPr>
          </a:p>
        </p:txBody>
      </p:sp>
      <p:sp>
        <p:nvSpPr>
          <p:cNvPr id="416" name="矩形 415"/>
          <p:cNvSpPr/>
          <p:nvPr/>
        </p:nvSpPr>
        <p:spPr>
          <a:xfrm>
            <a:off x="4419600" y="4400550"/>
            <a:ext cx="3429000" cy="1895475"/>
          </a:xfrm>
          <a:prstGeom prst="rect">
            <a:avLst/>
          </a:prstGeom>
          <a:solidFill>
            <a:srgbClr val="E8503A">
              <a:alpha val="10000"/>
            </a:srgbClr>
          </a:solidFill>
        </p:spPr>
        <p:txBody>
          <a:bodyPr/>
          <a:p/>
        </p:txBody>
      </p:sp>
      <p:sp>
        <p:nvSpPr>
          <p:cNvPr id="417" name="矩形 416"/>
          <p:cNvSpPr/>
          <p:nvPr/>
        </p:nvSpPr>
        <p:spPr>
          <a:xfrm>
            <a:off x="4381500" y="4362450"/>
            <a:ext cx="38100" cy="1895475"/>
          </a:xfrm>
          <a:prstGeom prst="rect">
            <a:avLst/>
          </a:prstGeom>
          <a:solidFill>
            <a:srgbClr val="E8503A"/>
          </a:solidFill>
        </p:spPr>
        <p:txBody>
          <a:bodyPr/>
          <a:p/>
        </p:txBody>
      </p:sp>
      <p:sp>
        <p:nvSpPr>
          <p:cNvPr id="418" name="文本框 417" descr="{&quot;isTemplate&quot;:true,&quot;type&quot;:&quot;text&quot;}"/>
          <p:cNvSpPr txBox="1"/>
          <p:nvPr/>
        </p:nvSpPr>
        <p:spPr>
          <a:xfrm>
            <a:off x="4562475" y="4505325"/>
            <a:ext cx="3105150" cy="209550"/>
          </a:xfrm>
          <a:prstGeom prst="rect">
            <a:avLst/>
          </a:prstGeom>
        </p:spPr>
        <p:txBody>
          <a:bodyPr wrap="none" lIns="0" tIns="0" rIns="0" bIns="0"/>
          <a:p>
            <a:pPr algn="l">
              <a:lnSpc>
                <a:spcPct val="100000"/>
              </a:lnSpc>
            </a:pPr>
            <a:r>
              <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2×2方法：</a:t>
            </a:r>
            <a:endPar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419" name="文本框 418" descr="{&quot;isTemplate&quot;:true,&quot;type&quot;:&quot;text&quot;}"/>
          <p:cNvSpPr txBox="1"/>
          <p:nvPr/>
        </p:nvSpPr>
        <p:spPr>
          <a:xfrm>
            <a:off x="4486910" y="4791075"/>
            <a:ext cx="3152140" cy="1323975"/>
          </a:xfrm>
          <a:prstGeom prst="rect">
            <a:avLst/>
          </a:prstGeom>
        </p:spPr>
        <p:txBody>
          <a:bodyPr wrap="square" lIns="0" tIns="0" rIns="0" bIns="0">
            <a:normAutofit fontScale="60000"/>
          </a:bodyPr>
          <a:p>
            <a:pPr marL="0" algn="l">
              <a:lnSpc>
                <a:spcPct val="142000"/>
              </a:lnSpc>
              <a:buClrTx/>
              <a:buSzTx/>
              <a:buNone/>
            </a:pPr>
            <a:r>
              <a:rPr lang="en-US" sz="20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市值：</a:t>
            </a:r>
            <a:r>
              <a:rPr lang="en-US" sz="20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中位数分2组（S/B）</a:t>
            </a:r>
            <a:endParaRPr lang="en-US" sz="2000">
              <a:solidFill>
                <a:srgbClr val="383838"/>
              </a:solidFill>
              <a:latin typeface="Noto Serif SC" panose="02020200000000000000" charset="-122"/>
              <a:ea typeface="Noto Serif SC" panose="02020200000000000000" charset="-122"/>
              <a:cs typeface="Noto Serif SC" panose="02020200000000000000" charset="-122"/>
            </a:endParaRPr>
          </a:p>
          <a:p>
            <a:pPr marL="0" algn="l">
              <a:lnSpc>
                <a:spcPct val="142000"/>
              </a:lnSpc>
              <a:buClrTx/>
              <a:buSzTx/>
              <a:buNone/>
            </a:pPr>
            <a:r>
              <a:rPr lang="en-US" sz="20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B/M·OP·Inv：</a:t>
            </a:r>
            <a:r>
              <a:rPr lang="en-US" sz="20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50%中位数分2组（高/低）</a:t>
            </a:r>
            <a:endParaRPr lang="en-US" sz="200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algn="l">
              <a:lnSpc>
                <a:spcPct val="142000"/>
              </a:lnSpc>
              <a:buClrTx/>
              <a:buSzTx/>
              <a:buNone/>
            </a:pPr>
            <a:r>
              <a:rPr lang="en-US" sz="20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交叉组合：</a:t>
            </a:r>
            <a:r>
              <a:rPr lang="en-US" sz="20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4 + 8 = 12个组合</a:t>
            </a:r>
            <a:endParaRPr lang="en-US" sz="2000" b="1"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algn="l">
              <a:lnSpc>
                <a:spcPct val="142000"/>
              </a:lnSpc>
              <a:buClrTx/>
              <a:buSzTx/>
              <a:buNone/>
            </a:pPr>
            <a:r>
              <a:rPr lang="en-US" sz="20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特点：</a:t>
            </a:r>
            <a:r>
              <a:rPr lang="en-US" sz="20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每组股票数量更均衡，避免30%/70%分位点下极端组样本过少</a:t>
            </a:r>
            <a:endParaRPr lang="en-US" sz="2000">
              <a:solidFill>
                <a:srgbClr val="383838"/>
              </a:solidFill>
              <a:latin typeface="Noto Serif SC" panose="02020200000000000000" charset="-122"/>
              <a:ea typeface="Noto Serif SC" panose="02020200000000000000" charset="-122"/>
              <a:cs typeface="Noto Serif SC" panose="02020200000000000000" charset="-122"/>
            </a:endParaRPr>
          </a:p>
        </p:txBody>
      </p:sp>
      <p:sp>
        <p:nvSpPr>
          <p:cNvPr id="421" name="矩形 420"/>
          <p:cNvSpPr/>
          <p:nvPr/>
        </p:nvSpPr>
        <p:spPr>
          <a:xfrm>
            <a:off x="8001000" y="4400550"/>
            <a:ext cx="3429000" cy="1857375"/>
          </a:xfrm>
          <a:prstGeom prst="rect">
            <a:avLst/>
          </a:prstGeom>
          <a:solidFill>
            <a:srgbClr val="FFFFFF"/>
          </a:solidFill>
        </p:spPr>
        <p:txBody>
          <a:bodyPr/>
          <a:p/>
        </p:txBody>
      </p:sp>
      <p:sp>
        <p:nvSpPr>
          <p:cNvPr id="422" name="任意多边形 421"/>
          <p:cNvSpPr/>
          <p:nvPr/>
        </p:nvSpPr>
        <p:spPr>
          <a:xfrm>
            <a:off x="8001000" y="4362450"/>
            <a:ext cx="3429000" cy="1895475"/>
          </a:xfrm>
          <a:custGeom>
            <a:avLst/>
            <a:gdLst/>
            <a:ahLst/>
            <a:cxnLst/>
            <a:pathLst>
              <a:path w="360" h="199">
                <a:moveTo>
                  <a:pt x="0" y="0"/>
                </a:moveTo>
                <a:lnTo>
                  <a:pt x="360" y="0"/>
                </a:lnTo>
                <a:lnTo>
                  <a:pt x="360" y="4"/>
                </a:lnTo>
                <a:lnTo>
                  <a:pt x="0" y="4"/>
                </a:lnTo>
                <a:close/>
              </a:path>
            </a:pathLst>
          </a:custGeom>
          <a:solidFill>
            <a:srgbClr val="01A5B1"/>
          </a:solidFill>
        </p:spPr>
        <p:txBody>
          <a:bodyPr/>
          <a:p/>
        </p:txBody>
      </p:sp>
      <p:sp>
        <p:nvSpPr>
          <p:cNvPr id="423" name="文本框 422" descr="{&quot;isTemplate&quot;:true,&quot;type&quot;:&quot;text&quot;}"/>
          <p:cNvSpPr txBox="1"/>
          <p:nvPr/>
        </p:nvSpPr>
        <p:spPr>
          <a:xfrm>
            <a:off x="8143875" y="4543425"/>
            <a:ext cx="3143250" cy="209550"/>
          </a:xfrm>
          <a:prstGeom prst="rect">
            <a:avLst/>
          </a:prstGeom>
        </p:spPr>
        <p:txBody>
          <a:bodyPr wrap="none" lIns="0" tIns="0" rIns="0" bIns="0"/>
          <a:p>
            <a:pPr algn="l">
              <a:lnSpc>
                <a:spcPct val="100000"/>
              </a:lnSpc>
            </a:pPr>
            <a:r>
              <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2×2×2×2方法：</a:t>
            </a:r>
            <a:endParaRPr lang="en-US" sz="1350" b="1">
              <a:solidFill>
                <a:srgbClr val="FF000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424" name="文本框 423" descr="{&quot;isTemplate&quot;:true,&quot;type&quot;:&quot;text&quot;}"/>
          <p:cNvSpPr txBox="1"/>
          <p:nvPr/>
        </p:nvSpPr>
        <p:spPr>
          <a:xfrm>
            <a:off x="8162925" y="4791075"/>
            <a:ext cx="3124200" cy="885825"/>
          </a:xfrm>
          <a:prstGeom prst="rect">
            <a:avLst/>
          </a:prstGeom>
        </p:spPr>
        <p:txBody>
          <a:bodyPr wrap="none" lIns="0" tIns="0" rIns="0" bIns="0"/>
          <a:p>
            <a:pPr marL="0" indent="0" algn="l">
              <a:lnSpc>
                <a:spcPct val="142000"/>
              </a:lnSpc>
              <a:defRPr/>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四个指标：</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Size × B/M × OP × Inv</a:t>
            </a:r>
            <a:endParaRPr lang="en-US" sz="1200"/>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每个指标：</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50%中位数分2组</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交叉组合：</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2⁴ = 16个组合</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特点：</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同时控制四个维度，因子之间的相关性最低</a:t>
            </a:r>
            <a:endPar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最干净地分离各因子的独立贡献</a:t>
            </a:r>
            <a:endParaRPr lang="en-US" sz="1200">
              <a:solidFill>
                <a:srgbClr val="5A5A5A"/>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2"/>
          <a:stretch>
            <a:fillRect/>
          </a:stretch>
        </p:blipFill>
        <p:spPr>
          <a:xfrm>
            <a:off x="672465" y="969645"/>
            <a:ext cx="6047105" cy="3190875"/>
          </a:xfrm>
          <a:prstGeom prst="rect">
            <a:avLst/>
          </a:prstGeom>
        </p:spPr>
      </p:pic>
      <p:sp>
        <p:nvSpPr>
          <p:cNvPr id="4" name="右箭头 3"/>
          <p:cNvSpPr/>
          <p:nvPr/>
        </p:nvSpPr>
        <p:spPr>
          <a:xfrm>
            <a:off x="6917055" y="2484120"/>
            <a:ext cx="931545" cy="482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流程图: 可选过程 6"/>
          <p:cNvSpPr/>
          <p:nvPr/>
        </p:nvSpPr>
        <p:spPr>
          <a:xfrm>
            <a:off x="7922895" y="969645"/>
            <a:ext cx="3890010" cy="2949575"/>
          </a:xfrm>
          <a:prstGeom prst="flowChartAlternateProcess">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总而言之，文章一共采用三种交叉分组方法。其实这个方法</a:t>
            </a:r>
            <a:r>
              <a:rPr lang="zh-CN" altLang="en-US"/>
              <a:t>就是把市值、账面市值比、盈利、投资这些特征相互剥离开，再计算每个组合的收益率，用收益之差构造因子，同时使用多种分组方式，也可以检验结论是否稳健。</a:t>
            </a:r>
            <a:endParaRPr lang="zh-CN" altLang="en-US"/>
          </a:p>
        </p:txBody>
      </p:sp>
      <p:sp>
        <p:nvSpPr>
          <p:cNvPr id="425" name="Rectangle 424"/>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Rectangle 425"/>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TextBox 426"/>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428" name="TextBox 427"/>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429" name="Rectangle 428"/>
          <p:cNvSpPr/>
          <p:nvPr/>
        </p:nvSpPr>
        <p:spPr>
          <a:xfrm>
            <a:off x="304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TextBox 429"/>
          <p:cNvSpPr txBox="1"/>
          <p:nvPr/>
        </p:nvSpPr>
        <p:spPr>
          <a:xfrm>
            <a:off x="309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研究方法</a:t>
            </a:r>
          </a:p>
        </p:txBody>
      </p:sp>
      <p:sp>
        <p:nvSpPr>
          <p:cNvPr id="431" name="TextBox 430"/>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432" name="TextBox 431"/>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433" name="TextBox 432"/>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434" name="TextBox 433"/>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435" name="TextBox 434"/>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28"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制度断点：邹至庄检验与 2007 年 6 月&lt;/Text&gt;&#10;        &lt;/Box&gt;&#10;&#10;        &lt;Box style={{ height: 544, flexDirection: 'row', gap: 32 }}&gt;&#10;            &lt;Box style={{ width: 544, height: 544, flexDirection: 'column' }}&gt;&#10;                &lt;Box style={{ width: 544, height: 340, background: '#FFFFFF', border: '1px solid #EAEAEA', boxShadow: '0 2px 12px rgba(0,0,0,0.08)', alignItems: 'center', justifyContent: 'center', padding: 8 }}&gt;&#10;                    &lt;Image src=&quot;assets/chow.png&quot; style={{ width: 528, height: 250, objectFit: 'contain' }} /&gt;&#10;                &lt;/Box&gt;&#10;                &lt;Text style={{ width: 544, fontSize: 15, color: '#8A8A8A', marginTop: 8 }}&gt;&#10;                    原文 P200：股改完成度与「以 2007 年 6 月作为分界点」的依据&#10;                &lt;/Text&gt;&#10;                &lt;Box style={{ width: 544, height: 161, background: 'rgba(1,165,177,0.10)', flexDirection: 'row', marginTop: 14 }}&gt;&#10;                    &lt;Box style={{ width: 4, height: 161, background: '#01A5B1' }} /&gt;&#10;                    &lt;Box style={{ width: 540, padding: 15, flexDirection: 'column' }}&gt;&#10;                        &lt;Text style={{ fontSize: 18, fontWeight: 'bold', color: '#01A5B1', marginBottom: 8 }}&gt;断点不是随便选的&lt;/Text&gt;&#10;                        &lt;Text style={{ width: 508, fontSize: 16, color: '#1F1F1F', lineHeight: 1.58 }}&gt;&#10;                            作者综合考虑 FF(2015a) 对股票组合排序的时间点，选 2007 年 6 月为分界点；&lt;span style={{ fontWeight: 'bold' }}&gt;检验发现两个子样本内的数据结构确实发生了变化&lt;/span&gt;。&#10;                        &lt;/Text&gt;&#10;                    &lt;/Box&gt;&#10;                &lt;/Box&gt;&#10;            &lt;/Box&gt;&#10;&#10;            &lt;Box style={{ width: 544, height: 544, flexDirection: 'column' }}&gt;&#10;                &lt;Box style={{ flexDirection: 'row', alignItems: 'flex-end', gap: 14 }}&gt;&#10;                    &lt;Text style={{ fontSize: 76, fontWeight: 'bold', color: '#01A5B1', lineHeight: 1 }}&gt;2007-06&lt;/Text&gt;&#10;                &lt;/Box&gt;&#10;                &lt;Text style={{ width: 544, fontSize: 16, color: '#8A8A8A', marginTop: 10 }}&gt;&#10;                    本文唯一的制度断点 · 原文 p.200&#10;                &lt;/Text&gt;&#10;&#10;                &lt;Box style={{ width: 544, height: 132, background: '#FFFFFF', border: '1px solid #EAEAEA', borderLeft: '4px solid #01A5B1', padding: 14, flexDirection: 'column', marginTop: 24 }}&gt;&#10;                    &lt;Text style={{ fontSize: 18, fontWeight: 'bold', color: '#01A5B1', marginBottom: 6 }}&gt;检验的强度&lt;/Text&gt;&#10;                    &lt;Text style={{ width: 512, fontSize: 16, color: '#5A5A5A', lineHeight: 1.55 }}&gt;&#10;                        「在所有 panel 的全部 25 个检验中，邹至庄检验的 P 值都非常小，几乎全部在 1% 水平下显著拒绝原假设。」&lt;br /&gt;&#10;                        &lt;span style={{ color: '#8A8A8A' }}&gt;—— 原文 p.200 脚注&lt;/span&gt;&#10;                    &lt;/Text&gt;&#10;                &lt;/Box&gt;&#10;&#10;                &lt;Box style={{ width: 544, height: 174, background: 'rgba(232,80,58,0.10)', flexDirection: 'row', marginTop: 20 }}&gt;&#10;                    &lt;Box style={{ width: 4, height: 174, background: '#E8503A' }} /&gt;&#10;                    &lt;Box style={{ width: 540, padding: 15, flexDirection: 'column' }}&gt;&#10;                        &lt;Text style={{ fontSize: 18, fontWeight: 'bold', color: '#E8503A', marginBottom: 8 }}&gt;Gap 5 的靶心&lt;/Text&gt;&#10;                        &lt;Text style={{ width: 508, fontSize: 16, color: '#1F1F1F', lineHeight: 1.58 }}&gt;&#10;                            只有&lt;span style={{ fontWeight: 'bold' }}&gt;一个&lt;/span&gt;已知断点、只做&lt;span style={{ fontWeight: 'bold' }}&gt;一次&lt;/span&gt;结构化检验——无法识别 2017 注册制等后续冲击，也给不出断点位置的置信区间。&#10;                        &lt;/Text&gt;&#10;                    &lt;/Box&gt;&#10;                &lt;/Box&gt;&#10;            &lt;/Box&gt;&#10;        &lt;/Box&gt;&#10;&#10;        &lt;Box style={{ height: 40, flexDirection: 'row', justifyContent: 'space-between', alignItems: 'center' }}&gt;&#10;            &lt;Text style={{ fontSize: 14, color: '#8A8A8A' }}&gt;三维结构法 · FF5 中国实证拆解&lt;/Text&gt;&#10;            &lt;Text style={{ fontSize: 14, color: '#8A8A8A' }}&gt;26 / 37&lt;/Text&gt;&#10;        &lt;/Box&gt;&#10;    &lt;/Box&gt;&#10;&lt;/Slide&gt;"/>
        <p:cNvGrpSpPr/>
        <p:nvPr/>
      </p:nvGrpSpPr>
      <p:grpSpPr>
        <a:xfrm>
          <a:off x="0" y="0"/>
          <a:ext cx="0" cy="0"/>
          <a:chOff x="0" y="0"/>
          <a:chExt cx="0" cy="0"/>
        </a:xfrm>
      </p:grpSpPr>
      <p:sp>
        <p:nvSpPr>
          <p:cNvPr id="429" name="矩形 428"/>
          <p:cNvSpPr/>
          <p:nvPr/>
        </p:nvSpPr>
        <p:spPr>
          <a:xfrm>
            <a:off x="0" y="0"/>
            <a:ext cx="12192000" cy="6858000"/>
          </a:xfrm>
          <a:prstGeom prst="rect">
            <a:avLst/>
          </a:prstGeom>
          <a:solidFill>
            <a:srgbClr val="FFFFFF"/>
          </a:solidFill>
        </p:spPr>
        <p:txBody>
          <a:bodyPr/>
          <a:p/>
        </p:txBody>
      </p:sp>
      <p:pic>
        <p:nvPicPr>
          <p:cNvPr id="430" name="图片 429"/>
          <p:cNvPicPr>
            <a:picLocks noChangeAspect="1"/>
          </p:cNvPicPr>
          <p:nvPr/>
        </p:nvPicPr>
        <p:blipFill>
          <a:blip r:embed="rId1"/>
          <a:stretch>
            <a:fillRect/>
          </a:stretch>
        </p:blipFill>
        <p:spPr>
          <a:xfrm>
            <a:off x="-57785" y="0"/>
            <a:ext cx="12192000" cy="6858000"/>
          </a:xfrm>
          <a:prstGeom prst="rect">
            <a:avLst/>
          </a:prstGeom>
        </p:spPr>
      </p:pic>
      <p:pic>
        <p:nvPicPr>
          <p:cNvPr id="2" name="图片 1"/>
          <p:cNvPicPr>
            <a:picLocks noChangeAspect="1"/>
          </p:cNvPicPr>
          <p:nvPr/>
        </p:nvPicPr>
        <p:blipFill>
          <a:blip r:embed="rId2"/>
          <a:stretch>
            <a:fillRect/>
          </a:stretch>
        </p:blipFill>
        <p:spPr>
          <a:xfrm>
            <a:off x="721360" y="725170"/>
            <a:ext cx="6548120" cy="2996565"/>
          </a:xfrm>
          <a:prstGeom prst="rect">
            <a:avLst/>
          </a:prstGeom>
        </p:spPr>
      </p:pic>
      <p:graphicFrame>
        <p:nvGraphicFramePr>
          <p:cNvPr id="8" name="Table 8"/>
          <p:cNvGraphicFramePr>
            <a:graphicFrameLocks noGrp="1"/>
          </p:cNvGraphicFramePr>
          <p:nvPr>
            <p:custDataLst>
              <p:tags r:id="rId3"/>
            </p:custDataLst>
          </p:nvPr>
        </p:nvGraphicFramePr>
        <p:xfrm>
          <a:off x="721360" y="3580003"/>
          <a:ext cx="6548755" cy="2930525"/>
        </p:xfrm>
        <a:graphic>
          <a:graphicData uri="http://schemas.openxmlformats.org/drawingml/2006/table">
            <a:tbl>
              <a:tblPr>
                <a:effectLst/>
              </a:tblPr>
              <a:tblGrid>
                <a:gridCol w="1218565"/>
                <a:gridCol w="5330190"/>
              </a:tblGrid>
              <a:tr h="408305">
                <a:tc>
                  <a:txBody>
                    <a:bodyPr rtlCol="0"/>
                    <a:p>
                      <a:pPr marL="0" indent="0" algn="ctr">
                        <a:lnSpc>
                          <a:spcPct val="100000"/>
                        </a:lnSpc>
                        <a:defRPr/>
                      </a:pPr>
                      <a:r>
                        <a:rPr lang="en-US" sz="13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因子</a:t>
                      </a:r>
                      <a:endParaRPr lang="en-US" sz="1100"/>
                    </a:p>
                  </a:txBody>
                  <a:tcPr marL="101600" marR="101600" marT="101600" marB="101600" anchor="t" anchorCtr="0">
                    <a:lnL>
                      <a:noFill/>
                    </a:lnL>
                    <a:lnR>
                      <a:noFill/>
                    </a:lnR>
                    <a:lnT>
                      <a:noFill/>
                    </a:lnT>
                    <a:lnB>
                      <a:noFill/>
                    </a:lnB>
                    <a:solidFill>
                      <a:schemeClr val="accent2"/>
                    </a:solidFill>
                  </a:tcPr>
                </a:tc>
                <a:tc>
                  <a:txBody>
                    <a:bodyPr rtlCol="0"/>
                    <a:p>
                      <a:pPr marL="0" indent="0" algn="ctr">
                        <a:lnSpc>
                          <a:spcPct val="100000"/>
                        </a:lnSpc>
                        <a:defRPr/>
                      </a:pPr>
                      <a:r>
                        <a:rPr lang="en-US" sz="13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计算公式（市值加权平均收益率之差）</a:t>
                      </a:r>
                      <a:endParaRPr lang="en-US" sz="1100"/>
                    </a:p>
                  </a:txBody>
                  <a:tcPr marL="101600" marR="101600" marT="101600" marB="101600" anchor="t" anchorCtr="0">
                    <a:lnL>
                      <a:noFill/>
                    </a:lnL>
                    <a:lnR>
                      <a:noFill/>
                    </a:lnR>
                    <a:lnT>
                      <a:noFill/>
                    </a:lnT>
                    <a:lnB>
                      <a:noFill/>
                    </a:lnB>
                    <a:solidFill>
                      <a:schemeClr val="accent2"/>
                    </a:solidFill>
                  </a:tcPr>
                </a:tc>
              </a:tr>
              <a:tr h="630555">
                <a:tc>
                  <a:txBody>
                    <a:bodyPr rtlCol="0"/>
                    <a:p>
                      <a:pPr marL="0" indent="0" algn="ctr">
                        <a:lnSpc>
                          <a:spcPct val="100000"/>
                        </a:lnSpc>
                        <a:defRPr/>
                      </a:pPr>
                      <a:r>
                        <a:rPr lang="en-US" sz="13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SMB</a:t>
                      </a:r>
                      <a:endParaRPr lang="en-US" sz="1100"/>
                    </a:p>
                  </a:txBody>
                  <a:tcPr marL="101600" marR="101600" marT="101600" marB="101600" anchor="t" anchorCtr="0">
                    <a:lnL>
                      <a:noFill/>
                    </a:lnL>
                    <a:lnR>
                      <a:noFill/>
                    </a:lnR>
                    <a:lnT>
                      <a:noFill/>
                    </a:lnT>
                    <a:lnB>
                      <a:noFill/>
                    </a:lnB>
                    <a:noFill/>
                  </a:tcPr>
                </a:tc>
                <a:tc>
                  <a:txBody>
                    <a:bodyPr rtlCol="0"/>
                    <a:p>
                      <a:pPr marL="0" indent="0" algn="l">
                        <a:lnSpc>
                          <a:spcPct val="117000"/>
                        </a:lnSpc>
                        <a:defRPr/>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(SMB_B/M + SMB_OP + SMB_Inv) / 3</a:t>
                      </a:r>
                      <a:endParaRPr lang="en-US" sz="1100"/>
                    </a:p>
                    <a:p>
                      <a:pPr marL="0" indent="0" algn="l">
                        <a:lnSpc>
                          <a:spcPct val="117000"/>
                        </a:lnSpc>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三种分组下小市值减大市值的平均</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101600" marB="101600" anchor="t" anchorCtr="0">
                    <a:lnL>
                      <a:noFill/>
                    </a:lnL>
                    <a:lnR>
                      <a:noFill/>
                    </a:lnR>
                    <a:lnT>
                      <a:noFill/>
                    </a:lnT>
                    <a:lnB>
                      <a:noFill/>
                    </a:lnB>
                    <a:noFill/>
                  </a:tcPr>
                </a:tc>
              </a:tr>
              <a:tr h="630555">
                <a:tc>
                  <a:txBody>
                    <a:bodyPr rtlCol="0"/>
                    <a:p>
                      <a:pPr marL="0" indent="0" algn="ctr">
                        <a:lnSpc>
                          <a:spcPct val="100000"/>
                        </a:lnSpc>
                        <a:defRPr/>
                      </a:pPr>
                      <a:r>
                        <a:rPr lang="en-US" sz="13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HML</a:t>
                      </a:r>
                      <a:endParaRPr lang="en-US" sz="1100"/>
                    </a:p>
                  </a:txBody>
                  <a:tcPr marL="101600" marR="101600" marT="101600" marB="101600" anchor="t" anchorCtr="0">
                    <a:lnL>
                      <a:noFill/>
                    </a:lnL>
                    <a:lnR>
                      <a:noFill/>
                    </a:lnR>
                    <a:lnT>
                      <a:noFill/>
                    </a:lnT>
                    <a:lnB>
                      <a:noFill/>
                    </a:lnB>
                    <a:solidFill>
                      <a:srgbClr val="002FA7">
                        <a:alpha val="4000"/>
                      </a:srgbClr>
                    </a:solidFill>
                  </a:tcPr>
                </a:tc>
                <a:tc>
                  <a:txBody>
                    <a:bodyPr rtlCol="0"/>
                    <a:p>
                      <a:pPr marL="0" indent="0" algn="l">
                        <a:lnSpc>
                          <a:spcPct val="117000"/>
                        </a:lnSpc>
                        <a:defRPr/>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(SH + BH) / 2 − (SL + BL) / 2</a:t>
                      </a:r>
                      <a:endParaRPr lang="en-US" sz="1100"/>
                    </a:p>
                    <a:p>
                      <a:pPr marL="0" indent="0" algn="l">
                        <a:lnSpc>
                          <a:spcPct val="117000"/>
                        </a:lnSpc>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高B/M组合减低B/M组合</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101600" marB="101600" anchor="t" anchorCtr="0">
                    <a:lnL>
                      <a:noFill/>
                    </a:lnL>
                    <a:lnR>
                      <a:noFill/>
                    </a:lnR>
                    <a:lnT>
                      <a:noFill/>
                    </a:lnT>
                    <a:lnB>
                      <a:noFill/>
                    </a:lnB>
                    <a:solidFill>
                      <a:srgbClr val="002FA7">
                        <a:alpha val="4000"/>
                      </a:srgbClr>
                    </a:solidFill>
                  </a:tcPr>
                </a:tc>
              </a:tr>
              <a:tr h="630555">
                <a:tc>
                  <a:txBody>
                    <a:bodyPr rtlCol="0"/>
                    <a:p>
                      <a:pPr marL="0" indent="0" algn="ctr">
                        <a:lnSpc>
                          <a:spcPct val="100000"/>
                        </a:lnSpc>
                        <a:defRPr/>
                      </a:pPr>
                      <a:r>
                        <a:rPr lang="en-US" sz="13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RMW</a:t>
                      </a:r>
                      <a:endParaRPr lang="en-US" sz="1100"/>
                    </a:p>
                  </a:txBody>
                  <a:tcPr marL="101600" marR="101600" marT="101600" marB="101600" anchor="t" anchorCtr="0">
                    <a:lnL>
                      <a:noFill/>
                    </a:lnL>
                    <a:lnR>
                      <a:noFill/>
                    </a:lnR>
                    <a:lnT>
                      <a:noFill/>
                    </a:lnT>
                    <a:lnB>
                      <a:noFill/>
                    </a:lnB>
                    <a:noFill/>
                  </a:tcPr>
                </a:tc>
                <a:tc>
                  <a:txBody>
                    <a:bodyPr rtlCol="0"/>
                    <a:p>
                      <a:pPr marL="0" indent="0" algn="l">
                        <a:lnSpc>
                          <a:spcPct val="117000"/>
                        </a:lnSpc>
                        <a:defRPr/>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(SR + BR) / 2 − (SW + BW) / 2</a:t>
                      </a:r>
                      <a:endParaRPr lang="en-US" sz="1100"/>
                    </a:p>
                    <a:p>
                      <a:pPr marL="0" indent="0" algn="l">
                        <a:lnSpc>
                          <a:spcPct val="117000"/>
                        </a:lnSpc>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盈利稳健组合减盈利较弱组合</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101600" marB="101600" anchor="t" anchorCtr="0">
                    <a:lnL>
                      <a:noFill/>
                    </a:lnL>
                    <a:lnR>
                      <a:noFill/>
                    </a:lnR>
                    <a:lnT>
                      <a:noFill/>
                    </a:lnT>
                    <a:lnB>
                      <a:noFill/>
                    </a:lnB>
                    <a:noFill/>
                  </a:tcPr>
                </a:tc>
              </a:tr>
              <a:tr h="630555">
                <a:tc>
                  <a:txBody>
                    <a:bodyPr rtlCol="0"/>
                    <a:p>
                      <a:pPr marL="0" indent="0" algn="ctr">
                        <a:lnSpc>
                          <a:spcPct val="100000"/>
                        </a:lnSpc>
                        <a:defRPr/>
                      </a:pPr>
                      <a:r>
                        <a:rPr lang="en-US" sz="13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CMA</a:t>
                      </a:r>
                      <a:endParaRPr lang="en-US" sz="1100"/>
                    </a:p>
                  </a:txBody>
                  <a:tcPr marL="101600" marR="101600" marT="101600" marB="101600" anchor="t" anchorCtr="0">
                    <a:lnL>
                      <a:noFill/>
                    </a:lnL>
                    <a:lnR>
                      <a:noFill/>
                    </a:lnR>
                    <a:lnT>
                      <a:noFill/>
                    </a:lnT>
                    <a:lnB>
                      <a:noFill/>
                    </a:lnB>
                    <a:solidFill>
                      <a:srgbClr val="002FA7">
                        <a:alpha val="4000"/>
                      </a:srgbClr>
                    </a:solidFill>
                  </a:tcPr>
                </a:tc>
                <a:tc>
                  <a:txBody>
                    <a:bodyPr rtlCol="0"/>
                    <a:p>
                      <a:pPr marL="0" indent="0" algn="l">
                        <a:lnSpc>
                          <a:spcPct val="117000"/>
                        </a:lnSpc>
                        <a:defRPr/>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(SC + BC) / 2 − (SA + BA) / 2</a:t>
                      </a:r>
                      <a:endParaRPr lang="en-US" sz="1100"/>
                    </a:p>
                    <a:p>
                      <a:pPr marL="0" indent="0" algn="l">
                        <a:lnSpc>
                          <a:spcPct val="117000"/>
                        </a:lnSpc>
                      </a:pPr>
                      <a:r>
                        <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投资保守组合减投资激进组合</a:t>
                      </a:r>
                      <a:endParaRPr lang="en-US" sz="12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101600" marB="101600" anchor="t" anchorCtr="0">
                    <a:lnL>
                      <a:noFill/>
                    </a:lnL>
                    <a:lnR>
                      <a:noFill/>
                    </a:lnR>
                    <a:lnT>
                      <a:noFill/>
                    </a:lnT>
                    <a:lnB>
                      <a:noFill/>
                    </a:lnB>
                    <a:solidFill>
                      <a:srgbClr val="002FA7">
                        <a:alpha val="4000"/>
                      </a:srgbClr>
                    </a:solidFill>
                  </a:tcPr>
                </a:tc>
              </a:tr>
            </a:tbl>
          </a:graphicData>
        </a:graphic>
      </p:graphicFrame>
      <p:sp>
        <p:nvSpPr>
          <p:cNvPr id="407" name="文本框 406" descr="{&quot;isTemplate&quot;:true,&quot;type&quot;:&quot;text&quot;}"/>
          <p:cNvSpPr txBox="1"/>
          <p:nvPr/>
        </p:nvSpPr>
        <p:spPr>
          <a:xfrm>
            <a:off x="530352" y="256032"/>
            <a:ext cx="10607040" cy="548640"/>
          </a:xfrm>
          <a:prstGeom prst="rect">
            <a:avLst/>
          </a:prstGeom>
        </p:spPr>
        <p:txBody>
          <a:bodyPr wrap="square" lIns="0" tIns="0" rIns="0" bIns="0"/>
          <a:p>
            <a:pPr algn="l">
              <a:lnSpc>
                <a:spcPct val="100000"/>
              </a:lnSpc>
            </a:pPr>
            <a:r>
              <a:rPr lang="en-US" altLang="zh-CN" sz="2200" b="1">
                <a:solidFill>
                  <a:srgbClr val="1F1F1F"/>
                </a:solidFill>
                <a:latin typeface="微软雅黑" panose="020B0503020204020204" charset="-122"/>
                <a:ea typeface="微软雅黑" panose="020B0503020204020204" charset="-122"/>
              </a:rPr>
              <a:t>2</a:t>
            </a:r>
            <a:r>
              <a:rPr lang="zh-CN" sz="2200" b="1">
                <a:solidFill>
                  <a:srgbClr val="1F1F1F"/>
                </a:solidFill>
                <a:latin typeface="微软雅黑" panose="020B0503020204020204" charset="-122"/>
                <a:ea typeface="微软雅黑" panose="020B0503020204020204" charset="-122"/>
                <a:sym typeface="Noto Serif SC" panose="02020200000000000000" charset="-122"/>
              </a:rPr>
              <a:t>×3</a:t>
            </a:r>
            <a:r>
              <a:rPr lang="zh-CN" sz="2200" b="1">
                <a:solidFill>
                  <a:srgbClr val="1F1F1F"/>
                </a:solidFill>
                <a:latin typeface="微软雅黑" panose="020B0503020204020204" charset="-122"/>
                <a:ea typeface="微软雅黑" panose="020B0503020204020204" charset="-122"/>
              </a:rPr>
              <a:t>分组方法的解读</a:t>
            </a:r>
            <a:endParaRPr lang="zh-CN" sz="2550" b="1">
              <a:solidFill>
                <a:srgbClr val="01A5B1"/>
              </a:solidFill>
              <a:latin typeface="微软雅黑" panose="020B0503020204020204" charset="-122"/>
              <a:ea typeface="微软雅黑" panose="020B0503020204020204" charset="-122"/>
            </a:endParaRPr>
          </a:p>
        </p:txBody>
      </p:sp>
      <p:sp>
        <p:nvSpPr>
          <p:cNvPr id="406" name="矩形 405"/>
          <p:cNvSpPr/>
          <p:nvPr/>
        </p:nvSpPr>
        <p:spPr>
          <a:xfrm>
            <a:off x="721360" y="237490"/>
            <a:ext cx="57150" cy="342900"/>
          </a:xfrm>
          <a:prstGeom prst="rect">
            <a:avLst/>
          </a:prstGeom>
          <a:solidFill>
            <a:srgbClr val="01A5B1"/>
          </a:solidFill>
        </p:spPr>
        <p:txBody>
          <a:bodyPr/>
          <a:p/>
        </p:txBody>
      </p:sp>
      <p:sp>
        <p:nvSpPr>
          <p:cNvPr id="3" name="同侧圆角矩形 2"/>
          <p:cNvSpPr/>
          <p:nvPr/>
        </p:nvSpPr>
        <p:spPr>
          <a:xfrm>
            <a:off x="7614920" y="725170"/>
            <a:ext cx="3815080" cy="2889250"/>
          </a:xfrm>
          <a:prstGeom prst="round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en-US" altLang="zh-CN">
                <a:solidFill>
                  <a:srgbClr val="FF0000"/>
                </a:solidFill>
                <a:effectLst>
                  <a:outerShdw blurRad="38100" dist="19050" dir="2700000" algn="tl" rotWithShape="0">
                    <a:schemeClr val="dk1">
                      <a:alpha val="40000"/>
                    </a:schemeClr>
                  </a:outerShdw>
                </a:effectLst>
              </a:rPr>
              <a:t>SMB_{B/M}</a:t>
            </a:r>
            <a:r>
              <a:rPr lang="zh-CN" altLang="en-US">
                <a:solidFill>
                  <a:srgbClr val="FF0000"/>
                </a:solidFill>
                <a:effectLst>
                  <a:outerShdw blurRad="38100" dist="19050" dir="2700000" algn="tl" rotWithShape="0">
                    <a:schemeClr val="dk1">
                      <a:alpha val="40000"/>
                    </a:schemeClr>
                  </a:outerShdw>
                </a:effectLst>
              </a:rPr>
              <a:t>：</a:t>
            </a:r>
            <a:r>
              <a:rPr lang="en-US" altLang="zh-CN">
                <a:solidFill>
                  <a:schemeClr val="tx1"/>
                </a:solidFill>
                <a:effectLst>
                  <a:outerShdw blurRad="38100" dist="19050" dir="2700000" algn="tl" rotWithShape="0">
                    <a:schemeClr val="dk1">
                      <a:alpha val="40000"/>
                    </a:schemeClr>
                  </a:outerShdw>
                </a:effectLst>
              </a:rPr>
              <a:t>在账面市值比分组的条件下，小盘平均收益 − 大盘平均收益</a:t>
            </a:r>
            <a:endParaRPr lang="en-US" altLang="zh-CN">
              <a:solidFill>
                <a:schemeClr val="tx1"/>
              </a:solidFill>
              <a:effectLst>
                <a:outerShdw blurRad="38100" dist="19050" dir="2700000" algn="tl" rotWithShape="0">
                  <a:schemeClr val="dk1">
                    <a:alpha val="40000"/>
                  </a:schemeClr>
                </a:outerShdw>
              </a:effectLst>
            </a:endParaRPr>
          </a:p>
          <a:p>
            <a:pPr algn="l"/>
            <a:r>
              <a:rPr lang="en-US" altLang="zh-CN">
                <a:solidFill>
                  <a:srgbClr val="FF0000"/>
                </a:solidFill>
                <a:effectLst>
                  <a:outerShdw blurRad="38100" dist="19050" dir="2700000" algn="tl" rotWithShape="0">
                    <a:schemeClr val="dk1">
                      <a:alpha val="40000"/>
                    </a:schemeClr>
                  </a:outerShdw>
                </a:effectLst>
              </a:rPr>
              <a:t> SMB_{OP}</a:t>
            </a:r>
            <a:r>
              <a:rPr lang="zh-CN" altLang="en-US">
                <a:solidFill>
                  <a:srgbClr val="FF0000"/>
                </a:solidFill>
                <a:effectLst>
                  <a:outerShdw blurRad="38100" dist="19050" dir="2700000" algn="tl" rotWithShape="0">
                    <a:schemeClr val="dk1">
                      <a:alpha val="40000"/>
                    </a:schemeClr>
                  </a:outerShdw>
                </a:effectLst>
              </a:rPr>
              <a:t>：</a:t>
            </a:r>
            <a:r>
              <a:rPr lang="zh-CN" altLang="en-US">
                <a:solidFill>
                  <a:schemeClr val="tx1"/>
                </a:solidFill>
                <a:effectLst>
                  <a:outerShdw blurRad="38100" dist="19050" dir="2700000" algn="tl" rotWithShape="0">
                    <a:schemeClr val="dk1">
                      <a:alpha val="40000"/>
                    </a:schemeClr>
                  </a:outerShdw>
                </a:effectLst>
              </a:rPr>
              <a:t>在盈利指标分组下，小盘平均收益 − 大盘平均收益</a:t>
            </a:r>
            <a:endParaRPr lang="zh-CN" altLang="en-US">
              <a:solidFill>
                <a:schemeClr val="tx1"/>
              </a:solidFill>
              <a:effectLst>
                <a:outerShdw blurRad="38100" dist="19050" dir="2700000" algn="tl" rotWithShape="0">
                  <a:schemeClr val="dk1">
                    <a:alpha val="40000"/>
                  </a:schemeClr>
                </a:outerShdw>
              </a:effectLst>
            </a:endParaRPr>
          </a:p>
          <a:p>
            <a:pPr algn="l"/>
            <a:r>
              <a:rPr lang="zh-CN" altLang="en-US">
                <a:solidFill>
                  <a:srgbClr val="FF0000"/>
                </a:solidFill>
                <a:effectLst>
                  <a:outerShdw blurRad="38100" dist="19050" dir="2700000" algn="tl" rotWithShape="0">
                    <a:schemeClr val="dk1">
                      <a:alpha val="40000"/>
                    </a:schemeClr>
                  </a:outerShdw>
                </a:effectLst>
              </a:rPr>
              <a:t>SMB_{Inv}：</a:t>
            </a:r>
            <a:r>
              <a:rPr lang="zh-CN" altLang="en-US">
                <a:solidFill>
                  <a:schemeClr val="tx1"/>
                </a:solidFill>
                <a:effectLst>
                  <a:outerShdw blurRad="38100" dist="19050" dir="2700000" algn="tl" rotWithShape="0">
                    <a:schemeClr val="dk1">
                      <a:alpha val="40000"/>
                    </a:schemeClr>
                  </a:outerShdw>
                </a:effectLst>
              </a:rPr>
              <a:t>投资指标分组下，小盘平均收益 − 大盘平均收益</a:t>
            </a:r>
            <a:endParaRPr lang="zh-CN" altLang="en-US">
              <a:solidFill>
                <a:schemeClr val="tx1"/>
              </a:solidFill>
              <a:effectLst>
                <a:outerShdw blurRad="38100" dist="19050" dir="2700000" algn="tl" rotWithShape="0">
                  <a:schemeClr val="dk1">
                    <a:alpha val="40000"/>
                  </a:schemeClr>
                </a:outerShdw>
              </a:effectLst>
            </a:endParaRPr>
          </a:p>
          <a:p>
            <a:pPr algn="l"/>
            <a:r>
              <a:rPr lang="zh-CN" altLang="en-US">
                <a:solidFill>
                  <a:srgbClr val="FF0000"/>
                </a:solidFill>
                <a:effectLst>
                  <a:outerShdw blurRad="38100" dist="19050" dir="2700000" algn="tl" rotWithShape="0">
                    <a:schemeClr val="dk1">
                      <a:alpha val="40000"/>
                    </a:schemeClr>
                  </a:outerShdw>
                </a:effectLst>
              </a:rPr>
              <a:t>SMB（最终规模因子）</a:t>
            </a:r>
            <a:endParaRPr lang="zh-CN" altLang="en-US">
              <a:solidFill>
                <a:srgbClr val="FF0000"/>
              </a:solidFill>
              <a:effectLst>
                <a:outerShdw blurRad="38100" dist="19050" dir="2700000" algn="tl" rotWithShape="0">
                  <a:schemeClr val="dk1">
                    <a:alpha val="40000"/>
                  </a:schemeClr>
                </a:outerShdw>
              </a:effectLst>
            </a:endParaRPr>
          </a:p>
        </p:txBody>
      </p:sp>
      <p:sp>
        <p:nvSpPr>
          <p:cNvPr id="4" name="圆角矩形 3"/>
          <p:cNvSpPr/>
          <p:nvPr/>
        </p:nvSpPr>
        <p:spPr>
          <a:xfrm>
            <a:off x="7614920" y="3898265"/>
            <a:ext cx="3644900" cy="257873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p>
            <a:pPr algn="l"/>
            <a:r>
              <a:rPr lang="en-US" altLang="zh-CN"/>
              <a:t>1.</a:t>
            </a:r>
            <a:r>
              <a:rPr lang="zh-CN" altLang="en-US"/>
              <a:t>为什么</a:t>
            </a:r>
            <a:r>
              <a:rPr lang="en-US" altLang="zh-CN"/>
              <a:t>SMB</a:t>
            </a:r>
            <a:r>
              <a:rPr lang="zh-CN" altLang="en-US"/>
              <a:t>账面市值比需要考虑中间段而其他三个因子却不作为衡量指标呢？</a:t>
            </a:r>
            <a:endParaRPr lang="zh-CN" altLang="en-US"/>
          </a:p>
          <a:p>
            <a:pPr algn="l"/>
            <a:r>
              <a:rPr lang="en-US" altLang="zh-CN"/>
              <a:t>2.</a:t>
            </a:r>
            <a:r>
              <a:rPr lang="zh-CN" altLang="en-US"/>
              <a:t>为什么市场因子没有放入</a:t>
            </a:r>
            <a:r>
              <a:rPr lang="zh-CN" altLang="en-US">
                <a:sym typeface="+mn-ea"/>
              </a:rPr>
              <a:t>2</a:t>
            </a:r>
            <a:r>
              <a:rPr lang="zh-CN" altLang="en-US">
                <a:sym typeface="Noto Serif SC" panose="02020200000000000000" charset="-122"/>
              </a:rPr>
              <a:t>×3分组方法的构建中呢？</a:t>
            </a:r>
            <a:endParaRPr lang="zh-CN" altLang="en-US">
              <a:sym typeface="Noto Serif SC" panose="02020200000000000000" charset="-122"/>
            </a:endParaRPr>
          </a:p>
        </p:txBody>
      </p:sp>
      <p:sp>
        <p:nvSpPr>
          <p:cNvPr id="431" name="Rectangle 430"/>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Rectangle 431"/>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TextBox 432"/>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434" name="TextBox 433"/>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435" name="Rectangle 434"/>
          <p:cNvSpPr/>
          <p:nvPr/>
        </p:nvSpPr>
        <p:spPr>
          <a:xfrm>
            <a:off x="304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TextBox 435"/>
          <p:cNvSpPr txBox="1"/>
          <p:nvPr/>
        </p:nvSpPr>
        <p:spPr>
          <a:xfrm>
            <a:off x="309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研究方法</a:t>
            </a:r>
          </a:p>
        </p:txBody>
      </p:sp>
      <p:sp>
        <p:nvSpPr>
          <p:cNvPr id="437" name="TextBox 436"/>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438" name="TextBox 437"/>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439" name="TextBox 438"/>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440" name="TextBox 439"/>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441" name="TextBox 440"/>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06"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合成数据跑通结果&lt;/Text&gt;&#10;        &lt;/Box&gt;&#10;&#10;        &lt;Box style={{ height: 544, flexDirection: 'column' }}&gt;&#10;            &lt;Box style={{ width: 1120, height: 180, background: 'rgba(1,165,177,0.10)', flexDirection: 'row', alignItems: 'center', paddingLeft: 34, gap: 28 }}&gt;&#10;                &lt;Text style={{ fontSize: 88, fontWeight: 'bold', color: '#01A5B1', lineHeight: 1 }}&gt;1.102&lt;/Text&gt;&#10;                &lt;Box style={{ flexDirection: 'column' }}&gt;&#10;                    &lt;Text style={{ fontSize: 24, fontWeight: 'bold', color: '#1F1F1F' }}&gt;FF5 模型的 GRS 统计量&lt;/Text&gt;&#10;                    &lt;Text style={{ fontSize: 17, color: '#5A5A5A', marginTop: 6 }}&gt;&#10;                        Size-OP 25 组合 · 四个模型中最低，p = 0.342（不能拒绝截距联合为 0）&#10;                    &lt;/Text&gt;&#10;                &lt;/Box&gt;&#10;            &lt;/Box&gt;&#10;&#10;            &lt;Box style={{ height: 348, flexDirection: 'row', gap: 20, marginTop: 16 }}&gt;&#10;                &lt;Box style={{ width: 700, height: 348, background: '#FFFFFF', border: '1px solid #EAEAEA', padding: 16, flexDirection: 'column' }}&gt;&#10;                    &lt;Box style={{ flexDirection: 'row', background: '#1F1F1F', padding: '8px 10px' }}&gt;&#10;                        &lt;Text style={{ width: 200, fontSize: 16, fontWeight: 'bold', color: '#FFFFFF' }}&gt;模型&lt;/Text&gt;&#10;                        &lt;Text style={{ width: 145, fontSize: 16, fontWeight: 'bold', color: '#FFFFFF' }}&gt;GRS&lt;/Text&gt;&#10;                        &lt;Text style={{ width: 145, fontSize: 16, fontWeight: 'bold', color: '#FFFFFF' }}&gt;p 值&lt;/Text&gt;&#10;                        &lt;Text style={{ width: 168, fontSize: 16, fontWeight: 'bold', color: '#FFFFFF' }}&gt;A|a|/A|r|&lt;/Text&gt;&#10;                    &lt;/Box&gt;&#10;                    &lt;Box style={{ flexDirection: 'row', padding: '11px 10px', background: '#F7F7F7' }}&gt;&#10;                        &lt;Text style={{ width: 200, fontSize: 16, color: '#1F1F1F' }}&gt;CAPM&lt;/Text&gt;&#10;                        &lt;Text style={{ width: 145, fontSize: 16, color: '#5A5A5A' }}&gt;1.611&lt;/Text&gt;&#10;                        &lt;Text style={{ width: 145, fontSize: 16, color: '#5A5A5A' }}&gt;0.038&lt;/Text&gt;&#10;                        &lt;Text style={{ width: 168, fontSize: 16, color: '#5A5A5A' }}&gt;2.239&lt;/Text&gt;&#10;                    &lt;/Box&gt;&#10;                    &lt;Box style={{ flexDirection: 'row', padding: '11px 10px' }}&gt;&#10;                        &lt;Text style={{ width: 200, fontSize: 16, color: '#1F1F1F' }}&gt;FF3&lt;/Text&gt;&#10;                        &lt;Text style={{ width: 145, fontSize: 16, color: '#5A5A5A' }}&gt;1.659&lt;/Text&gt;&#10;                        &lt;Text style={{ width: 145, fontSize: 16, color: '#5A5A5A' }}&gt;0.029&lt;/Text&gt;&#10;                        &lt;Text style={{ width: 168, fontSize: 16, color: '#5A5A5A' }}&gt;2.157&lt;/Text&gt;&#10;                    &lt;/Box&gt;&#10;                    &lt;Box style={{ flexDirection: 'row', padding: '11px 10px', background: '#F7F7F7' }}&gt;&#10;                        &lt;Text style={{ width: 200, fontSize: 16, color: '#1F1F1F' }}&gt;FF3 + MOM&lt;/Text&gt;&#10;                        &lt;Text style={{ width: 145, fontSize: 16, color: '#5A5A5A' }}&gt;1.673&lt;/Text&gt;&#10;                        &lt;Text style={{ width: 145, fontSize: 16, color: '#5A5A5A' }}&gt;0.027&lt;/Text&gt;&#10;                        &lt;Text style={{ width: 168, fontSize: 16, color: '#5A5A5A' }}&gt;2.182&lt;/Text&gt;&#10;                    &lt;/Box&gt;&#10;                    &lt;Box style={{ flexDirection: 'row', padding: '11px 10px', background: 'rgba(1,165,177,0.12)' }}&gt;&#10;                        &lt;Text style={{ width: 200, fontSize: 16, fontWeight: 'bold', color: '#01A5B1' }}&gt;FF5&lt;/Text&gt;&#10;                        &lt;Text style={{ width: 145, fontSize: 16, fontWeight: 'bold', color: '#01A5B1' }}&gt;1.102&lt;/Text&gt;&#10;                        &lt;Text style={{ width: 145, fontSize: 16, fontWeight: 'bold', color: '#01A5B1' }}&gt;0.342&lt;/Text&gt;&#10;                        &lt;Text style={{ width: 168, fontSize: 16, fontWeight: 'bold', color: '#01A5B1' }}&gt;1.180&lt;/Text&gt;&#10;                    &lt;/Box&gt;&#10;                    &lt;Box style={{ width: 668, height: 1, background: '#EAEAEA', marginTop: 14, marginBottom: 12 }} /&gt;&#10;                    &lt;Text style={{ width: 668, fontSize: 16, color: '#1F1F1F', lineHeight: 1.55 }}&gt;&#10;                        方向与原文表 5 完全一致：FF5 的四个指标全面低于 FF3 与 Carhart 四因子。&#10;                    &lt;/Text&gt;&#10;                &lt;/Box&gt;&#10;&#10;                &lt;Box style={{ width: 400, height: 348, background: 'rgba(232,80,58,0.10)', flexDirection: 'row' }}&gt;&#10;                    &lt;Box style={{ width: 4, height: 348, background: '#E8503A' }} /&gt;&#10;                    &lt;Box style={{ width: 396, padding: 16, flexDirection: 'column' }}&gt;&#10;                        &lt;Text style={{ fontSize: 19, fontWeight: 'bold', color: '#E8503A', marginBottom: 10 }}&gt;措辞纪律&lt;/Text&gt;&#10;                        &lt;Text style={{ width: 364, fontSize: 16.5, color: '#1F1F1F', lineHeight: 1.62 }}&gt;&#10;                            合成数据的数值与原文&lt;span style={{ fontWeight: 'bold' }}&gt;不可直接比较&lt;/span&gt;，它只验证链路是否跑通、口径是否自洽。&lt;br /&gt;&lt;br /&gt;&#10;                            &lt;span style={{ fontWeight: 'bold' }}&gt;以上数字不构成任何实证结论。&lt;/span&gt;&lt;br /&gt;&lt;br /&gt;&#10;                            要得到可用于投稿的结论，把 make_panel() 换成真实面板即可——脚本里每一处口径都在注释中标了对应的原文页码。&#10;                        &lt;/Text&gt;&#10;                    &lt;/Box&gt;&#10;                &lt;/Box&gt;&#10;            &lt;/Box&gt;&#10;        &lt;/Box&gt;&#10;&#10;        &lt;Box style={{ height: 40, flexDirection: 'row', justifyContent: 'space-between', alignItems: 'center' }}&gt;&#10;            &lt;Text style={{ fontSize: 14, color: '#8A8A8A' }}&gt;三维结构法 · FF5 中国实证拆解&lt;/Text&gt;&#10;            &lt;Text style={{ fontSize: 14, color: '#8A8A8A' }}&gt;29 / 37&lt;/Text&gt;&#10;        &lt;/Box&gt;&#10;    &lt;/Box&gt;&#10;&lt;/Slide&gt;"/>
        <p:cNvGrpSpPr/>
        <p:nvPr/>
      </p:nvGrpSpPr>
      <p:grpSpPr>
        <a:xfrm>
          <a:off x="0" y="0"/>
          <a:ext cx="0" cy="0"/>
          <a:chOff x="0" y="0"/>
          <a:chExt cx="0" cy="0"/>
        </a:xfrm>
      </p:grpSpPr>
      <p:sp>
        <p:nvSpPr>
          <p:cNvPr id="507" name="矩形 506"/>
          <p:cNvSpPr/>
          <p:nvPr/>
        </p:nvSpPr>
        <p:spPr>
          <a:xfrm>
            <a:off x="0" y="0"/>
            <a:ext cx="12192000" cy="6858000"/>
          </a:xfrm>
          <a:prstGeom prst="rect">
            <a:avLst/>
          </a:prstGeom>
          <a:solidFill>
            <a:srgbClr val="FFFFFF"/>
          </a:solidFill>
        </p:spPr>
        <p:txBody>
          <a:bodyPr/>
          <a:p/>
        </p:txBody>
      </p:sp>
      <p:pic>
        <p:nvPicPr>
          <p:cNvPr id="508" name="图片 507"/>
          <p:cNvPicPr>
            <a:picLocks noChangeAspect="1"/>
          </p:cNvPicPr>
          <p:nvPr/>
        </p:nvPicPr>
        <p:blipFill>
          <a:blip r:embed="rId1"/>
          <a:stretch>
            <a:fillRect/>
          </a:stretch>
        </p:blipFill>
        <p:spPr>
          <a:xfrm>
            <a:off x="0" y="0"/>
            <a:ext cx="12192000" cy="6858000"/>
          </a:xfrm>
          <a:prstGeom prst="rect">
            <a:avLst/>
          </a:prstGeom>
        </p:spPr>
      </p:pic>
      <p:sp>
        <p:nvSpPr>
          <p:cNvPr id="509" name="矩形 508"/>
          <p:cNvSpPr/>
          <p:nvPr/>
        </p:nvSpPr>
        <p:spPr>
          <a:xfrm>
            <a:off x="762000" y="476250"/>
            <a:ext cx="57150" cy="342900"/>
          </a:xfrm>
          <a:prstGeom prst="rect">
            <a:avLst/>
          </a:prstGeom>
          <a:solidFill>
            <a:srgbClr val="01A5B1"/>
          </a:solidFill>
        </p:spPr>
        <p:txBody>
          <a:bodyPr/>
          <a:p/>
        </p:txBody>
      </p:sp>
      <p:sp>
        <p:nvSpPr>
          <p:cNvPr id="510" name="文本框 509"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en-US" altLang="zh-CN" sz="2200" b="1">
                <a:solidFill>
                  <a:srgbClr val="1F1F1F"/>
                </a:solidFill>
                <a:latin typeface="微软雅黑" panose="020B0503020204020204" charset="-122"/>
                <a:ea typeface="微软雅黑" panose="020B0503020204020204" charset="-122"/>
              </a:rPr>
              <a:t>2</a:t>
            </a:r>
            <a:r>
              <a:rPr lang="zh-CN" altLang="en-US" sz="2200" b="1">
                <a:solidFill>
                  <a:srgbClr val="1F1F1F"/>
                </a:solidFill>
                <a:latin typeface="微软雅黑" panose="020B0503020204020204" charset="-122"/>
                <a:ea typeface="微软雅黑" panose="020B0503020204020204" charset="-122"/>
              </a:rPr>
              <a:t>×</a:t>
            </a:r>
            <a:r>
              <a:rPr lang="en-US" altLang="zh-CN" sz="2200" b="1">
                <a:solidFill>
                  <a:srgbClr val="1F1F1F"/>
                </a:solidFill>
                <a:latin typeface="微软雅黑" panose="020B0503020204020204" charset="-122"/>
                <a:ea typeface="微软雅黑" panose="020B0503020204020204" charset="-122"/>
              </a:rPr>
              <a:t>3</a:t>
            </a:r>
            <a:r>
              <a:rPr lang="zh-CN" altLang="en-US" sz="2200" b="1">
                <a:solidFill>
                  <a:srgbClr val="1F1F1F"/>
                </a:solidFill>
                <a:latin typeface="微软雅黑" panose="020B0503020204020204" charset="-122"/>
                <a:ea typeface="微软雅黑" panose="020B0503020204020204" charset="-122"/>
              </a:rPr>
              <a:t>分组方法困惑探讨</a:t>
            </a:r>
            <a:endParaRPr lang="zh-CN" altLang="en-US" sz="2550" b="1">
              <a:solidFill>
                <a:srgbClr val="01A5B1"/>
              </a:solidFill>
              <a:latin typeface="微软雅黑" panose="020B0503020204020204" charset="-122"/>
              <a:ea typeface="微软雅黑" panose="020B0503020204020204" charset="-122"/>
            </a:endParaRPr>
          </a:p>
        </p:txBody>
      </p:sp>
      <p:sp>
        <p:nvSpPr>
          <p:cNvPr id="511" name="矩形 510"/>
          <p:cNvSpPr/>
          <p:nvPr/>
        </p:nvSpPr>
        <p:spPr>
          <a:xfrm>
            <a:off x="762000" y="1104900"/>
            <a:ext cx="10668000" cy="1714500"/>
          </a:xfrm>
          <a:prstGeom prst="rect">
            <a:avLst/>
          </a:prstGeom>
          <a:solidFill>
            <a:srgbClr val="01A5B1">
              <a:alpha val="10000"/>
            </a:srgbClr>
          </a:solidFill>
        </p:spPr>
        <p:txBody>
          <a:bodyPr/>
          <a:p/>
        </p:txBody>
      </p:sp>
      <p:sp>
        <p:nvSpPr>
          <p:cNvPr id="515" name="矩形 514"/>
          <p:cNvSpPr/>
          <p:nvPr/>
        </p:nvSpPr>
        <p:spPr>
          <a:xfrm>
            <a:off x="762000" y="2971800"/>
            <a:ext cx="6667500" cy="3314700"/>
          </a:xfrm>
          <a:prstGeom prst="rect">
            <a:avLst/>
          </a:prstGeom>
          <a:solidFill>
            <a:srgbClr val="FFFFFF"/>
          </a:solidFill>
          <a:ln w="12700">
            <a:solidFill>
              <a:srgbClr val="EAEAEA"/>
            </a:solidFill>
            <a:prstDash val="solid"/>
          </a:ln>
        </p:spPr>
        <p:txBody>
          <a:bodyPr/>
          <a:p/>
        </p:txBody>
      </p:sp>
      <p:sp>
        <p:nvSpPr>
          <p:cNvPr id="517" name="文本框 516" descr="{&quot;isTemplate&quot;:true,&quot;type&quot;:&quot;text&quot;}"/>
          <p:cNvSpPr txBox="1"/>
          <p:nvPr/>
        </p:nvSpPr>
        <p:spPr>
          <a:xfrm>
            <a:off x="1009650" y="3200400"/>
            <a:ext cx="1876425" cy="190500"/>
          </a:xfrm>
          <a:prstGeom prst="rect">
            <a:avLst/>
          </a:prstGeom>
        </p:spPr>
        <p:txBody>
          <a:bodyPr wrap="none" lIns="0" tIns="0" rIns="0" bIns="0"/>
          <a:p>
            <a:pPr>
              <a:lnSpc>
                <a:spcPct val="100000"/>
              </a:lnSpc>
            </a:pPr>
            <a:r>
              <a:rPr lang="zh-CN" sz="1200" b="1">
                <a:solidFill>
                  <a:srgbClr val="FFFFFF"/>
                </a:solidFill>
                <a:latin typeface="微软雅黑" panose="020B0503020204020204" charset="-122"/>
                <a:ea typeface="微软雅黑" panose="020B0503020204020204" charset="-122"/>
              </a:rPr>
              <a:t>模型</a:t>
            </a:r>
            <a:endParaRPr lang="zh-CN" sz="1200" b="1">
              <a:solidFill>
                <a:srgbClr val="FFFFFF"/>
              </a:solidFill>
              <a:latin typeface="微软雅黑" panose="020B0503020204020204" charset="-122"/>
              <a:ea typeface="微软雅黑" panose="020B0503020204020204" charset="-122"/>
            </a:endParaRPr>
          </a:p>
        </p:txBody>
      </p:sp>
      <p:sp>
        <p:nvSpPr>
          <p:cNvPr id="518" name="文本框 517" descr="{&quot;isTemplate&quot;:true,&quot;type&quot;:&quot;text&quot;}"/>
          <p:cNvSpPr txBox="1"/>
          <p:nvPr/>
        </p:nvSpPr>
        <p:spPr>
          <a:xfrm>
            <a:off x="2886075" y="3200400"/>
            <a:ext cx="1362075" cy="190500"/>
          </a:xfrm>
          <a:prstGeom prst="rect">
            <a:avLst/>
          </a:prstGeom>
        </p:spPr>
        <p:txBody>
          <a:bodyPr wrap="none" lIns="0" tIns="0" rIns="0" bIns="0"/>
          <a:p>
            <a:pPr>
              <a:lnSpc>
                <a:spcPct val="100000"/>
              </a:lnSpc>
            </a:pPr>
            <a:r>
              <a:rPr lang="en-US" sz="1200" b="1">
                <a:solidFill>
                  <a:srgbClr val="FFFFFF"/>
                </a:solidFill>
                <a:latin typeface="微软雅黑" panose="020B0503020204020204" charset="-122"/>
                <a:ea typeface="微软雅黑" panose="020B0503020204020204" charset="-122"/>
              </a:rPr>
              <a:t>GRS</a:t>
            </a:r>
            <a:endParaRPr lang="en-US" sz="1200" b="1">
              <a:solidFill>
                <a:srgbClr val="FFFFFF"/>
              </a:solidFill>
              <a:latin typeface="微软雅黑" panose="020B0503020204020204" charset="-122"/>
              <a:ea typeface="微软雅黑" panose="020B0503020204020204" charset="-122"/>
            </a:endParaRPr>
          </a:p>
        </p:txBody>
      </p:sp>
      <p:sp>
        <p:nvSpPr>
          <p:cNvPr id="519" name="文本框 518" descr="{&quot;isTemplate&quot;:true,&quot;type&quot;:&quot;text&quot;}"/>
          <p:cNvSpPr txBox="1"/>
          <p:nvPr/>
        </p:nvSpPr>
        <p:spPr>
          <a:xfrm>
            <a:off x="4248150" y="3200400"/>
            <a:ext cx="1362075" cy="190500"/>
          </a:xfrm>
          <a:prstGeom prst="rect">
            <a:avLst/>
          </a:prstGeom>
        </p:spPr>
        <p:txBody>
          <a:bodyPr wrap="none" lIns="0" tIns="0" rIns="0" bIns="0"/>
          <a:p>
            <a:pPr>
              <a:lnSpc>
                <a:spcPct val="100000"/>
              </a:lnSpc>
            </a:pPr>
            <a:r>
              <a:rPr lang="en-US" sz="1200" b="1">
                <a:solidFill>
                  <a:srgbClr val="FFFFFF"/>
                </a:solidFill>
                <a:latin typeface="微软雅黑" panose="020B0503020204020204" charset="-122"/>
                <a:ea typeface="微软雅黑" panose="020B0503020204020204" charset="-122"/>
              </a:rPr>
              <a:t>p </a:t>
            </a:r>
            <a:r>
              <a:rPr lang="zh-CN" sz="1200" b="1">
                <a:solidFill>
                  <a:srgbClr val="FFFFFF"/>
                </a:solidFill>
                <a:latin typeface="微软雅黑" panose="020B0503020204020204" charset="-122"/>
                <a:ea typeface="微软雅黑" panose="020B0503020204020204" charset="-122"/>
              </a:rPr>
              <a:t>值</a:t>
            </a:r>
            <a:endParaRPr lang="zh-CN" sz="1200" b="1">
              <a:solidFill>
                <a:srgbClr val="FFFFFF"/>
              </a:solidFill>
              <a:latin typeface="微软雅黑" panose="020B0503020204020204" charset="-122"/>
              <a:ea typeface="微软雅黑" panose="020B0503020204020204" charset="-122"/>
            </a:endParaRPr>
          </a:p>
        </p:txBody>
      </p:sp>
      <p:sp>
        <p:nvSpPr>
          <p:cNvPr id="542" name="矩形 541"/>
          <p:cNvSpPr/>
          <p:nvPr/>
        </p:nvSpPr>
        <p:spPr>
          <a:xfrm>
            <a:off x="7620000" y="2971800"/>
            <a:ext cx="3810000" cy="3314700"/>
          </a:xfrm>
          <a:prstGeom prst="rect">
            <a:avLst/>
          </a:prstGeom>
          <a:solidFill>
            <a:srgbClr val="E8503A">
              <a:alpha val="10000"/>
            </a:srgbClr>
          </a:solidFill>
        </p:spPr>
        <p:txBody>
          <a:bodyPr/>
          <a:p/>
        </p:txBody>
      </p:sp>
      <p:sp>
        <p:nvSpPr>
          <p:cNvPr id="543" name="矩形 542"/>
          <p:cNvSpPr/>
          <p:nvPr/>
        </p:nvSpPr>
        <p:spPr>
          <a:xfrm>
            <a:off x="7620000" y="2971800"/>
            <a:ext cx="38100" cy="3314700"/>
          </a:xfrm>
          <a:prstGeom prst="rect">
            <a:avLst/>
          </a:prstGeom>
          <a:solidFill>
            <a:srgbClr val="E8503A"/>
          </a:solidFill>
        </p:spPr>
        <p:txBody>
          <a:bodyPr/>
          <a:p/>
        </p:txBody>
      </p:sp>
      <p:sp>
        <p:nvSpPr>
          <p:cNvPr id="544" name="文本框 543" descr="{&quot;isTemplate&quot;:true,&quot;type&quot;:&quot;text&quot;}"/>
          <p:cNvSpPr txBox="1"/>
          <p:nvPr/>
        </p:nvSpPr>
        <p:spPr>
          <a:xfrm>
            <a:off x="7727950" y="3124200"/>
            <a:ext cx="3467100" cy="458470"/>
          </a:xfrm>
          <a:prstGeom prst="rect">
            <a:avLst/>
          </a:prstGeom>
        </p:spPr>
        <p:txBody>
          <a:bodyPr wrap="none" lIns="0" tIns="0" rIns="0" bIns="0"/>
          <a:p>
            <a:pPr>
              <a:lnSpc>
                <a:spcPct val="100000"/>
              </a:lnSpc>
            </a:pPr>
            <a:r>
              <a:rPr lang="zh-CN" altLang="en-US" sz="2800" b="1">
                <a:solidFill>
                  <a:srgbClr val="FF0000"/>
                </a:solidFill>
              </a:rPr>
              <a:t>市场因子</a:t>
            </a:r>
            <a:endParaRPr lang="zh-CN" altLang="en-US" sz="2800" b="1">
              <a:solidFill>
                <a:srgbClr val="FF0000"/>
              </a:solidFill>
            </a:endParaRPr>
          </a:p>
        </p:txBody>
      </p:sp>
      <p:sp>
        <p:nvSpPr>
          <p:cNvPr id="545" name="文本框 544" descr="{&quot;isTemplate&quot;:true,&quot;type&quot;:&quot;text&quot;}"/>
          <p:cNvSpPr txBox="1"/>
          <p:nvPr/>
        </p:nvSpPr>
        <p:spPr>
          <a:xfrm>
            <a:off x="7810500" y="3438525"/>
            <a:ext cx="3467100" cy="2447925"/>
          </a:xfrm>
          <a:prstGeom prst="rect">
            <a:avLst/>
          </a:prstGeom>
        </p:spPr>
        <p:txBody>
          <a:bodyPr wrap="square" lIns="0" tIns="0" rIns="0" bIns="0">
            <a:normAutofit/>
          </a:bodyPr>
          <a:p>
            <a:pPr>
              <a:lnSpc>
                <a:spcPct val="162000"/>
              </a:lnSpc>
            </a:pPr>
            <a:r>
              <a:rPr lang="zh-CN" sz="1800">
                <a:solidFill>
                  <a:srgbClr val="1F1F1F"/>
                </a:solidFill>
                <a:latin typeface="微软雅黑" panose="020B0503020204020204" charset="-122"/>
                <a:ea typeface="微软雅黑" panose="020B0503020204020204" charset="-122"/>
              </a:rPr>
              <a:t>市场因子 = 全市场股票组合收益率 − 无风险利率。</a:t>
            </a:r>
            <a:endParaRPr lang="zh-CN" sz="1800">
              <a:solidFill>
                <a:srgbClr val="1F1F1F"/>
              </a:solidFill>
              <a:latin typeface="微软雅黑" panose="020B0503020204020204" charset="-122"/>
              <a:ea typeface="微软雅黑" panose="020B0503020204020204" charset="-122"/>
            </a:endParaRPr>
          </a:p>
          <a:p>
            <a:pPr>
              <a:lnSpc>
                <a:spcPct val="162000"/>
              </a:lnSpc>
            </a:pPr>
            <a:r>
              <a:rPr lang="zh-CN" sz="1800">
                <a:solidFill>
                  <a:srgbClr val="1F1F1F"/>
                </a:solidFill>
                <a:latin typeface="微软雅黑" panose="020B0503020204020204" charset="-122"/>
                <a:ea typeface="微软雅黑" panose="020B0503020204020204" charset="-122"/>
              </a:rPr>
              <a:t>它只需要算出整个A股市场的平均收益，减去无风险利率，不需要分组构造组合</a:t>
            </a:r>
            <a:r>
              <a:rPr lang="zh-CN" sz="1800" b="1">
                <a:solidFill>
                  <a:srgbClr val="1F1F1F"/>
                </a:solidFill>
                <a:latin typeface="微软雅黑" panose="020B0503020204020204" charset="-122"/>
                <a:ea typeface="微软雅黑" panose="020B0503020204020204" charset="-122"/>
              </a:rPr>
              <a:t>。</a:t>
            </a:r>
            <a:endParaRPr lang="zh-CN" sz="1800" b="1">
              <a:solidFill>
                <a:srgbClr val="1F1F1F"/>
              </a:solidFill>
              <a:latin typeface="微软雅黑" panose="020B0503020204020204" charset="-122"/>
              <a:ea typeface="微软雅黑" panose="020B0503020204020204" charset="-122"/>
            </a:endParaRPr>
          </a:p>
        </p:txBody>
      </p:sp>
      <p:sp>
        <p:nvSpPr>
          <p:cNvPr id="3" name="文本框 2"/>
          <p:cNvSpPr txBox="1"/>
          <p:nvPr/>
        </p:nvSpPr>
        <p:spPr>
          <a:xfrm>
            <a:off x="1009650" y="3277870"/>
            <a:ext cx="6103620" cy="2768600"/>
          </a:xfrm>
          <a:prstGeom prst="rect">
            <a:avLst/>
          </a:prstGeom>
          <a:noFill/>
        </p:spPr>
        <p:txBody>
          <a:bodyPr wrap="square" rtlCol="0" anchor="t">
            <a:spAutoFit/>
          </a:bodyPr>
          <a:p>
            <a:r>
              <a:rPr lang="zh-CN" altLang="en-US" sz="2800" b="1">
                <a:solidFill>
                  <a:srgbClr val="FF0000"/>
                </a:solidFill>
              </a:rPr>
              <a:t>SMB</a:t>
            </a:r>
            <a:r>
              <a:rPr lang="zh-CN" altLang="en-US"/>
              <a:t>旨在衡量全部小盘股相对全部大盘股的整体收益差异，股票无论盈利水平高、中、低，只要属于小盘/大盘，就应当归入对应组合。若剔除中间档，就只反映部分股票的规模效应，结果会出现偏差。</a:t>
            </a:r>
            <a:endParaRPr lang="zh-CN" altLang="en-US"/>
          </a:p>
          <a:p>
            <a:r>
              <a:rPr lang="zh-CN" altLang="en-US" sz="2800" b="1">
                <a:solidFill>
                  <a:srgbClr val="FF0000"/>
                </a:solidFill>
              </a:rPr>
              <a:t>RMW</a:t>
            </a:r>
            <a:r>
              <a:rPr lang="zh-CN" altLang="en-US"/>
              <a:t>只关注盈利最高与最低股票的收益差，中间组特征模糊，因此不参与盈利因子计算，但依旧服务于规模因子</a:t>
            </a:r>
            <a:r>
              <a:rPr lang="zh-CN" altLang="en-US" sz="1800"/>
              <a:t>。</a:t>
            </a:r>
            <a:endParaRPr lang="zh-CN" altLang="en-US" sz="2800" b="1">
              <a:solidFill>
                <a:srgbClr val="FF0000"/>
              </a:solidFill>
            </a:endParaRPr>
          </a:p>
          <a:p>
            <a:r>
              <a:rPr lang="zh-CN" altLang="en-US" sz="2800" b="1">
                <a:solidFill>
                  <a:srgbClr val="FF0000"/>
                </a:solidFill>
              </a:rPr>
              <a:t>针对</a:t>
            </a:r>
            <a:r>
              <a:rPr lang="zh-CN" altLang="en-US" sz="2800" b="1">
                <a:solidFill>
                  <a:srgbClr val="FF0000"/>
                </a:solidFill>
              </a:rPr>
              <a:t>三种场合分别计算SMB：</a:t>
            </a:r>
            <a:r>
              <a:rPr lang="zh-CN" altLang="en-US"/>
              <a:t>为了</a:t>
            </a:r>
            <a:r>
              <a:rPr lang="zh-CN" altLang="en-US"/>
              <a:t>分别控制住价值、盈利、投资特征之后，再看纯粹的规模效应</a:t>
            </a:r>
            <a:endParaRPr lang="zh-CN" altLang="en-US"/>
          </a:p>
        </p:txBody>
      </p:sp>
      <p:pic>
        <p:nvPicPr>
          <p:cNvPr id="2" name="图片 1"/>
          <p:cNvPicPr>
            <a:picLocks noChangeAspect="1"/>
          </p:cNvPicPr>
          <p:nvPr/>
        </p:nvPicPr>
        <p:blipFill>
          <a:blip r:embed="rId2"/>
          <a:stretch>
            <a:fillRect/>
          </a:stretch>
        </p:blipFill>
        <p:spPr>
          <a:xfrm>
            <a:off x="1658620" y="1104900"/>
            <a:ext cx="8875395" cy="1651000"/>
          </a:xfrm>
          <a:prstGeom prst="rect">
            <a:avLst/>
          </a:prstGeom>
        </p:spPr>
      </p:pic>
      <p:sp>
        <p:nvSpPr>
          <p:cNvPr id="546" name="Rectangle 545"/>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Rectangle 546"/>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549" name="TextBox 548"/>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550" name="Rectangle 549"/>
          <p:cNvSpPr/>
          <p:nvPr/>
        </p:nvSpPr>
        <p:spPr>
          <a:xfrm>
            <a:off x="304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TextBox 550"/>
          <p:cNvSpPr txBox="1"/>
          <p:nvPr/>
        </p:nvSpPr>
        <p:spPr>
          <a:xfrm>
            <a:off x="309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研究方法</a:t>
            </a:r>
          </a:p>
        </p:txBody>
      </p:sp>
      <p:sp>
        <p:nvSpPr>
          <p:cNvPr id="552" name="TextBox 55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553" name="TextBox 552"/>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554" name="TextBox 553"/>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555" name="TextBox 554"/>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556" name="TextBox 555"/>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85" name="" descr="&lt;Slide style={{ width: 1280, height: 720, background: '#FFFFFF', padding: 0, flexDirection: 'column' }}&gt;&#13;&#10;    &lt;Image src=&quot;assets/deco_teal.png&quot; style={{ position: 'absolute', top: 0, left: 0, width: 1280, height: 720 }} /&gt;&#13;&#10;&#13;&#10;    &lt;Box style={{ position: 'absolute', top: 236, left: 116, width: 208, height: 208, border: '4px solid #FFFFFF', alignItems: 'center', justifyContent: 'center' }}&gt;&#13;&#10;        &lt;Text style={{ fontSize: 72, fontWeight: 'bold', color: '#FFFFFF', lineHeight: 1 }}&gt;05&lt;/Text&gt;&#13;&#10;    &lt;/Box&gt;&#13;&#10;&#13;&#10;    &lt;Text style={{ position: 'absolute', top: 296, left: 432, width: 790, fontSize: 52, fontWeight: 'bold', color: '#1F1F1F', lineHeight: 1.25 }}&gt;&#13;&#10;        对照实验与 Gap 清单&#13;&#10;    &lt;/Text&gt;&#13;&#10;    &lt;Box style={{ position: 'absolute', top: 386, left: 432, width: 88, height: 6, background: '#01A5B1' }} /&gt;&#13;&#10;    &lt;Text style={{ position: 'absolute', top: 416, left: 432, width: 770, fontSize: 20, color: '#5A5A5A', lineHeight: 1.62 }}&gt;&#13;&#10;        三组原文没做的对照实验，就是三个可立项的空位。&lt;br /&gt;每一条 Gap 都写成「论文做法 → 留出的口子 → 改写方向」。&#13;&#10;    &lt;/Text&gt;&#13;&#10;&#13;&#10;    &lt;Text style={{ position: 'absolute', top: 668, left: 1140, width: 90, fontSize: 14, color: '#B0B0B0', textAlign: 'right' }}&gt;30 / 37&lt;/Text&gt;&#13;&#10;&lt;/Slide&gt;"/>
        <p:cNvGrpSpPr/>
        <p:nvPr/>
      </p:nvGrpSpPr>
      <p:grpSpPr>
        <a:xfrm>
          <a:off x="0" y="0"/>
          <a:ext cx="0" cy="0"/>
          <a:chOff x="0" y="0"/>
          <a:chExt cx="0" cy="0"/>
        </a:xfrm>
      </p:grpSpPr>
      <p:sp>
        <p:nvSpPr>
          <p:cNvPr id="586" name="矩形 585"/>
          <p:cNvSpPr/>
          <p:nvPr/>
        </p:nvSpPr>
        <p:spPr>
          <a:xfrm>
            <a:off x="0" y="0"/>
            <a:ext cx="12192000" cy="6858000"/>
          </a:xfrm>
          <a:prstGeom prst="rect">
            <a:avLst/>
          </a:prstGeom>
          <a:solidFill>
            <a:srgbClr val="FFFFFF"/>
          </a:solidFill>
        </p:spPr>
        <p:txBody>
          <a:bodyPr/>
          <a:p/>
        </p:txBody>
      </p:sp>
      <p:pic>
        <p:nvPicPr>
          <p:cNvPr id="587" name="图片 586"/>
          <p:cNvPicPr>
            <a:picLocks noChangeAspect="1"/>
          </p:cNvPicPr>
          <p:nvPr/>
        </p:nvPicPr>
        <p:blipFill>
          <a:blip r:embed="rId1"/>
          <a:stretch>
            <a:fillRect/>
          </a:stretch>
        </p:blipFill>
        <p:spPr>
          <a:xfrm>
            <a:off x="0" y="0"/>
            <a:ext cx="12192000" cy="6858000"/>
          </a:xfrm>
          <a:prstGeom prst="rect">
            <a:avLst/>
          </a:prstGeom>
        </p:spPr>
      </p:pic>
      <p:sp>
        <p:nvSpPr>
          <p:cNvPr id="588" name="矩形 587"/>
          <p:cNvSpPr/>
          <p:nvPr/>
        </p:nvSpPr>
        <p:spPr>
          <a:xfrm>
            <a:off x="1104900" y="2247900"/>
            <a:ext cx="1981200" cy="1981200"/>
          </a:xfrm>
          <a:prstGeom prst="rect">
            <a:avLst/>
          </a:prstGeom>
          <a:ln w="50800">
            <a:solidFill>
              <a:srgbClr val="FFFFFF"/>
            </a:solidFill>
            <a:prstDash val="solid"/>
          </a:ln>
        </p:spPr>
        <p:txBody>
          <a:bodyPr/>
          <a:p/>
        </p:txBody>
      </p:sp>
      <p:sp>
        <p:nvSpPr>
          <p:cNvPr id="589" name="文本框 588"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04</a:t>
            </a:r>
            <a:endParaRPr lang="en-US" sz="5400" b="1">
              <a:solidFill>
                <a:srgbClr val="FFFFFF"/>
              </a:solidFill>
              <a:latin typeface="微软雅黑" panose="020B0503020204020204" charset="-122"/>
              <a:ea typeface="微软雅黑" panose="020B0503020204020204" charset="-122"/>
            </a:endParaRPr>
          </a:p>
        </p:txBody>
      </p:sp>
      <p:sp>
        <p:nvSpPr>
          <p:cNvPr id="590" name="文本框 589" descr="{&quot;isTemplate&quot;:true,&quot;type&quot;:&quot;text&quot;}"/>
          <p:cNvSpPr txBox="1"/>
          <p:nvPr/>
        </p:nvSpPr>
        <p:spPr>
          <a:xfrm>
            <a:off x="4019550" y="2828925"/>
            <a:ext cx="7524750" cy="742950"/>
          </a:xfrm>
          <a:prstGeom prst="rect">
            <a:avLst/>
          </a:prstGeom>
        </p:spPr>
        <p:txBody>
          <a:bodyPr wrap="none" lIns="0" tIns="0" rIns="0" bIns="0"/>
          <a:p>
            <a:pPr>
              <a:lnSpc>
                <a:spcPct val="125000"/>
              </a:lnSpc>
            </a:pPr>
            <a:r>
              <a:rPr lang="zh-CN" sz="3900" b="1">
                <a:solidFill>
                  <a:srgbClr val="1F1F1F"/>
                </a:solidFill>
                <a:latin typeface="微软雅黑" panose="020B0503020204020204" charset="-122"/>
                <a:ea typeface="微软雅黑" panose="020B0503020204020204" charset="-122"/>
              </a:rPr>
              <a:t>适用性检验与模型比较</a:t>
            </a:r>
            <a:endParaRPr lang="zh-CN" sz="3900" b="1">
              <a:solidFill>
                <a:srgbClr val="1F1F1F"/>
              </a:solidFill>
              <a:latin typeface="微软雅黑" panose="020B0503020204020204" charset="-122"/>
              <a:ea typeface="微软雅黑" panose="020B0503020204020204" charset="-122"/>
            </a:endParaRPr>
          </a:p>
        </p:txBody>
      </p:sp>
      <p:sp>
        <p:nvSpPr>
          <p:cNvPr id="591" name="矩形 590"/>
          <p:cNvSpPr/>
          <p:nvPr/>
        </p:nvSpPr>
        <p:spPr>
          <a:xfrm>
            <a:off x="4114800" y="3676650"/>
            <a:ext cx="838200" cy="57150"/>
          </a:xfrm>
          <a:prstGeom prst="rect">
            <a:avLst/>
          </a:prstGeom>
          <a:solidFill>
            <a:srgbClr val="01A5B1"/>
          </a:solidFill>
        </p:spPr>
        <p:txBody>
          <a:bodyPr/>
          <a:p/>
        </p:txBody>
      </p:sp>
      <p:sp>
        <p:nvSpPr>
          <p:cNvPr id="592" name="文本框 591" descr="{&quot;isTemplate&quot;:true,&quot;type&quot;:&quot;text&quot;}"/>
          <p:cNvSpPr txBox="1"/>
          <p:nvPr/>
        </p:nvSpPr>
        <p:spPr>
          <a:xfrm>
            <a:off x="4114800" y="3962400"/>
            <a:ext cx="7524750" cy="2009775"/>
          </a:xfrm>
          <a:prstGeom prst="rect">
            <a:avLst/>
          </a:prstGeom>
        </p:spPr>
        <p:txBody>
          <a:bodyPr wrap="none" lIns="0" tIns="0" rIns="0" bIns="0"/>
          <a:p>
            <a:pPr algn="l">
              <a:lnSpc>
                <a:spcPct val="162000"/>
              </a:lnSpc>
            </a:pPr>
            <a:r>
              <a:rPr lang="zh-CN" sz="1500">
                <a:solidFill>
                  <a:srgbClr val="5A5A5A"/>
                </a:solidFill>
                <a:latin typeface="微软雅黑" panose="020B0503020204020204" charset="-122"/>
                <a:ea typeface="微软雅黑" panose="020B0503020204020204" charset="-122"/>
              </a:rPr>
              <a:t>中美股票</a:t>
            </a:r>
            <a:r>
              <a:rPr lang="zh-CN" sz="1500">
                <a:solidFill>
                  <a:srgbClr val="5A5A5A"/>
                </a:solidFill>
                <a:latin typeface="微软雅黑" panose="020B0503020204020204" charset="-122"/>
                <a:ea typeface="微软雅黑" panose="020B0503020204020204" charset="-122"/>
                <a:sym typeface="Noto Serif SC" panose="02020200000000000000" charset="-122"/>
              </a:rPr>
              <a:t>市场各因子收益率描述性统计</a:t>
            </a:r>
            <a:endParaRPr lang="zh-CN" sz="1500">
              <a:solidFill>
                <a:srgbClr val="5A5A5A"/>
              </a:solidFill>
              <a:latin typeface="微软雅黑" panose="020B0503020204020204" charset="-122"/>
              <a:ea typeface="微软雅黑" panose="020B0503020204020204" charset="-122"/>
              <a:sym typeface="Noto Serif SC" panose="02020200000000000000" charset="-122"/>
            </a:endParaRPr>
          </a:p>
          <a:p>
            <a:pPr algn="l">
              <a:lnSpc>
                <a:spcPct val="162000"/>
              </a:lnSpc>
            </a:pPr>
            <a:r>
              <a:rPr lang="zh-CN" sz="1500">
                <a:solidFill>
                  <a:srgbClr val="5A5A5A"/>
                </a:solidFill>
                <a:latin typeface="微软雅黑" panose="020B0503020204020204" charset="-122"/>
                <a:ea typeface="微软雅黑" panose="020B0503020204020204" charset="-122"/>
                <a:sym typeface="Noto Serif SC" panose="02020200000000000000" charset="-122"/>
              </a:rPr>
              <a:t>风格效应检验与五因子冗余检验</a:t>
            </a:r>
            <a:endParaRPr lang="zh-CN" sz="1500">
              <a:solidFill>
                <a:srgbClr val="5A5A5A"/>
              </a:solidFill>
              <a:latin typeface="微软雅黑" panose="020B0503020204020204" charset="-122"/>
              <a:ea typeface="微软雅黑" panose="020B0503020204020204" charset="-122"/>
              <a:sym typeface="Noto Serif SC" panose="02020200000000000000" charset="-122"/>
            </a:endParaRPr>
          </a:p>
          <a:p>
            <a:pPr algn="l">
              <a:lnSpc>
                <a:spcPct val="162000"/>
              </a:lnSpc>
            </a:pPr>
            <a:r>
              <a:rPr lang="zh-CN" sz="1500">
                <a:solidFill>
                  <a:srgbClr val="5A5A5A"/>
                </a:solidFill>
                <a:latin typeface="微软雅黑" panose="020B0503020204020204" charset="-122"/>
                <a:ea typeface="微软雅黑" panose="020B0503020204020204" charset="-122"/>
                <a:sym typeface="Noto Serif SC" panose="02020200000000000000" charset="-122"/>
              </a:rPr>
              <a:t>冗余检验解读与回归结果</a:t>
            </a:r>
            <a:endParaRPr lang="zh-CN" sz="1500">
              <a:solidFill>
                <a:srgbClr val="5A5A5A"/>
              </a:solidFill>
              <a:latin typeface="微软雅黑" panose="020B0503020204020204" charset="-122"/>
              <a:ea typeface="微软雅黑" panose="020B0503020204020204" charset="-122"/>
              <a:sym typeface="Noto Serif SC" panose="02020200000000000000" charset="-122"/>
            </a:endParaRPr>
          </a:p>
          <a:p>
            <a:pPr algn="l">
              <a:lnSpc>
                <a:spcPct val="162000"/>
              </a:lnSpc>
            </a:pPr>
            <a:r>
              <a:rPr lang="zh-CN" sz="1500">
                <a:solidFill>
                  <a:srgbClr val="5A5A5A"/>
                </a:solidFill>
                <a:latin typeface="微软雅黑" panose="020B0503020204020204" charset="-122"/>
                <a:ea typeface="微软雅黑" panose="020B0503020204020204" charset="-122"/>
                <a:sym typeface="+mn-ea"/>
              </a:rPr>
              <a:t>模型比较</a:t>
            </a:r>
            <a:endParaRPr lang="zh-CN" sz="1500">
              <a:solidFill>
                <a:srgbClr val="5A5A5A"/>
              </a:solidFill>
              <a:latin typeface="微软雅黑" panose="020B0503020204020204" charset="-122"/>
              <a:ea typeface="微软雅黑" panose="020B0503020204020204" charset="-122"/>
              <a:sym typeface="+mn-ea"/>
            </a:endParaRPr>
          </a:p>
          <a:p>
            <a:pPr algn="l">
              <a:lnSpc>
                <a:spcPct val="162000"/>
              </a:lnSpc>
            </a:pPr>
            <a:r>
              <a:rPr lang="zh-CN" sz="1500">
                <a:solidFill>
                  <a:srgbClr val="5A5A5A"/>
                </a:solidFill>
                <a:latin typeface="微软雅黑" panose="020B0503020204020204" charset="-122"/>
                <a:ea typeface="微软雅黑" panose="020B0503020204020204" charset="-122"/>
                <a:sym typeface="Noto Serif SC" panose="02020200000000000000" charset="-122"/>
              </a:rPr>
              <a:t>五因子 vs 三因子 vs Carhart四因子</a:t>
            </a:r>
            <a:endParaRPr lang="zh-CN" sz="1500">
              <a:solidFill>
                <a:srgbClr val="5A5A5A"/>
              </a:solidFill>
              <a:latin typeface="微软雅黑" panose="020B0503020204020204" charset="-122"/>
              <a:ea typeface="微软雅黑" panose="020B0503020204020204" charset="-122"/>
            </a:endParaRPr>
          </a:p>
          <a:p>
            <a:pPr algn="l">
              <a:lnSpc>
                <a:spcPct val="162000"/>
              </a:lnSpc>
            </a:pPr>
            <a:endParaRPr lang="zh-CN" sz="1500" b="1">
              <a:solidFill>
                <a:srgbClr val="01A5B1"/>
              </a:solidFill>
              <a:latin typeface="微软雅黑" panose="020B0503020204020204" charset="-122"/>
              <a:ea typeface="微软雅黑" panose="020B0503020204020204" charset="-122"/>
              <a:sym typeface="+mn-ea"/>
            </a:endParaRPr>
          </a:p>
          <a:p>
            <a:pPr algn="l">
              <a:lnSpc>
                <a:spcPct val="162000"/>
              </a:lnSpc>
            </a:pPr>
            <a:endParaRPr lang="zh-CN" sz="1500" b="1">
              <a:solidFill>
                <a:srgbClr val="01A5B1"/>
              </a:solidFill>
              <a:latin typeface="微软雅黑" panose="020B0503020204020204" charset="-122"/>
              <a:ea typeface="微软雅黑" panose="020B0503020204020204" charset="-122"/>
            </a:endParaRPr>
          </a:p>
          <a:p>
            <a:pPr algn="l">
              <a:lnSpc>
                <a:spcPct val="162000"/>
              </a:lnSpc>
            </a:pPr>
            <a:endParaRPr lang="zh-CN" sz="1500" b="1">
              <a:solidFill>
                <a:srgbClr val="01A5B1"/>
              </a:solidFill>
              <a:latin typeface="微软雅黑" panose="020B0503020204020204" charset="-122"/>
              <a:ea typeface="微软雅黑" panose="020B0503020204020204" charset="-122"/>
            </a:endParaRPr>
          </a:p>
          <a:p>
            <a:pPr algn="l">
              <a:lnSpc>
                <a:spcPct val="162000"/>
              </a:lnSpc>
            </a:pPr>
            <a:endParaRPr lang="zh-CN" sz="1500" b="1">
              <a:solidFill>
                <a:srgbClr val="01A5B1"/>
              </a:solidFill>
              <a:latin typeface="微软雅黑" panose="020B0503020204020204" charset="-122"/>
              <a:ea typeface="微软雅黑" panose="020B0503020204020204" charset="-122"/>
              <a:sym typeface="Noto Serif SC" panose="02020200000000000000" charset="-122"/>
            </a:endParaRPr>
          </a:p>
          <a:p>
            <a:pPr algn="l">
              <a:lnSpc>
                <a:spcPct val="162000"/>
              </a:lnSpc>
            </a:pPr>
            <a:endParaRPr lang="zh-CN" sz="1500" b="1">
              <a:solidFill>
                <a:srgbClr val="01A5B1"/>
              </a:solidFill>
              <a:latin typeface="微软雅黑" panose="020B0503020204020204" charset="-122"/>
              <a:ea typeface="微软雅黑" panose="020B0503020204020204" charset="-122"/>
            </a:endParaRPr>
          </a:p>
          <a:p>
            <a:pPr algn="l">
              <a:lnSpc>
                <a:spcPct val="162000"/>
              </a:lnSpc>
            </a:pPr>
            <a:endParaRPr lang="zh-CN" sz="1500" b="1">
              <a:solidFill>
                <a:srgbClr val="01A5B1"/>
              </a:solidFill>
              <a:latin typeface="微软雅黑" panose="020B0503020204020204" charset="-122"/>
              <a:ea typeface="微软雅黑" panose="020B0503020204020204" charset="-122"/>
              <a:sym typeface="Noto Serif SC" panose="02020200000000000000" charset="-122"/>
            </a:endParaRPr>
          </a:p>
          <a:p>
            <a:pPr algn="l">
              <a:lnSpc>
                <a:spcPct val="162000"/>
              </a:lnSpc>
            </a:pPr>
            <a:endParaRPr lang="zh-CN" sz="1500">
              <a:solidFill>
                <a:srgbClr val="5A5A5A"/>
              </a:solidFill>
              <a:latin typeface="微软雅黑" panose="020B0503020204020204" charset="-122"/>
              <a:ea typeface="微软雅黑" panose="020B0503020204020204" charset="-122"/>
            </a:endParaRPr>
          </a:p>
        </p:txBody>
      </p:sp>
      <p:sp>
        <p:nvSpPr>
          <p:cNvPr id="593" name="Rectangle 592"/>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Rectangle 593"/>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TextBox 594"/>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596" name="TextBox 595"/>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597" name="TextBox 596"/>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598" name="Rectangle 597"/>
          <p:cNvSpPr/>
          <p:nvPr/>
        </p:nvSpPr>
        <p:spPr>
          <a:xfrm>
            <a:off x="4572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TextBox 598"/>
          <p:cNvSpPr txBox="1"/>
          <p:nvPr/>
        </p:nvSpPr>
        <p:spPr>
          <a:xfrm>
            <a:off x="4617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适用性检验</a:t>
            </a:r>
          </a:p>
        </p:txBody>
      </p:sp>
      <p:sp>
        <p:nvSpPr>
          <p:cNvPr id="600" name="TextBox 599"/>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601" name="TextBox 600"/>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602" name="TextBox 601"/>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603" name="TextBox 602"/>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16"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对照 B：HML 该由 B/M 还是 E/P 来建&lt;/Text&gt;&#10;        &lt;/Box&gt;&#10;&#10;        &lt;Box style={{ height: 544, flexDirection: 'row', gap: 32 }}&gt;&#10;            &lt;Box style={{ width: 588, height: 544, flexDirection: 'column' }}&gt;&#10;                &lt;Box style={{ width: 588, height: 400, background: '#FFFFFF', border: '1px solid #EAEAEA', boxShadow: '0 2px 12px rgba(0,0,0,0.08)', alignItems: 'center', justifyContent: 'center', padding: 8 }}&gt;&#10;                    &lt;Image src=&quot;assets/t4b.png&quot; style={{ width: 572, height: 372, objectFit: 'contain' }} /&gt;&#10;                &lt;/Box&gt;&#10;                &lt;Text style={{ width: 588, fontSize: 15, color: '#8A8A8A', marginTop: 8 }}&gt;&#10;                    原文 P198 表 4 续表：Size-Inv 组合下各模型的回归系数与截距&#10;                &lt;/Text&gt;&#10;                &lt;Box style={{ width: 588, height: 101, background: 'rgba(1,165,177,0.10)', flexDirection: 'row', marginTop: 14 }}&gt;&#10;                    &lt;Box style={{ width: 4, height: 101, background: '#01A5B1' }} /&gt;&#10;                    &lt;Box style={{ width: 584, padding: 14, flexDirection: 'row', alignItems: 'center' }}&gt;&#10;                        &lt;Text style={{ width: 554, fontSize: 16, color: '#1F1F1F', lineHeight: 1.5 }}&gt;&#10;                            表 4 中 CMA 系数多处显著，与表 3 的&quot;冗余&quot;判定矛盾——作者据此推测是早期样本干扰。&#10;                        &lt;/Text&gt;&#10;                    &lt;/Box&gt;&#10;                &lt;/Box&gt;&#10;            &lt;/Box&gt;&#10;&#10;            &lt;Box style={{ width: 500, height: 544, flexDirection: 'column' }}&gt;&#10;                &lt;Box style={{ width: 500, height: 250, background: '#FFFFFF', border: '1px solid #EAEAEA', borderTop: '4px solid #01A5B1', padding: 16, flexDirection: 'column' }}&gt;&#10;                    &lt;Text style={{ fontSize: 19, fontWeight: 'bold', color: '#01A5B1', marginBottom: 10 }}&gt;做法：互测对方的自有因子&lt;/Text&gt;&#10;                    &lt;Text style={{ width: 468, fontSize: 16.5, color: '#5A5A5A', lineHeight: 1.6 }}&gt;&#10;                        ① 用 B/M 建 HML_BM，用 E/P 建 HML_EP；&lt;br /&gt;&#10;                        ② 用 FF5(HML_BM) 去定价 E/P 模型的自有因子；&lt;br /&gt;&#10;                        ③ 反过来再用 FF5(HML_EP) 定价 B/M 模型的自有因子。&lt;br /&gt;&#10;                        &lt;span style={{ color: '#8A8A8A' }}&gt;这套设计直接复刻 LSY(2019) 的检验结构。&lt;/span&gt;&#10;                    &lt;/Text&gt;&#10;                &lt;/Box&gt;&#10;&#10;                &lt;Box style={{ width: 500, height: 274, background: 'rgba(232,80,58,0.10)', flexDirection: 'row', marginTop: 20 }}&gt;&#10;                    &lt;Box style={{ width: 4, height: 274, background: '#E8503A' }} /&gt;&#10;                    &lt;Box style={{ width: 496, padding: 16, flexDirection: 'column' }}&gt;&#10;                        &lt;Text style={{ fontSize: 19, fontWeight: 'bold', color: '#E8503A', marginBottom: 10 }}&gt;合成数据结果&lt;/Text&gt;&#10;                        &lt;Text style={{ width: 464, fontSize: 16.5, color: '#1F1F1F', lineHeight: 1.6 }}&gt;&#10;                            HML_EP 均值 &lt;span style={{ fontWeight: 'bold' }}&gt;0.374%（t = 2.44）&lt;/span&gt;；HML_BM 仅 0.092%（t = 1.65）。&lt;br /&gt;&lt;br /&gt;&#10;                            FF5(HML_BM) 对 HML_EP 留下残留 alpha &lt;span style={{ fontWeight: 'bold' }}&gt;0.267%（t = 1.80）&lt;/span&gt;，即 B/M 建的价值因子解释不了 E/P 的溢价。&lt;br /&gt;&lt;br /&gt;&#10;                            &lt;span style={{ color: '#8A8A8A' }}&gt;注意措辞：这只是链路演示，不构成&quot;证明了&quot;的结论。&lt;/span&gt;&#10;                        &lt;/Text&gt;&#10;                    &lt;/Box&gt;&#10;                &lt;/Box&gt;&#10;            &lt;/Box&gt;&#10;        &lt;/Box&gt;&#10;&#10;        &lt;Box style={{ height: 40, flexDirection: 'row', justifyContent: 'space-between', alignItems: 'center' }}&gt;&#10;            &lt;Text style={{ fontSize: 14, color: '#8A8A8A' }}&gt;三维结构法 · FF5 中国实证拆解&lt;/Text&gt;&#10;            &lt;Text style={{ fontSize: 14, color: '#8A8A8A' }}&gt;32 / 37&lt;/Text&gt;&#10;        &lt;/Box&gt;&#10;    &lt;/Box&gt;&#10;&lt;/Slide&gt;"/>
        <p:cNvGrpSpPr/>
        <p:nvPr/>
      </p:nvGrpSpPr>
      <p:grpSpPr>
        <a:xfrm>
          <a:off x="0" y="0"/>
          <a:ext cx="0" cy="0"/>
          <a:chOff x="0" y="0"/>
          <a:chExt cx="0" cy="0"/>
        </a:xfrm>
      </p:grpSpPr>
      <p:sp>
        <p:nvSpPr>
          <p:cNvPr id="617" name="矩形 616"/>
          <p:cNvSpPr/>
          <p:nvPr/>
        </p:nvSpPr>
        <p:spPr>
          <a:xfrm>
            <a:off x="0" y="0"/>
            <a:ext cx="12192000" cy="6858000"/>
          </a:xfrm>
          <a:prstGeom prst="rect">
            <a:avLst/>
          </a:prstGeom>
          <a:solidFill>
            <a:srgbClr val="FFFFFF"/>
          </a:solidFill>
        </p:spPr>
        <p:txBody>
          <a:bodyPr/>
          <a:p/>
        </p:txBody>
      </p:sp>
      <p:pic>
        <p:nvPicPr>
          <p:cNvPr id="618" name="图片 617"/>
          <p:cNvPicPr>
            <a:picLocks noChangeAspect="1"/>
          </p:cNvPicPr>
          <p:nvPr/>
        </p:nvPicPr>
        <p:blipFill>
          <a:blip r:embed="rId1"/>
          <a:stretch>
            <a:fillRect/>
          </a:stretch>
        </p:blipFill>
        <p:spPr>
          <a:xfrm>
            <a:off x="0" y="-49530"/>
            <a:ext cx="12192000" cy="6858000"/>
          </a:xfrm>
          <a:prstGeom prst="rect">
            <a:avLst/>
          </a:prstGeom>
        </p:spPr>
      </p:pic>
      <p:sp>
        <p:nvSpPr>
          <p:cNvPr id="619" name="矩形 618"/>
          <p:cNvSpPr/>
          <p:nvPr/>
        </p:nvSpPr>
        <p:spPr>
          <a:xfrm>
            <a:off x="762000" y="476250"/>
            <a:ext cx="57150" cy="342900"/>
          </a:xfrm>
          <a:prstGeom prst="rect">
            <a:avLst/>
          </a:prstGeom>
          <a:solidFill>
            <a:srgbClr val="01A5B1"/>
          </a:solidFill>
        </p:spPr>
        <p:txBody>
          <a:bodyPr/>
          <a:p/>
        </p:txBody>
      </p:sp>
      <p:sp>
        <p:nvSpPr>
          <p:cNvPr id="620" name="文本框 619" descr="{&quot;isTemplate&quot;:true,&quot;type&quot;:&quot;text&quot;}"/>
          <p:cNvSpPr txBox="1"/>
          <p:nvPr/>
        </p:nvSpPr>
        <p:spPr>
          <a:xfrm>
            <a:off x="530352" y="256032"/>
            <a:ext cx="10607040" cy="548640"/>
          </a:xfrm>
          <a:prstGeom prst="rect">
            <a:avLst/>
          </a:prstGeom>
        </p:spPr>
        <p:txBody>
          <a:bodyPr wrap="square" lIns="0" tIns="0" rIns="0" bIns="0"/>
          <a:p>
            <a:pPr marL="0" indent="0" algn="l">
              <a:lnSpc>
                <a:spcPct val="125000"/>
              </a:lnSpc>
              <a:defRPr/>
            </a:pPr>
            <a:r>
              <a:rPr lang="zh-CN" sz="2200" b="1">
                <a:solidFill>
                  <a:srgbClr val="1F1F1F"/>
                </a:solidFill>
                <a:latin typeface="微软雅黑" panose="020B0503020204020204" charset="-122"/>
                <a:ea typeface="微软雅黑" panose="020B0503020204020204" charset="-122"/>
                <a:sym typeface="Noto Serif SC" panose="02020200000000000000" charset="-122"/>
              </a:rPr>
              <a:t>中美股票市场各因子收益率描述性统计</a:t>
            </a:r>
            <a:endParaRPr lang="zh-CN" sz="2550" b="1">
              <a:solidFill>
                <a:srgbClr val="01A5B1"/>
              </a:solidFill>
              <a:latin typeface="微软雅黑" panose="020B0503020204020204" charset="-122"/>
              <a:ea typeface="微软雅黑" panose="020B0503020204020204" charset="-122"/>
            </a:endParaRPr>
          </a:p>
        </p:txBody>
      </p:sp>
      <p:sp>
        <p:nvSpPr>
          <p:cNvPr id="621" name="矩形 620"/>
          <p:cNvSpPr/>
          <p:nvPr/>
        </p:nvSpPr>
        <p:spPr>
          <a:xfrm>
            <a:off x="762000" y="1104900"/>
            <a:ext cx="4394200" cy="324866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sp>
        <p:nvSpPr>
          <p:cNvPr id="631" name="矩形 630"/>
          <p:cNvSpPr/>
          <p:nvPr/>
        </p:nvSpPr>
        <p:spPr>
          <a:xfrm>
            <a:off x="6981825" y="1104900"/>
            <a:ext cx="4762500" cy="2609850"/>
          </a:xfrm>
          <a:prstGeom prst="rect">
            <a:avLst/>
          </a:prstGeom>
          <a:solidFill>
            <a:srgbClr val="E8503A">
              <a:alpha val="10000"/>
            </a:srgbClr>
          </a:solidFill>
        </p:spPr>
        <p:txBody>
          <a:bodyPr/>
          <a:p/>
        </p:txBody>
      </p:sp>
      <p:sp>
        <p:nvSpPr>
          <p:cNvPr id="632" name="矩形 631"/>
          <p:cNvSpPr/>
          <p:nvPr/>
        </p:nvSpPr>
        <p:spPr>
          <a:xfrm>
            <a:off x="6981825" y="1104900"/>
            <a:ext cx="38100" cy="2609850"/>
          </a:xfrm>
          <a:prstGeom prst="rect">
            <a:avLst/>
          </a:prstGeom>
          <a:solidFill>
            <a:srgbClr val="E8503A"/>
          </a:solidFill>
        </p:spPr>
        <p:txBody>
          <a:bodyPr/>
          <a:p/>
        </p:txBody>
      </p:sp>
      <p:sp>
        <p:nvSpPr>
          <p:cNvPr id="633" name="文本框 632" descr="{&quot;isTemplate&quot;:true,&quot;type&quot;:&quot;text&quot;}"/>
          <p:cNvSpPr txBox="1"/>
          <p:nvPr/>
        </p:nvSpPr>
        <p:spPr>
          <a:xfrm>
            <a:off x="7238365" y="1104900"/>
            <a:ext cx="4419600" cy="219075"/>
          </a:xfrm>
          <a:prstGeom prst="rect">
            <a:avLst/>
          </a:prstGeom>
        </p:spPr>
        <p:txBody>
          <a:bodyPr wrap="none" lIns="0" tIns="0" rIns="0" bIns="0"/>
          <a:p>
            <a:pPr>
              <a:lnSpc>
                <a:spcPct val="100000"/>
              </a:lnSpc>
            </a:pPr>
            <a:r>
              <a:rPr lang="zh-CN" sz="1425" b="1">
                <a:solidFill>
                  <a:srgbClr val="E8503A"/>
                </a:solidFill>
                <a:latin typeface="微软雅黑" panose="020B0503020204020204" charset="-122"/>
                <a:ea typeface="微软雅黑" panose="020B0503020204020204" charset="-122"/>
              </a:rPr>
              <a:t>合成数据结果</a:t>
            </a:r>
            <a:endParaRPr lang="zh-CN" sz="1425" b="1">
              <a:solidFill>
                <a:srgbClr val="E8503A"/>
              </a:solidFill>
              <a:latin typeface="微软雅黑" panose="020B0503020204020204" charset="-122"/>
              <a:ea typeface="微软雅黑" panose="020B0503020204020204" charset="-122"/>
            </a:endParaRPr>
          </a:p>
        </p:txBody>
      </p:sp>
      <p:sp>
        <p:nvSpPr>
          <p:cNvPr id="634" name="文本框 633" descr="{&quot;isTemplate&quot;:true,&quot;type&quot;:&quot;text&quot;}"/>
          <p:cNvSpPr txBox="1"/>
          <p:nvPr/>
        </p:nvSpPr>
        <p:spPr>
          <a:xfrm>
            <a:off x="7238365" y="1352550"/>
            <a:ext cx="4419600" cy="2114550"/>
          </a:xfrm>
          <a:prstGeom prst="rect">
            <a:avLst/>
          </a:prstGeom>
        </p:spPr>
        <p:txBody>
          <a:bodyPr wrap="square" lIns="0" tIns="0" rIns="0" bIns="0">
            <a:normAutofit/>
          </a:bodyPr>
          <a:p>
            <a:pPr>
              <a:lnSpc>
                <a:spcPct val="160000"/>
              </a:lnSpc>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A股全样本下仅MKT（10%显著）和SMB（1%显著）因子均值显著大于0，HML、RMW、CMA均值不显著；美国市场RMW和CMA在10%水平显著。</a:t>
            </a:r>
            <a:endParaRPr lang="en-US" sz="1600"/>
          </a:p>
          <a:p>
            <a:pPr>
              <a:lnSpc>
                <a:spcPct val="160000"/>
              </a:lnSpc>
            </a:pPr>
            <a:endParaRPr lang="en-US" sz="1600">
              <a:solidFill>
                <a:srgbClr val="8A8A8A"/>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2"/>
          <a:stretch>
            <a:fillRect/>
          </a:stretch>
        </p:blipFill>
        <p:spPr>
          <a:xfrm>
            <a:off x="819150" y="1104900"/>
            <a:ext cx="4337050" cy="3579495"/>
          </a:xfrm>
          <a:prstGeom prst="rect">
            <a:avLst/>
          </a:prstGeom>
        </p:spPr>
      </p:pic>
      <p:pic>
        <p:nvPicPr>
          <p:cNvPr id="3" name="图片 2"/>
          <p:cNvPicPr>
            <a:picLocks noChangeAspect="1"/>
          </p:cNvPicPr>
          <p:nvPr/>
        </p:nvPicPr>
        <p:blipFill>
          <a:blip r:embed="rId3"/>
          <a:stretch>
            <a:fillRect/>
          </a:stretch>
        </p:blipFill>
        <p:spPr>
          <a:xfrm>
            <a:off x="593090" y="4717288"/>
            <a:ext cx="5611495" cy="1793240"/>
          </a:xfrm>
          <a:prstGeom prst="rect">
            <a:avLst/>
          </a:prstGeom>
        </p:spPr>
      </p:pic>
      <p:sp>
        <p:nvSpPr>
          <p:cNvPr id="624" name="矩形 623"/>
          <p:cNvSpPr/>
          <p:nvPr/>
        </p:nvSpPr>
        <p:spPr>
          <a:xfrm>
            <a:off x="6950710" y="4039870"/>
            <a:ext cx="4793615" cy="2111375"/>
          </a:xfrm>
          <a:prstGeom prst="rect">
            <a:avLst/>
          </a:prstGeom>
          <a:solidFill>
            <a:srgbClr val="01A5B1">
              <a:alpha val="10000"/>
            </a:srgbClr>
          </a:solidFill>
        </p:spPr>
        <p:txBody>
          <a:bodyPr/>
          <a:p>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论文指出：</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仅依据收益率均值显著性判断因子是否存在风险溢价不合理——样本区间不够长时均值易受其他因子干扰，更准确的方法是控制其他风险因子后再检验（见表3）</a:t>
            </a:r>
            <a:endPar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635" name="Rectangle 634"/>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Rectangle 635"/>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TextBox 636"/>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638" name="TextBox 637"/>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639" name="TextBox 638"/>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640" name="Rectangle 639"/>
          <p:cNvSpPr/>
          <p:nvPr/>
        </p:nvSpPr>
        <p:spPr>
          <a:xfrm>
            <a:off x="4572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TextBox 640"/>
          <p:cNvSpPr txBox="1"/>
          <p:nvPr/>
        </p:nvSpPr>
        <p:spPr>
          <a:xfrm>
            <a:off x="4617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适用性检验</a:t>
            </a:r>
          </a:p>
        </p:txBody>
      </p:sp>
      <p:sp>
        <p:nvSpPr>
          <p:cNvPr id="642" name="TextBox 641"/>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643" name="TextBox 642"/>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644" name="TextBox 643"/>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645" name="TextBox 644"/>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616"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对照 B：HML 该由 B/M 还是 E/P 来建&lt;/Text&gt;&#10;        &lt;/Box&gt;&#10;&#10;        &lt;Box style={{ height: 544, flexDirection: 'row', gap: 32 }}&gt;&#10;            &lt;Box style={{ width: 588, height: 544, flexDirection: 'column' }}&gt;&#10;                &lt;Box style={{ width: 588, height: 400, background: '#FFFFFF', border: '1px solid #EAEAEA', boxShadow: '0 2px 12px rgba(0,0,0,0.08)', alignItems: 'center', justifyContent: 'center', padding: 8 }}&gt;&#10;                    &lt;Image src=&quot;assets/t4b.png&quot; style={{ width: 572, height: 372, objectFit: 'contain' }} /&gt;&#10;                &lt;/Box&gt;&#10;                &lt;Text style={{ width: 588, fontSize: 15, color: '#8A8A8A', marginTop: 8 }}&gt;&#10;                    原文 P198 表 4 续表：Size-Inv 组合下各模型的回归系数与截距&#10;                &lt;/Text&gt;&#10;                &lt;Box style={{ width: 588, height: 101, background: 'rgba(1,165,177,0.10)', flexDirection: 'row', marginTop: 14 }}&gt;&#10;                    &lt;Box style={{ width: 4, height: 101, background: '#01A5B1' }} /&gt;&#10;                    &lt;Box style={{ width: 584, padding: 14, flexDirection: 'row', alignItems: 'center' }}&gt;&#10;                        &lt;Text style={{ width: 554, fontSize: 16, color: '#1F1F1F', lineHeight: 1.5 }}&gt;&#10;                            表 4 中 CMA 系数多处显著，与表 3 的&quot;冗余&quot;判定矛盾——作者据此推测是早期样本干扰。&#10;                        &lt;/Text&gt;&#10;                    &lt;/Box&gt;&#10;                &lt;/Box&gt;&#10;            &lt;/Box&gt;&#10;&#10;            &lt;Box style={{ width: 500, height: 544, flexDirection: 'column' }}&gt;&#10;                &lt;Box style={{ width: 500, height: 250, background: '#FFFFFF', border: '1px solid #EAEAEA', borderTop: '4px solid #01A5B1', padding: 16, flexDirection: 'column' }}&gt;&#10;                    &lt;Text style={{ fontSize: 19, fontWeight: 'bold', color: '#01A5B1', marginBottom: 10 }}&gt;做法：互测对方的自有因子&lt;/Text&gt;&#10;                    &lt;Text style={{ width: 468, fontSize: 16.5, color: '#5A5A5A', lineHeight: 1.6 }}&gt;&#10;                        ① 用 B/M 建 HML_BM，用 E/P 建 HML_EP；&lt;br /&gt;&#10;                        ② 用 FF5(HML_BM) 去定价 E/P 模型的自有因子；&lt;br /&gt;&#10;                        ③ 反过来再用 FF5(HML_EP) 定价 B/M 模型的自有因子。&lt;br /&gt;&#10;                        &lt;span style={{ color: '#8A8A8A' }}&gt;这套设计直接复刻 LSY(2019) 的检验结构。&lt;/span&gt;&#10;                    &lt;/Text&gt;&#10;                &lt;/Box&gt;&#10;&#10;                &lt;Box style={{ width: 500, height: 274, background: 'rgba(232,80,58,0.10)', flexDirection: 'row', marginTop: 20 }}&gt;&#10;                    &lt;Box style={{ width: 4, height: 274, background: '#E8503A' }} /&gt;&#10;                    &lt;Box style={{ width: 496, padding: 16, flexDirection: 'column' }}&gt;&#10;                        &lt;Text style={{ fontSize: 19, fontWeight: 'bold', color: '#E8503A', marginBottom: 10 }}&gt;合成数据结果&lt;/Text&gt;&#10;                        &lt;Text style={{ width: 464, fontSize: 16.5, color: '#1F1F1F', lineHeight: 1.6 }}&gt;&#10;                            HML_EP 均值 &lt;span style={{ fontWeight: 'bold' }}&gt;0.374%（t = 2.44）&lt;/span&gt;；HML_BM 仅 0.092%（t = 1.65）。&lt;br /&gt;&lt;br /&gt;&#10;                            FF5(HML_BM) 对 HML_EP 留下残留 alpha &lt;span style={{ fontWeight: 'bold' }}&gt;0.267%（t = 1.80）&lt;/span&gt;，即 B/M 建的价值因子解释不了 E/P 的溢价。&lt;br /&gt;&lt;br /&gt;&#10;                            &lt;span style={{ color: '#8A8A8A' }}&gt;注意措辞：这只是链路演示，不构成&quot;证明了&quot;的结论。&lt;/span&gt;&#10;                        &lt;/Text&gt;&#10;                    &lt;/Box&gt;&#10;                &lt;/Box&gt;&#10;            &lt;/Box&gt;&#10;        &lt;/Box&gt;&#10;&#10;        &lt;Box style={{ height: 40, flexDirection: 'row', justifyContent: 'space-between', alignItems: 'center' }}&gt;&#10;            &lt;Text style={{ fontSize: 14, color: '#8A8A8A' }}&gt;三维结构法 · FF5 中国实证拆解&lt;/Text&gt;&#10;            &lt;Text style={{ fontSize: 14, color: '#8A8A8A' }}&gt;32 / 37&lt;/Text&gt;&#10;        &lt;/Box&gt;&#10;    &lt;/Box&gt;&#10;&lt;/Slide&gt;"/>
        <p:cNvGrpSpPr/>
        <p:nvPr/>
      </p:nvGrpSpPr>
      <p:grpSpPr>
        <a:xfrm>
          <a:off x="0" y="0"/>
          <a:ext cx="0" cy="0"/>
          <a:chOff x="0" y="0"/>
          <a:chExt cx="0" cy="0"/>
        </a:xfrm>
      </p:grpSpPr>
      <p:sp>
        <p:nvSpPr>
          <p:cNvPr id="617" name="矩形 616"/>
          <p:cNvSpPr/>
          <p:nvPr/>
        </p:nvSpPr>
        <p:spPr>
          <a:xfrm>
            <a:off x="0" y="0"/>
            <a:ext cx="12192000" cy="6858000"/>
          </a:xfrm>
          <a:prstGeom prst="rect">
            <a:avLst/>
          </a:prstGeom>
          <a:solidFill>
            <a:srgbClr val="FFFFFF"/>
          </a:solidFill>
        </p:spPr>
        <p:txBody>
          <a:bodyPr/>
          <a:p/>
        </p:txBody>
      </p:sp>
      <p:pic>
        <p:nvPicPr>
          <p:cNvPr id="618" name="图片 617"/>
          <p:cNvPicPr>
            <a:picLocks noChangeAspect="1"/>
          </p:cNvPicPr>
          <p:nvPr/>
        </p:nvPicPr>
        <p:blipFill>
          <a:blip r:embed="rId1"/>
          <a:stretch>
            <a:fillRect/>
          </a:stretch>
        </p:blipFill>
        <p:spPr>
          <a:xfrm>
            <a:off x="0" y="0"/>
            <a:ext cx="12192000" cy="6858000"/>
          </a:xfrm>
          <a:prstGeom prst="rect">
            <a:avLst/>
          </a:prstGeom>
        </p:spPr>
      </p:pic>
      <p:sp>
        <p:nvSpPr>
          <p:cNvPr id="619" name="矩形 618"/>
          <p:cNvSpPr/>
          <p:nvPr/>
        </p:nvSpPr>
        <p:spPr>
          <a:xfrm>
            <a:off x="762000" y="476250"/>
            <a:ext cx="57150" cy="342900"/>
          </a:xfrm>
          <a:prstGeom prst="rect">
            <a:avLst/>
          </a:prstGeom>
          <a:solidFill>
            <a:srgbClr val="01A5B1"/>
          </a:solidFill>
        </p:spPr>
        <p:txBody>
          <a:bodyPr/>
          <a:p/>
        </p:txBody>
      </p:sp>
      <p:sp>
        <p:nvSpPr>
          <p:cNvPr id="620" name="文本框 619" descr="{&quot;isTemplate&quot;:true,&quot;type&quot;:&quot;text&quot;}"/>
          <p:cNvSpPr txBox="1"/>
          <p:nvPr/>
        </p:nvSpPr>
        <p:spPr>
          <a:xfrm>
            <a:off x="530352" y="256032"/>
            <a:ext cx="10607040" cy="548640"/>
          </a:xfrm>
          <a:prstGeom prst="rect">
            <a:avLst/>
          </a:prstGeom>
        </p:spPr>
        <p:txBody>
          <a:bodyPr wrap="square" lIns="0" tIns="0" rIns="0" bIns="0"/>
          <a:p>
            <a:pPr marL="0" indent="0" algn="l">
              <a:lnSpc>
                <a:spcPct val="125000"/>
              </a:lnSpc>
              <a:defRPr/>
            </a:pPr>
            <a:r>
              <a:rPr lang="zh-CN" sz="2200" b="1">
                <a:solidFill>
                  <a:srgbClr val="1F1F1F"/>
                </a:solidFill>
                <a:latin typeface="微软雅黑" panose="020B0503020204020204" charset="-122"/>
                <a:ea typeface="微软雅黑" panose="020B0503020204020204" charset="-122"/>
                <a:sym typeface="Noto Serif SC" panose="02020200000000000000" charset="-122"/>
              </a:rPr>
              <a:t>风格效应检验与五因子冗余检验</a:t>
            </a:r>
            <a:endParaRPr lang="zh-CN" sz="2550" b="1">
              <a:solidFill>
                <a:srgbClr val="01A5B1"/>
              </a:solidFill>
              <a:latin typeface="微软雅黑" panose="020B0503020204020204" charset="-122"/>
              <a:ea typeface="微软雅黑" panose="020B0503020204020204" charset="-122"/>
            </a:endParaRPr>
          </a:p>
        </p:txBody>
      </p:sp>
      <p:sp>
        <p:nvSpPr>
          <p:cNvPr id="624" name="矩形 623"/>
          <p:cNvSpPr/>
          <p:nvPr/>
        </p:nvSpPr>
        <p:spPr>
          <a:xfrm>
            <a:off x="762000" y="5017770"/>
            <a:ext cx="5600700" cy="962025"/>
          </a:xfrm>
          <a:prstGeom prst="rect">
            <a:avLst/>
          </a:prstGeom>
          <a:solidFill>
            <a:srgbClr val="01A5B1">
              <a:alpha val="10000"/>
            </a:srgbClr>
          </a:solidFill>
        </p:spPr>
        <p:txBody>
          <a:bodyPr/>
          <a:p/>
        </p:txBody>
      </p:sp>
      <p:sp>
        <p:nvSpPr>
          <p:cNvPr id="625" name="矩形 624"/>
          <p:cNvSpPr/>
          <p:nvPr/>
        </p:nvSpPr>
        <p:spPr>
          <a:xfrm>
            <a:off x="781050" y="5017770"/>
            <a:ext cx="38100" cy="962025"/>
          </a:xfrm>
          <a:prstGeom prst="rect">
            <a:avLst/>
          </a:prstGeom>
          <a:solidFill>
            <a:srgbClr val="01A5B1"/>
          </a:solidFill>
        </p:spPr>
        <p:txBody>
          <a:bodyPr/>
          <a:p/>
        </p:txBody>
      </p:sp>
      <p:sp>
        <p:nvSpPr>
          <p:cNvPr id="626" name="文本框 625" descr="{&quot;isTemplate&quot;:true,&quot;type&quot;:&quot;text&quot;}"/>
          <p:cNvSpPr txBox="1"/>
          <p:nvPr/>
        </p:nvSpPr>
        <p:spPr>
          <a:xfrm>
            <a:off x="800100" y="5017770"/>
            <a:ext cx="5429250" cy="937895"/>
          </a:xfrm>
          <a:prstGeom prst="rect">
            <a:avLst/>
          </a:prstGeom>
        </p:spPr>
        <p:txBody>
          <a:bodyPr wrap="square" lIns="0" tIns="0" rIns="0" bIns="0">
            <a:normAutofit/>
          </a:bodyPr>
          <a:p>
            <a:pPr marL="0" indent="0" algn="l">
              <a:lnSpc>
                <a:spcPct val="133000"/>
              </a:lnSpc>
              <a:defRPr/>
            </a:pPr>
            <a:r>
              <a:rPr lang="en-US" sz="1200"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核心结论：</a:t>
            </a:r>
            <a:r>
              <a:rPr lang="en-US" sz="12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全样本下在三因子基础上加入RMW和CMA是合理的（风格效应检验显著），加入MOM意义不大；但CMA在冗余检验中显示"冗余"，可能受早期数据影响，需在子样本中进一步检验。</a:t>
            </a:r>
            <a:endParaRPr lang="zh-CN" sz="1200">
              <a:solidFill>
                <a:srgbClr val="1F1F1F"/>
              </a:solidFill>
              <a:latin typeface="微软雅黑" panose="020B0503020204020204" charset="-122"/>
              <a:ea typeface="微软雅黑" panose="020B0503020204020204" charset="-122"/>
            </a:endParaRPr>
          </a:p>
        </p:txBody>
      </p:sp>
      <p:sp>
        <p:nvSpPr>
          <p:cNvPr id="627" name="矩形 626"/>
          <p:cNvSpPr/>
          <p:nvPr/>
        </p:nvSpPr>
        <p:spPr>
          <a:xfrm>
            <a:off x="6724015" y="1028065"/>
            <a:ext cx="5144135" cy="2400300"/>
          </a:xfrm>
          <a:prstGeom prst="rect">
            <a:avLst/>
          </a:prstGeom>
          <a:solidFill>
            <a:srgbClr val="FFFFFF"/>
          </a:solidFill>
        </p:spPr>
        <p:txBody>
          <a:bodyPr/>
          <a:p>
            <a:pPr marL="0" indent="0" algn="l">
              <a:lnSpc>
                <a:spcPct val="125000"/>
              </a:lnSpc>
              <a:defRPr/>
            </a:pPr>
            <a:r>
              <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风格效应检验（三因子调整后）</a:t>
            </a:r>
            <a:endParaRPr lang="en-US"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25000"/>
              </a:lnSpc>
              <a:defRPr/>
            </a:pPr>
            <a:r>
              <a:rPr lang="en-US" sz="160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方法：将RMW/CMA/MOM因子收益率对三因子模型回归，截距项alpha代表经三因子调整后的风险溢价</a:t>
            </a:r>
            <a:endParaRPr lang="en-US" sz="1600"/>
          </a:p>
          <a:p>
            <a:pPr marL="0" indent="0" algn="l">
              <a:lnSpc>
                <a:spcPct val="125000"/>
              </a:lnSpc>
              <a:defRPr/>
            </a:pPr>
            <a:r>
              <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RMW 盈利因子：alpha = 0.82***</a:t>
            </a:r>
            <a:endParaRPr lang="en-US"/>
          </a:p>
          <a:p>
            <a:pPr marL="0" indent="0" algn="l">
              <a:lnSpc>
                <a:spcPct val="125000"/>
              </a:lnSpc>
              <a:defRPr/>
            </a:pPr>
            <a:r>
              <a:rPr lang="en-US" b="1">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CMA 投资因子：alpha = 0.41**</a:t>
            </a:r>
            <a:endParaRPr lang="en-US"/>
          </a:p>
          <a:p>
            <a:pPr marL="0" indent="0" algn="l">
              <a:lnSpc>
                <a:spcPct val="125000"/>
              </a:lnSpc>
              <a:defRPr/>
            </a:pPr>
            <a:r>
              <a:rPr lang="en-US" b="1">
                <a:solidFill>
                  <a:srgbClr val="78787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MOM 动量因子：alpha = 0.00（不显著）</a:t>
            </a:r>
            <a:endParaRPr lang="en-US"/>
          </a:p>
          <a:p>
            <a:pPr marL="0" indent="0" algn="l">
              <a:lnSpc>
                <a:spcPct val="125000"/>
              </a:lnSpc>
              <a:defRPr/>
            </a:pPr>
          </a:p>
        </p:txBody>
      </p:sp>
      <p:sp>
        <p:nvSpPr>
          <p:cNvPr id="628" name="任意多边形 627"/>
          <p:cNvSpPr/>
          <p:nvPr/>
        </p:nvSpPr>
        <p:spPr>
          <a:xfrm>
            <a:off x="6838950" y="964565"/>
            <a:ext cx="4762500" cy="2381250"/>
          </a:xfrm>
          <a:custGeom>
            <a:avLst/>
            <a:gdLst/>
            <a:ahLst/>
            <a:cxnLst/>
            <a:pathLst>
              <a:path w="500" h="250">
                <a:moveTo>
                  <a:pt x="0" y="0"/>
                </a:moveTo>
                <a:lnTo>
                  <a:pt x="500" y="0"/>
                </a:lnTo>
                <a:lnTo>
                  <a:pt x="500" y="4"/>
                </a:lnTo>
                <a:lnTo>
                  <a:pt x="0" y="4"/>
                </a:lnTo>
                <a:close/>
              </a:path>
            </a:pathLst>
          </a:custGeom>
          <a:solidFill>
            <a:srgbClr val="01A5B1"/>
          </a:solidFill>
        </p:spPr>
        <p:txBody>
          <a:bodyPr/>
          <a:p/>
        </p:txBody>
      </p:sp>
      <p:sp>
        <p:nvSpPr>
          <p:cNvPr id="631" name="矩形 630"/>
          <p:cNvSpPr/>
          <p:nvPr/>
        </p:nvSpPr>
        <p:spPr>
          <a:xfrm>
            <a:off x="6667500" y="3601085"/>
            <a:ext cx="5200650" cy="2685415"/>
          </a:xfrm>
          <a:prstGeom prst="rect">
            <a:avLst/>
          </a:prstGeom>
          <a:solidFill>
            <a:srgbClr val="E8503A">
              <a:alpha val="10000"/>
            </a:srgbClr>
          </a:solidFill>
        </p:spPr>
        <p:txBody>
          <a:bodyPr/>
          <a:p/>
        </p:txBody>
      </p:sp>
      <p:sp>
        <p:nvSpPr>
          <p:cNvPr id="632" name="矩形 631"/>
          <p:cNvSpPr/>
          <p:nvPr/>
        </p:nvSpPr>
        <p:spPr>
          <a:xfrm>
            <a:off x="6667500" y="3676650"/>
            <a:ext cx="38100" cy="2609850"/>
          </a:xfrm>
          <a:prstGeom prst="rect">
            <a:avLst/>
          </a:prstGeom>
          <a:solidFill>
            <a:srgbClr val="E8503A"/>
          </a:solidFill>
        </p:spPr>
        <p:txBody>
          <a:bodyPr/>
          <a:p/>
        </p:txBody>
      </p:sp>
      <p:sp>
        <p:nvSpPr>
          <p:cNvPr id="633" name="文本框 632" descr="{&quot;isTemplate&quot;:true,&quot;type&quot;:&quot;text&quot;}"/>
          <p:cNvSpPr txBox="1"/>
          <p:nvPr/>
        </p:nvSpPr>
        <p:spPr>
          <a:xfrm>
            <a:off x="6838950" y="3601085"/>
            <a:ext cx="4419600" cy="219075"/>
          </a:xfrm>
          <a:prstGeom prst="rect">
            <a:avLst/>
          </a:prstGeom>
        </p:spPr>
        <p:txBody>
          <a:bodyPr wrap="none" lIns="0" tIns="0" rIns="0" bIns="0"/>
          <a:p>
            <a:pPr marL="0" indent="0" algn="l">
              <a:lnSpc>
                <a:spcPct val="125000"/>
              </a:lnSpc>
              <a:defRPr/>
            </a:pPr>
            <a:r>
              <a:rPr lang="en-US" sz="1425" b="1">
                <a:solidFill>
                  <a:srgbClr val="002FA7"/>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五因子模型冗余检验</a:t>
            </a:r>
            <a:endParaRPr lang="zh-CN" sz="1425" b="1">
              <a:solidFill>
                <a:srgbClr val="E8503A"/>
              </a:solidFill>
              <a:latin typeface="微软雅黑" panose="020B0503020204020204" charset="-122"/>
              <a:ea typeface="微软雅黑" panose="020B0503020204020204" charset="-122"/>
            </a:endParaRPr>
          </a:p>
        </p:txBody>
      </p:sp>
      <p:sp>
        <p:nvSpPr>
          <p:cNvPr id="634" name="文本框 633" descr="{&quot;isTemplate&quot;:true,&quot;type&quot;:&quot;text&quot;}"/>
          <p:cNvSpPr txBox="1"/>
          <p:nvPr/>
        </p:nvSpPr>
        <p:spPr>
          <a:xfrm>
            <a:off x="6724650" y="3891915"/>
            <a:ext cx="5143500" cy="2366010"/>
          </a:xfrm>
          <a:prstGeom prst="rect">
            <a:avLst/>
          </a:prstGeom>
        </p:spPr>
        <p:txBody>
          <a:bodyPr wrap="square" lIns="0" tIns="0" rIns="0" bIns="0">
            <a:normAutofit fontScale="80000"/>
          </a:bodyPr>
          <a:p>
            <a:pPr>
              <a:lnSpc>
                <a:spcPct val="160000"/>
              </a:lnSpc>
            </a:pPr>
            <a:r>
              <a:rPr lang="en-US" sz="150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方法：用4个因子收益率回归第5个因子，截距项代表经其他四因子调整后的风险溢价</a:t>
            </a:r>
            <a:endParaRPr lang="en-US" sz="1500"/>
          </a:p>
          <a:p>
            <a:pPr marL="0" indent="0" algn="l">
              <a:lnSpc>
                <a:spcPct val="142000"/>
              </a:lnSpc>
              <a:defRPr/>
            </a:pPr>
            <a:r>
              <a:rPr sz="1240">
                <a:solidFill>
                  <a:srgbClr val="1F1F1F"/>
                </a:solidFill>
                <a:latin typeface="微软雅黑" panose="020B0503020204020204" charset="-122"/>
                <a:ea typeface="微软雅黑" panose="020B0503020204020204" charset="-122"/>
              </a:rPr>
              <a:t> </a:t>
            </a:r>
            <a:r>
              <a:rPr lang="en-US" sz="1235"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显著非冗余：</a:t>
            </a:r>
            <a:endParaRPr lang="en-US" sz="1235"/>
          </a:p>
          <a:p>
            <a:pPr marL="0" indent="0" algn="l">
              <a:lnSpc>
                <a:spcPct val="142000"/>
              </a:lnSpc>
            </a:pPr>
            <a:r>
              <a:rPr lang="en-US" sz="15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市场因子MKT、规模因子SMB</a:t>
            </a:r>
            <a:endParaRPr lang="en-US" sz="15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pPr>
            <a:r>
              <a:rPr lang="en-US" sz="15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价值因子HML、盈利因子RMW</a:t>
            </a:r>
            <a:endParaRPr lang="en-US" sz="15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nSpc>
                <a:spcPct val="160000"/>
              </a:lnSpc>
            </a:pPr>
            <a:r>
              <a:rPr lang="en-US" sz="1235" b="1">
                <a:solidFill>
                  <a:srgbClr val="B2222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CMA 投资因子：全样本下"冗余"</a:t>
            </a:r>
            <a:endParaRPr lang="en-US" sz="1235"/>
          </a:p>
          <a:p>
            <a:pPr marL="0" indent="0" algn="l">
              <a:lnSpc>
                <a:spcPct val="133000"/>
              </a:lnSpc>
              <a:defRPr/>
            </a:pPr>
            <a:r>
              <a:rPr lang="en-US" sz="150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对其他四因子回归截距不能拒绝为0</a:t>
            </a:r>
            <a:endParaRPr lang="en-US" sz="1500"/>
          </a:p>
          <a:p>
            <a:pPr marL="0" indent="0" algn="l">
              <a:lnSpc>
                <a:spcPct val="133000"/>
              </a:lnSpc>
            </a:pPr>
            <a:r>
              <a:rPr lang="en-US" sz="1500">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论文猜测：受早期股市"同涨同跌"影响，市场风险主导，CMA在早期样本内容易"冗余"</a:t>
            </a:r>
            <a:endParaRPr lang="en-US" sz="1500" b="0" i="0" u="none" strike="noStrike">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a:lnSpc>
                <a:spcPct val="160000"/>
              </a:lnSpc>
            </a:pPr>
            <a:endParaRPr sz="1240">
              <a:solidFill>
                <a:srgbClr val="1F1F1F"/>
              </a:solidFill>
              <a:latin typeface="微软雅黑" panose="020B0503020204020204" charset="-122"/>
              <a:ea typeface="微软雅黑" panose="020B0503020204020204" charset="-122"/>
            </a:endParaRPr>
          </a:p>
          <a:p>
            <a:pPr>
              <a:lnSpc>
                <a:spcPct val="160000"/>
              </a:lnSpc>
            </a:pPr>
            <a:endParaRPr lang="zh-CN" sz="1240">
              <a:solidFill>
                <a:srgbClr val="8A8A8A"/>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2"/>
          <a:stretch>
            <a:fillRect/>
          </a:stretch>
        </p:blipFill>
        <p:spPr>
          <a:xfrm>
            <a:off x="462280" y="1028065"/>
            <a:ext cx="5836920" cy="3705860"/>
          </a:xfrm>
          <a:prstGeom prst="rect">
            <a:avLst/>
          </a:prstGeom>
        </p:spPr>
      </p:pic>
      <p:sp>
        <p:nvSpPr>
          <p:cNvPr id="635" name="Rectangle 634"/>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Rectangle 635"/>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TextBox 636"/>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638" name="TextBox 637"/>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639" name="TextBox 638"/>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640" name="Rectangle 639"/>
          <p:cNvSpPr/>
          <p:nvPr/>
        </p:nvSpPr>
        <p:spPr>
          <a:xfrm>
            <a:off x="4572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TextBox 640"/>
          <p:cNvSpPr txBox="1"/>
          <p:nvPr/>
        </p:nvSpPr>
        <p:spPr>
          <a:xfrm>
            <a:off x="4617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适用性检验</a:t>
            </a:r>
          </a:p>
        </p:txBody>
      </p:sp>
      <p:sp>
        <p:nvSpPr>
          <p:cNvPr id="642" name="TextBox 641"/>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643" name="TextBox 642"/>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644" name="TextBox 643"/>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645" name="TextBox 644"/>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29"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裂缝一续：分时期一跑，冗余结论被自己推翻&lt;/Text&gt;&#10;        &lt;/Box&gt;&#10;&#10;        &lt;Box style={{ height: 544, flexDirection: 'row', gap: 32 }}&gt;&#10;            &lt;Box style={{ width: 613, height: 544, flexDirection: 'column' }}&gt;&#10;                &lt;Box style={{ width: 613, height: 330, background: '#FFFFFF', border: '1px solid #EAEAEA', boxShadow: '0 2px 12px rgba(0,0,0,0.08)', alignItems: 'center', justifyContent: 'center', padding: 8 }}&gt;&#10;                    &lt;Image src=&quot;assets/t7.png&quot; style={{ width: 597, height: 300, objectFit: 'contain' }} /&gt;&#10;                &lt;/Box&gt;&#10;                &lt;Text style={{ width: 613, fontSize: 15, color: '#8A8A8A', marginTop: 8 }}&gt;&#10;                    原文 P202 表 7：六因子在股改前后样本期的冗余检验（上=股改前，下=股改后）&#10;                &lt;/Text&gt;&#10;                &lt;Box style={{ width: 613, height: 168, background: 'rgba(1,165,177,0.10)', flexDirection: 'row', marginTop: 14 }}&gt;&#10;                    &lt;Box style={{ width: 4, height: 168, background: '#01A5B1' }} /&gt;&#10;                    &lt;Box style={{ width: 609, padding: 16, flexDirection: 'column' }}&gt;&#10;                        &lt;Text style={{ fontSize: 19, fontWeight: 'bold', color: '#01A5B1', marginBottom: 8 }}&gt;作者自己的解释&lt;/Text&gt;&#10;                        &lt;Text style={{ width: 577, fontSize: 16.5, color: '#1F1F1F', lineHeight: 1.58 }}&gt;&#10;                            「分时期冗余检验结果我们猜测这可能是由于两个因子在股改前『冗余』，而股改后具有显著的风险溢价，&lt;span style={{ fontWeight: 'bold' }}&gt;全样本下的结果受到股改前影响较大&lt;/span&gt;。」&#10;                        &lt;/Text&gt;&#10;                        &lt;Text style={{ fontSize: 15, color: '#8A8A8A', marginTop: 'auto' }}&gt;—— 原文 p.202&lt;/Text&gt;&#10;                    &lt;/Box&gt;&#10;                &lt;/Box&gt;&#10;            &lt;/Box&gt;&#10;&#10;            &lt;Box style={{ width: 475, height: 544, background: '#FFFFFF', border: '1px solid #EAEAEA', boxShadow: '0 2px 12px rgba(0,0,0,0.08)', padding: 18, flexDirection: 'column' }}&gt;&#10;                &lt;Text style={{ fontSize: 20, fontWeight: 'bold', color: '#01A5B1', marginBottom: 4 }}&gt;冗余检验截距项（2×3 分组）&lt;/Text&gt;&#10;                &lt;Text style={{ fontSize: 15, color: '#8A8A8A', marginBottom: 14 }}&gt;括号内为 t 值 · 原文 p.202 表 7&lt;/Text&gt;&#10;&#10;                &lt;Box style={{ flexDirection: 'row', background: '#1F1F1F', padding: '8px 10px' }}&gt;&#10;                    &lt;Text style={{ width: 105, fontSize: 16, fontWeight: 'bold', color: '#FFFFFF' }}&gt;因子&lt;/Text&gt;&#10;                    &lt;Text style={{ width: 160, fontSize: 16, fontWeight: 'bold', color: '#FFFFFF' }}&gt;股改前&lt;/Text&gt;&#10;                    &lt;Text style={{ width: 160, fontSize: 16, fontWeight: 'bold', color: '#FFFFFF' }}&gt;股改后&lt;/Text&gt;&#10;                &lt;/Box&gt;&#10;                &lt;Box style={{ flexDirection: 'row', padding: '10px 10px', background: '#F7F7F7' }}&gt;&#10;                    &lt;Text style={{ width: 105, fontSize: 16, color: '#1F1F1F' }}&gt;RM−RF&lt;/Text&gt;&#10;                    &lt;Text style={{ width: 160, fontSize: 16, color: '#5A5A5A' }}&gt;2.31*** (3.25)&lt;/Text&gt;&#10;                    &lt;Text style={{ width: 160, fontSize: 16, color: '#5A5A5A' }}&gt;1.10 (1.19)&lt;/Text&gt;&#10;                &lt;/Box&gt;&#10;                &lt;Box style={{ flexDirection: 'row', padding: '10px 10px' }}&gt;&#10;                    &lt;Text style={{ width: 105, fontSize: 16, color: '#1F1F1F' }}&gt;SMB&lt;/Text&gt;&#10;                    &lt;Text style={{ width: 160, fontSize: 16, color: '#5A5A5A' }}&gt;0.56** (1.99)&lt;/Text&gt;&#10;                    &lt;Text style={{ width: 160, fontSize: 16, color: '#5A5A5A' }}&gt;1.27*** (4.38)&lt;/Text&gt;&#10;                &lt;/Box&gt;&#10;                &lt;Box style={{ flexDirection: 'row', padding: '10px 10px', background: '#F7F7F7' }}&gt;&#10;                    &lt;Text style={{ width: 105, fontSize: 16, color: '#1F1F1F' }}&gt;RMW&lt;/Text&gt;&#10;                    &lt;Text style={{ width: 160, fontSize: 16, color: '#8A8A8A' }}&gt;0.34 (1.25)&lt;/Text&gt;&#10;                    &lt;Text style={{ width: 160, fontSize: 16, fontWeight: 'bold', color: '#E8503A' }}&gt;0.44*** (2.75)&lt;/Text&gt;&#10;                &lt;/Box&gt;&#10;                &lt;Box style={{ flexDirection: 'row', padding: '10px 10px' }}&gt;&#10;                    &lt;Text style={{ width: 105, fontSize: 16, color: '#1F1F1F' }}&gt;CMA&lt;/Text&gt;&#10;                    &lt;Text style={{ width: 160, fontSize: 16, color: '#8A8A8A' }}&gt;−0.17 (−0.99)&lt;/Text&gt;&#10;                    &lt;Text style={{ width: 160, fontSize: 16, fontWeight: 'bold', color: '#E8503A' }}&gt;0.23* (1.91)&lt;/Text&gt;&#10;                &lt;/Box&gt;&#10;                &lt;Box style={{ flexDirection: 'row', padding: '10px 10px', background: '#F7F7F7' }}&gt;&#10;                    &lt;Text style={{ width: 105, fontSize: 16, color: '#1F1F1F' }}&gt;MOM&lt;/Text&gt;&#10;                    &lt;Text style={{ width: 160, fontSize: 16, color: '#8A8A8A' }}&gt;−0.04 (−0.12)&lt;/Text&gt;&#10;                    &lt;Text style={{ width: 160, fontSize: 16, fontWeight: 'bold', color: '#E8503A' }}&gt;−0.76** (−2.04)&lt;/Text&gt;&#10;                &lt;/Box&gt;&#10;&#10;                &lt;Box style={{ width: 439, height: 1, background: '#EAEAEA', marginTop: 16, marginBottom: 14 }} /&gt;&#10;                &lt;Text style={{ width: 439, fontSize: 17, color: '#1F1F1F', lineHeight: 1.6 }}&gt;&#10;                    灰色 = 不显著；红色 = 显著。&lt;br /&gt;&#10;                    &lt;span style={{ fontWeight: 'bold', color: '#01A5B1' }}&gt;「冗余」不是因子的属性，是样本期的属性。&lt;/span&gt;&#10;                &lt;/Text&gt;&#10;            &lt;/Box&gt;&#10;        &lt;/Box&gt;&#10;&#10;        &lt;Box style={{ height: 40, flexDirection: 'row', justifyContent: 'space-between', alignItems: 'center' }}&gt;&#10;            &lt;Text style={{ fontSize: 14, color: '#8A8A8A' }}&gt;三维结构法 · FF5 中国实证拆解&lt;/Text&gt;&#10;            &lt;Text style={{ fontSize: 14, color: '#8A8A8A' }}&gt;14 / 37&lt;/Text&gt;&#10;        &lt;/Box&gt;&#10;    &lt;/Box&gt;&#10;&lt;/Slide&gt;"/>
        <p:cNvGrpSpPr/>
        <p:nvPr/>
      </p:nvGrpSpPr>
      <p:grpSpPr>
        <a:xfrm>
          <a:off x="0" y="0"/>
          <a:ext cx="0" cy="0"/>
          <a:chOff x="0" y="0"/>
          <a:chExt cx="0" cy="0"/>
        </a:xfrm>
      </p:grpSpPr>
      <p:sp>
        <p:nvSpPr>
          <p:cNvPr id="130" name="矩形 129"/>
          <p:cNvSpPr/>
          <p:nvPr/>
        </p:nvSpPr>
        <p:spPr>
          <a:xfrm>
            <a:off x="0" y="0"/>
            <a:ext cx="12192000" cy="6858000"/>
          </a:xfrm>
          <a:prstGeom prst="rect">
            <a:avLst/>
          </a:prstGeom>
          <a:solidFill>
            <a:srgbClr val="FFFFFF"/>
          </a:solidFill>
        </p:spPr>
        <p:txBody>
          <a:bodyPr/>
          <a:p/>
        </p:txBody>
      </p:sp>
      <p:pic>
        <p:nvPicPr>
          <p:cNvPr id="131" name="图片 130"/>
          <p:cNvPicPr>
            <a:picLocks noChangeAspect="1"/>
          </p:cNvPicPr>
          <p:nvPr/>
        </p:nvPicPr>
        <p:blipFill>
          <a:blip r:embed="rId1"/>
          <a:stretch>
            <a:fillRect/>
          </a:stretch>
        </p:blipFill>
        <p:spPr>
          <a:xfrm>
            <a:off x="0" y="0"/>
            <a:ext cx="12192000" cy="6858000"/>
          </a:xfrm>
          <a:prstGeom prst="rect">
            <a:avLst/>
          </a:prstGeom>
        </p:spPr>
      </p:pic>
      <p:sp>
        <p:nvSpPr>
          <p:cNvPr id="132" name="矩形 131"/>
          <p:cNvSpPr/>
          <p:nvPr/>
        </p:nvSpPr>
        <p:spPr>
          <a:xfrm>
            <a:off x="762000" y="476250"/>
            <a:ext cx="57150" cy="342900"/>
          </a:xfrm>
          <a:prstGeom prst="rect">
            <a:avLst/>
          </a:prstGeom>
          <a:solidFill>
            <a:srgbClr val="01A5B1"/>
          </a:solidFill>
        </p:spPr>
        <p:txBody>
          <a:bodyPr/>
          <a:p/>
        </p:txBody>
      </p:sp>
      <p:sp>
        <p:nvSpPr>
          <p:cNvPr id="133" name="文本框 132" descr="{&quot;isTemplate&quot;:true,&quot;type&quot;:&quot;text&quot;}"/>
          <p:cNvSpPr txBox="1"/>
          <p:nvPr/>
        </p:nvSpPr>
        <p:spPr>
          <a:xfrm>
            <a:off x="530352" y="256032"/>
            <a:ext cx="10607040" cy="548640"/>
          </a:xfrm>
          <a:prstGeom prst="rect">
            <a:avLst/>
          </a:prstGeom>
        </p:spPr>
        <p:txBody>
          <a:bodyPr wrap="square" lIns="0" tIns="0" rIns="0" bIns="0"/>
          <a:p>
            <a:pPr algn="l">
              <a:lnSpc>
                <a:spcPct val="100000"/>
              </a:lnSpc>
            </a:pPr>
            <a:r>
              <a:rPr lang="zh-CN" sz="2200" b="1">
                <a:solidFill>
                  <a:srgbClr val="1F1F1F"/>
                </a:solidFill>
                <a:latin typeface="微软雅黑" panose="020B0503020204020204" charset="-122"/>
                <a:ea typeface="微软雅黑" panose="020B0503020204020204" charset="-122"/>
                <a:sym typeface="Noto Serif SC" panose="02020200000000000000" charset="-122"/>
              </a:rPr>
              <a:t>冗余检验解读与回归结果</a:t>
            </a:r>
            <a:endParaRPr lang="zh-CN" sz="2550" b="1">
              <a:solidFill>
                <a:srgbClr val="01A5B1"/>
              </a:solidFill>
              <a:latin typeface="微软雅黑" panose="020B0503020204020204" charset="-122"/>
              <a:ea typeface="微软雅黑" panose="020B0503020204020204" charset="-122"/>
            </a:endParaRPr>
          </a:p>
        </p:txBody>
      </p:sp>
      <p:sp>
        <p:nvSpPr>
          <p:cNvPr id="142" name="矩形 141"/>
          <p:cNvSpPr/>
          <p:nvPr/>
        </p:nvSpPr>
        <p:spPr>
          <a:xfrm>
            <a:off x="8633460" y="1654810"/>
            <a:ext cx="3375660" cy="3405505"/>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a:pPr marL="0" indent="0" algn="l">
              <a:lnSpc>
                <a:spcPct val="133000"/>
              </a:lnSpc>
              <a:defRPr/>
            </a:pPr>
            <a:endPar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33000"/>
              </a:lnSpc>
              <a:defRPr/>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采用2×3分组构建因子，着重给出25个Size-Inv组合回归结果</a:t>
            </a:r>
            <a:endParaRPr lang="en-US"/>
          </a:p>
          <a:p>
            <a:pPr marL="0" indent="0" algn="l">
              <a:lnSpc>
                <a:spcPct val="133000"/>
              </a:lnSpc>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虽然</a:t>
            </a:r>
            <a:r>
              <a:rPr lang="zh-CN" alt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表</a:t>
            </a:r>
            <a:r>
              <a:rPr lang="en-US" altLang="zh-CN">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3</a:t>
            </a:r>
            <a:r>
              <a:rPr lang="zh-CN" alt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中</a:t>
            </a: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冗余检验显示CMA"冗余"，但表4中CMA回归系数多处显著</a:t>
            </a:r>
            <a:endParaRPr lang="en-US"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33000"/>
              </a:lnSpc>
            </a:pPr>
            <a:r>
              <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CMA具有非常强的解释能力，"冗余"结果可能受早期数据影响</a:t>
            </a:r>
            <a:endParaRPr lang="en-US">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143" name="文本框 142" descr="{&quot;isTemplate&quot;:true,&quot;type&quot;:&quot;text&quot;}"/>
          <p:cNvSpPr txBox="1"/>
          <p:nvPr/>
        </p:nvSpPr>
        <p:spPr>
          <a:xfrm>
            <a:off x="8724265" y="1654810"/>
            <a:ext cx="3362960" cy="384810"/>
          </a:xfrm>
          <a:prstGeom prst="rect">
            <a:avLst/>
          </a:prstGeom>
        </p:spPr>
        <p:txBody>
          <a:bodyPr wrap="none" lIns="0" tIns="0" rIns="0" bIns="0"/>
          <a:p>
            <a:pPr>
              <a:lnSpc>
                <a:spcPct val="100000"/>
              </a:lnSpc>
            </a:pPr>
            <a:r>
              <a:rPr lang="zh-CN" sz="1500" b="1">
                <a:solidFill>
                  <a:srgbClr val="01A5B1"/>
                </a:solidFill>
                <a:latin typeface="微软雅黑" panose="020B0503020204020204" charset="-122"/>
                <a:ea typeface="微软雅黑" panose="020B0503020204020204" charset="-122"/>
              </a:rPr>
              <a:t>冗余检验截距项（</a:t>
            </a:r>
            <a:r>
              <a:rPr lang="en-US" sz="1500" b="1">
                <a:solidFill>
                  <a:srgbClr val="01A5B1"/>
                </a:solidFill>
                <a:latin typeface="微软雅黑" panose="020B0503020204020204" charset="-122"/>
                <a:ea typeface="微软雅黑" panose="020B0503020204020204" charset="-122"/>
              </a:rPr>
              <a:t>2×3 </a:t>
            </a:r>
            <a:r>
              <a:rPr lang="zh-CN" sz="1500" b="1">
                <a:solidFill>
                  <a:srgbClr val="01A5B1"/>
                </a:solidFill>
                <a:latin typeface="微软雅黑" panose="020B0503020204020204" charset="-122"/>
                <a:ea typeface="微软雅黑" panose="020B0503020204020204" charset="-122"/>
              </a:rPr>
              <a:t>分组）</a:t>
            </a:r>
            <a:endParaRPr lang="zh-CN" sz="1500" b="1">
              <a:solidFill>
                <a:srgbClr val="01A5B1"/>
              </a:solidFill>
              <a:latin typeface="微软雅黑" panose="020B0503020204020204" charset="-122"/>
              <a:ea typeface="微软雅黑" panose="020B0503020204020204" charset="-122"/>
            </a:endParaRPr>
          </a:p>
        </p:txBody>
      </p:sp>
      <p:sp>
        <p:nvSpPr>
          <p:cNvPr id="167" name="矩形 166"/>
          <p:cNvSpPr/>
          <p:nvPr/>
        </p:nvSpPr>
        <p:spPr>
          <a:xfrm>
            <a:off x="7077075" y="4248150"/>
            <a:ext cx="4181475" cy="9525"/>
          </a:xfrm>
          <a:prstGeom prst="rect">
            <a:avLst/>
          </a:prstGeom>
          <a:solidFill>
            <a:srgbClr val="EAEAEA"/>
          </a:solidFill>
        </p:spPr>
        <p:txBody>
          <a:bodyPr/>
          <a:p/>
        </p:txBody>
      </p:sp>
      <p:pic>
        <p:nvPicPr>
          <p:cNvPr id="2" name="图片 1"/>
          <p:cNvPicPr>
            <a:picLocks noChangeAspect="1"/>
          </p:cNvPicPr>
          <p:nvPr/>
        </p:nvPicPr>
        <p:blipFill>
          <a:blip r:embed="rId2"/>
          <a:stretch>
            <a:fillRect/>
          </a:stretch>
        </p:blipFill>
        <p:spPr>
          <a:xfrm>
            <a:off x="800100" y="1009650"/>
            <a:ext cx="5899150" cy="1562100"/>
          </a:xfrm>
          <a:prstGeom prst="rect">
            <a:avLst/>
          </a:prstGeom>
        </p:spPr>
      </p:pic>
      <p:sp>
        <p:nvSpPr>
          <p:cNvPr id="5" name="右箭头 4"/>
          <p:cNvSpPr/>
          <p:nvPr/>
        </p:nvSpPr>
        <p:spPr>
          <a:xfrm>
            <a:off x="6942455" y="3316605"/>
            <a:ext cx="1509395" cy="735330"/>
          </a:xfrm>
          <a:prstGeom prst="rightArrow">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nvSpPr>
        <p:spPr>
          <a:xfrm>
            <a:off x="7066280" y="2646680"/>
            <a:ext cx="1033145" cy="583565"/>
          </a:xfrm>
          <a:prstGeom prst="rect">
            <a:avLst/>
          </a:prstGeom>
          <a:noFill/>
        </p:spPr>
        <p:txBody>
          <a:bodyPr wrap="square" rtlCol="0">
            <a:spAutoFit/>
          </a:bodyPr>
          <a:p>
            <a:r>
              <a:rPr lang="zh-CN" altLang="en-US" sz="3200" b="1"/>
              <a:t>结论</a:t>
            </a:r>
            <a:endParaRPr lang="zh-CN" altLang="en-US" sz="3200" b="1"/>
          </a:p>
        </p:txBody>
      </p:sp>
      <p:pic>
        <p:nvPicPr>
          <p:cNvPr id="9" name="图片 8"/>
          <p:cNvPicPr>
            <a:picLocks noChangeAspect="1"/>
          </p:cNvPicPr>
          <p:nvPr/>
        </p:nvPicPr>
        <p:blipFill>
          <a:blip r:embed="rId3"/>
          <a:stretch>
            <a:fillRect/>
          </a:stretch>
        </p:blipFill>
        <p:spPr>
          <a:xfrm>
            <a:off x="820420" y="4545838"/>
            <a:ext cx="5878830" cy="1964690"/>
          </a:xfrm>
          <a:prstGeom prst="rect">
            <a:avLst/>
          </a:prstGeom>
        </p:spPr>
      </p:pic>
      <p:pic>
        <p:nvPicPr>
          <p:cNvPr id="10" name="图片 9"/>
          <p:cNvPicPr>
            <a:picLocks noChangeAspect="1"/>
          </p:cNvPicPr>
          <p:nvPr/>
        </p:nvPicPr>
        <p:blipFill>
          <a:blip r:embed="rId4"/>
          <a:stretch>
            <a:fillRect/>
          </a:stretch>
        </p:blipFill>
        <p:spPr>
          <a:xfrm>
            <a:off x="800100" y="2646680"/>
            <a:ext cx="5969000" cy="1828800"/>
          </a:xfrm>
          <a:prstGeom prst="rect">
            <a:avLst/>
          </a:prstGeom>
        </p:spPr>
      </p:pic>
      <p:sp>
        <p:nvSpPr>
          <p:cNvPr id="168" name="Rectangle 167"/>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71" name="TextBox 170"/>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172" name="TextBox 171"/>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73" name="Rectangle 172"/>
          <p:cNvSpPr/>
          <p:nvPr/>
        </p:nvSpPr>
        <p:spPr>
          <a:xfrm>
            <a:off x="4572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4617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适用性检验</a:t>
            </a:r>
          </a:p>
        </p:txBody>
      </p:sp>
      <p:sp>
        <p:nvSpPr>
          <p:cNvPr id="175" name="TextBox 174"/>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76" name="TextBox 175"/>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77" name="TextBox 176"/>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78" name="TextBox 177"/>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06"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选题公式与三条可立项选题&lt;/Text&gt;&#10;        &lt;/Box&gt;&#10;&#10;        &lt;Box style={{ height: 544, flexDirection: 'column' }}&gt;&#10;            {/* 公式：视觉锚点 */}&#10;            &lt;Box style={{ width: 1120, height: 130, background: 'rgba(1,165,177,0.10)', flexDirection: 'column', alignItems: 'center', justifyContent: 'center' }}&gt;&#10;                &lt;Text style={{ fontSize: 34, fontWeight: 'bold', color: '#1F1F1F', lineHeight: 1.35 }}&gt;&#10;                    模型 M 在 A 市场得 X、在 B 市场得 Y，X ≠ Y&#10;                &lt;/Text&gt;&#10;                &lt;Text style={{ fontSize: 28, fontWeight: 'bold', color: '#01A5B1', marginTop: 8 }}&gt;&#10;                    　→　用制度 / 口径差异 Z 解释分歧&#10;                &lt;/Text&gt;&#10;            &lt;/Box&gt;&#10;&#10;            {/* 公式的原文出处 */}&#10;            &lt;Box style={{ width: 1120, height: 144, background: '#FFFFFF', border: '1px solid #EAEAEA', boxShadow: '0 2px 12px rgba(0,0,0,0.08)', alignItems: 'center', justifyContent: 'center', marginTop: 16 }}&gt;&#10;                &lt;Image src=&quot;assets/gap.png&quot; style={{ width: 1104, height: 128, objectFit: 'contain' }} /&gt;&#10;            &lt;/Box&gt;&#10;&#10;            &lt;Box style={{ height: 236, flexDirection: 'row', gap: 20, marginTop: 16 }}&gt;&#10;                &lt;Box style={{ width: 360, height: 236, background: '#FFFFFF', border: '1px solid #EAEAEA', borderTop: '4px solid #01A5B1', padding: 16, flexDirection: 'column' }}&gt;&#10;                    &lt;Text style={{ fontSize: 18, fontWeight: 'bold', color: '#01A5B1', marginBottom: 8 }}&gt;选题 ①&lt;/Text&gt;&#10;                    &lt;Text style={{ width: 328, fontSize: 17, fontWeight: 'bold', color: '#1F1F1F', lineHeight: 1.5, marginBottom: 8 }}&gt;&#10;                        剔除壳污染后，「CMA 冗余」还成立吗？&#10;                    &lt;/Text&gt;&#10;                    &lt;Text style={{ width: 328, fontSize: 15.5, color: '#5A5A5A', lineHeight: 1.62 }}&gt;&#10;                        X = 全样本 CMA 冗余（p.196）&lt;br /&gt;&#10;                        Y = 剔除最小 30% 后是否反转&lt;br /&gt;&#10;                        Z = 壳期权价值污染小盘股收益&#10;                    &lt;/Text&gt;&#10;                &lt;/Box&gt;&#10;&#10;                &lt;Box style={{ width: 360, height: 236, background: '#FFFFFF', border: '1px solid #EAEAEA', borderTop: '4px solid #01A5B1', padding: 16, flexDirection: 'column' }}&gt;&#10;                    &lt;Text style={{ fontSize: 18, fontWeight: 'bold', color: '#01A5B1', marginBottom: 8 }}&gt;选题 ②&lt;/Text&gt;&#10;                    &lt;Text style={{ width: 328, fontSize: 17, fontWeight: 'bold', color: '#1F1F1F', lineHeight: 1.5, marginBottom: 8 }}&gt;&#10;                        价值因子换成 E/P，市场效率结论稳健吗？&#10;                    &lt;/Text&gt;&#10;                    &lt;Text style={{ width: 328, fontSize: 15.5, color: '#5A5A5A', lineHeight: 1.62 }}&gt;&#10;                        X = 表 6 的「股改后更有效」（p.201）&lt;br /&gt;&#10;                        Y = 换 E/P 建 HML 后是否仍成立&lt;br /&gt;&#10;                        Z = B/M 被 E/P 吸收&#10;                    &lt;/Text&gt;&#10;                &lt;/Box&gt;&#10;&#10;                &lt;Box style={{ width: 360, height: 236, background: '#FFFFFF', border: '1px solid #EAEAEA', borderTop: '4px solid #01A5B1', padding: 16, flexDirection: 'column' }}&gt;&#10;                    &lt;Text style={{ fontSize: 18, fontWeight: 'bold', color: '#01A5B1', marginBottom: 8 }}&gt;选题 ③&lt;/Text&gt;&#10;                    &lt;Text style={{ width: 328, fontSize: 17, fontWeight: 'bold', color: '#1F1F1F', lineHeight: 1.5, marginBottom: 8 }}&gt;&#10;                        单一 Chow 升级为多重未知断点，断点有几个？&#10;                    &lt;/Text&gt;&#10;                    &lt;Text style={{ width: 328, fontSize: 15.5, color: '#5A5A5A', lineHeight: 1.62 }}&gt;&#10;                        X = 本文只检验 2007-06（p.200）&lt;br /&gt;&#10;                        Y = 2005 股改、2017 注册制是否成断点&lt;br /&gt;&#10;                        Z = 制度变革的多重性&#10;                    &lt;/Text&gt;&#10;                &lt;/Box&gt;&#10;            &lt;/Box&gt;&#10;        &lt;/Box&gt;&#10;&#10;        &lt;Box style={{ height: 40, flexDirection: 'row', justifyContent: 'space-between', alignItems: 'center' }}&gt;&#10;            &lt;Text style={{ fontSize: 14, color: '#8A8A8A' }}&gt;三维结构法 · FF5 中国实证拆解&lt;/Text&gt;&#10;            &lt;Text style={{ fontSize: 14, color: '#8A8A8A' }}&gt;16 / 37&lt;/Text&gt;&#10;        &lt;/Box&gt;&#10;    &lt;/Box&gt;&#10;&lt;/Slide&gt;"/>
        <p:cNvGrpSpPr/>
        <p:nvPr/>
      </p:nvGrpSpPr>
      <p:grpSpPr>
        <a:xfrm>
          <a:off x="0" y="0"/>
          <a:ext cx="0" cy="0"/>
          <a:chOff x="0" y="0"/>
          <a:chExt cx="0" cy="0"/>
        </a:xfrm>
      </p:grpSpPr>
      <p:sp>
        <p:nvSpPr>
          <p:cNvPr id="207" name="矩形 206"/>
          <p:cNvSpPr/>
          <p:nvPr/>
        </p:nvSpPr>
        <p:spPr>
          <a:xfrm>
            <a:off x="0" y="0"/>
            <a:ext cx="12192000" cy="6858000"/>
          </a:xfrm>
          <a:prstGeom prst="rect">
            <a:avLst/>
          </a:prstGeom>
          <a:solidFill>
            <a:srgbClr val="FFFFFF"/>
          </a:solidFill>
        </p:spPr>
        <p:txBody>
          <a:bodyPr/>
          <a:p/>
        </p:txBody>
      </p:sp>
      <p:pic>
        <p:nvPicPr>
          <p:cNvPr id="208" name="图片 207"/>
          <p:cNvPicPr>
            <a:picLocks noChangeAspect="1"/>
          </p:cNvPicPr>
          <p:nvPr/>
        </p:nvPicPr>
        <p:blipFill>
          <a:blip r:embed="rId1"/>
          <a:stretch>
            <a:fillRect/>
          </a:stretch>
        </p:blipFill>
        <p:spPr>
          <a:xfrm>
            <a:off x="5080" y="0"/>
            <a:ext cx="12192000" cy="6858000"/>
          </a:xfrm>
          <a:prstGeom prst="rect">
            <a:avLst/>
          </a:prstGeom>
        </p:spPr>
      </p:pic>
      <p:sp>
        <p:nvSpPr>
          <p:cNvPr id="209" name="矩形 208"/>
          <p:cNvSpPr/>
          <p:nvPr/>
        </p:nvSpPr>
        <p:spPr>
          <a:xfrm>
            <a:off x="762000" y="476250"/>
            <a:ext cx="57150" cy="342900"/>
          </a:xfrm>
          <a:prstGeom prst="rect">
            <a:avLst/>
          </a:prstGeom>
          <a:solidFill>
            <a:srgbClr val="01A5B1"/>
          </a:solidFill>
        </p:spPr>
        <p:txBody>
          <a:bodyPr/>
          <a:p/>
        </p:txBody>
      </p:sp>
      <p:sp>
        <p:nvSpPr>
          <p:cNvPr id="210" name="文本框 209"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模型比较</a:t>
            </a:r>
            <a:endParaRPr lang="zh-CN" sz="2550" b="1">
              <a:solidFill>
                <a:srgbClr val="01A5B1"/>
              </a:solidFill>
              <a:latin typeface="微软雅黑" panose="020B0503020204020204" charset="-122"/>
              <a:ea typeface="微软雅黑" panose="020B0503020204020204" charset="-122"/>
            </a:endParaRPr>
          </a:p>
        </p:txBody>
      </p:sp>
      <p:sp>
        <p:nvSpPr>
          <p:cNvPr id="211" name="矩形 210"/>
          <p:cNvSpPr/>
          <p:nvPr/>
        </p:nvSpPr>
        <p:spPr>
          <a:xfrm>
            <a:off x="772160" y="847725"/>
            <a:ext cx="10648315" cy="883920"/>
          </a:xfrm>
          <a:prstGeom prst="rect">
            <a:avLst/>
          </a:prstGeom>
          <a:solidFill>
            <a:srgbClr val="01A5B1">
              <a:alpha val="10000"/>
            </a:srgbClr>
          </a:solidFill>
        </p:spPr>
        <p:txBody>
          <a:bodyPr/>
          <a:p/>
        </p:txBody>
      </p:sp>
      <p:sp>
        <p:nvSpPr>
          <p:cNvPr id="212" name="文本框 211" descr="{&quot;isTemplate&quot;:true,&quot;type&quot;:&quot;text&quot;}"/>
          <p:cNvSpPr txBox="1"/>
          <p:nvPr/>
        </p:nvSpPr>
        <p:spPr>
          <a:xfrm>
            <a:off x="2796540" y="996315"/>
            <a:ext cx="7035800" cy="946785"/>
          </a:xfrm>
          <a:prstGeom prst="rect">
            <a:avLst/>
          </a:prstGeom>
        </p:spPr>
        <p:txBody>
          <a:bodyPr wrap="none" lIns="0" tIns="0" rIns="0" bIns="0"/>
          <a:p>
            <a:pPr marL="0" indent="0" algn="ctr">
              <a:lnSpc>
                <a:spcPct val="125000"/>
              </a:lnSpc>
              <a:defRPr/>
            </a:pPr>
            <a:r>
              <a:rPr lang="zh-CN" sz="2800" b="1">
                <a:solidFill>
                  <a:srgbClr val="01A5B1"/>
                </a:solidFill>
                <a:latin typeface="微软雅黑" panose="020B0503020204020204" charset="-122"/>
                <a:ea typeface="微软雅黑" panose="020B0503020204020204" charset="-122"/>
                <a:sym typeface="Noto Serif SC" panose="02020200000000000000" charset="-122"/>
              </a:rPr>
              <a:t>模型比较三大</a:t>
            </a:r>
            <a:r>
              <a:rPr lang="zh-CN" sz="2800" b="1">
                <a:solidFill>
                  <a:srgbClr val="01A5B1"/>
                </a:solidFill>
                <a:latin typeface="微软雅黑" panose="020B0503020204020204" charset="-122"/>
                <a:ea typeface="微软雅黑" panose="020B0503020204020204" charset="-122"/>
                <a:sym typeface="Noto Serif SC" panose="02020200000000000000" charset="-122"/>
              </a:rPr>
              <a:t>指标</a:t>
            </a:r>
            <a:endParaRPr lang="zh-CN" sz="2800" b="1">
              <a:solidFill>
                <a:srgbClr val="01A5B1"/>
              </a:solidFill>
              <a:latin typeface="微软雅黑" panose="020B0503020204020204" charset="-122"/>
              <a:ea typeface="微软雅黑" panose="020B0503020204020204" charset="-122"/>
              <a:sym typeface="Noto Serif SC" panose="02020200000000000000" charset="-122"/>
            </a:endParaRPr>
          </a:p>
        </p:txBody>
      </p:sp>
      <p:graphicFrame>
        <p:nvGraphicFramePr>
          <p:cNvPr id="7" name="Table 7"/>
          <p:cNvGraphicFramePr>
            <a:graphicFrameLocks noGrp="1"/>
          </p:cNvGraphicFramePr>
          <p:nvPr>
            <p:custDataLst>
              <p:tags r:id="rId2"/>
            </p:custDataLst>
          </p:nvPr>
        </p:nvGraphicFramePr>
        <p:xfrm>
          <a:off x="715645" y="2195830"/>
          <a:ext cx="5998845" cy="4243070"/>
        </p:xfrm>
        <a:graphic>
          <a:graphicData uri="http://schemas.openxmlformats.org/drawingml/2006/table">
            <a:tbl>
              <a:tblPr>
                <a:effectLst/>
              </a:tblPr>
              <a:tblGrid>
                <a:gridCol w="1200150"/>
                <a:gridCol w="1499870"/>
                <a:gridCol w="3298825"/>
              </a:tblGrid>
              <a:tr h="1066800">
                <a:tc>
                  <a:txBody>
                    <a:bodyPr rtlCol="0"/>
                    <a:p>
                      <a:pPr marL="0" indent="0" algn="ctr">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指标</a:t>
                      </a:r>
                      <a:endPar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88900" marB="88900" anchor="t" anchorCtr="0">
                    <a:lnL>
                      <a:noFill/>
                    </a:lnL>
                    <a:lnR>
                      <a:noFill/>
                    </a:lnR>
                    <a:lnT>
                      <a:noFill/>
                    </a:lnT>
                    <a:lnB>
                      <a:noFill/>
                    </a:lnB>
                    <a:solidFill>
                      <a:schemeClr val="accent2">
                        <a:lumMod val="60000"/>
                        <a:lumOff val="40000"/>
                      </a:schemeClr>
                    </a:solidFill>
                  </a:tcPr>
                </a:tc>
                <a:tc>
                  <a:txBody>
                    <a:bodyPr rtlCol="0"/>
                    <a:p>
                      <a:pPr marL="0" indent="0" algn="ctr">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含义</a:t>
                      </a:r>
                      <a:endPar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88900" marB="88900" anchor="t" anchorCtr="0">
                    <a:lnL>
                      <a:noFill/>
                    </a:lnL>
                    <a:lnR>
                      <a:noFill/>
                    </a:lnR>
                    <a:lnT>
                      <a:noFill/>
                    </a:lnT>
                    <a:lnB>
                      <a:noFill/>
                    </a:lnB>
                    <a:solidFill>
                      <a:schemeClr val="accent2">
                        <a:lumMod val="60000"/>
                        <a:lumOff val="40000"/>
                      </a:schemeClr>
                    </a:solidFill>
                  </a:tcPr>
                </a:tc>
                <a:tc>
                  <a:txBody>
                    <a:bodyPr rtlCol="0"/>
                    <a:p>
                      <a:pPr marL="0" indent="0" algn="ctr">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判断标准</a:t>
                      </a:r>
                      <a:endPar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88900" marB="88900" anchor="t" anchorCtr="0">
                    <a:lnL>
                      <a:noFill/>
                    </a:lnL>
                    <a:lnR>
                      <a:noFill/>
                    </a:lnR>
                    <a:lnT>
                      <a:noFill/>
                    </a:lnT>
                    <a:lnB>
                      <a:noFill/>
                    </a:lnB>
                    <a:solidFill>
                      <a:schemeClr val="accent2">
                        <a:lumMod val="60000"/>
                        <a:lumOff val="40000"/>
                      </a:schemeClr>
                    </a:solidFill>
                  </a:tcPr>
                </a:tc>
              </a:tr>
              <a:tr h="1059180">
                <a:tc>
                  <a:txBody>
                    <a:bodyPr rtlCol="0"/>
                    <a:p>
                      <a:pPr marL="0" indent="0" algn="ctr">
                        <a:lnSpc>
                          <a:spcPct val="100000"/>
                        </a:lnSpc>
                        <a:defRPr/>
                      </a:pPr>
                      <a:r>
                        <a:rPr lang="en-US" sz="14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GRS检验</a:t>
                      </a:r>
                      <a:endParaRPr lang="en-US" sz="14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所有截距项是否同时为0</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p值越大越好，不拒绝原假设说明模型完全解释</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r>
              <a:tr h="1058545">
                <a:tc>
                  <a:txBody>
                    <a:bodyPr rtlCol="0"/>
                    <a:p>
                      <a:pPr marL="0" indent="0" algn="ctr">
                        <a:lnSpc>
                          <a:spcPct val="100000"/>
                        </a:lnSpc>
                        <a:defRPr/>
                      </a:pPr>
                      <a:r>
                        <a:rPr lang="en-US" sz="16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A|ai|</a:t>
                      </a:r>
                      <a:endParaRPr lang="en-US" sz="16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截距绝对值的平均值</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越小越好，代表模型未解释的异常收益越小</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r>
              <a:tr h="1058545">
                <a:tc>
                  <a:txBody>
                    <a:bodyPr rtlCol="0"/>
                    <a:p>
                      <a:pPr marL="0" indent="0" algn="ctr">
                        <a:lnSpc>
                          <a:spcPct val="100000"/>
                        </a:lnSpc>
                        <a:defRPr/>
                      </a:pPr>
                      <a:r>
                        <a:rPr lang="en-US" sz="16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A|ai|/A|ri|</a:t>
                      </a:r>
                      <a:endParaRPr lang="en-US" sz="1600" b="1" i="0" u="none" strike="noStrike">
                        <a:solidFill>
                          <a:srgbClr val="111111"/>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一阶未解释比例</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c>
                  <a:txBody>
                    <a:bodyPr rtlCol="0"/>
                    <a:p>
                      <a:pPr marL="0" indent="0" algn="ctr">
                        <a:lnSpc>
                          <a:spcPct val="100000"/>
                        </a:lnSpc>
                        <a:defRPr/>
                      </a:pPr>
                      <a:r>
                        <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越小越好，截距绝对值平均 / 组合收益率绝对值平均</a:t>
                      </a:r>
                      <a:endParaRPr lang="en-US" sz="18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txBody>
                  <a:tcPr marL="101600" marR="101600" marT="95250" marB="95250" anchor="t" anchorCtr="0">
                    <a:lnL>
                      <a:noFill/>
                    </a:lnL>
                    <a:lnR>
                      <a:noFill/>
                    </a:lnR>
                    <a:lnT>
                      <a:noFill/>
                    </a:lnT>
                    <a:lnB>
                      <a:noFill/>
                    </a:lnB>
                    <a:solidFill>
                      <a:schemeClr val="bg2"/>
                    </a:solidFill>
                  </a:tcPr>
                </a:tc>
              </a:tr>
            </a:tbl>
          </a:graphicData>
        </a:graphic>
      </p:graphicFrame>
      <p:pic>
        <p:nvPicPr>
          <p:cNvPr id="2" name="图片 1"/>
          <p:cNvPicPr>
            <a:picLocks noChangeAspect="1"/>
          </p:cNvPicPr>
          <p:nvPr/>
        </p:nvPicPr>
        <p:blipFill>
          <a:blip r:embed="rId3"/>
          <a:stretch>
            <a:fillRect/>
          </a:stretch>
        </p:blipFill>
        <p:spPr>
          <a:xfrm>
            <a:off x="7057390" y="2195195"/>
            <a:ext cx="4973955" cy="4204970"/>
          </a:xfrm>
          <a:prstGeom prst="rect">
            <a:avLst/>
          </a:prstGeom>
        </p:spPr>
      </p:pic>
      <p:sp>
        <p:nvSpPr>
          <p:cNvPr id="213" name="Rectangle 212"/>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216" name="TextBox 215"/>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217" name="TextBox 216"/>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218" name="Rectangle 217"/>
          <p:cNvSpPr/>
          <p:nvPr/>
        </p:nvSpPr>
        <p:spPr>
          <a:xfrm>
            <a:off x="4572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4617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适用性检验</a:t>
            </a:r>
          </a:p>
        </p:txBody>
      </p:sp>
      <p:sp>
        <p:nvSpPr>
          <p:cNvPr id="220" name="TextBox 219"/>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221" name="TextBox 220"/>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222" name="TextBox 221"/>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223" name="TextBox 222"/>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52"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本土支线：同一模型搬进 A 股的十年争论&lt;/Text&gt;&#10;        &lt;/Box&gt;&#10;&#10;        &lt;Box style={{ height: 544, flexDirection: 'row', gap: 32 }}&gt;&#10;            &lt;Box style={{ width: 631, height: 544, flexDirection: 'column' }}&gt;&#10;                &lt;Box style={{ width: 631, height: 390, background: '#FFFFFF', border: '1px solid #EAEAEA', boxShadow: '0 2px 12px rgba(0,0,0,0.08)', alignItems: 'center', justifyContent: 'center', padding: 8 }}&gt;&#10;                    &lt;Image src=&quot;assets/lit_early.png&quot; style={{ width: 615, height: 300, objectFit: 'contain' }} /&gt;&#10;                &lt;/Box&gt;&#10;                &lt;Text style={{ width: 631, fontSize: 15, color: '#8A8A8A', marginTop: 8 }}&gt;&#10;                    原文 P193「二、文献回顾」上：早期文献的分歧&#10;                &lt;/Text&gt;&#10;                &lt;Box style={{ width: 631, height: 108, background: 'rgba(1,165,177,0.08)', flexDirection: 'row', marginTop: 14 }}&gt;&#10;                    &lt;Box style={{ width: 4, height: 108, background: '#01A5B1' }} /&gt;&#10;                    &lt;Box style={{ width: 627, padding: 15, flexDirection: 'column' }}&gt;&#10;                        &lt;Text style={{ width: 597, fontSize: 17, color: '#1F1F1F', lineHeight: 1.58 }}&gt;&#10;                            「但由于样本区间、样本范围、因子构建方法、分组方法等方面可能存在差异，早期文献的研究结论并不一致。」&lt;br /&gt;&#10;                            &lt;span style={{ fontSize: 15, color: '#8A8A8A' }}&gt;—— 原文 p.193&lt;/span&gt;&#10;                        &lt;/Text&gt;&#10;                    &lt;/Box&gt;&#10;                &lt;/Box&gt;&#10;            &lt;/Box&gt;&#10;&#10;            &lt;Box style={{ width: 457, height: 544, background: '#FFFFFF', border: '1px solid #EAEAEA', boxShadow: '0 2px 12px rgba(0,0,0,0.08)', padding: 20, flexDirection: 'column' }}&gt;&#10;                &lt;Text style={{ fontSize: 21, fontWeight: 'bold', color: '#01A5B1', marginBottom: 14 }}&gt;分歧集中在四个地方&lt;/Text&gt;&#10;&#10;                &lt;Box style={{ flexDirection: 'row', gap: 12, marginBottom: 12 }}&gt;&#10;                    &lt;FAIcon name='folder' style={{ fill: '#01A5B1', width: 22, height: 22 }} /&gt;&#10;                    &lt;Text style={{ width: 385, fontSize: 17, color: '#1F1F1F', lineHeight: 1.5 }}&gt;&#10;                        &lt;span style={{ fontWeight: 'bold' }}&gt;样本区间&lt;/span&gt;：用早期数据 vs 用最新数据&#10;                    &lt;/Text&gt;&#10;                &lt;/Box&gt;&#10;                &lt;Box style={{ flexDirection: 'row', gap: 12, marginBottom: 12 }}&gt;&#10;                    &lt;FAIcon name='folder' style={{ fill: '#01A5B1', width: 22, height: 22 }} /&gt;&#10;                    &lt;Text style={{ width: 385, fontSize: 17, color: '#1F1F1F', lineHeight: 1.5 }}&gt;&#10;                        &lt;span style={{ fontWeight: 'bold' }}&gt;样本范围&lt;/span&gt;：是否剔除早期股票、是否含中小板创业板&#10;                    &lt;/Text&gt;&#10;                &lt;/Box&gt;&#10;                &lt;Box style={{ flexDirection: 'row', gap: 12, marginBottom: 12 }}&gt;&#10;                    &lt;FAIcon name='folder' style={{ fill: '#01A5B1', width: 22, height: 22 }} /&gt;&#10;                    &lt;Text style={{ width: 385, fontSize: 17, color: '#1F1F1F', lineHeight: 1.5 }}&gt;&#10;                        &lt;span style={{ fontWeight: 'bold' }}&gt;因子构建方法&lt;/span&gt;：OP 用什么替代、MOM 从哪个月算起&#10;                    &lt;/Text&gt;&#10;                &lt;/Box&gt;&#10;                &lt;Box style={{ flexDirection: 'row', gap: 12, marginBottom: 16 }}&gt;&#10;                    &lt;FAIcon name='folder' style={{ fill: '#01A5B1', width: 22, height: 22 }} /&gt;&#10;                    &lt;Text style={{ width: 385, fontSize: 17, color: '#1F1F1F', lineHeight: 1.5 }}&gt;&#10;                        &lt;span style={{ fontWeight: 'bold' }}&gt;分组方法&lt;/span&gt;：2×3 / 2×2 / 2×2×2×2 与分位点选择&#10;                    &lt;/Text&gt;&#10;                &lt;/Box&gt;&#10;&#10;                &lt;Box style={{ width: 417, height: 1, background: '#EAEAEA', marginBottom: 16 }} /&gt;&#10;&#10;                &lt;Text style={{ fontSize: 19, fontWeight: 'bold', color: '#1F1F1F', marginBottom: 10 }}&gt;所以分歧不是谁错了&lt;/Text&gt;&#10;                &lt;Text style={{ width: 417, fontSize: 17, color: '#1F1F1F', lineHeight: 1.6 }}&gt;&#10;                    而是&lt;span style={{ fontWeight: 'bold', color: '#01A5B1' }}&gt;大家在不同的样本与口径上回答同一个问题&lt;/span&gt;。&lt;br /&gt;&lt;br /&gt;&#10;                    读懂这一点，你就知道：想做出一篇&quot;新&quot;的论文，最省力的路径不是换模型，而是&lt;span style={{ fontWeight: 'bold', color: '#01A5B1' }}&gt;把口径固定住、把样本切开&lt;/span&gt;。&#10;                &lt;/Text&gt;&#10;            &lt;/Box&gt;&#10;        &lt;/Box&gt;&#10;&#10;        &lt;Box style={{ height: 40, flexDirection: 'row', justifyContent: 'space-between', alignItems: 'center' }}&gt;&#10;            &lt;Text style={{ fontSize: 14, color: '#8A8A8A' }}&gt;三维结构法 · FF5 中国实证拆解&lt;/Text&gt;&#10;            &lt;Text style={{ fontSize: 14, color: '#8A8A8A' }}&gt;11 / 37&lt;/Text&gt;&#10;        &lt;/Box&gt;&#10;    &lt;/Box&gt;&#10;&lt;/Slide&gt;"/>
        <p:cNvGrpSpPr/>
        <p:nvPr/>
      </p:nvGrpSpPr>
      <p:grpSpPr>
        <a:xfrm>
          <a:off x="0" y="0"/>
          <a:ext cx="0" cy="0"/>
          <a:chOff x="0" y="0"/>
          <a:chExt cx="0" cy="0"/>
        </a:xfrm>
      </p:grpSpPr>
      <p:sp>
        <p:nvSpPr>
          <p:cNvPr id="53" name="矩形 52"/>
          <p:cNvSpPr/>
          <p:nvPr/>
        </p:nvSpPr>
        <p:spPr>
          <a:xfrm>
            <a:off x="0" y="0"/>
            <a:ext cx="12192000" cy="6858000"/>
          </a:xfrm>
          <a:prstGeom prst="rect">
            <a:avLst/>
          </a:prstGeom>
          <a:solidFill>
            <a:srgbClr val="FFFFFF"/>
          </a:solidFill>
        </p:spPr>
        <p:txBody>
          <a:bodyPr/>
          <a:p/>
        </p:txBody>
      </p:sp>
      <p:pic>
        <p:nvPicPr>
          <p:cNvPr id="54" name="图片 53"/>
          <p:cNvPicPr>
            <a:picLocks noChangeAspect="1"/>
          </p:cNvPicPr>
          <p:nvPr/>
        </p:nvPicPr>
        <p:blipFill>
          <a:blip r:embed="rId1"/>
          <a:stretch>
            <a:fillRect/>
          </a:stretch>
        </p:blipFill>
        <p:spPr>
          <a:xfrm>
            <a:off x="0" y="0"/>
            <a:ext cx="12192000" cy="6858000"/>
          </a:xfrm>
          <a:prstGeom prst="rect">
            <a:avLst/>
          </a:prstGeom>
        </p:spPr>
      </p:pic>
      <p:sp>
        <p:nvSpPr>
          <p:cNvPr id="55" name="矩形 54"/>
          <p:cNvSpPr/>
          <p:nvPr/>
        </p:nvSpPr>
        <p:spPr>
          <a:xfrm>
            <a:off x="762000" y="476250"/>
            <a:ext cx="57150" cy="342900"/>
          </a:xfrm>
          <a:prstGeom prst="rect">
            <a:avLst/>
          </a:prstGeom>
          <a:solidFill>
            <a:srgbClr val="01A5B1"/>
          </a:solidFill>
        </p:spPr>
        <p:txBody>
          <a:bodyPr/>
          <a:p/>
        </p:txBody>
      </p:sp>
      <p:sp>
        <p:nvSpPr>
          <p:cNvPr id="56" name="文本框 55" descr="{&quot;isTemplate&quot;:true,&quot;type&quot;:&quot;text&quot;}"/>
          <p:cNvSpPr txBox="1"/>
          <p:nvPr/>
        </p:nvSpPr>
        <p:spPr>
          <a:xfrm>
            <a:off x="530352" y="256032"/>
            <a:ext cx="10607040" cy="548640"/>
          </a:xfrm>
          <a:prstGeom prst="rect">
            <a:avLst/>
          </a:prstGeom>
        </p:spPr>
        <p:txBody>
          <a:bodyPr wrap="square" lIns="0" tIns="0" rIns="0" bIns="0"/>
          <a:p>
            <a:pPr marL="0" indent="0" algn="l">
              <a:lnSpc>
                <a:spcPct val="125000"/>
              </a:lnSpc>
              <a:defRPr/>
            </a:pPr>
            <a:r>
              <a:rPr lang="zh-CN" sz="2200" b="1">
                <a:solidFill>
                  <a:srgbClr val="1F1F1F"/>
                </a:solidFill>
                <a:latin typeface="微软雅黑" panose="020B0503020204020204" charset="-122"/>
                <a:ea typeface="微软雅黑" panose="020B0503020204020204" charset="-122"/>
                <a:sym typeface="Noto Serif SC" panose="02020200000000000000" charset="-122"/>
              </a:rPr>
              <a:t>五因子 vs 三因子 vs Carhart四因子</a:t>
            </a:r>
            <a:endParaRPr lang="zh-CN" sz="2550" b="1">
              <a:solidFill>
                <a:srgbClr val="01A5B1"/>
              </a:solidFill>
              <a:latin typeface="微软雅黑" panose="020B0503020204020204" charset="-122"/>
              <a:ea typeface="微软雅黑" panose="020B0503020204020204" charset="-122"/>
            </a:endParaRPr>
          </a:p>
        </p:txBody>
      </p:sp>
      <p:sp>
        <p:nvSpPr>
          <p:cNvPr id="63" name="矩形 62"/>
          <p:cNvSpPr/>
          <p:nvPr/>
        </p:nvSpPr>
        <p:spPr>
          <a:xfrm>
            <a:off x="7267575" y="1095375"/>
            <a:ext cx="4833620" cy="397764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sp>
        <p:nvSpPr>
          <p:cNvPr id="64" name="文本框 63" descr="{&quot;isTemplate&quot;:true,&quot;type&quot;:&quot;text&quot;}"/>
          <p:cNvSpPr txBox="1"/>
          <p:nvPr/>
        </p:nvSpPr>
        <p:spPr>
          <a:xfrm>
            <a:off x="7267575" y="1336675"/>
            <a:ext cx="3971925" cy="247650"/>
          </a:xfrm>
          <a:prstGeom prst="rect">
            <a:avLst/>
          </a:prstGeom>
        </p:spPr>
        <p:txBody>
          <a:bodyPr wrap="none" lIns="0" tIns="0" rIns="0" bIns="0"/>
          <a:p>
            <a:pPr>
              <a:lnSpc>
                <a:spcPct val="100000"/>
              </a:lnSpc>
            </a:pPr>
            <a:r>
              <a:rPr lang="zh-CN" sz="1575" b="1">
                <a:solidFill>
                  <a:srgbClr val="01A5B1"/>
                </a:solidFill>
                <a:latin typeface="微软雅黑" panose="020B0503020204020204" charset="-122"/>
                <a:ea typeface="微软雅黑" panose="020B0503020204020204" charset="-122"/>
              </a:rPr>
              <a:t>核心结论</a:t>
            </a:r>
            <a:endParaRPr lang="zh-CN" sz="1575" b="1">
              <a:solidFill>
                <a:srgbClr val="01A5B1"/>
              </a:solidFill>
              <a:latin typeface="微软雅黑" panose="020B0503020204020204" charset="-122"/>
              <a:ea typeface="微软雅黑" panose="020B0503020204020204" charset="-122"/>
            </a:endParaRPr>
          </a:p>
        </p:txBody>
      </p:sp>
      <p:pic>
        <p:nvPicPr>
          <p:cNvPr id="65" name="图片 6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7575" y="1676400"/>
            <a:ext cx="209550" cy="209550"/>
          </a:xfrm>
          <a:prstGeom prst="rect">
            <a:avLst/>
          </a:prstGeom>
        </p:spPr>
      </p:pic>
      <p:sp>
        <p:nvSpPr>
          <p:cNvPr id="66" name="文本框 65" descr="{&quot;isTemplate&quot;:true,&quot;type&quot;:&quot;text&quot;}"/>
          <p:cNvSpPr txBox="1"/>
          <p:nvPr/>
        </p:nvSpPr>
        <p:spPr>
          <a:xfrm>
            <a:off x="7543165" y="1706245"/>
            <a:ext cx="4300220" cy="3469005"/>
          </a:xfrm>
          <a:prstGeom prst="rect">
            <a:avLst/>
          </a:prstGeom>
        </p:spPr>
        <p:txBody>
          <a:bodyPr wrap="none" lIns="0" tIns="0" rIns="0" bIns="0"/>
          <a:p>
            <a:pPr marL="0" indent="0" algn="l">
              <a:lnSpc>
                <a:spcPct val="142000"/>
              </a:lnSpc>
              <a:defRPr/>
            </a:pPr>
            <a:r>
              <a:rPr lang="en-US" sz="16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五因子模型</a:t>
            </a:r>
            <a:r>
              <a:rPr lang="en-US" sz="1275">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整体</a:t>
            </a:r>
            <a:r>
              <a:rPr lang="en-US" sz="1600" b="1">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优于</a:t>
            </a: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三因子和Carhart四因子模型。</a:t>
            </a:r>
            <a:endPar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defRPr/>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Size-OP分组下，三因子一阶未解释比例高达76%，</a:t>
            </a:r>
            <a:endPar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defRPr/>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五因子降至51%，说明加入RMW和CMA显著提升</a:t>
            </a:r>
            <a:endPar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defRPr/>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了模型解释力。</a:t>
            </a:r>
            <a:endPar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defRPr/>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五因子模型整体优于三因子和四因子，在中国</a:t>
            </a:r>
            <a:endPar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marL="0" indent="0" algn="l">
              <a:lnSpc>
                <a:spcPct val="142000"/>
              </a:lnSpc>
              <a:defRPr/>
            </a:pPr>
            <a:r>
              <a:rPr lang="en-US" sz="1600">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A股市场具有适用性</a:t>
            </a:r>
            <a:r>
              <a:rPr lang="zh-CN" altLang="en-US" sz="16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endParaRPr lang="zh-CN" altLang="en-US" sz="1600" b="0" i="0" u="none" strike="noStrike">
              <a:solidFill>
                <a:srgbClr val="383838"/>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73" name="矩形 72"/>
          <p:cNvSpPr/>
          <p:nvPr/>
        </p:nvSpPr>
        <p:spPr>
          <a:xfrm>
            <a:off x="7267575" y="3943350"/>
            <a:ext cx="3971925" cy="9525"/>
          </a:xfrm>
          <a:prstGeom prst="rect">
            <a:avLst/>
          </a:prstGeom>
          <a:solidFill>
            <a:srgbClr val="EAEAEA"/>
          </a:solidFill>
        </p:spPr>
        <p:txBody>
          <a:bodyPr/>
          <a:p/>
        </p:txBody>
      </p:sp>
      <p:pic>
        <p:nvPicPr>
          <p:cNvPr id="3" name="图片 2"/>
          <p:cNvPicPr>
            <a:picLocks noChangeAspect="1"/>
          </p:cNvPicPr>
          <p:nvPr/>
        </p:nvPicPr>
        <p:blipFill>
          <a:blip r:embed="rId4"/>
          <a:srcRect t="5095" r="246"/>
          <a:stretch>
            <a:fillRect/>
          </a:stretch>
        </p:blipFill>
        <p:spPr>
          <a:xfrm>
            <a:off x="568325" y="2085975"/>
            <a:ext cx="6363970" cy="2987040"/>
          </a:xfrm>
          <a:prstGeom prst="rect">
            <a:avLst/>
          </a:prstGeom>
        </p:spPr>
      </p:pic>
      <p:pic>
        <p:nvPicPr>
          <p:cNvPr id="2" name="图片 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7575" y="3192145"/>
            <a:ext cx="209550" cy="209550"/>
          </a:xfrm>
          <a:prstGeom prst="rect">
            <a:avLst/>
          </a:prstGeom>
        </p:spPr>
      </p:pic>
      <p:sp>
        <p:nvSpPr>
          <p:cNvPr id="211" name="矩形 210"/>
          <p:cNvSpPr/>
          <p:nvPr/>
        </p:nvSpPr>
        <p:spPr>
          <a:xfrm>
            <a:off x="1017905" y="1231900"/>
            <a:ext cx="5642610" cy="654050"/>
          </a:xfrm>
          <a:prstGeom prst="rect">
            <a:avLst/>
          </a:prstGeom>
          <a:solidFill>
            <a:srgbClr val="01A5B1">
              <a:alpha val="10000"/>
            </a:srgbClr>
          </a:solidFill>
        </p:spPr>
        <p:txBody>
          <a:bodyPr/>
          <a:p>
            <a:pPr algn="ctr"/>
            <a:r>
              <a:rPr lang="zh-CN"/>
              <a:t>不同资产定价模型</a:t>
            </a:r>
            <a:r>
              <a:rPr lang="en-US" altLang="zh-CN"/>
              <a:t>GRS</a:t>
            </a:r>
            <a:r>
              <a:rPr lang="zh-CN" altLang="en-US"/>
              <a:t>检验与解释力对比</a:t>
            </a:r>
            <a:endParaRPr lang="zh-CN" altLang="en-US"/>
          </a:p>
        </p:txBody>
      </p:sp>
      <p:sp>
        <p:nvSpPr>
          <p:cNvPr id="103" name="矩形 102"/>
          <p:cNvSpPr/>
          <p:nvPr/>
        </p:nvSpPr>
        <p:spPr>
          <a:xfrm>
            <a:off x="1133475" y="5138928"/>
            <a:ext cx="9829800" cy="1371600"/>
          </a:xfrm>
          <a:prstGeom prst="rect">
            <a:avLst/>
          </a:prstGeom>
          <a:solidFill>
            <a:srgbClr val="E8503A">
              <a:alpha val="10000"/>
            </a:srgbClr>
          </a:solidFill>
        </p:spPr>
        <p:txBody>
          <a:bodyPr/>
          <a:p>
            <a:pPr marL="0" indent="0" algn="l">
              <a:lnSpc>
                <a:spcPct val="125000"/>
              </a:lnSpc>
              <a:defRPr/>
            </a:pPr>
            <a:r>
              <a:rPr lang="en-US" sz="2400" b="1">
                <a:solidFill>
                  <a:srgbClr val="FF0000">
                    <a:alpha val="94902"/>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总体结论</a:t>
            </a:r>
            <a:r>
              <a:rPr lang="en-US" sz="2400" b="1" i="1">
                <a:solidFill>
                  <a:srgbClr val="FF0000">
                    <a:alpha val="94902"/>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r>
              <a:rPr lang="en-US" i="1">
                <a:solidFill>
                  <a:schemeClr val="tx1">
                    <a:alpha val="94902"/>
                  </a:scheme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Fama-French五因子模型在中国A股市场具有适用性，加入RMW和CMA显著提升了模型解释力。</a:t>
            </a:r>
            <a:endParaRPr lang="en-US" i="1">
              <a:solidFill>
                <a:schemeClr val="tx1">
                  <a:alpha val="94902"/>
                </a:schemeClr>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212" name="Rectangle 211"/>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215" name="TextBox 214"/>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216" name="TextBox 215"/>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217" name="Rectangle 216"/>
          <p:cNvSpPr/>
          <p:nvPr/>
        </p:nvSpPr>
        <p:spPr>
          <a:xfrm>
            <a:off x="4572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4617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适用性检验</a:t>
            </a:r>
          </a:p>
        </p:txBody>
      </p:sp>
      <p:sp>
        <p:nvSpPr>
          <p:cNvPr id="219" name="TextBox 218"/>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220" name="TextBox 219"/>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221" name="TextBox 220"/>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222" name="TextBox 221"/>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349" name="" descr="&lt;Slide style={{ width: 1280, height: 720, background: '#FFFFFF', padding: 0, flexDirection: 'column' }}&gt;&#13;&#10;    &lt;Image src=&quot;assets/deco_teal.png&quot; style={{ position: 'absolute', top: 0, left: 0, width: 1280, height: 720 }} /&gt;&#13;&#10;&#13;&#10;    &lt;Box style={{ position: 'absolute', top: 236, left: 116, width: 208, height: 208, border: '4px solid #FFFFFF', alignItems: 'center', justifyContent: 'center' }}&gt;&#13;&#10;        &lt;Text style={{ fontSize: 72, fontWeight: 'bold', color: '#FFFFFF', lineHeight: 1 }}&gt;04&lt;/Text&gt;&#13;&#10;    &lt;/Box&gt;&#13;&#10;&#13;&#10;    &lt;Text style={{ position: 'absolute', top: 296, left: 432, width: 790, fontSize: 52, fontWeight: 'bold', color: '#1F1F1F', lineHeight: 1.25 }}&gt;&#13;&#10;        研究方法的拆解&#13;&#10;    &lt;/Text&gt;&#13;&#10;    &lt;Box style={{ position: 'absolute', top: 386, left: 432, width: 88, height: 6, background: '#01A5B1' }} /&gt;&#13;&#10;    &lt;Text style={{ position: 'absolute', top: 416, left: 432, width: 770, fontSize: 20, color: '#5A5A5A', lineHeight: 1.62 }}&gt;&#13;&#10;        把方法章节逐句翻译成代码。公式与代码之间的实现 Gap，往往就是最高分的创新点。&#13;&#10;    &lt;/Text&gt;&#13;&#10;&#13;&#10;    &lt;Text style={{ position: 'absolute', top: 668, left: 1140, width: 90, fontSize: 14, color: '#B0B0B0', textAlign: 'right' }}&gt;22 / 37&lt;/Text&gt;&#13;&#10;&lt;/Slide&gt;"/>
        <p:cNvGrpSpPr/>
        <p:nvPr/>
      </p:nvGrpSpPr>
      <p:grpSpPr>
        <a:xfrm>
          <a:off x="0" y="0"/>
          <a:ext cx="0" cy="0"/>
          <a:chOff x="0" y="0"/>
          <a:chExt cx="0" cy="0"/>
        </a:xfrm>
      </p:grpSpPr>
      <p:sp>
        <p:nvSpPr>
          <p:cNvPr id="350" name="矩形 349"/>
          <p:cNvSpPr/>
          <p:nvPr/>
        </p:nvSpPr>
        <p:spPr>
          <a:xfrm>
            <a:off x="0" y="0"/>
            <a:ext cx="12192000" cy="6858000"/>
          </a:xfrm>
          <a:prstGeom prst="rect">
            <a:avLst/>
          </a:prstGeom>
          <a:solidFill>
            <a:srgbClr val="FFFFFF"/>
          </a:solidFill>
        </p:spPr>
        <p:txBody>
          <a:bodyPr/>
          <a:p/>
        </p:txBody>
      </p:sp>
      <p:pic>
        <p:nvPicPr>
          <p:cNvPr id="351" name="图片 350"/>
          <p:cNvPicPr>
            <a:picLocks noChangeAspect="1"/>
          </p:cNvPicPr>
          <p:nvPr/>
        </p:nvPicPr>
        <p:blipFill>
          <a:blip r:embed="rId1"/>
          <a:stretch>
            <a:fillRect/>
          </a:stretch>
        </p:blipFill>
        <p:spPr>
          <a:xfrm>
            <a:off x="0" y="0"/>
            <a:ext cx="12192000" cy="6858000"/>
          </a:xfrm>
          <a:prstGeom prst="rect">
            <a:avLst/>
          </a:prstGeom>
        </p:spPr>
      </p:pic>
      <p:sp>
        <p:nvSpPr>
          <p:cNvPr id="352" name="矩形 351"/>
          <p:cNvSpPr/>
          <p:nvPr/>
        </p:nvSpPr>
        <p:spPr>
          <a:xfrm>
            <a:off x="1104900" y="2247900"/>
            <a:ext cx="1981200" cy="1981200"/>
          </a:xfrm>
          <a:prstGeom prst="rect">
            <a:avLst/>
          </a:prstGeom>
          <a:ln w="50800">
            <a:solidFill>
              <a:srgbClr val="FFFFFF"/>
            </a:solidFill>
            <a:prstDash val="solid"/>
          </a:ln>
        </p:spPr>
        <p:txBody>
          <a:bodyPr/>
          <a:p/>
        </p:txBody>
      </p:sp>
      <p:sp>
        <p:nvSpPr>
          <p:cNvPr id="353" name="文本框 352"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05</a:t>
            </a:r>
            <a:endParaRPr lang="en-US" sz="5400" b="1">
              <a:solidFill>
                <a:srgbClr val="FFFFFF"/>
              </a:solidFill>
              <a:latin typeface="微软雅黑" panose="020B0503020204020204" charset="-122"/>
              <a:ea typeface="微软雅黑" panose="020B0503020204020204" charset="-122"/>
            </a:endParaRPr>
          </a:p>
        </p:txBody>
      </p:sp>
      <p:sp>
        <p:nvSpPr>
          <p:cNvPr id="354" name="文本框 353" descr="{&quot;isTemplate&quot;:true,&quot;type&quot;:&quot;text&quot;}"/>
          <p:cNvSpPr txBox="1"/>
          <p:nvPr/>
        </p:nvSpPr>
        <p:spPr>
          <a:xfrm>
            <a:off x="4114800" y="2819400"/>
            <a:ext cx="7524750" cy="742950"/>
          </a:xfrm>
          <a:prstGeom prst="rect">
            <a:avLst/>
          </a:prstGeom>
        </p:spPr>
        <p:txBody>
          <a:bodyPr wrap="none" lIns="0" tIns="0" rIns="0" bIns="0"/>
          <a:p>
            <a:pPr>
              <a:lnSpc>
                <a:spcPct val="125000"/>
              </a:lnSpc>
            </a:pPr>
            <a:r>
              <a:rPr lang="zh-CN" sz="3900" b="1">
                <a:solidFill>
                  <a:srgbClr val="1F1F1F"/>
                </a:solidFill>
                <a:latin typeface="微软雅黑" panose="020B0503020204020204" charset="-122"/>
                <a:ea typeface="微软雅黑" panose="020B0503020204020204" charset="-122"/>
              </a:rPr>
              <a:t>分时期实证检验</a:t>
            </a:r>
            <a:endParaRPr lang="zh-CN" sz="3900" b="1">
              <a:solidFill>
                <a:srgbClr val="1F1F1F"/>
              </a:solidFill>
              <a:latin typeface="微软雅黑" panose="020B0503020204020204" charset="-122"/>
              <a:ea typeface="微软雅黑" panose="020B0503020204020204" charset="-122"/>
            </a:endParaRPr>
          </a:p>
        </p:txBody>
      </p:sp>
      <p:sp>
        <p:nvSpPr>
          <p:cNvPr id="355" name="矩形 354"/>
          <p:cNvSpPr/>
          <p:nvPr/>
        </p:nvSpPr>
        <p:spPr>
          <a:xfrm>
            <a:off x="4114800" y="3676650"/>
            <a:ext cx="838200" cy="57150"/>
          </a:xfrm>
          <a:prstGeom prst="rect">
            <a:avLst/>
          </a:prstGeom>
          <a:solidFill>
            <a:srgbClr val="01A5B1"/>
          </a:solidFill>
        </p:spPr>
        <p:txBody>
          <a:bodyPr/>
          <a:p/>
        </p:txBody>
      </p:sp>
      <p:sp>
        <p:nvSpPr>
          <p:cNvPr id="356" name="Rectangle 355"/>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TextBox 357"/>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359" name="TextBox 358"/>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360" name="TextBox 359"/>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361" name="TextBox 360"/>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362" name="Rectangle 361"/>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TextBox 362"/>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364" name="TextBox 363"/>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365" name="TextBox 364"/>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366" name="TextBox 365"/>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37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GRS 检验与截距项四指标&lt;/Text&gt;&#10;        &lt;/Box&gt;&#10;&#10;        &lt;Box style={{ height: 544, flexDirection: 'row', gap: 32 }}&gt;&#10;            &lt;Box style={{ width: 522, height: 544, flexDirection: 'column' }}&gt;&#10;                &lt;Box style={{ width: 522, height: 240, background: '#FFFFFF', border: '1px solid #EAEAEA', boxShadow: '0 2px 12px rgba(0,0,0,0.08)', alignItems: 'center', justifyContent: 'center', padding: 8 }}&gt;&#10;                    &lt;Image src=&quot;assets/grs.png&quot; style={{ width: 506, height: 132, objectFit: 'contain' }} /&gt;&#10;                &lt;/Box&gt;&#10;                &lt;Text style={{ width: 522, fontSize: 15, color: '#8A8A8A', marginTop: 8 }}&gt;&#10;                    原文 P199：GRS 检验与另外三个衡量截距项的指标&#10;                &lt;/Text&gt;&#10;                &lt;Box style={{ width: 522, height: 261, background: 'rgba(1,165,177,0.10)', flexDirection: 'row', marginTop: 14 }}&gt;&#10;                    &lt;Box style={{ width: 4, height: 261, background: '#01A5B1' }} /&gt;&#10;                    &lt;Box style={{ width: 518, padding: 16, flexDirection: 'column' }}&gt;&#10;                        &lt;Text style={{ fontSize: 19, fontWeight: 'bold', color: '#01A5B1', marginBottom: 10 }}&gt;GRS 在检验什么&lt;/Text&gt;&#10;                        &lt;Text style={{ width: 486, fontSize: 16.5, color: '#1F1F1F', lineHeight: 1.62 }}&gt;&#10;                            H₀：&lt;span style={{ fontWeight: 'bold' }}&gt;所有股票组合的回归截距项同时为 0&lt;/span&gt;。&lt;br /&gt;&lt;br /&gt;&#10;                            如果定价模型能完全解释横截面上的超额收益率，那么联合检验就不应拒绝原假设。&lt;br /&gt;&#10;                            拒绝得越厉害，说明模型漏掉的东西越多。&#10;                        &lt;/Text&gt;&#10;                    &lt;/Box&gt;&#10;                &lt;/Box&gt;&#10;            &lt;/Box&gt;&#10;&#10;            &lt;Box style={{ width: 566, height: 544, flexDirection: 'column' }}&gt;&#10;                &lt;Box style={{ width: 566, height: 124, background: '#FFFFFF', border: '1px solid #EAEAEA', borderLeft: '4px solid #01A5B1', padding: 14, flexDirection: 'column', marginBottom: 15 }}&gt;&#10;                    &lt;Text style={{ fontSize: 18, fontWeight: 'bold', color: '#01A5B1', marginBottom: 6 }}&gt;指标 ① GRS 统计量&lt;/Text&gt;&#10;                    &lt;Text style={{ width: 534, fontSize: 16, color: '#5A5A5A', lineHeight: 1.52 }}&gt;&#10;                        对全部截距项做联合检验，服从 F(N, T−N−L)。越小越好。&#10;                    &lt;/Text&gt;&#10;                &lt;/Box&gt;&#10;                &lt;Box style={{ width: 566, height: 124, background: '#FFFFFF', border: '1px solid #EAEAEA', borderLeft: '4px solid #01A5B1', padding: 14, flexDirection: 'column', marginBottom: 15 }}&gt;&#10;                    &lt;Text style={{ fontSize: 18, fontWeight: 'bold', color: '#01A5B1', marginBottom: 6 }}&gt;指标 ② A|a|&lt;/Text&gt;&#10;                    &lt;Text style={{ width: 534, fontSize: 16, color: '#5A5A5A', lineHeight: 1.52 }}&gt;&#10;                        25 个（或 32 个）回归截距项绝对值的平均值。衡量&quot;平均漏了多少&quot;。&#10;                    &lt;/Text&gt;&#10;                &lt;/Box&gt;&#10;                &lt;Box style={{ width: 566, height: 124, background: '#FFFFFF', border: '1px solid #EAEAEA', borderLeft: '4px solid #01A5B1', padding: 14, flexDirection: 'column', marginBottom: 15 }}&gt;&#10;                    &lt;Text style={{ fontSize: 18, fontWeight: 'bold', color: '#01A5B1', marginBottom: 6 }}&gt;指标 ③ A|a| / A|r|&lt;/Text&gt;&#10;                    &lt;Text style={{ width: 534, fontSize: 16, color: '#5A5A5A', lineHeight: 1.52 }}&gt;&#10;                        一阶意义上：实际收益率中&lt;span style={{ fontWeight: 'bold', color: '#1F1F1F' }}&gt;不能被模型解释的部分所占比例&lt;/span&gt;。本文用它比较股改前后的市场效率。&#10;                    &lt;/Text&gt;&#10;                &lt;/Box&gt;&#10;                &lt;Box style={{ width: 566, height: 124, background: 'rgba(232,80,58,0.10)', flexDirection: 'row' }}&gt;&#10;                    &lt;Box style={{ width: 4, height: 124, background: '#E8503A' }} /&gt;&#10;                    &lt;Box style={{ width: 562, padding: 14, flexDirection: 'column' }}&gt;&#10;                        &lt;Text style={{ fontSize: 18, fontWeight: 'bold', color: '#E8503A', marginBottom: 6 }}&gt;指标 ④ Aa² / Ar²&lt;/Text&gt;&#10;                        &lt;Text style={{ width: 530, fontSize: 16, color: '#1F1F1F', lineHeight: 1.52 }}&gt;&#10;                            二阶意义上同样的比例。用四个指标一起看，避免单一指标的偶然性。&#10;                        &lt;/Text&gt;&#10;                    &lt;/Box&gt;&#10;                &lt;/Box&gt;&#10;            &lt;/Box&gt;&#10;        &lt;/Box&gt;&#10;&#10;        &lt;Box style={{ height: 40, flexDirection: 'row', justifyContent: 'space-between', alignItems: 'center' }}&gt;&#10;            &lt;Text style={{ fontSize: 14, color: '#8A8A8A' }}&gt;三维结构法 · FF5 中国实证拆解&lt;/Text&gt;&#10;            &lt;Text style={{ fontSize: 14, color: '#8A8A8A' }}&gt;24 / 37&lt;/Text&gt;&#10;        &lt;/Box&gt;&#10;    &lt;/Box&gt;&#10;&lt;/Slide&gt;"/>
        <p:cNvGrpSpPr/>
        <p:nvPr/>
      </p:nvGrpSpPr>
      <p:grpSpPr>
        <a:xfrm>
          <a:off x="0" y="0"/>
          <a:ext cx="0" cy="0"/>
          <a:chOff x="0" y="0"/>
          <a:chExt cx="0" cy="0"/>
        </a:xfrm>
      </p:grpSpPr>
      <p:sp>
        <p:nvSpPr>
          <p:cNvPr id="374" name="矩形 373"/>
          <p:cNvSpPr/>
          <p:nvPr/>
        </p:nvSpPr>
        <p:spPr>
          <a:xfrm>
            <a:off x="0" y="0"/>
            <a:ext cx="12192000" cy="6858000"/>
          </a:xfrm>
          <a:prstGeom prst="rect">
            <a:avLst/>
          </a:prstGeom>
          <a:solidFill>
            <a:srgbClr val="FFFFFF"/>
          </a:solidFill>
        </p:spPr>
        <p:txBody>
          <a:bodyPr/>
          <a:p/>
        </p:txBody>
      </p:sp>
      <p:pic>
        <p:nvPicPr>
          <p:cNvPr id="375" name="图片 374"/>
          <p:cNvPicPr>
            <a:picLocks noChangeAspect="1"/>
          </p:cNvPicPr>
          <p:nvPr/>
        </p:nvPicPr>
        <p:blipFill>
          <a:blip r:embed="rId1"/>
          <a:stretch>
            <a:fillRect/>
          </a:stretch>
        </p:blipFill>
        <p:spPr>
          <a:xfrm>
            <a:off x="0" y="0"/>
            <a:ext cx="12192000" cy="6858000"/>
          </a:xfrm>
          <a:prstGeom prst="rect">
            <a:avLst/>
          </a:prstGeom>
        </p:spPr>
      </p:pic>
      <p:sp>
        <p:nvSpPr>
          <p:cNvPr id="376" name="矩形 375"/>
          <p:cNvSpPr/>
          <p:nvPr/>
        </p:nvSpPr>
        <p:spPr>
          <a:xfrm>
            <a:off x="121285" y="457200"/>
            <a:ext cx="57150" cy="342900"/>
          </a:xfrm>
          <a:prstGeom prst="rect">
            <a:avLst/>
          </a:prstGeom>
          <a:solidFill>
            <a:srgbClr val="01A5B1"/>
          </a:solidFill>
        </p:spPr>
        <p:txBody>
          <a:bodyPr/>
          <a:p/>
        </p:txBody>
      </p:sp>
      <p:sp>
        <p:nvSpPr>
          <p:cNvPr id="377" name="文本框 376"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altLang="en-US" sz="2200" b="1">
                <a:solidFill>
                  <a:srgbClr val="1F1F1F"/>
                </a:solidFill>
                <a:latin typeface="微软雅黑" panose="020B0503020204020204" charset="-122"/>
                <a:ea typeface="微软雅黑" panose="020B0503020204020204" charset="-122"/>
              </a:rPr>
              <a:t>股权分置改革与样本区间划分</a:t>
            </a:r>
            <a:endParaRPr lang="zh-CN" altLang="en-US" sz="2550" b="1">
              <a:solidFill>
                <a:srgbClr val="01A5B1"/>
              </a:solidFill>
              <a:latin typeface="微软雅黑" panose="020B0503020204020204" charset="-122"/>
              <a:ea typeface="微软雅黑" panose="020B0503020204020204" charset="-122"/>
            </a:endParaRPr>
          </a:p>
        </p:txBody>
      </p:sp>
      <p:sp>
        <p:nvSpPr>
          <p:cNvPr id="378" name="矩形 377"/>
          <p:cNvSpPr/>
          <p:nvPr/>
        </p:nvSpPr>
        <p:spPr>
          <a:xfrm>
            <a:off x="762000" y="1104900"/>
            <a:ext cx="4972050" cy="228600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pic>
        <p:nvPicPr>
          <p:cNvPr id="379" name="图片 378" descr="F:\屏幕截图 2026-09-15 123152.png屏幕截图 2026-09-15 123152"/>
          <p:cNvPicPr>
            <a:picLocks noChangeAspect="1"/>
          </p:cNvPicPr>
          <p:nvPr/>
        </p:nvPicPr>
        <p:blipFill>
          <a:blip r:embed="rId2"/>
          <a:srcRect/>
          <a:stretch>
            <a:fillRect/>
          </a:stretch>
        </p:blipFill>
        <p:spPr>
          <a:xfrm>
            <a:off x="683260" y="1104265"/>
            <a:ext cx="5050790" cy="2287270"/>
          </a:xfrm>
          <a:prstGeom prst="rect">
            <a:avLst/>
          </a:prstGeom>
        </p:spPr>
      </p:pic>
      <p:sp>
        <p:nvSpPr>
          <p:cNvPr id="381" name="矩形 380"/>
          <p:cNvSpPr/>
          <p:nvPr/>
        </p:nvSpPr>
        <p:spPr>
          <a:xfrm>
            <a:off x="762000" y="3771900"/>
            <a:ext cx="4972050" cy="2486025"/>
          </a:xfrm>
          <a:prstGeom prst="rect">
            <a:avLst/>
          </a:prstGeom>
          <a:solidFill>
            <a:srgbClr val="01A5B1">
              <a:alpha val="10000"/>
            </a:srgbClr>
          </a:solidFill>
        </p:spPr>
        <p:txBody>
          <a:bodyPr/>
          <a:p/>
        </p:txBody>
      </p:sp>
      <p:sp>
        <p:nvSpPr>
          <p:cNvPr id="382" name="矩形 381"/>
          <p:cNvSpPr/>
          <p:nvPr/>
        </p:nvSpPr>
        <p:spPr>
          <a:xfrm>
            <a:off x="762000" y="3771900"/>
            <a:ext cx="38100" cy="2486025"/>
          </a:xfrm>
          <a:prstGeom prst="rect">
            <a:avLst/>
          </a:prstGeom>
          <a:solidFill>
            <a:srgbClr val="01A5B1"/>
          </a:solidFill>
        </p:spPr>
        <p:txBody>
          <a:bodyPr/>
          <a:p/>
        </p:txBody>
      </p:sp>
      <p:sp>
        <p:nvSpPr>
          <p:cNvPr id="383" name="文本框 382" descr="{&quot;isTemplate&quot;:true,&quot;type&quot;:&quot;text&quot;}"/>
          <p:cNvSpPr txBox="1"/>
          <p:nvPr/>
        </p:nvSpPr>
        <p:spPr>
          <a:xfrm>
            <a:off x="952500" y="3924300"/>
            <a:ext cx="4629150" cy="219075"/>
          </a:xfrm>
          <a:prstGeom prst="rect">
            <a:avLst/>
          </a:prstGeom>
        </p:spPr>
        <p:txBody>
          <a:bodyPr wrap="none" lIns="0" tIns="0" rIns="0" bIns="0"/>
          <a:p>
            <a:pPr algn="l">
              <a:lnSpc>
                <a:spcPct val="100000"/>
              </a:lnSpc>
            </a:pPr>
            <a:r>
              <a:rPr lang="en-US" sz="1425" b="1">
                <a:solidFill>
                  <a:srgbClr val="01A5B1"/>
                </a:solidFill>
                <a:latin typeface="微软雅黑" panose="020B0503020204020204" charset="-122"/>
                <a:ea typeface="微软雅黑" panose="020B0503020204020204" charset="-122"/>
              </a:rPr>
              <a:t>Fama‑French 五因子的分组规则：</a:t>
            </a:r>
            <a:endParaRPr lang="en-US" sz="1425" b="1">
              <a:solidFill>
                <a:srgbClr val="01A5B1"/>
              </a:solidFill>
              <a:latin typeface="微软雅黑" panose="020B0503020204020204" charset="-122"/>
              <a:ea typeface="微软雅黑" panose="020B0503020204020204" charset="-122"/>
            </a:endParaRPr>
          </a:p>
          <a:p>
            <a:pPr algn="l">
              <a:lnSpc>
                <a:spcPct val="100000"/>
              </a:lnSpc>
            </a:pPr>
            <a:r>
              <a:rPr lang="en-US" sz="1425" b="1">
                <a:solidFill>
                  <a:srgbClr val="01A5B1"/>
                </a:solidFill>
                <a:latin typeface="微软雅黑" panose="020B0503020204020204" charset="-122"/>
                <a:ea typeface="微软雅黑" panose="020B0503020204020204" charset="-122"/>
              </a:rPr>
              <a:t>每年 6 月末，利用上一年财务数据对股票分组，构造接下来</a:t>
            </a:r>
            <a:endParaRPr lang="en-US" sz="1425" b="1">
              <a:solidFill>
                <a:srgbClr val="01A5B1"/>
              </a:solidFill>
              <a:latin typeface="微软雅黑" panose="020B0503020204020204" charset="-122"/>
              <a:ea typeface="微软雅黑" panose="020B0503020204020204" charset="-122"/>
            </a:endParaRPr>
          </a:p>
          <a:p>
            <a:pPr algn="l">
              <a:lnSpc>
                <a:spcPct val="100000"/>
              </a:lnSpc>
            </a:pPr>
            <a:r>
              <a:rPr lang="en-US" sz="1425" b="1">
                <a:solidFill>
                  <a:srgbClr val="01A5B1"/>
                </a:solidFill>
                <a:latin typeface="微软雅黑" panose="020B0503020204020204" charset="-122"/>
                <a:ea typeface="微软雅黑" panose="020B0503020204020204" charset="-122"/>
              </a:rPr>
              <a:t> 7 月到次年 6 月的投资组合与因子。 </a:t>
            </a:r>
            <a:endParaRPr lang="zh-CN" sz="1425" b="1">
              <a:solidFill>
                <a:srgbClr val="01A5B1"/>
              </a:solidFill>
              <a:latin typeface="微软雅黑" panose="020B0503020204020204" charset="-122"/>
              <a:ea typeface="微软雅黑" panose="020B0503020204020204" charset="-122"/>
            </a:endParaRPr>
          </a:p>
        </p:txBody>
      </p:sp>
      <p:sp>
        <p:nvSpPr>
          <p:cNvPr id="384" name="文本框 383" descr="{&quot;isTemplate&quot;:true,&quot;type&quot;:&quot;text&quot;}"/>
          <p:cNvSpPr txBox="1"/>
          <p:nvPr/>
        </p:nvSpPr>
        <p:spPr>
          <a:xfrm>
            <a:off x="876300" y="4488688"/>
            <a:ext cx="4782185" cy="2021840"/>
          </a:xfrm>
          <a:prstGeom prst="rect">
            <a:avLst/>
          </a:prstGeom>
        </p:spPr>
        <p:txBody>
          <a:bodyPr wrap="square" lIns="0" tIns="0" rIns="0" bIns="0">
            <a:normAutofit fontScale="90000"/>
          </a:bodyPr>
          <a:p>
            <a:pPr>
              <a:lnSpc>
                <a:spcPct val="162000"/>
              </a:lnSpc>
            </a:pPr>
            <a:r>
              <a:rPr lang="zh-CN" sz="1240" b="1">
                <a:solidFill>
                  <a:srgbClr val="1F1F1F"/>
                </a:solidFill>
                <a:latin typeface="微软雅黑" panose="020B0503020204020204" charset="-122"/>
                <a:ea typeface="微软雅黑" panose="020B0503020204020204" charset="-122"/>
              </a:rPr>
              <a:t>1. 财务数据、股票分组是年度更新，每年 6 月调仓；</a:t>
            </a:r>
            <a:endParaRPr lang="zh-CN" sz="1240" b="1">
              <a:solidFill>
                <a:srgbClr val="1F1F1F"/>
              </a:solidFill>
              <a:latin typeface="微软雅黑" panose="020B0503020204020204" charset="-122"/>
              <a:ea typeface="微软雅黑" panose="020B0503020204020204" charset="-122"/>
            </a:endParaRPr>
          </a:p>
          <a:p>
            <a:pPr>
              <a:lnSpc>
                <a:spcPct val="162000"/>
              </a:lnSpc>
            </a:pPr>
            <a:r>
              <a:rPr lang="zh-CN" sz="1240" b="1">
                <a:solidFill>
                  <a:srgbClr val="1F1F1F"/>
                </a:solidFill>
                <a:latin typeface="微软雅黑" panose="020B0503020204020204" charset="-122"/>
                <a:ea typeface="微软雅黑" panose="020B0503020204020204" charset="-122"/>
              </a:rPr>
              <a:t>2. 2006 年 12 月大批公司完成股改，但这个时间不在模型的分组调仓节点；</a:t>
            </a:r>
            <a:endParaRPr lang="zh-CN" sz="1240" b="1">
              <a:solidFill>
                <a:srgbClr val="1F1F1F"/>
              </a:solidFill>
              <a:latin typeface="微软雅黑" panose="020B0503020204020204" charset="-122"/>
              <a:ea typeface="微软雅黑" panose="020B0503020204020204" charset="-122"/>
            </a:endParaRPr>
          </a:p>
          <a:p>
            <a:pPr>
              <a:lnSpc>
                <a:spcPct val="162000"/>
              </a:lnSpc>
            </a:pPr>
            <a:r>
              <a:rPr lang="zh-CN" sz="1240" b="1">
                <a:solidFill>
                  <a:srgbClr val="1F1F1F"/>
                </a:solidFill>
                <a:latin typeface="微软雅黑" panose="020B0503020204020204" charset="-122"/>
                <a:ea typeface="微软雅黑" panose="020B0503020204020204" charset="-122"/>
              </a:rPr>
              <a:t>3. 到2007 年 6 月，进行新一轮分组时，市场已经充分消化股改制度变革，绝大多数上市公司已经完成股改。此时切割样本，才能够保证前后两个子样本内部，组合构建规则保持一致。</a:t>
            </a:r>
            <a:endParaRPr lang="zh-CN" sz="1240" b="1">
              <a:solidFill>
                <a:srgbClr val="1F1F1F"/>
              </a:solidFill>
              <a:latin typeface="微软雅黑" panose="020B0503020204020204" charset="-122"/>
              <a:ea typeface="微软雅黑" panose="020B0503020204020204" charset="-122"/>
            </a:endParaRPr>
          </a:p>
          <a:p>
            <a:pPr>
              <a:lnSpc>
                <a:spcPct val="162000"/>
              </a:lnSpc>
            </a:pPr>
            <a:r>
              <a:rPr lang="zh-CN" sz="1240" b="1">
                <a:solidFill>
                  <a:srgbClr val="1F1F1F"/>
                </a:solidFill>
                <a:latin typeface="微软雅黑" panose="020B0503020204020204" charset="-122"/>
                <a:ea typeface="微软雅黑" panose="020B0503020204020204" charset="-122"/>
              </a:rPr>
              <a:t> </a:t>
            </a:r>
            <a:endParaRPr lang="zh-CN" sz="1240" b="1">
              <a:solidFill>
                <a:srgbClr val="1F1F1F"/>
              </a:solidFill>
              <a:latin typeface="微软雅黑" panose="020B0503020204020204" charset="-122"/>
              <a:ea typeface="微软雅黑" panose="020B0503020204020204" charset="-122"/>
            </a:endParaRPr>
          </a:p>
          <a:p>
            <a:pPr>
              <a:lnSpc>
                <a:spcPct val="162000"/>
              </a:lnSpc>
            </a:pPr>
            <a:endParaRPr lang="zh-CN" sz="1240">
              <a:solidFill>
                <a:srgbClr val="1F1F1F"/>
              </a:solidFill>
              <a:latin typeface="微软雅黑" panose="020B0503020204020204" charset="-122"/>
              <a:ea typeface="微软雅黑" panose="020B0503020204020204" charset="-122"/>
            </a:endParaRPr>
          </a:p>
        </p:txBody>
      </p:sp>
      <p:sp>
        <p:nvSpPr>
          <p:cNvPr id="385" name="矩形 384"/>
          <p:cNvSpPr/>
          <p:nvPr/>
        </p:nvSpPr>
        <p:spPr>
          <a:xfrm>
            <a:off x="6076950" y="1104900"/>
            <a:ext cx="5353050" cy="1181100"/>
          </a:xfrm>
          <a:prstGeom prst="rect">
            <a:avLst/>
          </a:prstGeom>
          <a:solidFill>
            <a:srgbClr val="FFFFFF"/>
          </a:solidFill>
        </p:spPr>
        <p:txBody>
          <a:bodyPr/>
          <a:p/>
        </p:txBody>
      </p:sp>
      <p:sp>
        <p:nvSpPr>
          <p:cNvPr id="386" name="任意多边形 385"/>
          <p:cNvSpPr/>
          <p:nvPr/>
        </p:nvSpPr>
        <p:spPr>
          <a:xfrm>
            <a:off x="6038850" y="1104900"/>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87" name="文本框 386" descr="{&quot;isTemplate&quot;:true,&quot;type&quot;:&quot;text&quot;}"/>
          <p:cNvSpPr txBox="1"/>
          <p:nvPr/>
        </p:nvSpPr>
        <p:spPr>
          <a:xfrm>
            <a:off x="6210300" y="1238250"/>
            <a:ext cx="5086350" cy="209550"/>
          </a:xfrm>
          <a:prstGeom prst="rect">
            <a:avLst/>
          </a:prstGeom>
        </p:spPr>
        <p:txBody>
          <a:bodyPr wrap="none" lIns="0" tIns="0" rIns="0" bIns="0"/>
          <a:p>
            <a:pPr algn="l">
              <a:lnSpc>
                <a:spcPct val="100000"/>
              </a:lnSpc>
            </a:pPr>
            <a:r>
              <a:rPr lang="zh-CN" sz="1350" b="1">
                <a:solidFill>
                  <a:srgbClr val="01A5B1"/>
                </a:solidFill>
                <a:latin typeface="微软雅黑" panose="020B0503020204020204" charset="-122"/>
                <a:ea typeface="微软雅黑" panose="020B0503020204020204" charset="-122"/>
              </a:rPr>
              <a:t>股权分置含义：</a:t>
            </a:r>
            <a:endParaRPr lang="zh-CN" sz="1350" b="1">
              <a:solidFill>
                <a:srgbClr val="01A5B1"/>
              </a:solidFill>
              <a:latin typeface="微软雅黑" panose="020B0503020204020204" charset="-122"/>
              <a:ea typeface="微软雅黑" panose="020B0503020204020204" charset="-122"/>
            </a:endParaRPr>
          </a:p>
        </p:txBody>
      </p:sp>
      <p:sp>
        <p:nvSpPr>
          <p:cNvPr id="388" name="文本框 387" descr="{&quot;isTemplate&quot;:true,&quot;type&quot;:&quot;text&quot;}"/>
          <p:cNvSpPr txBox="1"/>
          <p:nvPr/>
        </p:nvSpPr>
        <p:spPr>
          <a:xfrm>
            <a:off x="6210300" y="1504950"/>
            <a:ext cx="5166995" cy="669290"/>
          </a:xfrm>
          <a:prstGeom prst="rect">
            <a:avLst/>
          </a:prstGeom>
        </p:spPr>
        <p:txBody>
          <a:bodyPr wrap="none" lIns="0" tIns="0" rIns="0" bIns="0"/>
          <a:p>
            <a:pPr algn="l">
              <a:lnSpc>
                <a:spcPct val="152000"/>
              </a:lnSpc>
            </a:pPr>
            <a:r>
              <a:rPr lang="zh-CN" sz="1200">
                <a:solidFill>
                  <a:srgbClr val="5A5A5A"/>
                </a:solidFill>
                <a:latin typeface="微软雅黑" panose="020B0503020204020204" charset="-122"/>
                <a:ea typeface="微软雅黑" panose="020B0503020204020204" charset="-122"/>
              </a:rPr>
              <a:t>早期 A 股上市公司股份分为两部分：一部分是可以在二级市场交易的流通股；</a:t>
            </a:r>
            <a:endParaRPr lang="zh-CN" sz="1200">
              <a:solidFill>
                <a:srgbClr val="5A5A5A"/>
              </a:solidFill>
              <a:latin typeface="微软雅黑" panose="020B0503020204020204" charset="-122"/>
              <a:ea typeface="微软雅黑" panose="020B0503020204020204" charset="-122"/>
            </a:endParaRPr>
          </a:p>
          <a:p>
            <a:pPr algn="l">
              <a:lnSpc>
                <a:spcPct val="152000"/>
              </a:lnSpc>
            </a:pPr>
            <a:r>
              <a:rPr lang="zh-CN" sz="1200">
                <a:solidFill>
                  <a:srgbClr val="5A5A5A"/>
                </a:solidFill>
                <a:latin typeface="微软雅黑" panose="020B0503020204020204" charset="-122"/>
                <a:ea typeface="微软雅黑" panose="020B0503020204020204" charset="-122"/>
              </a:rPr>
              <a:t>另一部分是国有股、法人股，属于非流通股，不能在股市自由买卖。</a:t>
            </a:r>
            <a:endParaRPr lang="zh-CN" sz="1200">
              <a:solidFill>
                <a:srgbClr val="5A5A5A"/>
              </a:solidFill>
              <a:latin typeface="微软雅黑" panose="020B0503020204020204" charset="-122"/>
              <a:ea typeface="微软雅黑" panose="020B0503020204020204" charset="-122"/>
            </a:endParaRPr>
          </a:p>
        </p:txBody>
      </p:sp>
      <p:sp>
        <p:nvSpPr>
          <p:cNvPr id="389" name="矩形 388"/>
          <p:cNvSpPr/>
          <p:nvPr/>
        </p:nvSpPr>
        <p:spPr>
          <a:xfrm>
            <a:off x="6076950" y="2428875"/>
            <a:ext cx="5353050" cy="1181100"/>
          </a:xfrm>
          <a:prstGeom prst="rect">
            <a:avLst/>
          </a:prstGeom>
          <a:solidFill>
            <a:srgbClr val="FFFFFF"/>
          </a:solidFill>
        </p:spPr>
        <p:txBody>
          <a:bodyPr/>
          <a:p/>
        </p:txBody>
      </p:sp>
      <p:sp>
        <p:nvSpPr>
          <p:cNvPr id="390" name="任意多边形 389"/>
          <p:cNvSpPr/>
          <p:nvPr/>
        </p:nvSpPr>
        <p:spPr>
          <a:xfrm>
            <a:off x="6038850" y="2428875"/>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1" name="文本框 390" descr="{&quot;isTemplate&quot;:true,&quot;type&quot;:&quot;text&quot;}"/>
          <p:cNvSpPr txBox="1"/>
          <p:nvPr/>
        </p:nvSpPr>
        <p:spPr>
          <a:xfrm>
            <a:off x="6210300" y="2562225"/>
            <a:ext cx="5086350" cy="209550"/>
          </a:xfrm>
          <a:prstGeom prst="rect">
            <a:avLst/>
          </a:prstGeom>
        </p:spPr>
        <p:txBody>
          <a:bodyPr wrap="none" lIns="0" tIns="0" rIns="0" bIns="0"/>
          <a:p>
            <a:pPr>
              <a:lnSpc>
                <a:spcPct val="100000"/>
              </a:lnSpc>
            </a:pPr>
            <a:r>
              <a:rPr lang="en-US" sz="1350" b="1">
                <a:solidFill>
                  <a:srgbClr val="01A5B1"/>
                </a:solidFill>
                <a:latin typeface="微软雅黑" panose="020B0503020204020204" charset="-122"/>
                <a:ea typeface="微软雅黑" panose="020B0503020204020204" charset="-122"/>
              </a:rPr>
              <a:t> </a:t>
            </a:r>
            <a:r>
              <a:rPr lang="zh-CN" altLang="en-US" sz="1350" b="1">
                <a:solidFill>
                  <a:srgbClr val="01A5B1"/>
                </a:solidFill>
                <a:latin typeface="微软雅黑" panose="020B0503020204020204" charset="-122"/>
                <a:ea typeface="微软雅黑" panose="020B0503020204020204" charset="-122"/>
              </a:rPr>
              <a:t>利益分割含义：</a:t>
            </a:r>
            <a:endParaRPr lang="zh-CN" altLang="en-US" sz="1350" b="1">
              <a:solidFill>
                <a:srgbClr val="01A5B1"/>
              </a:solidFill>
              <a:latin typeface="微软雅黑" panose="020B0503020204020204" charset="-122"/>
              <a:ea typeface="微软雅黑" panose="020B0503020204020204" charset="-122"/>
            </a:endParaRPr>
          </a:p>
        </p:txBody>
      </p:sp>
      <p:sp>
        <p:nvSpPr>
          <p:cNvPr id="392" name="文本框 391" descr="{&quot;isTemplate&quot;:true,&quot;type&quot;:&quot;text&quot;}"/>
          <p:cNvSpPr txBox="1"/>
          <p:nvPr/>
        </p:nvSpPr>
        <p:spPr>
          <a:xfrm>
            <a:off x="6210300" y="2771775"/>
            <a:ext cx="5219700" cy="893445"/>
          </a:xfrm>
          <a:prstGeom prst="rect">
            <a:avLst/>
          </a:prstGeom>
        </p:spPr>
        <p:txBody>
          <a:bodyPr wrap="none" lIns="0" tIns="0" rIns="0" bIns="0"/>
          <a:p>
            <a:pPr algn="l">
              <a:lnSpc>
                <a:spcPct val="152000"/>
              </a:lnSpc>
            </a:pPr>
            <a:r>
              <a:rPr lang="en-US" sz="1200">
                <a:solidFill>
                  <a:srgbClr val="5A5A5A"/>
                </a:solidFill>
                <a:latin typeface="微软雅黑" panose="020B0503020204020204" charset="-122"/>
                <a:ea typeface="微软雅黑" panose="020B0503020204020204" charset="-122"/>
              </a:rPr>
              <a:t>1.流通股股东靠股价上涨、二级市场交易获利；</a:t>
            </a:r>
            <a:endParaRPr lang="en-US" sz="1200">
              <a:solidFill>
                <a:srgbClr val="5A5A5A"/>
              </a:solidFill>
              <a:latin typeface="微软雅黑" panose="020B0503020204020204" charset="-122"/>
              <a:ea typeface="微软雅黑" panose="020B0503020204020204" charset="-122"/>
            </a:endParaRPr>
          </a:p>
          <a:p>
            <a:pPr algn="l">
              <a:lnSpc>
                <a:spcPct val="152000"/>
              </a:lnSpc>
            </a:pPr>
            <a:r>
              <a:rPr lang="en-US" altLang="zh-CN" sz="1200">
                <a:solidFill>
                  <a:srgbClr val="5A5A5A"/>
                </a:solidFill>
                <a:latin typeface="微软雅黑" panose="020B0503020204020204" charset="-122"/>
                <a:ea typeface="微软雅黑" panose="020B0503020204020204" charset="-122"/>
              </a:rPr>
              <a:t>2.</a:t>
            </a:r>
            <a:r>
              <a:rPr lang="zh-CN" sz="1200">
                <a:solidFill>
                  <a:srgbClr val="5A5A5A"/>
                </a:solidFill>
                <a:latin typeface="微软雅黑" panose="020B0503020204020204" charset="-122"/>
                <a:ea typeface="微软雅黑" panose="020B0503020204020204" charset="-122"/>
              </a:rPr>
              <a:t>非流通大股东股份不能卖出，财富几乎和二级市场股价无关，更倾向通过</a:t>
            </a:r>
            <a:endParaRPr lang="zh-CN" sz="1200">
              <a:solidFill>
                <a:srgbClr val="5A5A5A"/>
              </a:solidFill>
              <a:latin typeface="微软雅黑" panose="020B0503020204020204" charset="-122"/>
              <a:ea typeface="微软雅黑" panose="020B0503020204020204" charset="-122"/>
            </a:endParaRPr>
          </a:p>
          <a:p>
            <a:pPr algn="l">
              <a:lnSpc>
                <a:spcPct val="152000"/>
              </a:lnSpc>
            </a:pPr>
            <a:r>
              <a:rPr lang="zh-CN" sz="1200">
                <a:solidFill>
                  <a:srgbClr val="5A5A5A"/>
                </a:solidFill>
                <a:latin typeface="微软雅黑" panose="020B0503020204020204" charset="-122"/>
                <a:ea typeface="微软雅黑" panose="020B0503020204020204" charset="-122"/>
              </a:rPr>
              <a:t>关联交易、资金占用、过度投资等方式从上市公司攫取利益</a:t>
            </a:r>
            <a:endParaRPr lang="zh-CN" sz="1200">
              <a:solidFill>
                <a:srgbClr val="5A5A5A"/>
              </a:solidFill>
              <a:latin typeface="微软雅黑" panose="020B0503020204020204" charset="-122"/>
              <a:ea typeface="微软雅黑" panose="020B0503020204020204" charset="-122"/>
            </a:endParaRPr>
          </a:p>
        </p:txBody>
      </p:sp>
      <p:sp>
        <p:nvSpPr>
          <p:cNvPr id="393" name="矩形 392"/>
          <p:cNvSpPr/>
          <p:nvPr/>
        </p:nvSpPr>
        <p:spPr>
          <a:xfrm>
            <a:off x="6076950" y="3752850"/>
            <a:ext cx="5353050" cy="1181100"/>
          </a:xfrm>
          <a:prstGeom prst="rect">
            <a:avLst/>
          </a:prstGeom>
          <a:solidFill>
            <a:srgbClr val="FFFFFF"/>
          </a:solidFill>
        </p:spPr>
        <p:txBody>
          <a:bodyPr/>
          <a:p/>
        </p:txBody>
      </p:sp>
      <p:sp>
        <p:nvSpPr>
          <p:cNvPr id="394" name="任意多边形 393"/>
          <p:cNvSpPr/>
          <p:nvPr/>
        </p:nvSpPr>
        <p:spPr>
          <a:xfrm>
            <a:off x="6038850" y="3752850"/>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5" name="文本框 394" descr="{&quot;isTemplate&quot;:true,&quot;type&quot;:&quot;text&quot;}"/>
          <p:cNvSpPr txBox="1"/>
          <p:nvPr/>
        </p:nvSpPr>
        <p:spPr>
          <a:xfrm>
            <a:off x="6210300" y="3886200"/>
            <a:ext cx="5086350" cy="209550"/>
          </a:xfrm>
          <a:prstGeom prst="rect">
            <a:avLst/>
          </a:prstGeom>
        </p:spPr>
        <p:txBody>
          <a:bodyPr wrap="none" lIns="0" tIns="0" rIns="0" bIns="0"/>
          <a:p>
            <a:pPr algn="l">
              <a:lnSpc>
                <a:spcPct val="100000"/>
              </a:lnSpc>
            </a:pPr>
            <a:r>
              <a:rPr lang="en-US" sz="1350" b="1">
                <a:solidFill>
                  <a:srgbClr val="01A5B1"/>
                </a:solidFill>
                <a:latin typeface="微软雅黑" panose="020B0503020204020204" charset="-122"/>
                <a:ea typeface="微软雅黑" panose="020B0503020204020204" charset="-122"/>
              </a:rPr>
              <a:t>邹至庄检验（Chow test）的作用</a:t>
            </a:r>
            <a:r>
              <a:rPr lang="zh-CN" altLang="en-US" sz="1350" b="1">
                <a:solidFill>
                  <a:srgbClr val="01A5B1"/>
                </a:solidFill>
                <a:latin typeface="微软雅黑" panose="020B0503020204020204" charset="-122"/>
                <a:ea typeface="微软雅黑" panose="020B0503020204020204" charset="-122"/>
              </a:rPr>
              <a:t>：</a:t>
            </a:r>
            <a:endParaRPr lang="zh-CN" altLang="en-US" sz="1350" b="1">
              <a:solidFill>
                <a:srgbClr val="01A5B1"/>
              </a:solidFill>
              <a:latin typeface="微软雅黑" panose="020B0503020204020204" charset="-122"/>
              <a:ea typeface="微软雅黑" panose="020B0503020204020204" charset="-122"/>
            </a:endParaRPr>
          </a:p>
        </p:txBody>
      </p:sp>
      <p:sp>
        <p:nvSpPr>
          <p:cNvPr id="396" name="文本框 395" descr="{&quot;isTemplate&quot;:true,&quot;type&quot;:&quot;text&quot;}"/>
          <p:cNvSpPr txBox="1"/>
          <p:nvPr/>
        </p:nvSpPr>
        <p:spPr>
          <a:xfrm>
            <a:off x="6210300" y="4143375"/>
            <a:ext cx="5086350" cy="726440"/>
          </a:xfrm>
          <a:prstGeom prst="rect">
            <a:avLst/>
          </a:prstGeom>
        </p:spPr>
        <p:txBody>
          <a:bodyPr wrap="square" lIns="0" tIns="0" rIns="0" bIns="0">
            <a:normAutofit lnSpcReduction="20000"/>
          </a:bodyPr>
          <a:p>
            <a:pPr>
              <a:lnSpc>
                <a:spcPct val="152000"/>
              </a:lnSpc>
            </a:pPr>
            <a:r>
              <a:rPr lang="zh-CN" sz="1200">
                <a:solidFill>
                  <a:srgbClr val="5A5A5A"/>
                </a:solidFill>
                <a:latin typeface="微软雅黑" panose="020B0503020204020204" charset="-122"/>
                <a:ea typeface="微软雅黑" panose="020B0503020204020204" charset="-122"/>
              </a:rPr>
              <a:t>检验回归模型在两个子样本，是否是同一套回归关系；即检验是否发生结构性突变。不能直接回答变化来自市场效率提升还是其他因素，只能支持 “应当分样本回归”。</a:t>
            </a:r>
            <a:endParaRPr lang="zh-CN" sz="1200">
              <a:solidFill>
                <a:srgbClr val="5A5A5A"/>
              </a:solidFill>
              <a:latin typeface="微软雅黑" panose="020B0503020204020204" charset="-122"/>
              <a:ea typeface="微软雅黑" panose="020B0503020204020204" charset="-122"/>
            </a:endParaRPr>
          </a:p>
          <a:p>
            <a:pPr>
              <a:lnSpc>
                <a:spcPct val="152000"/>
              </a:lnSpc>
            </a:pPr>
            <a:endParaRPr lang="zh-CN" sz="1200">
              <a:solidFill>
                <a:srgbClr val="5A5A5A"/>
              </a:solidFill>
              <a:latin typeface="微软雅黑" panose="020B0503020204020204" charset="-122"/>
              <a:ea typeface="微软雅黑" panose="020B0503020204020204" charset="-122"/>
            </a:endParaRPr>
          </a:p>
        </p:txBody>
      </p:sp>
      <p:sp>
        <p:nvSpPr>
          <p:cNvPr id="397" name="矩形 396"/>
          <p:cNvSpPr/>
          <p:nvPr/>
        </p:nvSpPr>
        <p:spPr>
          <a:xfrm>
            <a:off x="6038850" y="5076825"/>
            <a:ext cx="5391150" cy="1181100"/>
          </a:xfrm>
          <a:prstGeom prst="rect">
            <a:avLst/>
          </a:prstGeom>
          <a:solidFill>
            <a:srgbClr val="E8503A">
              <a:alpha val="10000"/>
            </a:srgbClr>
          </a:solidFill>
        </p:spPr>
        <p:txBody>
          <a:bodyPr/>
          <a:p/>
        </p:txBody>
      </p:sp>
      <p:sp>
        <p:nvSpPr>
          <p:cNvPr id="398" name="矩形 397"/>
          <p:cNvSpPr/>
          <p:nvPr/>
        </p:nvSpPr>
        <p:spPr>
          <a:xfrm>
            <a:off x="6038850" y="5076825"/>
            <a:ext cx="38100" cy="1181100"/>
          </a:xfrm>
          <a:prstGeom prst="rect">
            <a:avLst/>
          </a:prstGeom>
          <a:solidFill>
            <a:srgbClr val="E8503A"/>
          </a:solidFill>
        </p:spPr>
        <p:txBody>
          <a:bodyPr/>
          <a:p/>
        </p:txBody>
      </p:sp>
      <p:sp>
        <p:nvSpPr>
          <p:cNvPr id="399" name="文本框 398" descr="{&quot;isTemplate&quot;:true,&quot;type&quot;:&quot;text&quot;}"/>
          <p:cNvSpPr txBox="1"/>
          <p:nvPr/>
        </p:nvSpPr>
        <p:spPr>
          <a:xfrm>
            <a:off x="6210300" y="5210175"/>
            <a:ext cx="5086350" cy="209550"/>
          </a:xfrm>
          <a:prstGeom prst="rect">
            <a:avLst/>
          </a:prstGeom>
        </p:spPr>
        <p:txBody>
          <a:bodyPr wrap="none" lIns="0" tIns="0" rIns="0" bIns="0"/>
          <a:p>
            <a:pPr algn="l">
              <a:lnSpc>
                <a:spcPct val="100000"/>
              </a:lnSpc>
            </a:pPr>
            <a:r>
              <a:rPr lang="zh-CN" sz="1350" b="1">
                <a:solidFill>
                  <a:srgbClr val="E8503A"/>
                </a:solidFill>
                <a:latin typeface="微软雅黑" panose="020B0503020204020204" charset="-122"/>
                <a:ea typeface="微软雅黑" panose="020B0503020204020204" charset="-122"/>
              </a:rPr>
              <a:t>为什么分界点不是 2005/2006，而是选择 2007 年 6 月？</a:t>
            </a:r>
            <a:endParaRPr lang="en-US" sz="1350" b="1">
              <a:solidFill>
                <a:srgbClr val="E8503A"/>
              </a:solidFill>
              <a:latin typeface="微软雅黑" panose="020B0503020204020204" charset="-122"/>
              <a:ea typeface="微软雅黑" panose="020B0503020204020204" charset="-122"/>
            </a:endParaRPr>
          </a:p>
        </p:txBody>
      </p:sp>
      <p:sp>
        <p:nvSpPr>
          <p:cNvPr id="400" name="文本框 399" descr="{&quot;isTemplate&quot;:true,&quot;type&quot;:&quot;text&quot;}"/>
          <p:cNvSpPr txBox="1"/>
          <p:nvPr/>
        </p:nvSpPr>
        <p:spPr>
          <a:xfrm>
            <a:off x="6210300" y="5476875"/>
            <a:ext cx="5219700" cy="781050"/>
          </a:xfrm>
          <a:prstGeom prst="rect">
            <a:avLst/>
          </a:prstGeom>
        </p:spPr>
        <p:txBody>
          <a:bodyPr wrap="none" lIns="0" tIns="0" rIns="0" bIns="0"/>
          <a:p>
            <a:pPr algn="l">
              <a:lnSpc>
                <a:spcPct val="152000"/>
              </a:lnSpc>
            </a:pPr>
            <a:r>
              <a:rPr lang="zh-CN" sz="1200">
                <a:solidFill>
                  <a:srgbClr val="1F1F1F"/>
                </a:solidFill>
                <a:latin typeface="微软雅黑" panose="020B0503020204020204" charset="-122"/>
                <a:ea typeface="微软雅黑" panose="020B0503020204020204" charset="-122"/>
              </a:rPr>
              <a:t>改革启动时点：200</a:t>
            </a:r>
            <a:r>
              <a:rPr lang="en-US" altLang="zh-CN" sz="1200">
                <a:solidFill>
                  <a:srgbClr val="1F1F1F"/>
                </a:solidFill>
                <a:latin typeface="微软雅黑" panose="020B0503020204020204" charset="-122"/>
                <a:ea typeface="微软雅黑" panose="020B0503020204020204" charset="-122"/>
              </a:rPr>
              <a:t>5.</a:t>
            </a:r>
            <a:r>
              <a:rPr lang="zh-CN" sz="1200">
                <a:solidFill>
                  <a:srgbClr val="1F1F1F"/>
                </a:solidFill>
                <a:latin typeface="微软雅黑" panose="020B0503020204020204" charset="-122"/>
                <a:ea typeface="微软雅黑" panose="020B0503020204020204" charset="-122"/>
              </a:rPr>
              <a:t>04</a:t>
            </a:r>
            <a:r>
              <a:rPr lang="en-US" altLang="zh-CN" sz="1200">
                <a:solidFill>
                  <a:srgbClr val="1F1F1F"/>
                </a:solidFill>
                <a:latin typeface="微软雅黑" panose="020B0503020204020204" charset="-122"/>
                <a:ea typeface="微软雅黑" panose="020B0503020204020204" charset="-122"/>
              </a:rPr>
              <a:t>.29</a:t>
            </a:r>
            <a:r>
              <a:rPr lang="zh-CN" sz="1200">
                <a:solidFill>
                  <a:srgbClr val="1F1F1F"/>
                </a:solidFill>
                <a:latin typeface="微软雅黑" panose="020B0503020204020204" charset="-122"/>
                <a:ea typeface="微软雅黑" panose="020B0503020204020204" charset="-122"/>
              </a:rPr>
              <a:t>；大面积基本完成在</a:t>
            </a:r>
            <a:r>
              <a:rPr lang="en-US" altLang="zh-CN" sz="1200">
                <a:solidFill>
                  <a:srgbClr val="1F1F1F"/>
                </a:solidFill>
                <a:latin typeface="微软雅黑" panose="020B0503020204020204" charset="-122"/>
                <a:ea typeface="微软雅黑" panose="020B0503020204020204" charset="-122"/>
              </a:rPr>
              <a:t>2</a:t>
            </a:r>
            <a:r>
              <a:rPr lang="zh-CN" sz="1200">
                <a:solidFill>
                  <a:srgbClr val="1F1F1F"/>
                </a:solidFill>
                <a:latin typeface="微软雅黑" panose="020B0503020204020204" charset="-122"/>
                <a:ea typeface="微软雅黑" panose="020B0503020204020204" charset="-122"/>
              </a:rPr>
              <a:t>00</a:t>
            </a:r>
            <a:r>
              <a:rPr lang="en-US" altLang="zh-CN" sz="1200">
                <a:solidFill>
                  <a:srgbClr val="1F1F1F"/>
                </a:solidFill>
                <a:latin typeface="微软雅黑" panose="020B0503020204020204" charset="-122"/>
                <a:ea typeface="微软雅黑" panose="020B0503020204020204" charset="-122"/>
              </a:rPr>
              <a:t>6.</a:t>
            </a:r>
            <a:r>
              <a:rPr lang="zh-CN" sz="1200">
                <a:solidFill>
                  <a:srgbClr val="1F1F1F"/>
                </a:solidFill>
                <a:latin typeface="微软雅黑" panose="020B0503020204020204" charset="-122"/>
                <a:ea typeface="微软雅黑" panose="020B0503020204020204" charset="-122"/>
              </a:rPr>
              <a:t>12，这里出现一个关键</a:t>
            </a:r>
            <a:endParaRPr lang="zh-CN" sz="1200">
              <a:solidFill>
                <a:srgbClr val="1F1F1F"/>
              </a:solidFill>
              <a:latin typeface="微软雅黑" panose="020B0503020204020204" charset="-122"/>
              <a:ea typeface="微软雅黑" panose="020B0503020204020204" charset="-122"/>
            </a:endParaRPr>
          </a:p>
          <a:p>
            <a:pPr algn="l">
              <a:lnSpc>
                <a:spcPct val="152000"/>
              </a:lnSpc>
            </a:pPr>
            <a:r>
              <a:rPr lang="zh-CN" sz="1200">
                <a:solidFill>
                  <a:srgbClr val="1F1F1F"/>
                </a:solidFill>
                <a:latin typeface="微软雅黑" panose="020B0503020204020204" charset="-122"/>
                <a:ea typeface="微软雅黑" panose="020B0503020204020204" charset="-122"/>
              </a:rPr>
              <a:t>点：改革完成时间≠实证样本分割时间。2006 年 12 月只是绝大多数公司完成</a:t>
            </a:r>
            <a:endParaRPr lang="zh-CN" sz="1200">
              <a:solidFill>
                <a:srgbClr val="1F1F1F"/>
              </a:solidFill>
              <a:latin typeface="微软雅黑" panose="020B0503020204020204" charset="-122"/>
              <a:ea typeface="微软雅黑" panose="020B0503020204020204" charset="-122"/>
            </a:endParaRPr>
          </a:p>
          <a:p>
            <a:pPr algn="l">
              <a:lnSpc>
                <a:spcPct val="152000"/>
              </a:lnSpc>
            </a:pPr>
            <a:r>
              <a:rPr lang="zh-CN" sz="1200">
                <a:solidFill>
                  <a:srgbClr val="1F1F1F"/>
                </a:solidFill>
                <a:latin typeface="微软雅黑" panose="020B0503020204020204" charset="-122"/>
                <a:ea typeface="微软雅黑" panose="020B0503020204020204" charset="-122"/>
              </a:rPr>
              <a:t>改革程序，但改革后的限售股还有锁定期，市场定价逻辑不会一瞬间切换。</a:t>
            </a:r>
            <a:endParaRPr lang="zh-CN" sz="1200">
              <a:solidFill>
                <a:srgbClr val="1F1F1F"/>
              </a:solidFill>
              <a:latin typeface="微软雅黑" panose="020B0503020204020204" charset="-122"/>
              <a:ea typeface="微软雅黑" panose="020B0503020204020204" charset="-122"/>
            </a:endParaRPr>
          </a:p>
        </p:txBody>
      </p:sp>
      <p:cxnSp>
        <p:nvCxnSpPr>
          <p:cNvPr id="3" name="直接箭头连接符 2"/>
          <p:cNvCxnSpPr/>
          <p:nvPr/>
        </p:nvCxnSpPr>
        <p:spPr>
          <a:xfrm flipV="1">
            <a:off x="4658360" y="819150"/>
            <a:ext cx="1075690" cy="8166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7860" y="173990"/>
            <a:ext cx="7506335" cy="645160"/>
          </a:xfrm>
          <a:prstGeom prst="rect">
            <a:avLst/>
          </a:prstGeom>
          <a:noFill/>
        </p:spPr>
        <p:txBody>
          <a:bodyPr wrap="square" rtlCol="0">
            <a:spAutoFit/>
          </a:bodyPr>
          <a:p>
            <a:r>
              <a:rPr lang="zh-CN" altLang="en-US" sz="1200" b="1"/>
              <a:t>定价机制被扭曲：</a:t>
            </a:r>
            <a:endParaRPr lang="zh-CN" altLang="en-US" sz="1200" b="1"/>
          </a:p>
          <a:p>
            <a:r>
              <a:rPr lang="zh-CN" altLang="en-US" sz="1200" b="1"/>
              <a:t>正常成熟市场，股价反映企业基本面、盈利能力、投资质量；但股改前，大股东没有动力维护股价，公司经营好坏和大股东二级市场财富脱钩。股价更多由市场炒作、政策情绪驱动，股价和公司内在价值脱节。</a:t>
            </a:r>
            <a:endParaRPr lang="zh-CN" altLang="en-US" sz="1200" b="1"/>
          </a:p>
        </p:txBody>
      </p:sp>
      <p:sp>
        <p:nvSpPr>
          <p:cNvPr id="401" name="Rectangle 400"/>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Rectangle 401"/>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TextBox 402"/>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404" name="TextBox 403"/>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405" name="TextBox 404"/>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406" name="TextBox 405"/>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407" name="Rectangle 406"/>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TextBox 407"/>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409" name="TextBox 408"/>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410" name="TextBox 409"/>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411" name="TextBox 410"/>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37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GRS 检验与截距项四指标&lt;/Text&gt;&#10;        &lt;/Box&gt;&#10;&#10;        &lt;Box style={{ height: 544, flexDirection: 'row', gap: 32 }}&gt;&#10;            &lt;Box style={{ width: 522, height: 544, flexDirection: 'column' }}&gt;&#10;                &lt;Box style={{ width: 522, height: 240, background: '#FFFFFF', border: '1px solid #EAEAEA', boxShadow: '0 2px 12px rgba(0,0,0,0.08)', alignItems: 'center', justifyContent: 'center', padding: 8 }}&gt;&#10;                    &lt;Image src=&quot;assets/grs.png&quot; style={{ width: 506, height: 132, objectFit: 'contain' }} /&gt;&#10;                &lt;/Box&gt;&#10;                &lt;Text style={{ width: 522, fontSize: 15, color: '#8A8A8A', marginTop: 8 }}&gt;&#10;                    原文 P199：GRS 检验与另外三个衡量截距项的指标&#10;                &lt;/Text&gt;&#10;                &lt;Box style={{ width: 522, height: 261, background: 'rgba(1,165,177,0.10)', flexDirection: 'row', marginTop: 14 }}&gt;&#10;                    &lt;Box style={{ width: 4, height: 261, background: '#01A5B1' }} /&gt;&#10;                    &lt;Box style={{ width: 518, padding: 16, flexDirection: 'column' }}&gt;&#10;                        &lt;Text style={{ fontSize: 19, fontWeight: 'bold', color: '#01A5B1', marginBottom: 10 }}&gt;GRS 在检验什么&lt;/Text&gt;&#10;                        &lt;Text style={{ width: 486, fontSize: 16.5, color: '#1F1F1F', lineHeight: 1.62 }}&gt;&#10;                            H₀：&lt;span style={{ fontWeight: 'bold' }}&gt;所有股票组合的回归截距项同时为 0&lt;/span&gt;。&lt;br /&gt;&lt;br /&gt;&#10;                            如果定价模型能完全解释横截面上的超额收益率，那么联合检验就不应拒绝原假设。&lt;br /&gt;&#10;                            拒绝得越厉害，说明模型漏掉的东西越多。&#10;                        &lt;/Text&gt;&#10;                    &lt;/Box&gt;&#10;                &lt;/Box&gt;&#10;            &lt;/Box&gt;&#10;&#10;            &lt;Box style={{ width: 566, height: 544, flexDirection: 'column' }}&gt;&#10;                &lt;Box style={{ width: 566, height: 124, background: '#FFFFFF', border: '1px solid #EAEAEA', borderLeft: '4px solid #01A5B1', padding: 14, flexDirection: 'column', marginBottom: 15 }}&gt;&#10;                    &lt;Text style={{ fontSize: 18, fontWeight: 'bold', color: '#01A5B1', marginBottom: 6 }}&gt;指标 ① GRS 统计量&lt;/Text&gt;&#10;                    &lt;Text style={{ width: 534, fontSize: 16, color: '#5A5A5A', lineHeight: 1.52 }}&gt;&#10;                        对全部截距项做联合检验，服从 F(N, T−N−L)。越小越好。&#10;                    &lt;/Text&gt;&#10;                &lt;/Box&gt;&#10;                &lt;Box style={{ width: 566, height: 124, background: '#FFFFFF', border: '1px solid #EAEAEA', borderLeft: '4px solid #01A5B1', padding: 14, flexDirection: 'column', marginBottom: 15 }}&gt;&#10;                    &lt;Text style={{ fontSize: 18, fontWeight: 'bold', color: '#01A5B1', marginBottom: 6 }}&gt;指标 ② A|a|&lt;/Text&gt;&#10;                    &lt;Text style={{ width: 534, fontSize: 16, color: '#5A5A5A', lineHeight: 1.52 }}&gt;&#10;                        25 个（或 32 个）回归截距项绝对值的平均值。衡量&quot;平均漏了多少&quot;。&#10;                    &lt;/Text&gt;&#10;                &lt;/Box&gt;&#10;                &lt;Box style={{ width: 566, height: 124, background: '#FFFFFF', border: '1px solid #EAEAEA', borderLeft: '4px solid #01A5B1', padding: 14, flexDirection: 'column', marginBottom: 15 }}&gt;&#10;                    &lt;Text style={{ fontSize: 18, fontWeight: 'bold', color: '#01A5B1', marginBottom: 6 }}&gt;指标 ③ A|a| / A|r|&lt;/Text&gt;&#10;                    &lt;Text style={{ width: 534, fontSize: 16, color: '#5A5A5A', lineHeight: 1.52 }}&gt;&#10;                        一阶意义上：实际收益率中&lt;span style={{ fontWeight: 'bold', color: '#1F1F1F' }}&gt;不能被模型解释的部分所占比例&lt;/span&gt;。本文用它比较股改前后的市场效率。&#10;                    &lt;/Text&gt;&#10;                &lt;/Box&gt;&#10;                &lt;Box style={{ width: 566, height: 124, background: 'rgba(232,80,58,0.10)', flexDirection: 'row' }}&gt;&#10;                    &lt;Box style={{ width: 4, height: 124, background: '#E8503A' }} /&gt;&#10;                    &lt;Box style={{ width: 562, padding: 14, flexDirection: 'column' }}&gt;&#10;                        &lt;Text style={{ fontSize: 18, fontWeight: 'bold', color: '#E8503A', marginBottom: 6 }}&gt;指标 ④ Aa² / Ar²&lt;/Text&gt;&#10;                        &lt;Text style={{ width: 530, fontSize: 16, color: '#1F1F1F', lineHeight: 1.52 }}&gt;&#10;                            二阶意义上同样的比例。用四个指标一起看，避免单一指标的偶然性。&#10;                        &lt;/Text&gt;&#10;                    &lt;/Box&gt;&#10;                &lt;/Box&gt;&#10;            &lt;/Box&gt;&#10;        &lt;/Box&gt;&#10;&#10;        &lt;Box style={{ height: 40, flexDirection: 'row', justifyContent: 'space-between', alignItems: 'center' }}&gt;&#10;            &lt;Text style={{ fontSize: 14, color: '#8A8A8A' }}&gt;三维结构法 · FF5 中国实证拆解&lt;/Text&gt;&#10;            &lt;Text style={{ fontSize: 14, color: '#8A8A8A' }}&gt;24 / 37&lt;/Text&gt;&#10;        &lt;/Box&gt;&#10;    &lt;/Box&gt;&#10;&lt;/Slide&gt;"/>
        <p:cNvGrpSpPr/>
        <p:nvPr/>
      </p:nvGrpSpPr>
      <p:grpSpPr>
        <a:xfrm>
          <a:off x="0" y="0"/>
          <a:ext cx="0" cy="0"/>
          <a:chOff x="0" y="0"/>
          <a:chExt cx="0" cy="0"/>
        </a:xfrm>
      </p:grpSpPr>
      <p:sp>
        <p:nvSpPr>
          <p:cNvPr id="6" name="矩形 5"/>
          <p:cNvSpPr/>
          <p:nvPr/>
        </p:nvSpPr>
        <p:spPr>
          <a:xfrm>
            <a:off x="4204970" y="5652770"/>
            <a:ext cx="748030" cy="252730"/>
          </a:xfrm>
          <a:prstGeom prst="rect">
            <a:avLst/>
          </a:prstGeom>
          <a:solidFill>
            <a:schemeClr val="bg1"/>
          </a:solid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374" name="矩形 373"/>
          <p:cNvSpPr/>
          <p:nvPr/>
        </p:nvSpPr>
        <p:spPr>
          <a:xfrm>
            <a:off x="0" y="0"/>
            <a:ext cx="12192000" cy="6858000"/>
          </a:xfrm>
          <a:prstGeom prst="rect">
            <a:avLst/>
          </a:prstGeom>
          <a:solidFill>
            <a:srgbClr val="FFFFFF"/>
          </a:solidFill>
        </p:spPr>
        <p:txBody>
          <a:bodyPr/>
          <a:p/>
        </p:txBody>
      </p:sp>
      <p:pic>
        <p:nvPicPr>
          <p:cNvPr id="375" name="图片 374"/>
          <p:cNvPicPr>
            <a:picLocks noChangeAspect="1"/>
          </p:cNvPicPr>
          <p:nvPr/>
        </p:nvPicPr>
        <p:blipFill>
          <a:blip r:embed="rId1"/>
          <a:stretch>
            <a:fillRect/>
          </a:stretch>
        </p:blipFill>
        <p:spPr>
          <a:xfrm>
            <a:off x="0" y="0"/>
            <a:ext cx="12192000" cy="6858000"/>
          </a:xfrm>
          <a:prstGeom prst="rect">
            <a:avLst/>
          </a:prstGeom>
        </p:spPr>
      </p:pic>
      <p:sp>
        <p:nvSpPr>
          <p:cNvPr id="376" name="矩形 375"/>
          <p:cNvSpPr/>
          <p:nvPr/>
        </p:nvSpPr>
        <p:spPr>
          <a:xfrm>
            <a:off x="133985" y="481330"/>
            <a:ext cx="57150" cy="342900"/>
          </a:xfrm>
          <a:prstGeom prst="rect">
            <a:avLst/>
          </a:prstGeom>
          <a:solidFill>
            <a:srgbClr val="01A5B1"/>
          </a:solidFill>
        </p:spPr>
        <p:txBody>
          <a:bodyPr/>
          <a:p/>
        </p:txBody>
      </p:sp>
      <p:sp>
        <p:nvSpPr>
          <p:cNvPr id="377" name="文本框 376"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altLang="en-US" sz="2200" b="1">
                <a:solidFill>
                  <a:srgbClr val="1F1F1F"/>
                </a:solidFill>
                <a:latin typeface="微软雅黑" panose="020B0503020204020204" charset="-122"/>
                <a:ea typeface="微软雅黑" panose="020B0503020204020204" charset="-122"/>
              </a:rPr>
              <a:t>因子模型截距项与市场有效性</a:t>
            </a:r>
            <a:endParaRPr lang="zh-CN" altLang="en-US" sz="2550" b="1">
              <a:solidFill>
                <a:srgbClr val="01A5B1"/>
              </a:solidFill>
              <a:latin typeface="微软雅黑" panose="020B0503020204020204" charset="-122"/>
              <a:ea typeface="微软雅黑" panose="020B0503020204020204" charset="-122"/>
            </a:endParaRPr>
          </a:p>
        </p:txBody>
      </p:sp>
      <p:sp>
        <p:nvSpPr>
          <p:cNvPr id="378" name="矩形 377"/>
          <p:cNvSpPr/>
          <p:nvPr/>
        </p:nvSpPr>
        <p:spPr>
          <a:xfrm>
            <a:off x="762000" y="1104900"/>
            <a:ext cx="4972050" cy="228600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pic>
        <p:nvPicPr>
          <p:cNvPr id="379" name="图片 378" descr="F:\屏幕截图 2026-09-16 160332.png屏幕截图 2026-09-16 160332"/>
          <p:cNvPicPr>
            <a:picLocks noChangeAspect="1"/>
          </p:cNvPicPr>
          <p:nvPr/>
        </p:nvPicPr>
        <p:blipFill>
          <a:blip r:embed="rId2"/>
          <a:srcRect/>
          <a:stretch>
            <a:fillRect/>
          </a:stretch>
        </p:blipFill>
        <p:spPr>
          <a:xfrm>
            <a:off x="800735" y="1156335"/>
            <a:ext cx="4933315" cy="2076450"/>
          </a:xfrm>
          <a:prstGeom prst="rect">
            <a:avLst/>
          </a:prstGeom>
        </p:spPr>
      </p:pic>
      <p:sp>
        <p:nvSpPr>
          <p:cNvPr id="381" name="矩形 380"/>
          <p:cNvSpPr/>
          <p:nvPr/>
        </p:nvSpPr>
        <p:spPr>
          <a:xfrm>
            <a:off x="762000" y="3771900"/>
            <a:ext cx="4972050" cy="2486025"/>
          </a:xfrm>
          <a:prstGeom prst="rect">
            <a:avLst/>
          </a:prstGeom>
          <a:solidFill>
            <a:srgbClr val="01A5B1">
              <a:alpha val="10000"/>
            </a:srgbClr>
          </a:solidFill>
        </p:spPr>
        <p:txBody>
          <a:bodyPr/>
          <a:p/>
        </p:txBody>
      </p:sp>
      <p:sp>
        <p:nvSpPr>
          <p:cNvPr id="382" name="矩形 381"/>
          <p:cNvSpPr/>
          <p:nvPr/>
        </p:nvSpPr>
        <p:spPr>
          <a:xfrm>
            <a:off x="762000" y="3771900"/>
            <a:ext cx="38100" cy="2486025"/>
          </a:xfrm>
          <a:prstGeom prst="rect">
            <a:avLst/>
          </a:prstGeom>
          <a:solidFill>
            <a:srgbClr val="01A5B1"/>
          </a:solidFill>
        </p:spPr>
        <p:txBody>
          <a:bodyPr/>
          <a:p/>
        </p:txBody>
      </p:sp>
      <p:sp>
        <p:nvSpPr>
          <p:cNvPr id="383" name="文本框 382" descr="{&quot;isTemplate&quot;:true,&quot;type&quot;:&quot;text&quot;}"/>
          <p:cNvSpPr txBox="1"/>
          <p:nvPr/>
        </p:nvSpPr>
        <p:spPr>
          <a:xfrm>
            <a:off x="952500" y="3924300"/>
            <a:ext cx="4629150" cy="219075"/>
          </a:xfrm>
          <a:prstGeom prst="rect">
            <a:avLst/>
          </a:prstGeom>
        </p:spPr>
        <p:txBody>
          <a:bodyPr wrap="none" lIns="0" tIns="0" rIns="0" bIns="0"/>
          <a:p>
            <a:pPr algn="l">
              <a:lnSpc>
                <a:spcPct val="100000"/>
              </a:lnSpc>
            </a:pPr>
            <a:r>
              <a:rPr lang="en-US" sz="1425" b="1">
                <a:solidFill>
                  <a:srgbClr val="01A5B1"/>
                </a:solidFill>
                <a:latin typeface="微软雅黑" panose="020B0503020204020204" charset="-122"/>
                <a:ea typeface="微软雅黑" panose="020B0503020204020204" charset="-122"/>
              </a:rPr>
              <a:t>超额回报率（α，回归截距项）：</a:t>
            </a:r>
            <a:endParaRPr lang="en-US" sz="1425" b="1">
              <a:solidFill>
                <a:srgbClr val="01A5B1"/>
              </a:solidFill>
              <a:latin typeface="微软雅黑" panose="020B0503020204020204" charset="-122"/>
              <a:ea typeface="微软雅黑" panose="020B0503020204020204" charset="-122"/>
            </a:endParaRPr>
          </a:p>
          <a:p>
            <a:pPr algn="l">
              <a:lnSpc>
                <a:spcPct val="100000"/>
              </a:lnSpc>
            </a:pPr>
            <a:r>
              <a:rPr lang="zh-CN" sz="1425" b="1">
                <a:solidFill>
                  <a:srgbClr val="01A5B1"/>
                </a:solidFill>
                <a:latin typeface="微软雅黑" panose="020B0503020204020204" charset="-122"/>
                <a:ea typeface="微软雅黑" panose="020B0503020204020204" charset="-122"/>
              </a:rPr>
              <a:t>超额收益</a:t>
            </a:r>
            <a:r>
              <a:rPr lang="en-US" sz="1425" b="1">
                <a:solidFill>
                  <a:srgbClr val="01A5B1"/>
                </a:solidFill>
                <a:latin typeface="微软雅黑" panose="020B0503020204020204" charset="-122"/>
                <a:ea typeface="微软雅黑" panose="020B0503020204020204" charset="-122"/>
                <a:sym typeface="+mn-ea"/>
              </a:rPr>
              <a:t>α=</a:t>
            </a:r>
            <a:r>
              <a:rPr lang="zh-CN" altLang="en-US" sz="1425" b="1">
                <a:solidFill>
                  <a:srgbClr val="01A5B1"/>
                </a:solidFill>
                <a:latin typeface="微软雅黑" panose="020B0503020204020204" charset="-122"/>
                <a:ea typeface="微软雅黑" panose="020B0503020204020204" charset="-122"/>
                <a:sym typeface="+mn-ea"/>
              </a:rPr>
              <a:t>实际收益率</a:t>
            </a:r>
            <a:r>
              <a:rPr lang="en-US" altLang="zh-CN" sz="1425" b="1">
                <a:solidFill>
                  <a:srgbClr val="01A5B1"/>
                </a:solidFill>
                <a:latin typeface="微软雅黑" panose="020B0503020204020204" charset="-122"/>
                <a:ea typeface="微软雅黑" panose="020B0503020204020204" charset="-122"/>
                <a:sym typeface="+mn-ea"/>
              </a:rPr>
              <a:t>-</a:t>
            </a:r>
            <a:r>
              <a:rPr lang="zh-CN" altLang="en-US" sz="1425" b="1">
                <a:solidFill>
                  <a:srgbClr val="01A5B1"/>
                </a:solidFill>
                <a:latin typeface="微软雅黑" panose="020B0503020204020204" charset="-122"/>
                <a:ea typeface="微软雅黑" panose="020B0503020204020204" charset="-122"/>
                <a:sym typeface="+mn-ea"/>
              </a:rPr>
              <a:t>模型给出的预期收益率</a:t>
            </a:r>
            <a:endParaRPr lang="zh-CN" altLang="en-US" sz="1425" b="1">
              <a:solidFill>
                <a:srgbClr val="01A5B1"/>
              </a:solidFill>
              <a:latin typeface="微软雅黑" panose="020B0503020204020204" charset="-122"/>
              <a:ea typeface="微软雅黑" panose="020B0503020204020204" charset="-122"/>
              <a:sym typeface="+mn-ea"/>
            </a:endParaRPr>
          </a:p>
        </p:txBody>
      </p:sp>
      <p:sp>
        <p:nvSpPr>
          <p:cNvPr id="384" name="文本框 383" descr="{&quot;isTemplate&quot;:true,&quot;type&quot;:&quot;text&quot;}"/>
          <p:cNvSpPr txBox="1"/>
          <p:nvPr/>
        </p:nvSpPr>
        <p:spPr>
          <a:xfrm>
            <a:off x="876300" y="4260723"/>
            <a:ext cx="4782185" cy="2249805"/>
          </a:xfrm>
          <a:prstGeom prst="rect">
            <a:avLst/>
          </a:prstGeom>
        </p:spPr>
        <p:txBody>
          <a:bodyPr wrap="square" lIns="0" tIns="0" rIns="0" bIns="0">
            <a:normAutofit/>
          </a:bodyPr>
          <a:p>
            <a:pPr>
              <a:lnSpc>
                <a:spcPct val="162000"/>
              </a:lnSpc>
            </a:pPr>
            <a:r>
              <a:rPr lang="zh-CN" sz="1240" b="1">
                <a:solidFill>
                  <a:srgbClr val="1F1F1F"/>
                </a:solidFill>
                <a:latin typeface="微软雅黑" panose="020B0503020204020204" charset="-122"/>
                <a:ea typeface="微软雅黑" panose="020B0503020204020204" charset="-122"/>
              </a:rPr>
              <a:t>1. 如果 α 显著不等于 0：代表股票收益无法被模型里的风险因子完全解释，存在不能被风险补偿的异常收益，意味着市场存在套利空间，市场有效性较差。</a:t>
            </a:r>
            <a:endParaRPr lang="zh-CN" sz="1240" b="1">
              <a:solidFill>
                <a:srgbClr val="1F1F1F"/>
              </a:solidFill>
              <a:latin typeface="微软雅黑" panose="020B0503020204020204" charset="-122"/>
              <a:ea typeface="微软雅黑" panose="020B0503020204020204" charset="-122"/>
            </a:endParaRPr>
          </a:p>
          <a:p>
            <a:pPr>
              <a:lnSpc>
                <a:spcPct val="162000"/>
              </a:lnSpc>
            </a:pPr>
            <a:r>
              <a:rPr lang="zh-CN" sz="1240" b="1">
                <a:solidFill>
                  <a:srgbClr val="1F1F1F"/>
                </a:solidFill>
                <a:latin typeface="微软雅黑" panose="020B0503020204020204" charset="-122"/>
                <a:ea typeface="微软雅黑" panose="020B0503020204020204" charset="-122"/>
              </a:rPr>
              <a:t>2. 如果 α 接近 0，统计上不显著异于 0：股票收益几乎全部可以被风险因子解释，不存在持续异常超额收益，市场更接近有效市场。 </a:t>
            </a:r>
            <a:endParaRPr lang="zh-CN" sz="1240" b="1">
              <a:solidFill>
                <a:srgbClr val="1F1F1F"/>
              </a:solidFill>
              <a:latin typeface="微软雅黑" panose="020B0503020204020204" charset="-122"/>
              <a:ea typeface="微软雅黑" panose="020B0503020204020204" charset="-122"/>
            </a:endParaRPr>
          </a:p>
          <a:p>
            <a:pPr>
              <a:lnSpc>
                <a:spcPct val="162000"/>
              </a:lnSpc>
            </a:pPr>
            <a:endParaRPr lang="zh-CN" sz="1240">
              <a:solidFill>
                <a:srgbClr val="1F1F1F"/>
              </a:solidFill>
              <a:latin typeface="微软雅黑" panose="020B0503020204020204" charset="-122"/>
              <a:ea typeface="微软雅黑" panose="020B0503020204020204" charset="-122"/>
            </a:endParaRPr>
          </a:p>
        </p:txBody>
      </p:sp>
      <p:sp>
        <p:nvSpPr>
          <p:cNvPr id="385" name="矩形 384"/>
          <p:cNvSpPr/>
          <p:nvPr/>
        </p:nvSpPr>
        <p:spPr>
          <a:xfrm>
            <a:off x="6076950" y="1104900"/>
            <a:ext cx="5353050" cy="1181100"/>
          </a:xfrm>
          <a:prstGeom prst="rect">
            <a:avLst/>
          </a:prstGeom>
          <a:solidFill>
            <a:srgbClr val="FFFFFF"/>
          </a:solidFill>
        </p:spPr>
        <p:txBody>
          <a:bodyPr/>
          <a:p/>
        </p:txBody>
      </p:sp>
      <p:sp>
        <p:nvSpPr>
          <p:cNvPr id="386" name="任意多边形 385"/>
          <p:cNvSpPr/>
          <p:nvPr/>
        </p:nvSpPr>
        <p:spPr>
          <a:xfrm>
            <a:off x="6038850" y="1104900"/>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87" name="文本框 386" descr="{&quot;isTemplate&quot;:true,&quot;type&quot;:&quot;text&quot;}"/>
          <p:cNvSpPr txBox="1"/>
          <p:nvPr/>
        </p:nvSpPr>
        <p:spPr>
          <a:xfrm>
            <a:off x="6210300" y="1238250"/>
            <a:ext cx="5086350" cy="209550"/>
          </a:xfrm>
          <a:prstGeom prst="rect">
            <a:avLst/>
          </a:prstGeom>
        </p:spPr>
        <p:txBody>
          <a:bodyPr wrap="none" lIns="0" tIns="0" rIns="0" bIns="0"/>
          <a:p>
            <a:pPr algn="l">
              <a:lnSpc>
                <a:spcPct val="100000"/>
              </a:lnSpc>
            </a:pPr>
            <a:r>
              <a:rPr lang="zh-CN" sz="1350" b="1">
                <a:solidFill>
                  <a:srgbClr val="01A5B1"/>
                </a:solidFill>
                <a:latin typeface="微软雅黑" panose="020B0503020204020204" charset="-122"/>
                <a:ea typeface="微软雅黑" panose="020B0503020204020204" charset="-122"/>
              </a:rPr>
              <a:t>预期回报率</a:t>
            </a:r>
            <a:r>
              <a:rPr lang="zh-CN" sz="1350" b="1">
                <a:solidFill>
                  <a:srgbClr val="01A5B1"/>
                </a:solidFill>
                <a:latin typeface="微软雅黑" panose="020B0503020204020204" charset="-122"/>
                <a:ea typeface="微软雅黑" panose="020B0503020204020204" charset="-122"/>
              </a:rPr>
              <a:t>：</a:t>
            </a:r>
            <a:endParaRPr lang="zh-CN" sz="1350" b="1">
              <a:solidFill>
                <a:srgbClr val="01A5B1"/>
              </a:solidFill>
              <a:latin typeface="微软雅黑" panose="020B0503020204020204" charset="-122"/>
              <a:ea typeface="微软雅黑" panose="020B0503020204020204" charset="-122"/>
            </a:endParaRPr>
          </a:p>
        </p:txBody>
      </p:sp>
      <p:sp>
        <p:nvSpPr>
          <p:cNvPr id="388" name="文本框 387" descr="{&quot;isTemplate&quot;:true,&quot;type&quot;:&quot;text&quot;}"/>
          <p:cNvSpPr txBox="1"/>
          <p:nvPr/>
        </p:nvSpPr>
        <p:spPr>
          <a:xfrm>
            <a:off x="6210300" y="1504950"/>
            <a:ext cx="5166995" cy="669290"/>
          </a:xfrm>
          <a:prstGeom prst="rect">
            <a:avLst/>
          </a:prstGeom>
        </p:spPr>
        <p:txBody>
          <a:bodyPr wrap="none" lIns="0" tIns="0" rIns="0" bIns="0"/>
          <a:p>
            <a:pPr algn="l">
              <a:lnSpc>
                <a:spcPct val="152000"/>
              </a:lnSpc>
            </a:pPr>
            <a:r>
              <a:rPr lang="zh-CN" sz="1200">
                <a:solidFill>
                  <a:srgbClr val="5A5A5A"/>
                </a:solidFill>
                <a:latin typeface="微软雅黑" panose="020B0503020204020204" charset="-122"/>
                <a:ea typeface="微软雅黑" panose="020B0503020204020204" charset="-122"/>
              </a:rPr>
              <a:t>资产定价模型（这里指 Fama‑French 系列因子模型）根据股票承担的各类</a:t>
            </a:r>
            <a:endParaRPr lang="zh-CN" sz="1200">
              <a:solidFill>
                <a:srgbClr val="5A5A5A"/>
              </a:solidFill>
              <a:latin typeface="微软雅黑" panose="020B0503020204020204" charset="-122"/>
              <a:ea typeface="微软雅黑" panose="020B0503020204020204" charset="-122"/>
            </a:endParaRPr>
          </a:p>
          <a:p>
            <a:pPr algn="l">
              <a:lnSpc>
                <a:spcPct val="152000"/>
              </a:lnSpc>
            </a:pPr>
            <a:r>
              <a:rPr lang="zh-CN" sz="1200">
                <a:solidFill>
                  <a:srgbClr val="5A5A5A"/>
                </a:solidFill>
                <a:latin typeface="微软雅黑" panose="020B0503020204020204" charset="-122"/>
                <a:ea typeface="微软雅黑" panose="020B0503020204020204" charset="-122"/>
              </a:rPr>
              <a:t>风险因子，计算出来应当获得的合理收益。只补偿风险本身，属于风险对应</a:t>
            </a:r>
            <a:endParaRPr lang="zh-CN" sz="1200">
              <a:solidFill>
                <a:srgbClr val="5A5A5A"/>
              </a:solidFill>
              <a:latin typeface="微软雅黑" panose="020B0503020204020204" charset="-122"/>
              <a:ea typeface="微软雅黑" panose="020B0503020204020204" charset="-122"/>
            </a:endParaRPr>
          </a:p>
          <a:p>
            <a:pPr algn="l">
              <a:lnSpc>
                <a:spcPct val="152000"/>
              </a:lnSpc>
            </a:pPr>
            <a:r>
              <a:rPr lang="zh-CN" sz="1200">
                <a:solidFill>
                  <a:srgbClr val="5A5A5A"/>
                </a:solidFill>
                <a:latin typeface="微软雅黑" panose="020B0503020204020204" charset="-122"/>
                <a:ea typeface="微软雅黑" panose="020B0503020204020204" charset="-122"/>
              </a:rPr>
              <a:t>的正常收益。</a:t>
            </a:r>
            <a:endParaRPr lang="zh-CN" sz="1200">
              <a:solidFill>
                <a:srgbClr val="5A5A5A"/>
              </a:solidFill>
              <a:latin typeface="微软雅黑" panose="020B0503020204020204" charset="-122"/>
              <a:ea typeface="微软雅黑" panose="020B0503020204020204" charset="-122"/>
            </a:endParaRPr>
          </a:p>
        </p:txBody>
      </p:sp>
      <p:sp>
        <p:nvSpPr>
          <p:cNvPr id="389" name="矩形 388"/>
          <p:cNvSpPr/>
          <p:nvPr/>
        </p:nvSpPr>
        <p:spPr>
          <a:xfrm>
            <a:off x="6076950" y="2428875"/>
            <a:ext cx="5353050" cy="1181100"/>
          </a:xfrm>
          <a:prstGeom prst="rect">
            <a:avLst/>
          </a:prstGeom>
          <a:solidFill>
            <a:srgbClr val="FFFFFF"/>
          </a:solidFill>
        </p:spPr>
        <p:txBody>
          <a:bodyPr/>
          <a:p/>
        </p:txBody>
      </p:sp>
      <p:sp>
        <p:nvSpPr>
          <p:cNvPr id="390" name="任意多边形 389"/>
          <p:cNvSpPr/>
          <p:nvPr/>
        </p:nvSpPr>
        <p:spPr>
          <a:xfrm>
            <a:off x="6038850" y="2428875"/>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1" name="文本框 390" descr="{&quot;isTemplate&quot;:true,&quot;type&quot;:&quot;text&quot;}"/>
          <p:cNvSpPr txBox="1"/>
          <p:nvPr/>
        </p:nvSpPr>
        <p:spPr>
          <a:xfrm>
            <a:off x="6210300" y="2562225"/>
            <a:ext cx="5086350" cy="209550"/>
          </a:xfrm>
          <a:prstGeom prst="rect">
            <a:avLst/>
          </a:prstGeom>
        </p:spPr>
        <p:txBody>
          <a:bodyPr wrap="none" lIns="0" tIns="0" rIns="0" bIns="0"/>
          <a:p>
            <a:pPr>
              <a:lnSpc>
                <a:spcPct val="100000"/>
              </a:lnSpc>
            </a:pPr>
            <a:r>
              <a:rPr lang="en-US" sz="1350" b="1">
                <a:solidFill>
                  <a:srgbClr val="01A5B1"/>
                </a:solidFill>
                <a:latin typeface="微软雅黑" panose="020B0503020204020204" charset="-122"/>
                <a:ea typeface="微软雅黑" panose="020B0503020204020204" charset="-122"/>
              </a:rPr>
              <a:t> </a:t>
            </a:r>
            <a:r>
              <a:rPr lang="zh-CN" altLang="en-US" sz="1350" b="1">
                <a:solidFill>
                  <a:srgbClr val="01A5B1"/>
                </a:solidFill>
                <a:latin typeface="微软雅黑" panose="020B0503020204020204" charset="-122"/>
                <a:ea typeface="微软雅黑" panose="020B0503020204020204" charset="-122"/>
              </a:rPr>
              <a:t>股改前</a:t>
            </a:r>
            <a:r>
              <a:rPr lang="zh-CN" altLang="en-US" sz="1350" b="1">
                <a:solidFill>
                  <a:srgbClr val="01A5B1"/>
                </a:solidFill>
                <a:latin typeface="微软雅黑" panose="020B0503020204020204" charset="-122"/>
                <a:ea typeface="微软雅黑" panose="020B0503020204020204" charset="-122"/>
              </a:rPr>
              <a:t>：</a:t>
            </a:r>
            <a:endParaRPr lang="zh-CN" altLang="en-US" sz="1350" b="1">
              <a:solidFill>
                <a:srgbClr val="01A5B1"/>
              </a:solidFill>
              <a:latin typeface="微软雅黑" panose="020B0503020204020204" charset="-122"/>
              <a:ea typeface="微软雅黑" panose="020B0503020204020204" charset="-122"/>
            </a:endParaRPr>
          </a:p>
        </p:txBody>
      </p:sp>
      <p:sp>
        <p:nvSpPr>
          <p:cNvPr id="392" name="文本框 391" descr="{&quot;isTemplate&quot;:true,&quot;type&quot;:&quot;text&quot;}"/>
          <p:cNvSpPr txBox="1"/>
          <p:nvPr/>
        </p:nvSpPr>
        <p:spPr>
          <a:xfrm>
            <a:off x="6210300" y="2771775"/>
            <a:ext cx="5219700" cy="893445"/>
          </a:xfrm>
          <a:prstGeom prst="rect">
            <a:avLst/>
          </a:prstGeom>
        </p:spPr>
        <p:txBody>
          <a:bodyPr wrap="none" lIns="0" tIns="0" rIns="0" bIns="0"/>
          <a:p>
            <a:pPr algn="l">
              <a:lnSpc>
                <a:spcPct val="152000"/>
              </a:lnSpc>
            </a:pPr>
            <a:r>
              <a:rPr lang="en-US" sz="1200">
                <a:solidFill>
                  <a:srgbClr val="5A5A5A"/>
                </a:solidFill>
                <a:latin typeface="微软雅黑" panose="020B0503020204020204" charset="-122"/>
                <a:ea typeface="微软雅黑" panose="020B0503020204020204" charset="-122"/>
              </a:rPr>
              <a:t>股权分置制度扭曲定价，股价脱离基本面，市场存在大量无法被风险因子解释</a:t>
            </a:r>
            <a:endParaRPr lang="en-US" sz="1200">
              <a:solidFill>
                <a:srgbClr val="5A5A5A"/>
              </a:solidFill>
              <a:latin typeface="微软雅黑" panose="020B0503020204020204" charset="-122"/>
              <a:ea typeface="微软雅黑" panose="020B0503020204020204" charset="-122"/>
            </a:endParaRPr>
          </a:p>
          <a:p>
            <a:pPr algn="l">
              <a:lnSpc>
                <a:spcPct val="152000"/>
              </a:lnSpc>
            </a:pPr>
            <a:r>
              <a:rPr lang="en-US" sz="1200">
                <a:solidFill>
                  <a:srgbClr val="5A5A5A"/>
                </a:solidFill>
                <a:latin typeface="微软雅黑" panose="020B0503020204020204" charset="-122"/>
                <a:ea typeface="微软雅黑" panose="020B0503020204020204" charset="-122"/>
              </a:rPr>
              <a:t>的异常收益。预测结果：回归截距 α 显著偏离 0。</a:t>
            </a:r>
            <a:endParaRPr lang="en-US" sz="1200">
              <a:solidFill>
                <a:srgbClr val="5A5A5A"/>
              </a:solidFill>
              <a:latin typeface="微软雅黑" panose="020B0503020204020204" charset="-122"/>
              <a:ea typeface="微软雅黑" panose="020B0503020204020204" charset="-122"/>
            </a:endParaRPr>
          </a:p>
        </p:txBody>
      </p:sp>
      <p:sp>
        <p:nvSpPr>
          <p:cNvPr id="393" name="矩形 392"/>
          <p:cNvSpPr/>
          <p:nvPr/>
        </p:nvSpPr>
        <p:spPr>
          <a:xfrm>
            <a:off x="6076950" y="3752850"/>
            <a:ext cx="5353050" cy="1181100"/>
          </a:xfrm>
          <a:prstGeom prst="rect">
            <a:avLst/>
          </a:prstGeom>
          <a:solidFill>
            <a:srgbClr val="FFFFFF"/>
          </a:solidFill>
        </p:spPr>
        <p:txBody>
          <a:bodyPr/>
          <a:p/>
        </p:txBody>
      </p:sp>
      <p:sp>
        <p:nvSpPr>
          <p:cNvPr id="394" name="任意多边形 393"/>
          <p:cNvSpPr/>
          <p:nvPr/>
        </p:nvSpPr>
        <p:spPr>
          <a:xfrm>
            <a:off x="6038850" y="3752850"/>
            <a:ext cx="5391150" cy="1181100"/>
          </a:xfrm>
          <a:custGeom>
            <a:avLst/>
            <a:gdLst/>
            <a:ahLst/>
            <a:cxnLst/>
            <a:pathLst>
              <a:path w="566" h="124">
                <a:moveTo>
                  <a:pt x="0" y="0"/>
                </a:moveTo>
                <a:lnTo>
                  <a:pt x="4" y="0"/>
                </a:lnTo>
                <a:lnTo>
                  <a:pt x="4" y="124"/>
                </a:lnTo>
                <a:lnTo>
                  <a:pt x="0" y="124"/>
                </a:lnTo>
                <a:close/>
              </a:path>
            </a:pathLst>
          </a:custGeom>
          <a:solidFill>
            <a:srgbClr val="01A5B1"/>
          </a:solidFill>
        </p:spPr>
        <p:txBody>
          <a:bodyPr/>
          <a:p/>
        </p:txBody>
      </p:sp>
      <p:sp>
        <p:nvSpPr>
          <p:cNvPr id="395" name="文本框 394" descr="{&quot;isTemplate&quot;:true,&quot;type&quot;:&quot;text&quot;}"/>
          <p:cNvSpPr txBox="1"/>
          <p:nvPr/>
        </p:nvSpPr>
        <p:spPr>
          <a:xfrm>
            <a:off x="6210300" y="3886200"/>
            <a:ext cx="5086350" cy="209550"/>
          </a:xfrm>
          <a:prstGeom prst="rect">
            <a:avLst/>
          </a:prstGeom>
        </p:spPr>
        <p:txBody>
          <a:bodyPr wrap="none" lIns="0" tIns="0" rIns="0" bIns="0"/>
          <a:p>
            <a:pPr algn="l">
              <a:lnSpc>
                <a:spcPct val="100000"/>
              </a:lnSpc>
            </a:pPr>
            <a:r>
              <a:rPr lang="zh-CN" altLang="en-US" sz="1350" b="1">
                <a:solidFill>
                  <a:srgbClr val="01A5B1"/>
                </a:solidFill>
                <a:latin typeface="微软雅黑" panose="020B0503020204020204" charset="-122"/>
                <a:ea typeface="微软雅黑" panose="020B0503020204020204" charset="-122"/>
              </a:rPr>
              <a:t>股改后</a:t>
            </a:r>
            <a:r>
              <a:rPr lang="zh-CN" altLang="en-US" sz="1350" b="1">
                <a:solidFill>
                  <a:srgbClr val="01A5B1"/>
                </a:solidFill>
                <a:latin typeface="微软雅黑" panose="020B0503020204020204" charset="-122"/>
                <a:ea typeface="微软雅黑" panose="020B0503020204020204" charset="-122"/>
              </a:rPr>
              <a:t>：</a:t>
            </a:r>
            <a:endParaRPr lang="zh-CN" altLang="en-US" sz="1350" b="1">
              <a:solidFill>
                <a:srgbClr val="01A5B1"/>
              </a:solidFill>
              <a:latin typeface="微软雅黑" panose="020B0503020204020204" charset="-122"/>
              <a:ea typeface="微软雅黑" panose="020B0503020204020204" charset="-122"/>
            </a:endParaRPr>
          </a:p>
        </p:txBody>
      </p:sp>
      <p:sp>
        <p:nvSpPr>
          <p:cNvPr id="396" name="文本框 395" descr="{&quot;isTemplate&quot;:true,&quot;type&quot;:&quot;text&quot;}"/>
          <p:cNvSpPr txBox="1"/>
          <p:nvPr/>
        </p:nvSpPr>
        <p:spPr>
          <a:xfrm>
            <a:off x="6210300" y="4143375"/>
            <a:ext cx="5086350" cy="726440"/>
          </a:xfrm>
          <a:prstGeom prst="rect">
            <a:avLst/>
          </a:prstGeom>
        </p:spPr>
        <p:txBody>
          <a:bodyPr wrap="square" lIns="0" tIns="0" rIns="0" bIns="0">
            <a:normAutofit lnSpcReduction="20000"/>
          </a:bodyPr>
          <a:p>
            <a:pPr>
              <a:lnSpc>
                <a:spcPct val="152000"/>
              </a:lnSpc>
            </a:pPr>
            <a:r>
              <a:rPr lang="zh-CN" sz="1200">
                <a:solidFill>
                  <a:srgbClr val="5A5A5A"/>
                </a:solidFill>
                <a:latin typeface="微软雅黑" panose="020B0503020204020204" charset="-122"/>
                <a:ea typeface="微软雅黑" panose="020B0503020204020204" charset="-122"/>
              </a:rPr>
              <a:t>大小股东利益趋于一致，限售股逐步流通，股价更多反映企业基本面，套利空间被压缩。预测结果：回归截距 α 绝对值变小，更加靠近 0，显著性下降。</a:t>
            </a:r>
            <a:endParaRPr lang="zh-CN" sz="1200">
              <a:solidFill>
                <a:srgbClr val="5A5A5A"/>
              </a:solidFill>
              <a:latin typeface="微软雅黑" panose="020B0503020204020204" charset="-122"/>
              <a:ea typeface="微软雅黑" panose="020B0503020204020204" charset="-122"/>
            </a:endParaRPr>
          </a:p>
          <a:p>
            <a:pPr>
              <a:lnSpc>
                <a:spcPct val="152000"/>
              </a:lnSpc>
            </a:pPr>
            <a:endParaRPr lang="zh-CN" sz="1200">
              <a:solidFill>
                <a:srgbClr val="5A5A5A"/>
              </a:solidFill>
              <a:latin typeface="微软雅黑" panose="020B0503020204020204" charset="-122"/>
              <a:ea typeface="微软雅黑" panose="020B0503020204020204" charset="-122"/>
            </a:endParaRPr>
          </a:p>
        </p:txBody>
      </p:sp>
      <p:sp>
        <p:nvSpPr>
          <p:cNvPr id="397" name="矩形 396"/>
          <p:cNvSpPr/>
          <p:nvPr/>
        </p:nvSpPr>
        <p:spPr>
          <a:xfrm>
            <a:off x="6038850" y="5076825"/>
            <a:ext cx="5391150" cy="1181100"/>
          </a:xfrm>
          <a:prstGeom prst="rect">
            <a:avLst/>
          </a:prstGeom>
          <a:solidFill>
            <a:srgbClr val="E8503A">
              <a:alpha val="10000"/>
            </a:srgbClr>
          </a:solidFill>
        </p:spPr>
        <p:txBody>
          <a:bodyPr/>
          <a:p/>
        </p:txBody>
      </p:sp>
      <p:sp>
        <p:nvSpPr>
          <p:cNvPr id="398" name="矩形 397"/>
          <p:cNvSpPr/>
          <p:nvPr/>
        </p:nvSpPr>
        <p:spPr>
          <a:xfrm>
            <a:off x="6038850" y="5076825"/>
            <a:ext cx="38100" cy="1181100"/>
          </a:xfrm>
          <a:prstGeom prst="rect">
            <a:avLst/>
          </a:prstGeom>
          <a:solidFill>
            <a:srgbClr val="E8503A"/>
          </a:solidFill>
        </p:spPr>
        <p:txBody>
          <a:bodyPr/>
          <a:p/>
        </p:txBody>
      </p:sp>
      <p:sp>
        <p:nvSpPr>
          <p:cNvPr id="399" name="文本框 398" descr="{&quot;isTemplate&quot;:true,&quot;type&quot;:&quot;text&quot;}"/>
          <p:cNvSpPr txBox="1"/>
          <p:nvPr/>
        </p:nvSpPr>
        <p:spPr>
          <a:xfrm>
            <a:off x="6210300" y="5210175"/>
            <a:ext cx="5086350" cy="209550"/>
          </a:xfrm>
          <a:prstGeom prst="rect">
            <a:avLst/>
          </a:prstGeom>
        </p:spPr>
        <p:txBody>
          <a:bodyPr wrap="none" lIns="0" tIns="0" rIns="0" bIns="0"/>
          <a:p>
            <a:pPr algn="l">
              <a:lnSpc>
                <a:spcPct val="100000"/>
              </a:lnSpc>
            </a:pPr>
            <a:r>
              <a:rPr lang="zh-CN" sz="1350" b="1">
                <a:solidFill>
                  <a:srgbClr val="E8503A"/>
                </a:solidFill>
                <a:latin typeface="微软雅黑" panose="020B0503020204020204" charset="-122"/>
                <a:ea typeface="微软雅黑" panose="020B0503020204020204" charset="-122"/>
              </a:rPr>
              <a:t>研究逻辑链条</a:t>
            </a:r>
            <a:endParaRPr lang="zh-CN" sz="1350" b="1">
              <a:solidFill>
                <a:srgbClr val="E8503A"/>
              </a:solidFill>
              <a:latin typeface="微软雅黑" panose="020B0503020204020204" charset="-122"/>
              <a:ea typeface="微软雅黑" panose="020B0503020204020204" charset="-122"/>
            </a:endParaRPr>
          </a:p>
        </p:txBody>
      </p:sp>
      <p:sp>
        <p:nvSpPr>
          <p:cNvPr id="400" name="文本框 399" descr="{&quot;isTemplate&quot;:true,&quot;type&quot;:&quot;text&quot;}"/>
          <p:cNvSpPr txBox="1"/>
          <p:nvPr/>
        </p:nvSpPr>
        <p:spPr>
          <a:xfrm>
            <a:off x="6210300" y="5476875"/>
            <a:ext cx="5219700" cy="781050"/>
          </a:xfrm>
          <a:prstGeom prst="rect">
            <a:avLst/>
          </a:prstGeom>
        </p:spPr>
        <p:txBody>
          <a:bodyPr wrap="none" lIns="0" tIns="0" rIns="0" bIns="0"/>
          <a:p>
            <a:pPr algn="l">
              <a:lnSpc>
                <a:spcPct val="152000"/>
              </a:lnSpc>
            </a:pPr>
            <a:r>
              <a:rPr lang="zh-CN" sz="1200">
                <a:solidFill>
                  <a:srgbClr val="1F1F1F"/>
                </a:solidFill>
                <a:latin typeface="微软雅黑" panose="020B0503020204020204" charset="-122"/>
                <a:ea typeface="微软雅黑" panose="020B0503020204020204" charset="-122"/>
              </a:rPr>
              <a:t>股权分置改革→制度变革改善 A 股定价环境→市场有效性提升→持续的异常</a:t>
            </a:r>
            <a:endParaRPr lang="zh-CN" sz="1200">
              <a:solidFill>
                <a:srgbClr val="1F1F1F"/>
              </a:solidFill>
              <a:latin typeface="微软雅黑" panose="020B0503020204020204" charset="-122"/>
              <a:ea typeface="微软雅黑" panose="020B0503020204020204" charset="-122"/>
            </a:endParaRPr>
          </a:p>
          <a:p>
            <a:pPr algn="l">
              <a:lnSpc>
                <a:spcPct val="152000"/>
              </a:lnSpc>
            </a:pPr>
            <a:r>
              <a:rPr lang="zh-CN" sz="1200">
                <a:solidFill>
                  <a:srgbClr val="1F1F1F"/>
                </a:solidFill>
                <a:latin typeface="微软雅黑" panose="020B0503020204020204" charset="-122"/>
                <a:ea typeface="微软雅黑" panose="020B0503020204020204" charset="-122"/>
              </a:rPr>
              <a:t>超额收益减少→因子模型回归截距 α 向 0 收敛。</a:t>
            </a:r>
            <a:endParaRPr lang="zh-CN" sz="1200">
              <a:solidFill>
                <a:srgbClr val="1F1F1F"/>
              </a:solidFill>
              <a:latin typeface="微软雅黑" panose="020B0503020204020204" charset="-122"/>
              <a:ea typeface="微软雅黑" panose="020B0503020204020204" charset="-122"/>
            </a:endParaRPr>
          </a:p>
          <a:p>
            <a:pPr algn="l">
              <a:lnSpc>
                <a:spcPct val="152000"/>
              </a:lnSpc>
            </a:pPr>
            <a:endParaRPr lang="zh-CN" sz="1200">
              <a:solidFill>
                <a:srgbClr val="1F1F1F"/>
              </a:solidFill>
              <a:latin typeface="微软雅黑" panose="020B0503020204020204" charset="-122"/>
              <a:ea typeface="微软雅黑" panose="020B0503020204020204" charset="-122"/>
            </a:endParaRPr>
          </a:p>
        </p:txBody>
      </p:sp>
      <p:sp>
        <p:nvSpPr>
          <p:cNvPr id="2" name="文本框 1"/>
          <p:cNvSpPr txBox="1"/>
          <p:nvPr/>
        </p:nvSpPr>
        <p:spPr>
          <a:xfrm>
            <a:off x="4610735" y="330200"/>
            <a:ext cx="7506335" cy="645160"/>
          </a:xfrm>
          <a:prstGeom prst="rect">
            <a:avLst/>
          </a:prstGeom>
          <a:noFill/>
        </p:spPr>
        <p:txBody>
          <a:bodyPr wrap="square" rtlCol="0">
            <a:spAutoFit/>
          </a:bodyPr>
          <a:p>
            <a:r>
              <a:rPr lang="zh-CN" altLang="en-US" sz="1200" b="1"/>
              <a:t>可以在一定程度上说明：</a:t>
            </a:r>
            <a:endParaRPr lang="zh-CN" altLang="en-US" sz="1200" b="1"/>
          </a:p>
          <a:p>
            <a:r>
              <a:rPr lang="zh-CN" altLang="en-US" sz="1200" b="1"/>
              <a:t>截距趋近 0 只是间接证据，不是市场有效的绝对证明。α 变小只能说明：五因子模型对 A 股收益的解释能力提升，异常收益减少；不能完全排除还有未被纳入模型的其他风险因子造成 α 变化。</a:t>
            </a:r>
            <a:endParaRPr lang="zh-CN" altLang="en-US" sz="1200" b="1"/>
          </a:p>
        </p:txBody>
      </p:sp>
      <p:cxnSp>
        <p:nvCxnSpPr>
          <p:cNvPr id="3" name="直接箭头连接符 2"/>
          <p:cNvCxnSpPr/>
          <p:nvPr/>
        </p:nvCxnSpPr>
        <p:spPr>
          <a:xfrm flipH="1" flipV="1">
            <a:off x="952500" y="1238250"/>
            <a:ext cx="1231900" cy="2952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33985" y="908050"/>
            <a:ext cx="1072515" cy="645160"/>
          </a:xfrm>
          <a:prstGeom prst="rect">
            <a:avLst/>
          </a:prstGeom>
          <a:noFill/>
        </p:spPr>
        <p:txBody>
          <a:bodyPr wrap="square" rtlCol="0">
            <a:spAutoFit/>
          </a:bodyPr>
          <a:p>
            <a:r>
              <a:rPr lang="zh-CN" altLang="en-US" sz="1200" b="1"/>
              <a:t>股票在市场上真实实现的收益</a:t>
            </a:r>
            <a:endParaRPr lang="zh-CN" altLang="en-US" sz="1200" b="1"/>
          </a:p>
        </p:txBody>
      </p:sp>
      <p:cxnSp>
        <p:nvCxnSpPr>
          <p:cNvPr id="7" name="直接连接符 6"/>
          <p:cNvCxnSpPr/>
          <p:nvPr/>
        </p:nvCxnSpPr>
        <p:spPr>
          <a:xfrm flipV="1">
            <a:off x="4195445" y="5905500"/>
            <a:ext cx="792000" cy="0"/>
          </a:xfrm>
          <a:prstGeom prst="line">
            <a:avLst/>
          </a:prstGeom>
          <a:ln w="28575" cmpd="sng">
            <a:solidFill>
              <a:srgbClr val="FF0000"/>
            </a:solidFill>
            <a:prstDash val="solid"/>
          </a:ln>
        </p:spPr>
        <p:style>
          <a:lnRef idx="1">
            <a:schemeClr val="accent2"/>
          </a:lnRef>
          <a:fillRef idx="0">
            <a:schemeClr val="accent2"/>
          </a:fillRef>
          <a:effectRef idx="0">
            <a:schemeClr val="accent2"/>
          </a:effectRef>
          <a:fontRef idx="minor">
            <a:schemeClr val="tx1"/>
          </a:fontRef>
        </p:style>
      </p:cxnSp>
      <p:cxnSp>
        <p:nvCxnSpPr>
          <p:cNvPr id="8" name="直接箭头连接符 7"/>
          <p:cNvCxnSpPr/>
          <p:nvPr/>
        </p:nvCxnSpPr>
        <p:spPr>
          <a:xfrm flipH="1">
            <a:off x="3923665" y="5905500"/>
            <a:ext cx="572135" cy="2000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795145" y="6081395"/>
            <a:ext cx="3157855" cy="398780"/>
          </a:xfrm>
          <a:prstGeom prst="rect">
            <a:avLst/>
          </a:prstGeom>
          <a:noFill/>
        </p:spPr>
        <p:txBody>
          <a:bodyPr wrap="square" rtlCol="0">
            <a:spAutoFit/>
          </a:bodyPr>
          <a:p>
            <a:r>
              <a:rPr lang="zh-CN" altLang="en-US" sz="1000" b="1"/>
              <a:t>有效市场假说核心含义：在有效市场中，投资者无法持续获得剔除风险之后的超额收益，α 应当趋近于 0。</a:t>
            </a:r>
            <a:endParaRPr lang="zh-CN" altLang="en-US" sz="1000" b="1"/>
          </a:p>
        </p:txBody>
      </p:sp>
      <p:cxnSp>
        <p:nvCxnSpPr>
          <p:cNvPr id="11" name="肘形连接符 10"/>
          <p:cNvCxnSpPr/>
          <p:nvPr/>
        </p:nvCxnSpPr>
        <p:spPr>
          <a:xfrm rot="16200000">
            <a:off x="4339590" y="967740"/>
            <a:ext cx="1377950" cy="1259205"/>
          </a:xfrm>
          <a:prstGeom prst="bentConnector3">
            <a:avLst>
              <a:gd name="adj1" fmla="val 49977"/>
            </a:avLst>
          </a:prstGeom>
          <a:ln w="28575">
            <a:headEnd type="arrow" w="med" len="med"/>
            <a:tailEnd type="arrow" w="med" len="med"/>
          </a:ln>
        </p:spPr>
        <p:style>
          <a:lnRef idx="1">
            <a:schemeClr val="accent5"/>
          </a:lnRef>
          <a:fillRef idx="0">
            <a:schemeClr val="accent5"/>
          </a:fillRef>
          <a:effectRef idx="0">
            <a:schemeClr val="accent5"/>
          </a:effectRef>
          <a:fontRef idx="minor">
            <a:schemeClr val="tx1"/>
          </a:fontRef>
        </p:style>
      </p:cxnSp>
      <p:sp>
        <p:nvSpPr>
          <p:cNvPr id="401" name="Rectangle 400"/>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Rectangle 401"/>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TextBox 402"/>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404" name="TextBox 403"/>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405" name="TextBox 404"/>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406" name="TextBox 405"/>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407" name="Rectangle 406"/>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TextBox 407"/>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409" name="TextBox 408"/>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410" name="TextBox 409"/>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411" name="TextBox 410"/>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40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表 5 模型赛马：FF5 全面胜出&lt;/Text&gt;&#10;        &lt;/Box&gt;&#10;&#10;        &lt;Box style={{ height: 544, flexDirection: 'column' }}&gt;&#10;            &lt;Box style={{ width: 1120, height: 300, background: '#FFFFFF', border: '1px solid #EAEAEA', boxShadow: '0 2px 12px rgba(0,0,0,0.08)', alignItems: 'center', justifyContent: 'center', padding: 8 }}&gt;&#10;                &lt;Image src=&quot;assets/t5.png&quot; style={{ width: 1104, height: 284, objectFit: 'contain' }} /&gt;&#10;            &lt;/Box&gt;&#10;            &lt;Text style={{ width: 1120, fontSize: 15, color: '#8A8A8A', marginTop: 8 }}&gt;&#10;                原文 P199 表 5：Size-OP 分组下五因子与三因子、Carhart 四因子模型的比较（2×3 方法）&#10;            &lt;/Text&gt;&#10;&#10;            &lt;Box style={{ height: 199, flexDirection: 'row', gap: 20, marginTop: 16 }}&gt;&#10;                &lt;Box style={{ width: 360, height: 199, background: '#FFFFFF', border: '1px solid #EAEAEA', borderTop: '4px solid #8A8A8A', padding: 15, flexDirection: 'column' }}&gt;&#10;                    &lt;Text style={{ fontSize: 18, fontWeight: 'bold', color: '#1F1F1F', marginBottom: 8 }}&gt;三因子模型 FF3&lt;/Text&gt;&#10;                    &lt;Text style={{ width: 328, fontSize: 16, color: '#5A5A5A', lineHeight: 1.6 }}&gt;&#10;                        GRS &lt;span style={{ fontWeight: 'bold' }}&gt;2.23***&lt;/span&gt;&lt;br /&gt;&#10;                        A|a| 0.30　｜　A|a|/A|r| &lt;span style={{ fontWeight: 'bold' }}&gt;0.76&lt;/span&gt;&lt;br /&gt;&#10;                        Aa²/Ar² 0.64&#10;                    &lt;/Text&gt;&#10;                    &lt;Text style={{ fontSize: 15, color: '#8A8A8A', marginTop: 'auto' }}&gt;四个指标全面落后&lt;/Text&gt;&#10;                &lt;/Box&gt;&#10;&#10;                &lt;Box style={{ width: 360, height: 199, background: 'rgba(232,80,58,0.10)', flexDirection: 'row' }}&gt;&#10;                    &lt;Box style={{ width: 4, height: 199, background: '#E8503A' }} /&gt;&#10;                    &lt;Box style={{ width: 356, padding: 15, flexDirection: 'column' }}&gt;&#10;                        &lt;Text style={{ fontSize: 18, fontWeight: 'bold', color: '#E8503A', marginBottom: 8 }}&gt;红框读数：76% → 51%&lt;/Text&gt;&#10;                        &lt;Text style={{ width: 324, fontSize: 16, color: '#1F1F1F', lineHeight: 1.6 }}&gt;&#10;                            以 size-op 分组的第 3 个指标为例：三因子模型不能解释的部分占 &lt;span style={{ fontWeight: 'bold' }}&gt;76%&lt;/span&gt;，五因子模型仅占 &lt;span style={{ fontWeight: 'bold' }}&gt;51%&lt;/span&gt;。&#10;                        &lt;/Text&gt;&#10;                        &lt;Text style={{ fontSize: 15, color: '#8A8A8A', marginTop: 'auto' }}&gt;—— 原文 p.200&lt;/Text&gt;&#10;                    &lt;/Box&gt;&#10;                &lt;/Box&gt;&#10;&#10;                &lt;Box style={{ width: 360, height: 199, background: '#FFFFFF', border: '1px solid #EAEAEA', borderTop: '4px solid #01A5B1', padding: 15, flexDirection: 'column' }}&gt;&#10;                    &lt;Text style={{ fontSize: 18, fontWeight: 'bold', color: '#01A5B1', marginBottom: 8 }}&gt;五因子模型 FF5&lt;/Text&gt;&#10;                    &lt;Text style={{ width: 328, fontSize: 16, color: '#5A5A5A', lineHeight: 1.6 }}&gt;&#10;                        GRS &lt;span style={{ fontWeight: 'bold', color: '#01A5B1' }}&gt;1.55*&lt;/span&gt;&lt;br /&gt;&#10;                        A|a| 0.20　｜　A|a|/A|r| &lt;span style={{ fontWeight: 'bold', color: '#01A5B1' }}&gt;0.51&lt;/span&gt;&lt;br /&gt;&#10;                        Aa²/Ar² 0.27&#10;                    &lt;/Text&gt;&#10;                    &lt;Text style={{ fontSize: 15, color: '#8A8A8A', marginTop: 'auto' }}&gt;除按 size-prior 分组外全面最优&lt;/Text&gt;&#10;                &lt;/Box&gt;&#10;            &lt;/Box&gt;&#10;        &lt;/Box&gt;&#10;&#10;        &lt;Box style={{ height: 40, flexDirection: 'row', justifyContent: 'space-between', alignItems: 'center' }}&gt;&#10;            &lt;Text style={{ fontSize: 14, color: '#8A8A8A' }}&gt;三维结构法 · FF5 中国实证拆解&lt;/Text&gt;&#10;            &lt;Text style={{ fontSize: 14, color: '#8A8A8A' }}&gt;25 / 37&lt;/Text&gt;&#10;        &lt;/Box&gt;&#10;    &lt;/Box&gt;&#10;&lt;/Slide&gt;"/>
        <p:cNvGrpSpPr/>
        <p:nvPr/>
      </p:nvGrpSpPr>
      <p:grpSpPr>
        <a:xfrm>
          <a:off x="0" y="0"/>
          <a:ext cx="0" cy="0"/>
          <a:chOff x="0" y="0"/>
          <a:chExt cx="0" cy="0"/>
        </a:xfrm>
      </p:grpSpPr>
      <p:sp>
        <p:nvSpPr>
          <p:cNvPr id="404" name="矩形 403"/>
          <p:cNvSpPr/>
          <p:nvPr/>
        </p:nvSpPr>
        <p:spPr>
          <a:xfrm>
            <a:off x="0" y="0"/>
            <a:ext cx="12192000" cy="6858000"/>
          </a:xfrm>
          <a:prstGeom prst="rect">
            <a:avLst/>
          </a:prstGeom>
          <a:solidFill>
            <a:srgbClr val="FFFFFF"/>
          </a:solidFill>
        </p:spPr>
        <p:txBody>
          <a:bodyPr/>
          <a:p/>
        </p:txBody>
      </p:sp>
      <p:pic>
        <p:nvPicPr>
          <p:cNvPr id="405" name="图片 404"/>
          <p:cNvPicPr>
            <a:picLocks noChangeAspect="1"/>
          </p:cNvPicPr>
          <p:nvPr/>
        </p:nvPicPr>
        <p:blipFill>
          <a:blip r:embed="rId1"/>
          <a:stretch>
            <a:fillRect/>
          </a:stretch>
        </p:blipFill>
        <p:spPr>
          <a:xfrm>
            <a:off x="0" y="0"/>
            <a:ext cx="12192000" cy="6858000"/>
          </a:xfrm>
          <a:prstGeom prst="rect">
            <a:avLst/>
          </a:prstGeom>
        </p:spPr>
      </p:pic>
      <p:sp>
        <p:nvSpPr>
          <p:cNvPr id="406" name="矩形 405"/>
          <p:cNvSpPr/>
          <p:nvPr/>
        </p:nvSpPr>
        <p:spPr>
          <a:xfrm>
            <a:off x="762000" y="476250"/>
            <a:ext cx="57150" cy="342900"/>
          </a:xfrm>
          <a:prstGeom prst="rect">
            <a:avLst/>
          </a:prstGeom>
          <a:solidFill>
            <a:srgbClr val="01A5B1"/>
          </a:solidFill>
        </p:spPr>
        <p:txBody>
          <a:bodyPr/>
          <a:p/>
        </p:txBody>
      </p:sp>
      <p:sp>
        <p:nvSpPr>
          <p:cNvPr id="407" name="文本框 406"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altLang="en-US" sz="2200" b="1">
                <a:solidFill>
                  <a:srgbClr val="1F1F1F"/>
                </a:solidFill>
                <a:latin typeface="微软雅黑" panose="020B0503020204020204" charset="-122"/>
                <a:ea typeface="微软雅黑" panose="020B0503020204020204" charset="-122"/>
              </a:rPr>
              <a:t>股改前后模型解释能力对比分析</a:t>
            </a:r>
            <a:endParaRPr lang="zh-CN" altLang="en-US" sz="2550" b="1">
              <a:solidFill>
                <a:srgbClr val="01A5B1"/>
              </a:solidFill>
              <a:latin typeface="微软雅黑" panose="020B0503020204020204" charset="-122"/>
              <a:ea typeface="微软雅黑" panose="020B0503020204020204" charset="-122"/>
            </a:endParaRPr>
          </a:p>
        </p:txBody>
      </p:sp>
      <p:sp>
        <p:nvSpPr>
          <p:cNvPr id="408" name="矩形 407"/>
          <p:cNvSpPr/>
          <p:nvPr/>
        </p:nvSpPr>
        <p:spPr>
          <a:xfrm>
            <a:off x="762000" y="1104900"/>
            <a:ext cx="10668000" cy="285750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pic>
        <p:nvPicPr>
          <p:cNvPr id="409" name="图片 408" descr="F:\屏幕截图 2026-09-16 164342.png屏幕截图 2026-09-16 164342"/>
          <p:cNvPicPr>
            <a:picLocks noChangeAspect="1"/>
          </p:cNvPicPr>
          <p:nvPr/>
        </p:nvPicPr>
        <p:blipFill>
          <a:blip r:embed="rId2"/>
          <a:srcRect/>
          <a:stretch>
            <a:fillRect/>
          </a:stretch>
        </p:blipFill>
        <p:spPr>
          <a:xfrm>
            <a:off x="1823085" y="1236345"/>
            <a:ext cx="8707120" cy="2594610"/>
          </a:xfrm>
          <a:prstGeom prst="rect">
            <a:avLst/>
          </a:prstGeom>
        </p:spPr>
      </p:pic>
      <p:sp>
        <p:nvSpPr>
          <p:cNvPr id="421" name="矩形 420"/>
          <p:cNvSpPr/>
          <p:nvPr/>
        </p:nvSpPr>
        <p:spPr>
          <a:xfrm>
            <a:off x="6370320" y="4400550"/>
            <a:ext cx="5059680" cy="1857375"/>
          </a:xfrm>
          <a:prstGeom prst="rect">
            <a:avLst/>
          </a:prstGeom>
          <a:solidFill>
            <a:srgbClr val="FFFFFF"/>
          </a:solidFill>
        </p:spPr>
        <p:txBody>
          <a:bodyPr/>
          <a:p/>
        </p:txBody>
      </p:sp>
      <p:sp>
        <p:nvSpPr>
          <p:cNvPr id="422" name="任意多边形 421"/>
          <p:cNvSpPr/>
          <p:nvPr/>
        </p:nvSpPr>
        <p:spPr>
          <a:xfrm>
            <a:off x="6370320" y="4349750"/>
            <a:ext cx="4972685" cy="1958340"/>
          </a:xfrm>
          <a:custGeom>
            <a:avLst/>
            <a:gdLst/>
            <a:ahLst/>
            <a:cxnLst/>
            <a:pathLst>
              <a:path w="360" h="199">
                <a:moveTo>
                  <a:pt x="0" y="0"/>
                </a:moveTo>
                <a:lnTo>
                  <a:pt x="360" y="0"/>
                </a:lnTo>
                <a:lnTo>
                  <a:pt x="360" y="4"/>
                </a:lnTo>
                <a:lnTo>
                  <a:pt x="0" y="4"/>
                </a:lnTo>
                <a:close/>
              </a:path>
            </a:pathLst>
          </a:custGeom>
          <a:solidFill>
            <a:srgbClr val="01A5B1"/>
          </a:solidFill>
        </p:spPr>
        <p:txBody>
          <a:bodyPr/>
          <a:p/>
        </p:txBody>
      </p:sp>
      <p:cxnSp>
        <p:nvCxnSpPr>
          <p:cNvPr id="2" name="直接箭头连接符 1"/>
          <p:cNvCxnSpPr/>
          <p:nvPr/>
        </p:nvCxnSpPr>
        <p:spPr>
          <a:xfrm flipH="1" flipV="1">
            <a:off x="1823085" y="3637280"/>
            <a:ext cx="757555" cy="3810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3" name="文本框 2"/>
          <p:cNvSpPr txBox="1"/>
          <p:nvPr/>
        </p:nvSpPr>
        <p:spPr>
          <a:xfrm>
            <a:off x="198755" y="2020570"/>
            <a:ext cx="1576070" cy="2799715"/>
          </a:xfrm>
          <a:prstGeom prst="rect">
            <a:avLst/>
          </a:prstGeom>
          <a:noFill/>
        </p:spPr>
        <p:txBody>
          <a:bodyPr wrap="square" rtlCol="0">
            <a:spAutoFit/>
          </a:bodyPr>
          <a:p>
            <a:r>
              <a:rPr lang="zh-CN" altLang="en-US" sz="1600" b="1"/>
              <a:t>指标含义：数值越大 = 模型解释能力越差，不可解释的超额收益占比越高，市场效率越低；数值越小 = 模型解释力越强，超额收益占比越低，市场效率越高</a:t>
            </a:r>
            <a:endParaRPr lang="zh-CN" altLang="en-US" sz="1600" b="1"/>
          </a:p>
        </p:txBody>
      </p:sp>
      <p:cxnSp>
        <p:nvCxnSpPr>
          <p:cNvPr id="4" name="直接箭头连接符 3"/>
          <p:cNvCxnSpPr/>
          <p:nvPr/>
        </p:nvCxnSpPr>
        <p:spPr>
          <a:xfrm flipV="1">
            <a:off x="9268460" y="3500120"/>
            <a:ext cx="1261745" cy="104140"/>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sp>
        <p:nvSpPr>
          <p:cNvPr id="5" name="文本框 4"/>
          <p:cNvSpPr txBox="1"/>
          <p:nvPr/>
        </p:nvSpPr>
        <p:spPr>
          <a:xfrm>
            <a:off x="10562590" y="2651125"/>
            <a:ext cx="1750060" cy="953135"/>
          </a:xfrm>
          <a:prstGeom prst="rect">
            <a:avLst/>
          </a:prstGeom>
          <a:noFill/>
        </p:spPr>
        <p:txBody>
          <a:bodyPr wrap="square" rtlCol="0">
            <a:spAutoFit/>
          </a:bodyPr>
          <a:p>
            <a:r>
              <a:rPr lang="zh-CN" altLang="en-US" sz="1400" b="1"/>
              <a:t>稳健性检验：</a:t>
            </a:r>
            <a:endParaRPr lang="zh-CN" altLang="en-US" sz="1400" b="1"/>
          </a:p>
          <a:p>
            <a:r>
              <a:rPr lang="zh-CN" altLang="en-US" sz="1400" b="1"/>
              <a:t>三种方法得到的数值接近，结论一致，说明实证结果稳健</a:t>
            </a:r>
            <a:endParaRPr lang="zh-CN" altLang="en-US" sz="1400" b="1"/>
          </a:p>
        </p:txBody>
      </p:sp>
      <p:sp>
        <p:nvSpPr>
          <p:cNvPr id="7" name="矩形 6"/>
          <p:cNvSpPr/>
          <p:nvPr/>
        </p:nvSpPr>
        <p:spPr>
          <a:xfrm>
            <a:off x="1774825" y="4298950"/>
            <a:ext cx="4365625" cy="2086610"/>
          </a:xfrm>
          <a:prstGeom prst="rect">
            <a:avLst/>
          </a:prstGeom>
          <a:solidFill>
            <a:srgbClr val="E8503A">
              <a:alpha val="10000"/>
            </a:srgbClr>
          </a:solidFill>
        </p:spPr>
        <p:txBody>
          <a:bodyPr/>
          <a:p/>
        </p:txBody>
      </p:sp>
      <p:sp>
        <p:nvSpPr>
          <p:cNvPr id="8" name="文本框 7" descr="{&quot;isTemplate&quot;:true,&quot;type&quot;:&quot;text&quot;}"/>
          <p:cNvSpPr txBox="1"/>
          <p:nvPr/>
        </p:nvSpPr>
        <p:spPr>
          <a:xfrm>
            <a:off x="1823085" y="4349750"/>
            <a:ext cx="3105150" cy="209550"/>
          </a:xfrm>
          <a:prstGeom prst="rect">
            <a:avLst/>
          </a:prstGeom>
        </p:spPr>
        <p:txBody>
          <a:bodyPr wrap="none" lIns="0" tIns="0" rIns="0" bIns="0"/>
          <a:p>
            <a:pPr algn="l">
              <a:lnSpc>
                <a:spcPct val="100000"/>
              </a:lnSpc>
            </a:pPr>
            <a:r>
              <a:rPr lang="en-US" altLang="zh-CN" b="1">
                <a:solidFill>
                  <a:srgbClr val="E8503A"/>
                </a:solidFill>
                <a:latin typeface="微软雅黑" panose="020B0503020204020204" charset="-122"/>
                <a:ea typeface="微软雅黑" panose="020B0503020204020204" charset="-122"/>
              </a:rPr>
              <a:t>01.</a:t>
            </a:r>
            <a:r>
              <a:rPr lang="zh-CN" b="1">
                <a:solidFill>
                  <a:srgbClr val="E8503A"/>
                </a:solidFill>
                <a:latin typeface="微软雅黑" panose="020B0503020204020204" charset="-122"/>
                <a:ea typeface="微软雅黑" panose="020B0503020204020204" charset="-122"/>
              </a:rPr>
              <a:t>CAPM（单因子，只有</a:t>
            </a:r>
            <a:r>
              <a:rPr lang="zh-CN" sz="2000" b="1">
                <a:solidFill>
                  <a:srgbClr val="E8503A"/>
                </a:solidFill>
                <a:latin typeface="微软雅黑" panose="020B0503020204020204" charset="-122"/>
                <a:ea typeface="微软雅黑" panose="020B0503020204020204" charset="-122"/>
              </a:rPr>
              <a:t>市场</a:t>
            </a:r>
            <a:r>
              <a:rPr lang="zh-CN" b="1">
                <a:solidFill>
                  <a:srgbClr val="E8503A"/>
                </a:solidFill>
                <a:latin typeface="微软雅黑" panose="020B0503020204020204" charset="-122"/>
                <a:ea typeface="微软雅黑" panose="020B0503020204020204" charset="-122"/>
              </a:rPr>
              <a:t>风险溢价</a:t>
            </a:r>
            <a:r>
              <a:rPr lang="en-US" altLang="zh-CN" b="1">
                <a:solidFill>
                  <a:srgbClr val="E8503A"/>
                </a:solidFill>
                <a:latin typeface="微软雅黑" panose="020B0503020204020204" charset="-122"/>
                <a:ea typeface="微软雅黑" panose="020B0503020204020204" charset="-122"/>
              </a:rPr>
              <a:t>)</a:t>
            </a:r>
            <a:endParaRPr lang="en-US" altLang="zh-CN" b="1">
              <a:solidFill>
                <a:srgbClr val="E8503A"/>
              </a:solidFill>
              <a:latin typeface="微软雅黑" panose="020B0503020204020204" charset="-122"/>
              <a:ea typeface="微软雅黑" panose="020B0503020204020204" charset="-122"/>
            </a:endParaRPr>
          </a:p>
        </p:txBody>
      </p:sp>
      <p:sp>
        <p:nvSpPr>
          <p:cNvPr id="9" name="文本框 8" descr="{&quot;isTemplate&quot;:true,&quot;type&quot;:&quot;text&quot;}"/>
          <p:cNvSpPr txBox="1"/>
          <p:nvPr/>
        </p:nvSpPr>
        <p:spPr>
          <a:xfrm>
            <a:off x="1932305" y="4853305"/>
            <a:ext cx="3375660" cy="1547495"/>
          </a:xfrm>
          <a:prstGeom prst="rect">
            <a:avLst/>
          </a:prstGeom>
        </p:spPr>
        <p:txBody>
          <a:bodyPr wrap="square" lIns="0" tIns="0" rIns="0" bIns="0"/>
          <a:p>
            <a:pPr>
              <a:lnSpc>
                <a:spcPct val="160000"/>
              </a:lnSpc>
            </a:pPr>
            <a:r>
              <a:rPr lang="zh-CN" sz="1600" b="1">
                <a:solidFill>
                  <a:srgbClr val="1F1F1F"/>
                </a:solidFill>
                <a:latin typeface="微软雅黑" panose="020B0503020204020204" charset="-122"/>
                <a:ea typeface="微软雅黑" panose="020B0503020204020204" charset="-122"/>
              </a:rPr>
              <a:t>股改前：</a:t>
            </a:r>
            <a:r>
              <a:rPr lang="en-US" altLang="zh-CN" sz="1600" b="1">
                <a:solidFill>
                  <a:srgbClr val="1F1F1F"/>
                </a:solidFill>
                <a:latin typeface="微软雅黑" panose="020B0503020204020204" charset="-122"/>
                <a:ea typeface="微软雅黑" panose="020B0503020204020204" charset="-122"/>
              </a:rPr>
              <a:t>AR=0.65</a:t>
            </a:r>
            <a:r>
              <a:rPr lang="zh-CN" altLang="en-US" sz="1600" b="1">
                <a:solidFill>
                  <a:srgbClr val="1F1F1F"/>
                </a:solidFill>
                <a:latin typeface="微软雅黑" panose="020B0503020204020204" charset="-122"/>
                <a:ea typeface="微软雅黑" panose="020B0503020204020204" charset="-122"/>
              </a:rPr>
              <a:t>，</a:t>
            </a:r>
            <a:r>
              <a:rPr lang="en-US" altLang="zh-CN" sz="1600" b="1">
                <a:solidFill>
                  <a:srgbClr val="1F1F1F"/>
                </a:solidFill>
                <a:latin typeface="微软雅黑" panose="020B0503020204020204" charset="-122"/>
                <a:ea typeface="微软雅黑" panose="020B0503020204020204" charset="-122"/>
                <a:sym typeface="+mn-ea"/>
              </a:rPr>
              <a:t>AR²=0.47</a:t>
            </a:r>
            <a:endParaRPr lang="zh-CN" sz="1600" b="1">
              <a:solidFill>
                <a:srgbClr val="1F1F1F"/>
              </a:solidFill>
              <a:latin typeface="微软雅黑" panose="020B0503020204020204" charset="-122"/>
              <a:ea typeface="微软雅黑" panose="020B0503020204020204" charset="-122"/>
            </a:endParaRPr>
          </a:p>
          <a:p>
            <a:pPr>
              <a:lnSpc>
                <a:spcPct val="160000"/>
              </a:lnSpc>
            </a:pPr>
            <a:r>
              <a:rPr lang="zh-CN" sz="1600" b="1">
                <a:solidFill>
                  <a:srgbClr val="1F1F1F"/>
                </a:solidFill>
                <a:latin typeface="微软雅黑" panose="020B0503020204020204" charset="-122"/>
                <a:ea typeface="微软雅黑" panose="020B0503020204020204" charset="-122"/>
              </a:rPr>
              <a:t>股改后：</a:t>
            </a:r>
            <a:r>
              <a:rPr lang="en-US" altLang="zh-CN" sz="1600" b="1">
                <a:solidFill>
                  <a:srgbClr val="1F1F1F"/>
                </a:solidFill>
                <a:latin typeface="微软雅黑" panose="020B0503020204020204" charset="-122"/>
                <a:ea typeface="微软雅黑" panose="020B0503020204020204" charset="-122"/>
                <a:sym typeface="+mn-ea"/>
              </a:rPr>
              <a:t>AR=1.53</a:t>
            </a:r>
            <a:r>
              <a:rPr lang="zh-CN" altLang="en-US" sz="1600" b="1">
                <a:solidFill>
                  <a:srgbClr val="1F1F1F"/>
                </a:solidFill>
                <a:latin typeface="微软雅黑" panose="020B0503020204020204" charset="-122"/>
                <a:ea typeface="微软雅黑" panose="020B0503020204020204" charset="-122"/>
                <a:sym typeface="+mn-ea"/>
              </a:rPr>
              <a:t>，</a:t>
            </a:r>
            <a:r>
              <a:rPr lang="en-US" altLang="zh-CN" sz="1600" b="1">
                <a:solidFill>
                  <a:srgbClr val="1F1F1F"/>
                </a:solidFill>
                <a:latin typeface="微软雅黑" panose="020B0503020204020204" charset="-122"/>
                <a:ea typeface="微软雅黑" panose="020B0503020204020204" charset="-122"/>
                <a:sym typeface="+mn-ea"/>
              </a:rPr>
              <a:t>AR²=2.34</a:t>
            </a:r>
            <a:endParaRPr lang="zh-CN" sz="1600" b="1">
              <a:solidFill>
                <a:srgbClr val="1F1F1F"/>
              </a:solidFill>
              <a:latin typeface="微软雅黑" panose="020B0503020204020204" charset="-122"/>
              <a:ea typeface="微软雅黑" panose="020B0503020204020204" charset="-122"/>
            </a:endParaRPr>
          </a:p>
          <a:p>
            <a:pPr>
              <a:lnSpc>
                <a:spcPct val="160000"/>
              </a:lnSpc>
            </a:pPr>
            <a:r>
              <a:rPr lang="zh-CN" sz="1600" b="1">
                <a:solidFill>
                  <a:srgbClr val="1F1F1F"/>
                </a:solidFill>
                <a:latin typeface="微软雅黑" panose="020B0503020204020204" charset="-122"/>
                <a:ea typeface="微软雅黑" panose="020B0503020204020204" charset="-122"/>
              </a:rPr>
              <a:t>股改后 CAPM 的 AR、</a:t>
            </a:r>
            <a:r>
              <a:rPr lang="en-US" altLang="zh-CN" sz="1600" b="1">
                <a:solidFill>
                  <a:srgbClr val="1F1F1F"/>
                </a:solidFill>
                <a:latin typeface="微软雅黑" panose="020B0503020204020204" charset="-122"/>
                <a:ea typeface="微软雅黑" panose="020B0503020204020204" charset="-122"/>
              </a:rPr>
              <a:t>AR²</a:t>
            </a:r>
            <a:r>
              <a:rPr lang="zh-CN" sz="1600" b="1">
                <a:solidFill>
                  <a:srgbClr val="1F1F1F"/>
                </a:solidFill>
                <a:latin typeface="微软雅黑" panose="020B0503020204020204" charset="-122"/>
                <a:ea typeface="微软雅黑" panose="020B0503020204020204" charset="-122"/>
              </a:rPr>
              <a:t>大幅上升</a:t>
            </a:r>
            <a:endParaRPr lang="zh-CN" sz="1600" b="1">
              <a:solidFill>
                <a:srgbClr val="1F1F1F"/>
              </a:solidFill>
              <a:latin typeface="微软雅黑" panose="020B0503020204020204" charset="-122"/>
              <a:ea typeface="微软雅黑" panose="020B0503020204020204" charset="-122"/>
            </a:endParaRPr>
          </a:p>
          <a:p>
            <a:pPr>
              <a:lnSpc>
                <a:spcPct val="160000"/>
              </a:lnSpc>
            </a:pPr>
            <a:endParaRPr lang="zh-CN" sz="1600" b="1">
              <a:solidFill>
                <a:srgbClr val="1F1F1F"/>
              </a:solidFill>
              <a:latin typeface="微软雅黑" panose="020B0503020204020204" charset="-122"/>
              <a:ea typeface="微软雅黑" panose="020B0503020204020204" charset="-122"/>
            </a:endParaRPr>
          </a:p>
        </p:txBody>
      </p:sp>
      <p:graphicFrame>
        <p:nvGraphicFramePr>
          <p:cNvPr id="6" name="对象 5">
            <a:hlinkClick r:id="" action="ppaction://ole?verb="/>
          </p:cNvPr>
          <p:cNvGraphicFramePr>
            <a:graphicFrameLocks noChangeAspect="1"/>
          </p:cNvGraphicFramePr>
          <p:nvPr/>
        </p:nvGraphicFramePr>
        <p:xfrm>
          <a:off x="5638800" y="3321050"/>
          <a:ext cx="914400" cy="215900"/>
        </p:xfrm>
        <a:graphic>
          <a:graphicData uri="http://schemas.openxmlformats.org/presentationml/2006/ole">
            <mc:AlternateContent xmlns:mc="http://schemas.openxmlformats.org/markup-compatibility/2006">
              <mc:Choice xmlns:v="urn:schemas-microsoft-com:vml" Requires="v">
                <p:oleObj spid="_x0000_s1025" name="" r:id="rId3" imgW="914400" imgH="215900" progId="Equation.KSEE3">
                  <p:embed/>
                </p:oleObj>
              </mc:Choice>
              <mc:Fallback>
                <p:oleObj name="" r:id="rId3" imgW="914400" imgH="215900" progId="Equation.KSEE3">
                  <p:embed/>
                  <p:pic>
                    <p:nvPicPr>
                      <p:cNvPr id="0" name="图片 1024"/>
                      <p:cNvPicPr/>
                      <p:nvPr/>
                    </p:nvPicPr>
                    <p:blipFill>
                      <a:blip r:embed="rId4"/>
                      <a:stretch>
                        <a:fillRect/>
                      </a:stretch>
                    </p:blipFill>
                    <p:spPr>
                      <a:xfrm>
                        <a:off x="5638800" y="3321050"/>
                        <a:ext cx="914400" cy="215900"/>
                      </a:xfrm>
                      <a:prstGeom prst="rect">
                        <a:avLst/>
                      </a:prstGeom>
                    </p:spPr>
                  </p:pic>
                </p:oleObj>
              </mc:Fallback>
            </mc:AlternateContent>
          </a:graphicData>
        </a:graphic>
      </p:graphicFrame>
      <p:sp>
        <p:nvSpPr>
          <p:cNvPr id="501" name="矩形 500"/>
          <p:cNvSpPr/>
          <p:nvPr/>
        </p:nvSpPr>
        <p:spPr>
          <a:xfrm>
            <a:off x="1774825" y="4314825"/>
            <a:ext cx="38100" cy="2085975"/>
          </a:xfrm>
          <a:prstGeom prst="rect">
            <a:avLst/>
          </a:prstGeom>
          <a:solidFill>
            <a:srgbClr val="E8503A"/>
          </a:solidFill>
        </p:spPr>
        <p:txBody>
          <a:bodyPr/>
          <a:p/>
        </p:txBody>
      </p:sp>
      <p:sp>
        <p:nvSpPr>
          <p:cNvPr id="13" name="文本框 12"/>
          <p:cNvSpPr txBox="1"/>
          <p:nvPr/>
        </p:nvSpPr>
        <p:spPr>
          <a:xfrm>
            <a:off x="6470650" y="4400550"/>
            <a:ext cx="4958715" cy="1666240"/>
          </a:xfrm>
          <a:prstGeom prst="rect">
            <a:avLst/>
          </a:prstGeom>
          <a:noFill/>
        </p:spPr>
        <p:txBody>
          <a:bodyPr wrap="square" rtlCol="0">
            <a:spAutoFit/>
          </a:bodyPr>
          <a:p>
            <a:pPr>
              <a:lnSpc>
                <a:spcPct val="160000"/>
              </a:lnSpc>
            </a:pPr>
            <a:r>
              <a:rPr lang="zh-CN" sz="1600" b="1">
                <a:solidFill>
                  <a:srgbClr val="01A5B1"/>
                </a:solidFill>
                <a:latin typeface="微软雅黑" panose="020B0503020204020204" charset="-122"/>
                <a:ea typeface="微软雅黑" panose="020B0503020204020204" charset="-122"/>
                <a:sym typeface="+mn-ea"/>
              </a:rPr>
              <a:t>股改之后，仅仅依靠市场因子已经很难解释 A 股股票收益，单因子 CAPM 模型失效。股改前市场风险可以解释大部分收益，股改后，规模、价值、盈利、投资等风格效应开始显现，仅市场因子远远不够。</a:t>
            </a:r>
            <a:endParaRPr lang="zh-CN" sz="1600" b="1">
              <a:solidFill>
                <a:srgbClr val="01A5B1"/>
              </a:solidFill>
              <a:latin typeface="微软雅黑" panose="020B0503020204020204" charset="-122"/>
              <a:ea typeface="微软雅黑" panose="020B0503020204020204" charset="-122"/>
              <a:sym typeface="+mn-ea"/>
            </a:endParaRPr>
          </a:p>
        </p:txBody>
      </p:sp>
      <p:sp>
        <p:nvSpPr>
          <p:cNvPr id="502" name="Rectangle 501"/>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Rectangle 502"/>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TextBox 503"/>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505" name="TextBox 504"/>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506" name="TextBox 505"/>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507" name="TextBox 506"/>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508" name="Rectangle 507"/>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TextBox 508"/>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510" name="TextBox 509"/>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511" name="TextBox 510"/>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512" name="TextBox 511"/>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708"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四步迁移法：下一篇论文照着做&lt;/Text&gt;&#10;        &lt;/Box&gt;&#10;&#10;        &lt;Box style={{ height: 544, flexDirection: 'column' }}&gt;&#10;            &lt;Box style={{ height: 460, flexDirection: 'row', gap: 20 }}&gt;&#10;                &lt;Box style={{ width: 265, height: 460, background: '#FFFFFF', border: '1px solid #EAEAEA', borderTop: '4px solid #01A5B1', padding: 16, flexDirection: 'column' }}&gt;&#10;                    &lt;Text style={{ fontSize: 44, fontWeight: 'bold', color: '#01A5B1', lineHeight: 1 }}&gt;01&lt;/Text&gt;&#10;                    &lt;Text style={{ fontSize: 20, fontWeight: 'bold', color: '#1F1F1F', marginTop: 12, marginBottom: 10 }}&gt;摸家谱 · 30 分钟&lt;/Text&gt;&#10;                    &lt;Text style={{ width: 233, fontSize: 15.5, color: '#5A5A5A', lineHeight: 1.6 }}&gt;&#10;                        拉双行时间轴：母模型主线 + 本土支线。&lt;br /&gt;&lt;br /&gt;&#10;                        只找三样东西——体系内部的冗余判定、同市场的相反结论、体系外的范式挑战。&#10;                    &lt;/Text&gt;&#10;                    &lt;Box style={{ width: 233, background: 'rgba(1,165,177,0.12)', padding: 10, marginTop: 'auto' }}&gt;&#10;                        &lt;Text style={{ fontSize: 14.5, color: '#1F1F1F', lineHeight: 1.45 }}&gt;&#10;                            产出：一句选题公式，含 X / Y / Z&#10;                        &lt;/Text&gt;&#10;                    &lt;/Box&gt;&#10;                &lt;/Box&gt;&#10;&#10;                &lt;Box style={{ width: 265, height: 460, background: '#FFFFFF', border: '1px solid #EAEAEA', borderTop: '4px solid #01A5B1', padding: 16, flexDirection: 'column' }}&gt;&#10;                    &lt;Text style={{ fontSize: 44, fontWeight: 'bold', color: '#01A5B1', lineHeight: 1 }}&gt;02&lt;/Text&gt;&#10;                    &lt;Text style={{ fontSize: 20, fontWeight: 'bold', color: '#1F1F1F', marginTop: 12, marginBottom: 10 }}&gt;摘语料 · 40 分钟&lt;/Text&gt;&#10;                    &lt;Text style={{ width: 233, fontSize: 15.5, color: '#5A5A5A', lineHeight: 1.6 }}&gt;&#10;                        只摘五类：让步句、机制包装、归因句、方法论建议、自我设限。&lt;br /&gt;&lt;br /&gt;&#10;                        每条记四样：原文 + 页码 + 可迁移模板 + 我的替换版。&#10;                    &lt;/Text&gt;&#10;                    &lt;Box style={{ width: 233, background: 'rgba(1,165,177,0.12)', padding: 10, marginTop: 'auto' }}&gt;&#10;                        &lt;Text style={{ fontSize: 14.5, color: '#1F1F1F', lineHeight: 1.45 }}&gt;&#10;                            产出：带页码的语料表，半年后可复述&#10;                        &lt;/Text&gt;&#10;                    &lt;/Box&gt;&#10;                &lt;/Box&gt;&#10;&#10;                &lt;Box style={{ width: 265, height: 460, background: '#FFFFFF', border: '1px solid #EAEAEA', borderTop: '4px solid #01A5B1', padding: 16, flexDirection: 'column' }}&gt;&#10;                    &lt;Text style={{ fontSize: 44, fontWeight: 'bold', color: '#01A5B1', lineHeight: 1 }}&gt;03&lt;/Text&gt;&#10;                    &lt;Text style={{ fontSize: 20, fontWeight: 'bold', color: '#1F1F1F', marginTop: 12, marginBottom: 10 }}&gt;重跑链路 · 半天&lt;/Text&gt;&#10;                    &lt;Text style={{ width: 233, fontSize: 15.5, color: '#5A5A5A', lineHeight: 1.6 }}&gt;&#10;                        把方法章节逐句翻译成代码。先用合成数据验证链路通不通，再换真实面板。&lt;br /&gt;&lt;br /&gt;&#10;                        输出「原文真实数字对照表」校验方向性。&#10;                    &lt;/Text&gt;&#10;                    &lt;Box style={{ width: 233, background: 'rgba(1,165,177,0.12)', padding: 10, marginTop: 'auto' }}&gt;&#10;                        &lt;Text style={{ fontSize: 14.5, color: '#1F1F1F', lineHeight: 1.45 }}&gt;&#10;                            产出：一份可运行的复现骨架&#10;                        &lt;/Text&gt;&#10;                    &lt;/Box&gt;&#10;                &lt;/Box&gt;&#10;&#10;                &lt;Box style={{ width: 265, height: 460, background: '#FFFFFF', border: '1px solid #EAEAEA', borderTop: '4px solid #E8503A', padding: 16, flexDirection: 'column' }}&gt;&#10;                    &lt;Text style={{ fontSize: 44, fontWeight: 'bold', color: '#E8503A', lineHeight: 1 }}&gt;04&lt;/Text&gt;&#10;                    &lt;Text style={{ fontSize: 20, fontWeight: 'bold', color: '#1F1F1F', marginTop: 12, marginBottom: 10 }}&gt;出 Gap 清单 · 30 分钟&lt;/Text&gt;&#10;                    &lt;Text style={{ width: 233, fontSize: 15.5, color: '#5A5A5A', lineHeight: 1.6 }}&gt;&#10;                        逐条写三栏：论文做法 → 留出的口子 → 改写方向。&lt;br /&gt;&lt;br /&gt;&#10;                        优先选&lt;span style={{ fontWeight: 'bold', color: '#1F1F1F' }}&gt;口径类&lt;/span&gt;（可证伪）与&lt;span style={{ fontWeight: 'bold', color: '#1F1F1F' }}&gt;自我设限类&lt;/span&gt;（作者已交棒）。&#10;                    &lt;/Text&gt;&#10;                    &lt;Box style={{ width: 233, background: 'rgba(232,80,58,0.12)', padding: 10, marginTop: 'auto' }}&gt;&#10;                        &lt;Text style={{ fontSize: 14.5, color: '#1F1F1F', lineHeight: 1.45 }}&gt;&#10;                            产出：可直接立项的创新点清单&#10;                        &lt;/Text&gt;&#10;                    &lt;/Box&gt;&#10;                &lt;/Box&gt;&#10;            &lt;/Box&gt;&#10;&#10;            &lt;Box style={{ height: 68, background: '#1F1F1F', alignItems: 'center', justifyContent: 'center', flexDirection: 'row', marginTop: 16 }}&gt;&#10;                &lt;Text style={{ fontSize: 22, fontWeight: 'bold', color: '#FFFFFF', letterSpacing: 1 }}&gt;&#10;                    读文献的产出不是一个「理解」，是一个「选题」&#10;                &lt;/Text&gt;&#10;            &lt;/Box&gt;&#10;        &lt;/Box&gt;&#10;&#10;        &lt;Box style={{ height: 40, flexDirection: 'row', justifyContent: 'space-between', alignItems: 'center' }}&gt;&#10;            &lt;Text style={{ fontSize: 14, color: '#8A8A8A' }}&gt;三维结构法 · FF5 中国实证拆解&lt;/Text&gt;&#10;            &lt;Text style={{ fontSize: 14, color: '#8A8A8A' }}&gt;36 / 37&lt;/Text&gt;&#10;        &lt;/Box&gt;&#10;    &lt;/Box&gt;&#10;&lt;/Slide&gt;"/>
        <p:cNvGrpSpPr/>
        <p:nvPr/>
      </p:nvGrpSpPr>
      <p:grpSpPr>
        <a:xfrm>
          <a:off x="0" y="0"/>
          <a:ext cx="0" cy="0"/>
          <a:chOff x="0" y="0"/>
          <a:chExt cx="0" cy="0"/>
        </a:xfrm>
      </p:grpSpPr>
      <p:sp>
        <p:nvSpPr>
          <p:cNvPr id="709" name="矩形 708"/>
          <p:cNvSpPr/>
          <p:nvPr/>
        </p:nvSpPr>
        <p:spPr>
          <a:xfrm>
            <a:off x="0" y="0"/>
            <a:ext cx="12192000" cy="6858000"/>
          </a:xfrm>
          <a:prstGeom prst="rect">
            <a:avLst/>
          </a:prstGeom>
          <a:solidFill>
            <a:srgbClr val="FFFFFF"/>
          </a:solidFill>
        </p:spPr>
        <p:txBody>
          <a:bodyPr/>
          <a:p/>
        </p:txBody>
      </p:sp>
      <p:pic>
        <p:nvPicPr>
          <p:cNvPr id="710" name="图片 709"/>
          <p:cNvPicPr>
            <a:picLocks noChangeAspect="1"/>
          </p:cNvPicPr>
          <p:nvPr/>
        </p:nvPicPr>
        <p:blipFill>
          <a:blip r:embed="rId1"/>
          <a:stretch>
            <a:fillRect/>
          </a:stretch>
        </p:blipFill>
        <p:spPr>
          <a:xfrm>
            <a:off x="33020" y="0"/>
            <a:ext cx="12192000" cy="6858000"/>
          </a:xfrm>
          <a:prstGeom prst="rect">
            <a:avLst/>
          </a:prstGeom>
        </p:spPr>
      </p:pic>
      <p:sp>
        <p:nvSpPr>
          <p:cNvPr id="711" name="矩形 710"/>
          <p:cNvSpPr/>
          <p:nvPr/>
        </p:nvSpPr>
        <p:spPr>
          <a:xfrm>
            <a:off x="762000" y="476250"/>
            <a:ext cx="57150" cy="342900"/>
          </a:xfrm>
          <a:prstGeom prst="rect">
            <a:avLst/>
          </a:prstGeom>
          <a:solidFill>
            <a:srgbClr val="01A5B1"/>
          </a:solidFill>
        </p:spPr>
        <p:txBody>
          <a:bodyPr/>
          <a:p/>
        </p:txBody>
      </p:sp>
      <p:sp>
        <p:nvSpPr>
          <p:cNvPr id="712" name="文本框 711" descr="{&quot;isTemplate&quot;:true,&quot;type&quot;:&quot;text&quot;}"/>
          <p:cNvSpPr txBox="1"/>
          <p:nvPr/>
        </p:nvSpPr>
        <p:spPr>
          <a:xfrm>
            <a:off x="530352" y="256032"/>
            <a:ext cx="10607040" cy="548640"/>
          </a:xfrm>
          <a:prstGeom prst="rect">
            <a:avLst/>
          </a:prstGeom>
        </p:spPr>
        <p:txBody>
          <a:bodyPr wrap="square" lIns="0" tIns="0" rIns="0" bIns="0"/>
          <a:p>
            <a:pPr algn="l">
              <a:lnSpc>
                <a:spcPct val="100000"/>
              </a:lnSpc>
            </a:pPr>
            <a:r>
              <a:rPr lang="zh-CN" altLang="en-US" sz="2200" b="1">
                <a:solidFill>
                  <a:srgbClr val="1F1F1F"/>
                </a:solidFill>
                <a:latin typeface="微软雅黑" panose="020B0503020204020204" charset="-122"/>
                <a:ea typeface="微软雅黑" panose="020B0503020204020204" charset="-122"/>
                <a:sym typeface="+mn-ea"/>
              </a:rPr>
              <a:t>股改前后模型解释能力对比分析</a:t>
            </a:r>
            <a:endParaRPr lang="zh-CN" altLang="en-US" sz="2550" b="1">
              <a:solidFill>
                <a:srgbClr val="01A5B1"/>
              </a:solidFill>
              <a:latin typeface="微软雅黑" panose="020B0503020204020204" charset="-122"/>
              <a:ea typeface="微软雅黑" panose="020B0503020204020204" charset="-122"/>
            </a:endParaRPr>
          </a:p>
          <a:p>
            <a:pPr>
              <a:lnSpc>
                <a:spcPct val="100000"/>
              </a:lnSpc>
            </a:pPr>
            <a:endParaRPr lang="zh-CN" sz="2550" b="1">
              <a:solidFill>
                <a:srgbClr val="01A5B1"/>
              </a:solidFill>
              <a:latin typeface="微软雅黑" panose="020B0503020204020204" charset="-122"/>
              <a:ea typeface="微软雅黑" panose="020B0503020204020204" charset="-122"/>
            </a:endParaRPr>
          </a:p>
        </p:txBody>
      </p:sp>
      <p:sp>
        <p:nvSpPr>
          <p:cNvPr id="713" name="矩形 712"/>
          <p:cNvSpPr/>
          <p:nvPr/>
        </p:nvSpPr>
        <p:spPr>
          <a:xfrm>
            <a:off x="762000" y="1143000"/>
            <a:ext cx="2524125" cy="5006340"/>
          </a:xfrm>
          <a:prstGeom prst="rect">
            <a:avLst/>
          </a:prstGeom>
          <a:solidFill>
            <a:srgbClr val="FFFFFF"/>
          </a:solidFill>
        </p:spPr>
        <p:txBody>
          <a:bodyPr/>
          <a:p/>
        </p:txBody>
      </p:sp>
      <p:sp>
        <p:nvSpPr>
          <p:cNvPr id="714" name="任意多边形 713"/>
          <p:cNvSpPr/>
          <p:nvPr/>
        </p:nvSpPr>
        <p:spPr>
          <a:xfrm>
            <a:off x="762000" y="1104900"/>
            <a:ext cx="2524125" cy="4381500"/>
          </a:xfrm>
          <a:custGeom>
            <a:avLst/>
            <a:gdLst/>
            <a:ahLst/>
            <a:cxnLst/>
            <a:pathLst>
              <a:path w="265" h="460">
                <a:moveTo>
                  <a:pt x="0" y="0"/>
                </a:moveTo>
                <a:lnTo>
                  <a:pt x="265" y="0"/>
                </a:lnTo>
                <a:lnTo>
                  <a:pt x="265" y="4"/>
                </a:lnTo>
                <a:lnTo>
                  <a:pt x="0" y="4"/>
                </a:lnTo>
                <a:close/>
              </a:path>
            </a:pathLst>
          </a:custGeom>
          <a:solidFill>
            <a:srgbClr val="01A5B1"/>
          </a:solidFill>
        </p:spPr>
        <p:txBody>
          <a:bodyPr/>
          <a:p/>
        </p:txBody>
      </p:sp>
      <p:sp>
        <p:nvSpPr>
          <p:cNvPr id="715" name="文本框 714" descr="{&quot;isTemplate&quot;:true,&quot;type&quot;:&quot;text&quot;}"/>
          <p:cNvSpPr txBox="1"/>
          <p:nvPr/>
        </p:nvSpPr>
        <p:spPr>
          <a:xfrm>
            <a:off x="914400" y="1295400"/>
            <a:ext cx="2219325" cy="504825"/>
          </a:xfrm>
          <a:prstGeom prst="rect">
            <a:avLst/>
          </a:prstGeom>
        </p:spPr>
        <p:txBody>
          <a:bodyPr wrap="none" lIns="0" tIns="0" rIns="0" bIns="0"/>
          <a:p>
            <a:pPr>
              <a:lnSpc>
                <a:spcPct val="100000"/>
              </a:lnSpc>
            </a:pPr>
            <a:r>
              <a:rPr lang="en-US" sz="3300" b="1">
                <a:solidFill>
                  <a:srgbClr val="01A5B1"/>
                </a:solidFill>
                <a:latin typeface="微软雅黑" panose="020B0503020204020204" charset="-122"/>
                <a:ea typeface="微软雅黑" panose="020B0503020204020204" charset="-122"/>
              </a:rPr>
              <a:t>02</a:t>
            </a:r>
            <a:endParaRPr lang="en-US" sz="3300" b="1">
              <a:solidFill>
                <a:srgbClr val="01A5B1"/>
              </a:solidFill>
              <a:latin typeface="微软雅黑" panose="020B0503020204020204" charset="-122"/>
              <a:ea typeface="微软雅黑" panose="020B0503020204020204" charset="-122"/>
            </a:endParaRPr>
          </a:p>
        </p:txBody>
      </p:sp>
      <p:sp>
        <p:nvSpPr>
          <p:cNvPr id="716" name="文本框 715" descr="{&quot;isTemplate&quot;:true,&quot;type&quot;:&quot;text&quot;}"/>
          <p:cNvSpPr txBox="1"/>
          <p:nvPr/>
        </p:nvSpPr>
        <p:spPr>
          <a:xfrm>
            <a:off x="914400" y="1914525"/>
            <a:ext cx="2219325" cy="661670"/>
          </a:xfrm>
          <a:prstGeom prst="rect">
            <a:avLst/>
          </a:prstGeom>
        </p:spPr>
        <p:txBody>
          <a:bodyPr wrap="none" lIns="0" tIns="0" rIns="0" bIns="0"/>
          <a:p>
            <a:pPr algn="l">
              <a:lnSpc>
                <a:spcPct val="100000"/>
              </a:lnSpc>
            </a:pPr>
            <a:r>
              <a:rPr lang="zh-CN" sz="1400" b="1">
                <a:solidFill>
                  <a:srgbClr val="01A5B1"/>
                </a:solidFill>
                <a:latin typeface="微软雅黑" panose="020B0503020204020204" charset="-122"/>
                <a:ea typeface="微软雅黑" panose="020B0503020204020204" charset="-122"/>
                <a:sym typeface="+mn-ea"/>
              </a:rPr>
              <a:t>FF3 三因子模型</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（市场 + 规模 SMB +</a:t>
            </a:r>
            <a:endParaRPr lang="zh-CN" sz="1400" b="1">
              <a:solidFill>
                <a:srgbClr val="01A5B1"/>
              </a:solidFill>
              <a:latin typeface="微软雅黑" panose="020B0503020204020204" charset="-122"/>
              <a:ea typeface="微软雅黑" panose="020B0503020204020204" charset="-122"/>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 账面市值比 HML）</a:t>
            </a:r>
            <a:endParaRPr lang="zh-CN" sz="1600" b="1">
              <a:solidFill>
                <a:srgbClr val="E8503A"/>
              </a:solidFill>
              <a:latin typeface="微软雅黑" panose="020B0503020204020204" charset="-122"/>
              <a:ea typeface="微软雅黑" panose="020B0503020204020204" charset="-122"/>
            </a:endParaRPr>
          </a:p>
          <a:p>
            <a:pPr>
              <a:lnSpc>
                <a:spcPct val="100000"/>
              </a:lnSpc>
            </a:pPr>
            <a:endParaRPr lang="zh-CN" sz="1600" b="1">
              <a:solidFill>
                <a:srgbClr val="E8503A"/>
              </a:solidFill>
              <a:latin typeface="微软雅黑" panose="020B0503020204020204" charset="-122"/>
              <a:ea typeface="微软雅黑" panose="020B0503020204020204" charset="-122"/>
            </a:endParaRPr>
          </a:p>
        </p:txBody>
      </p:sp>
      <p:sp>
        <p:nvSpPr>
          <p:cNvPr id="717" name="文本框 716" descr="{&quot;isTemplate&quot;:true,&quot;type&quot;:&quot;text&quot;}"/>
          <p:cNvSpPr txBox="1"/>
          <p:nvPr/>
        </p:nvSpPr>
        <p:spPr>
          <a:xfrm>
            <a:off x="971550" y="2576830"/>
            <a:ext cx="2219325" cy="1939925"/>
          </a:xfrm>
          <a:prstGeom prst="rect">
            <a:avLst/>
          </a:prstGeom>
        </p:spPr>
        <p:txBody>
          <a:bodyPr wrap="square" lIns="0" tIns="0" rIns="0" bIns="0">
            <a:normAutofit/>
          </a:bodyPr>
          <a:p>
            <a:pPr>
              <a:lnSpc>
                <a:spcPct val="160000"/>
              </a:lnSpc>
            </a:pPr>
            <a:r>
              <a:rPr lang="zh-CN" sz="1160" b="1">
                <a:solidFill>
                  <a:srgbClr val="1F1F1F"/>
                </a:solidFill>
                <a:latin typeface="微软雅黑" panose="020B0503020204020204" charset="-122"/>
                <a:ea typeface="微软雅黑" panose="020B0503020204020204" charset="-122"/>
                <a:sym typeface="+mn-ea"/>
              </a:rPr>
              <a:t>股改前：</a:t>
            </a:r>
            <a:r>
              <a:rPr lang="en-US" altLang="zh-CN" sz="1160" b="1">
                <a:solidFill>
                  <a:srgbClr val="1F1F1F"/>
                </a:solidFill>
                <a:latin typeface="微软雅黑" panose="020B0503020204020204" charset="-122"/>
                <a:ea typeface="微软雅黑" panose="020B0503020204020204" charset="-122"/>
                <a:sym typeface="+mn-ea"/>
              </a:rPr>
              <a:t>AR≈0.81-0.87</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AR²≈0.62-0.72</a:t>
            </a:r>
            <a:endParaRPr lang="zh-CN" sz="1160" b="1">
              <a:solidFill>
                <a:srgbClr val="1F1F1F"/>
              </a:solidFill>
              <a:latin typeface="微软雅黑" panose="020B0503020204020204" charset="-122"/>
              <a:ea typeface="微软雅黑" panose="020B0503020204020204" charset="-122"/>
            </a:endParaRPr>
          </a:p>
          <a:p>
            <a:pPr>
              <a:lnSpc>
                <a:spcPct val="160000"/>
              </a:lnSpc>
            </a:pPr>
            <a:r>
              <a:rPr lang="zh-CN" sz="1160" b="1">
                <a:solidFill>
                  <a:srgbClr val="1F1F1F"/>
                </a:solidFill>
                <a:latin typeface="微软雅黑" panose="020B0503020204020204" charset="-122"/>
                <a:ea typeface="微软雅黑" panose="020B0503020204020204" charset="-122"/>
                <a:sym typeface="+mn-ea"/>
              </a:rPr>
              <a:t>股改后：</a:t>
            </a:r>
            <a:r>
              <a:rPr lang="en-US" altLang="zh-CN" sz="1160" b="1">
                <a:solidFill>
                  <a:srgbClr val="1F1F1F"/>
                </a:solidFill>
                <a:latin typeface="微软雅黑" panose="020B0503020204020204" charset="-122"/>
                <a:ea typeface="微软雅黑" panose="020B0503020204020204" charset="-122"/>
                <a:sym typeface="+mn-ea"/>
              </a:rPr>
              <a:t>AR≈0.43-0.49</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AR²≈0.20-0.22</a:t>
            </a:r>
            <a:endParaRPr lang="en-US" altLang="zh-CN" sz="1160" b="1">
              <a:solidFill>
                <a:srgbClr val="1F1F1F"/>
              </a:solidFill>
              <a:latin typeface="微软雅黑" panose="020B0503020204020204" charset="-122"/>
              <a:ea typeface="微软雅黑" panose="020B0503020204020204" charset="-122"/>
              <a:sym typeface="+mn-ea"/>
            </a:endParaRPr>
          </a:p>
          <a:p>
            <a:pPr>
              <a:lnSpc>
                <a:spcPct val="160000"/>
              </a:lnSpc>
            </a:pPr>
            <a:r>
              <a:rPr lang="zh-CN" sz="1300">
                <a:solidFill>
                  <a:srgbClr val="1F1F1F"/>
                </a:solidFill>
                <a:latin typeface="微软雅黑" panose="020B0503020204020204" charset="-122"/>
                <a:ea typeface="微软雅黑" panose="020B0503020204020204" charset="-122"/>
                <a:sym typeface="+mn-ea"/>
              </a:rPr>
              <a:t>股改后 的 AR、</a:t>
            </a:r>
            <a:r>
              <a:rPr lang="en-US" altLang="zh-CN" sz="1300" b="1">
                <a:solidFill>
                  <a:srgbClr val="1F1F1F"/>
                </a:solidFill>
                <a:latin typeface="微软雅黑" panose="020B0503020204020204" charset="-122"/>
                <a:ea typeface="微软雅黑" panose="020B0503020204020204" charset="-122"/>
                <a:sym typeface="+mn-ea"/>
              </a:rPr>
              <a:t>AR²</a:t>
            </a:r>
            <a:r>
              <a:rPr lang="zh-CN" altLang="en-US" sz="1300" b="1">
                <a:solidFill>
                  <a:srgbClr val="1F1F1F"/>
                </a:solidFill>
                <a:latin typeface="微软雅黑" panose="020B0503020204020204" charset="-122"/>
                <a:ea typeface="微软雅黑" panose="020B0503020204020204" charset="-122"/>
                <a:sym typeface="+mn-ea"/>
              </a:rPr>
              <a:t>显著下降</a:t>
            </a:r>
            <a:endParaRPr lang="zh-CN" sz="1160">
              <a:solidFill>
                <a:srgbClr val="1F1F1F"/>
              </a:solidFill>
              <a:latin typeface="微软雅黑" panose="020B0503020204020204" charset="-122"/>
              <a:ea typeface="微软雅黑" panose="020B0503020204020204" charset="-122"/>
            </a:endParaRPr>
          </a:p>
          <a:p>
            <a:pPr>
              <a:lnSpc>
                <a:spcPct val="160000"/>
              </a:lnSpc>
            </a:pPr>
            <a:endParaRPr lang="zh-CN" sz="1165">
              <a:solidFill>
                <a:srgbClr val="5A5A5A"/>
              </a:solidFill>
              <a:latin typeface="微软雅黑" panose="020B0503020204020204" charset="-122"/>
              <a:ea typeface="微软雅黑" panose="020B0503020204020204" charset="-122"/>
            </a:endParaRPr>
          </a:p>
        </p:txBody>
      </p:sp>
      <p:sp>
        <p:nvSpPr>
          <p:cNvPr id="718" name="矩形 717"/>
          <p:cNvSpPr/>
          <p:nvPr/>
        </p:nvSpPr>
        <p:spPr>
          <a:xfrm>
            <a:off x="914400" y="4241165"/>
            <a:ext cx="2219325" cy="1814195"/>
          </a:xfrm>
          <a:prstGeom prst="rect">
            <a:avLst/>
          </a:prstGeom>
          <a:solidFill>
            <a:srgbClr val="01A5B1">
              <a:alpha val="12000"/>
            </a:srgbClr>
          </a:solidFill>
        </p:spPr>
        <p:txBody>
          <a:bodyPr/>
          <a:p/>
        </p:txBody>
      </p:sp>
      <p:sp>
        <p:nvSpPr>
          <p:cNvPr id="719" name="文本框 718" descr="{&quot;isTemplate&quot;:true,&quot;type&quot;:&quot;text&quot;}"/>
          <p:cNvSpPr txBox="1"/>
          <p:nvPr/>
        </p:nvSpPr>
        <p:spPr>
          <a:xfrm>
            <a:off x="1066800" y="4429125"/>
            <a:ext cx="2028825" cy="1626235"/>
          </a:xfrm>
          <a:prstGeom prst="rect">
            <a:avLst/>
          </a:prstGeom>
        </p:spPr>
        <p:txBody>
          <a:bodyPr wrap="square" lIns="0" tIns="0" rIns="0" bIns="0"/>
          <a:p>
            <a:pPr>
              <a:lnSpc>
                <a:spcPct val="145000"/>
              </a:lnSpc>
            </a:pPr>
            <a:r>
              <a:rPr lang="zh-CN" sz="1600" b="1">
                <a:solidFill>
                  <a:srgbClr val="1F1F1F"/>
                </a:solidFill>
                <a:latin typeface="微软雅黑" panose="020B0503020204020204" charset="-122"/>
                <a:ea typeface="微软雅黑" panose="020B0503020204020204" charset="-122"/>
                <a:sym typeface="+mn-ea"/>
              </a:rPr>
              <a:t>相比股改前，三因子对收益的解释能力显著提升，不可解释的超额收益占比下降。</a:t>
            </a:r>
            <a:endParaRPr lang="zh-CN" sz="1600" b="1">
              <a:solidFill>
                <a:srgbClr val="1F1F1F"/>
              </a:solidFill>
              <a:latin typeface="微软雅黑" panose="020B0503020204020204" charset="-122"/>
              <a:ea typeface="微软雅黑" panose="020B0503020204020204" charset="-122"/>
              <a:sym typeface="+mn-ea"/>
            </a:endParaRPr>
          </a:p>
          <a:p>
            <a:pPr>
              <a:lnSpc>
                <a:spcPct val="145000"/>
              </a:lnSpc>
            </a:pPr>
            <a:endParaRPr lang="zh-CN" sz="1600" b="1">
              <a:solidFill>
                <a:srgbClr val="1F1F1F"/>
              </a:solidFill>
              <a:latin typeface="微软雅黑" panose="020B0503020204020204" charset="-122"/>
              <a:ea typeface="微软雅黑" panose="020B0503020204020204" charset="-122"/>
              <a:sym typeface="+mn-ea"/>
            </a:endParaRPr>
          </a:p>
        </p:txBody>
      </p:sp>
      <p:sp>
        <p:nvSpPr>
          <p:cNvPr id="720" name="矩形 719"/>
          <p:cNvSpPr/>
          <p:nvPr/>
        </p:nvSpPr>
        <p:spPr>
          <a:xfrm>
            <a:off x="3476625" y="1143000"/>
            <a:ext cx="2524125" cy="4956175"/>
          </a:xfrm>
          <a:prstGeom prst="rect">
            <a:avLst/>
          </a:prstGeom>
          <a:solidFill>
            <a:srgbClr val="FFFFFF"/>
          </a:solidFill>
        </p:spPr>
        <p:txBody>
          <a:bodyPr/>
          <a:p/>
        </p:txBody>
      </p:sp>
      <p:sp>
        <p:nvSpPr>
          <p:cNvPr id="721" name="任意多边形 720"/>
          <p:cNvSpPr/>
          <p:nvPr/>
        </p:nvSpPr>
        <p:spPr>
          <a:xfrm>
            <a:off x="3476625" y="1104900"/>
            <a:ext cx="2524125" cy="4381500"/>
          </a:xfrm>
          <a:custGeom>
            <a:avLst/>
            <a:gdLst/>
            <a:ahLst/>
            <a:cxnLst/>
            <a:pathLst>
              <a:path w="265" h="460">
                <a:moveTo>
                  <a:pt x="0" y="0"/>
                </a:moveTo>
                <a:lnTo>
                  <a:pt x="265" y="0"/>
                </a:lnTo>
                <a:lnTo>
                  <a:pt x="265" y="4"/>
                </a:lnTo>
                <a:lnTo>
                  <a:pt x="0" y="4"/>
                </a:lnTo>
                <a:close/>
              </a:path>
            </a:pathLst>
          </a:custGeom>
          <a:solidFill>
            <a:srgbClr val="01A5B1"/>
          </a:solidFill>
        </p:spPr>
        <p:txBody>
          <a:bodyPr/>
          <a:p/>
        </p:txBody>
      </p:sp>
      <p:sp>
        <p:nvSpPr>
          <p:cNvPr id="722" name="文本框 721" descr="{&quot;isTemplate&quot;:true,&quot;type&quot;:&quot;text&quot;}"/>
          <p:cNvSpPr txBox="1"/>
          <p:nvPr/>
        </p:nvSpPr>
        <p:spPr>
          <a:xfrm>
            <a:off x="3629025" y="1295400"/>
            <a:ext cx="2219325" cy="504825"/>
          </a:xfrm>
          <a:prstGeom prst="rect">
            <a:avLst/>
          </a:prstGeom>
        </p:spPr>
        <p:txBody>
          <a:bodyPr wrap="none" lIns="0" tIns="0" rIns="0" bIns="0"/>
          <a:p>
            <a:pPr>
              <a:lnSpc>
                <a:spcPct val="100000"/>
              </a:lnSpc>
            </a:pPr>
            <a:r>
              <a:rPr lang="en-US" sz="3300" b="1">
                <a:solidFill>
                  <a:srgbClr val="01A5B1"/>
                </a:solidFill>
                <a:latin typeface="微软雅黑" panose="020B0503020204020204" charset="-122"/>
                <a:ea typeface="微软雅黑" panose="020B0503020204020204" charset="-122"/>
              </a:rPr>
              <a:t>03</a:t>
            </a:r>
            <a:endParaRPr lang="en-US" sz="3300" b="1">
              <a:solidFill>
                <a:srgbClr val="01A5B1"/>
              </a:solidFill>
              <a:latin typeface="微软雅黑" panose="020B0503020204020204" charset="-122"/>
              <a:ea typeface="微软雅黑" panose="020B0503020204020204" charset="-122"/>
            </a:endParaRPr>
          </a:p>
        </p:txBody>
      </p:sp>
      <p:sp>
        <p:nvSpPr>
          <p:cNvPr id="725" name="矩形 724"/>
          <p:cNvSpPr/>
          <p:nvPr/>
        </p:nvSpPr>
        <p:spPr>
          <a:xfrm>
            <a:off x="3629025" y="4398645"/>
            <a:ext cx="2219325" cy="1609725"/>
          </a:xfrm>
          <a:prstGeom prst="rect">
            <a:avLst/>
          </a:prstGeom>
          <a:solidFill>
            <a:srgbClr val="01A5B1">
              <a:alpha val="12000"/>
            </a:srgbClr>
          </a:solidFill>
        </p:spPr>
        <p:txBody>
          <a:bodyPr/>
          <a:p/>
        </p:txBody>
      </p:sp>
      <p:sp>
        <p:nvSpPr>
          <p:cNvPr id="726" name="文本框 725" descr="{&quot;isTemplate&quot;:true,&quot;type&quot;:&quot;text&quot;}"/>
          <p:cNvSpPr txBox="1"/>
          <p:nvPr/>
        </p:nvSpPr>
        <p:spPr>
          <a:xfrm>
            <a:off x="3724275" y="4517390"/>
            <a:ext cx="2124710" cy="1341120"/>
          </a:xfrm>
          <a:prstGeom prst="rect">
            <a:avLst/>
          </a:prstGeom>
        </p:spPr>
        <p:txBody>
          <a:bodyPr wrap="square" lIns="0" tIns="0" rIns="0" bIns="0"/>
          <a:p>
            <a:pPr>
              <a:lnSpc>
                <a:spcPct val="145000"/>
              </a:lnSpc>
            </a:pPr>
            <a:r>
              <a:rPr lang="zh-CN" sz="1600" b="1">
                <a:solidFill>
                  <a:srgbClr val="1F1F1F"/>
                </a:solidFill>
                <a:latin typeface="微软雅黑" panose="020B0503020204020204" charset="-122"/>
                <a:ea typeface="微软雅黑" panose="020B0503020204020204" charset="-122"/>
              </a:rPr>
              <a:t>对比 FF3，改善幅度很小，说明股改后，仅仅加入动量因子，对模型提升有限。</a:t>
            </a:r>
            <a:endParaRPr lang="zh-CN" sz="1600" b="1">
              <a:solidFill>
                <a:srgbClr val="1F1F1F"/>
              </a:solidFill>
              <a:latin typeface="微软雅黑" panose="020B0503020204020204" charset="-122"/>
              <a:ea typeface="微软雅黑" panose="020B0503020204020204" charset="-122"/>
            </a:endParaRPr>
          </a:p>
        </p:txBody>
      </p:sp>
      <p:sp>
        <p:nvSpPr>
          <p:cNvPr id="727" name="矩形 726"/>
          <p:cNvSpPr/>
          <p:nvPr/>
        </p:nvSpPr>
        <p:spPr>
          <a:xfrm>
            <a:off x="6191250" y="1143000"/>
            <a:ext cx="2524125" cy="4956810"/>
          </a:xfrm>
          <a:prstGeom prst="rect">
            <a:avLst/>
          </a:prstGeom>
          <a:solidFill>
            <a:srgbClr val="FFFFFF"/>
          </a:solidFill>
        </p:spPr>
        <p:txBody>
          <a:bodyPr/>
          <a:p/>
        </p:txBody>
      </p:sp>
      <p:sp>
        <p:nvSpPr>
          <p:cNvPr id="728" name="任意多边形 727"/>
          <p:cNvSpPr/>
          <p:nvPr/>
        </p:nvSpPr>
        <p:spPr>
          <a:xfrm>
            <a:off x="8905875" y="1104900"/>
            <a:ext cx="2524125" cy="4381500"/>
          </a:xfrm>
          <a:custGeom>
            <a:avLst/>
            <a:gdLst/>
            <a:ahLst/>
            <a:cxnLst/>
            <a:pathLst>
              <a:path w="265" h="460">
                <a:moveTo>
                  <a:pt x="0" y="0"/>
                </a:moveTo>
                <a:lnTo>
                  <a:pt x="265" y="0"/>
                </a:lnTo>
                <a:lnTo>
                  <a:pt x="265" y="4"/>
                </a:lnTo>
                <a:lnTo>
                  <a:pt x="0" y="4"/>
                </a:lnTo>
                <a:close/>
              </a:path>
            </a:pathLst>
          </a:custGeom>
          <a:solidFill>
            <a:srgbClr val="01A5B1"/>
          </a:solidFill>
        </p:spPr>
        <p:txBody>
          <a:bodyPr/>
          <a:p/>
        </p:txBody>
      </p:sp>
      <p:sp>
        <p:nvSpPr>
          <p:cNvPr id="729" name="文本框 728" descr="{&quot;isTemplate&quot;:true,&quot;type&quot;:&quot;text&quot;}"/>
          <p:cNvSpPr txBox="1"/>
          <p:nvPr/>
        </p:nvSpPr>
        <p:spPr>
          <a:xfrm>
            <a:off x="6343650" y="1295400"/>
            <a:ext cx="2219325" cy="504825"/>
          </a:xfrm>
          <a:prstGeom prst="rect">
            <a:avLst/>
          </a:prstGeom>
        </p:spPr>
        <p:txBody>
          <a:bodyPr wrap="none" lIns="0" tIns="0" rIns="0" bIns="0"/>
          <a:p>
            <a:pPr>
              <a:lnSpc>
                <a:spcPct val="100000"/>
              </a:lnSpc>
            </a:pPr>
            <a:r>
              <a:rPr lang="en-US" sz="3300" b="1">
                <a:solidFill>
                  <a:srgbClr val="01A5B1"/>
                </a:solidFill>
                <a:latin typeface="微软雅黑" panose="020B0503020204020204" charset="-122"/>
                <a:ea typeface="微软雅黑" panose="020B0503020204020204" charset="-122"/>
              </a:rPr>
              <a:t>04</a:t>
            </a:r>
            <a:endParaRPr lang="en-US" sz="3300" b="1">
              <a:solidFill>
                <a:srgbClr val="01A5B1"/>
              </a:solidFill>
              <a:latin typeface="微软雅黑" panose="020B0503020204020204" charset="-122"/>
              <a:ea typeface="微软雅黑" panose="020B0503020204020204" charset="-122"/>
            </a:endParaRPr>
          </a:p>
        </p:txBody>
      </p:sp>
      <p:sp>
        <p:nvSpPr>
          <p:cNvPr id="732" name="矩形 731"/>
          <p:cNvSpPr/>
          <p:nvPr/>
        </p:nvSpPr>
        <p:spPr>
          <a:xfrm>
            <a:off x="6343650" y="4398010"/>
            <a:ext cx="2219325" cy="1536065"/>
          </a:xfrm>
          <a:prstGeom prst="rect">
            <a:avLst/>
          </a:prstGeom>
          <a:solidFill>
            <a:srgbClr val="01A5B1">
              <a:alpha val="12000"/>
            </a:srgbClr>
          </a:solidFill>
        </p:spPr>
        <p:txBody>
          <a:bodyPr/>
          <a:p/>
        </p:txBody>
      </p:sp>
      <p:sp>
        <p:nvSpPr>
          <p:cNvPr id="734" name="矩形 733"/>
          <p:cNvSpPr/>
          <p:nvPr/>
        </p:nvSpPr>
        <p:spPr>
          <a:xfrm>
            <a:off x="8905875" y="1143000"/>
            <a:ext cx="2524125" cy="4912995"/>
          </a:xfrm>
          <a:prstGeom prst="rect">
            <a:avLst/>
          </a:prstGeom>
          <a:solidFill>
            <a:srgbClr val="FFFFFF"/>
          </a:solidFill>
        </p:spPr>
        <p:txBody>
          <a:bodyPr/>
          <a:p/>
        </p:txBody>
      </p:sp>
      <p:sp>
        <p:nvSpPr>
          <p:cNvPr id="736" name="文本框 735" descr="{&quot;isTemplate&quot;:true,&quot;type&quot;:&quot;text&quot;}"/>
          <p:cNvSpPr txBox="1"/>
          <p:nvPr/>
        </p:nvSpPr>
        <p:spPr>
          <a:xfrm>
            <a:off x="9058275" y="1295400"/>
            <a:ext cx="2219325" cy="504825"/>
          </a:xfrm>
          <a:prstGeom prst="rect">
            <a:avLst/>
          </a:prstGeom>
        </p:spPr>
        <p:txBody>
          <a:bodyPr wrap="none" lIns="0" tIns="0" rIns="0" bIns="0"/>
          <a:p>
            <a:pPr algn="l">
              <a:lnSpc>
                <a:spcPct val="100000"/>
              </a:lnSpc>
            </a:pPr>
            <a:r>
              <a:rPr lang="en-US" sz="3300" b="1">
                <a:solidFill>
                  <a:srgbClr val="01A5B1"/>
                </a:solidFill>
                <a:latin typeface="微软雅黑" panose="020B0503020204020204" charset="-122"/>
                <a:ea typeface="微软雅黑" panose="020B0503020204020204" charset="-122"/>
                <a:sym typeface="+mn-ea"/>
              </a:rPr>
              <a:t>05</a:t>
            </a:r>
            <a:endParaRPr lang="en-US" sz="3300" b="1">
              <a:solidFill>
                <a:srgbClr val="E8503A"/>
              </a:solidFill>
              <a:latin typeface="微软雅黑" panose="020B0503020204020204" charset="-122"/>
              <a:ea typeface="微软雅黑" panose="020B0503020204020204" charset="-122"/>
            </a:endParaRPr>
          </a:p>
        </p:txBody>
      </p:sp>
      <p:sp>
        <p:nvSpPr>
          <p:cNvPr id="2" name="文本框 1" descr="{&quot;isTemplate&quot;:true,&quot;type&quot;:&quot;text&quot;}"/>
          <p:cNvSpPr txBox="1"/>
          <p:nvPr/>
        </p:nvSpPr>
        <p:spPr>
          <a:xfrm>
            <a:off x="3629025" y="1914525"/>
            <a:ext cx="2219325" cy="661670"/>
          </a:xfrm>
          <a:prstGeom prst="rect">
            <a:avLst/>
          </a:prstGeom>
        </p:spPr>
        <p:txBody>
          <a:bodyPr wrap="none" lIns="0" tIns="0" rIns="0" bIns="0"/>
          <a:p>
            <a:pPr algn="l">
              <a:lnSpc>
                <a:spcPct val="100000"/>
              </a:lnSpc>
            </a:pPr>
            <a:r>
              <a:rPr lang="zh-CN" sz="1400" b="1">
                <a:solidFill>
                  <a:srgbClr val="01A5B1"/>
                </a:solidFill>
                <a:latin typeface="微软雅黑" panose="020B0503020204020204" charset="-122"/>
                <a:ea typeface="微软雅黑" panose="020B0503020204020204" charset="-122"/>
                <a:sym typeface="+mn-ea"/>
              </a:rPr>
              <a:t>FF3+MOM</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（Carhart 四因子：</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三因子 + 动量 MOM）</a:t>
            </a:r>
            <a:endParaRPr lang="zh-CN" sz="1400" b="1">
              <a:solidFill>
                <a:srgbClr val="01A5B1"/>
              </a:solidFill>
              <a:latin typeface="微软雅黑" panose="020B0503020204020204" charset="-122"/>
              <a:ea typeface="微软雅黑" panose="020B0503020204020204" charset="-122"/>
              <a:sym typeface="+mn-ea"/>
            </a:endParaRPr>
          </a:p>
        </p:txBody>
      </p:sp>
      <p:sp>
        <p:nvSpPr>
          <p:cNvPr id="3" name="文本框 2" descr="{&quot;isTemplate&quot;:true,&quot;type&quot;:&quot;text&quot;}"/>
          <p:cNvSpPr txBox="1"/>
          <p:nvPr/>
        </p:nvSpPr>
        <p:spPr>
          <a:xfrm>
            <a:off x="3629025" y="2694305"/>
            <a:ext cx="2219325" cy="1704975"/>
          </a:xfrm>
          <a:prstGeom prst="rect">
            <a:avLst/>
          </a:prstGeom>
        </p:spPr>
        <p:txBody>
          <a:bodyPr wrap="square" lIns="0" tIns="0" rIns="0" bIns="0">
            <a:normAutofit lnSpcReduction="20000"/>
          </a:bodyPr>
          <a:p>
            <a:pPr>
              <a:lnSpc>
                <a:spcPct val="160000"/>
              </a:lnSpc>
            </a:pPr>
            <a:r>
              <a:rPr lang="zh-CN" sz="1160" b="1">
                <a:solidFill>
                  <a:srgbClr val="1F1F1F"/>
                </a:solidFill>
                <a:latin typeface="微软雅黑" panose="020B0503020204020204" charset="-122"/>
                <a:ea typeface="微软雅黑" panose="020B0503020204020204" charset="-122"/>
                <a:sym typeface="+mn-ea"/>
              </a:rPr>
              <a:t>股改前：</a:t>
            </a:r>
            <a:r>
              <a:rPr lang="en-US" altLang="zh-CN" sz="1160" b="1">
                <a:solidFill>
                  <a:srgbClr val="1F1F1F"/>
                </a:solidFill>
                <a:latin typeface="微软雅黑" panose="020B0503020204020204" charset="-122"/>
                <a:ea typeface="微软雅黑" panose="020B0503020204020204" charset="-122"/>
                <a:sym typeface="+mn-ea"/>
              </a:rPr>
              <a:t>AR≈0.73-0.85</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AR²≈0.59-0.76</a:t>
            </a:r>
            <a:endParaRPr lang="zh-CN" sz="1160" b="1">
              <a:solidFill>
                <a:srgbClr val="1F1F1F"/>
              </a:solidFill>
              <a:latin typeface="微软雅黑" panose="020B0503020204020204" charset="-122"/>
              <a:ea typeface="微软雅黑" panose="020B0503020204020204" charset="-122"/>
            </a:endParaRPr>
          </a:p>
          <a:p>
            <a:pPr>
              <a:lnSpc>
                <a:spcPct val="160000"/>
              </a:lnSpc>
            </a:pPr>
            <a:r>
              <a:rPr lang="zh-CN" sz="1160" b="1">
                <a:solidFill>
                  <a:srgbClr val="1F1F1F"/>
                </a:solidFill>
                <a:latin typeface="微软雅黑" panose="020B0503020204020204" charset="-122"/>
                <a:ea typeface="微软雅黑" panose="020B0503020204020204" charset="-122"/>
                <a:sym typeface="+mn-ea"/>
              </a:rPr>
              <a:t>股改后：</a:t>
            </a:r>
            <a:r>
              <a:rPr lang="en-US" altLang="zh-CN" sz="1160" b="1">
                <a:solidFill>
                  <a:srgbClr val="1F1F1F"/>
                </a:solidFill>
                <a:latin typeface="微软雅黑" panose="020B0503020204020204" charset="-122"/>
                <a:ea typeface="微软雅黑" panose="020B0503020204020204" charset="-122"/>
                <a:sym typeface="+mn-ea"/>
              </a:rPr>
              <a:t>AR≈0.45-0.49</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AR²≈0.21-0.23</a:t>
            </a:r>
            <a:endParaRPr lang="en-US" altLang="zh-CN" sz="1160" b="1">
              <a:solidFill>
                <a:srgbClr val="1F1F1F"/>
              </a:solidFill>
              <a:latin typeface="微软雅黑" panose="020B0503020204020204" charset="-122"/>
              <a:ea typeface="微软雅黑" panose="020B0503020204020204" charset="-122"/>
              <a:sym typeface="+mn-ea"/>
            </a:endParaRPr>
          </a:p>
          <a:p>
            <a:pPr>
              <a:lnSpc>
                <a:spcPct val="160000"/>
              </a:lnSpc>
            </a:pPr>
            <a:r>
              <a:rPr lang="zh-CN" sz="1400">
                <a:solidFill>
                  <a:srgbClr val="1F1F1F"/>
                </a:solidFill>
                <a:latin typeface="微软雅黑" panose="020B0503020204020204" charset="-122"/>
                <a:ea typeface="微软雅黑" panose="020B0503020204020204" charset="-122"/>
                <a:sym typeface="+mn-ea"/>
              </a:rPr>
              <a:t>股改后  的 AR、</a:t>
            </a:r>
            <a:r>
              <a:rPr lang="en-US" altLang="zh-CN" sz="1400" b="1">
                <a:solidFill>
                  <a:srgbClr val="1F1F1F"/>
                </a:solidFill>
                <a:latin typeface="微软雅黑" panose="020B0503020204020204" charset="-122"/>
                <a:ea typeface="微软雅黑" panose="020B0503020204020204" charset="-122"/>
                <a:sym typeface="+mn-ea"/>
              </a:rPr>
              <a:t>AR²</a:t>
            </a:r>
            <a:r>
              <a:rPr lang="zh-CN" altLang="en-US" sz="1400" b="1">
                <a:solidFill>
                  <a:srgbClr val="1F1F1F"/>
                </a:solidFill>
                <a:latin typeface="微软雅黑" panose="020B0503020204020204" charset="-122"/>
                <a:ea typeface="微软雅黑" panose="020B0503020204020204" charset="-122"/>
                <a:sym typeface="+mn-ea"/>
              </a:rPr>
              <a:t>同样大幅下降</a:t>
            </a:r>
            <a:endParaRPr lang="zh-CN" sz="1400">
              <a:solidFill>
                <a:srgbClr val="1F1F1F"/>
              </a:solidFill>
              <a:latin typeface="微软雅黑" panose="020B0503020204020204" charset="-122"/>
              <a:ea typeface="微软雅黑" panose="020B0503020204020204" charset="-122"/>
            </a:endParaRPr>
          </a:p>
          <a:p>
            <a:pPr>
              <a:lnSpc>
                <a:spcPct val="160000"/>
              </a:lnSpc>
            </a:pPr>
            <a:endParaRPr lang="zh-CN" sz="1400">
              <a:solidFill>
                <a:srgbClr val="1F1F1F"/>
              </a:solidFill>
              <a:latin typeface="微软雅黑" panose="020B0503020204020204" charset="-122"/>
              <a:ea typeface="微软雅黑" panose="020B0503020204020204" charset="-122"/>
            </a:endParaRPr>
          </a:p>
        </p:txBody>
      </p:sp>
      <p:sp>
        <p:nvSpPr>
          <p:cNvPr id="4" name="文本框 3" descr="{&quot;isTemplate&quot;:true,&quot;type&quot;:&quot;text&quot;}"/>
          <p:cNvSpPr txBox="1"/>
          <p:nvPr/>
        </p:nvSpPr>
        <p:spPr>
          <a:xfrm>
            <a:off x="6343650" y="1915160"/>
            <a:ext cx="2219325" cy="661670"/>
          </a:xfrm>
          <a:prstGeom prst="rect">
            <a:avLst/>
          </a:prstGeom>
        </p:spPr>
        <p:txBody>
          <a:bodyPr wrap="none" lIns="0" tIns="0" rIns="0" bIns="0"/>
          <a:p>
            <a:pPr algn="l">
              <a:lnSpc>
                <a:spcPct val="100000"/>
              </a:lnSpc>
            </a:pPr>
            <a:r>
              <a:rPr lang="zh-CN" sz="1400" b="1">
                <a:solidFill>
                  <a:srgbClr val="01A5B1"/>
                </a:solidFill>
                <a:latin typeface="微软雅黑" panose="020B0503020204020204" charset="-122"/>
                <a:ea typeface="微软雅黑" panose="020B0503020204020204" charset="-122"/>
                <a:sym typeface="+mn-ea"/>
              </a:rPr>
              <a:t>FF5 五因子模型</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（市场 + SMB+HML+</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RMW 盈利 + CMA 投资）</a:t>
            </a:r>
            <a:endParaRPr lang="zh-CN" sz="1400" b="1">
              <a:solidFill>
                <a:srgbClr val="01A5B1"/>
              </a:solidFill>
              <a:latin typeface="微软雅黑" panose="020B0503020204020204" charset="-122"/>
              <a:ea typeface="微软雅黑" panose="020B0503020204020204" charset="-122"/>
              <a:sym typeface="+mn-ea"/>
            </a:endParaRPr>
          </a:p>
        </p:txBody>
      </p:sp>
      <p:sp>
        <p:nvSpPr>
          <p:cNvPr id="5" name="文本框 4" descr="{&quot;isTemplate&quot;:true,&quot;type&quot;:&quot;text&quot;}"/>
          <p:cNvSpPr txBox="1"/>
          <p:nvPr/>
        </p:nvSpPr>
        <p:spPr>
          <a:xfrm>
            <a:off x="6343650" y="2694305"/>
            <a:ext cx="2219325" cy="1704975"/>
          </a:xfrm>
          <a:prstGeom prst="rect">
            <a:avLst/>
          </a:prstGeom>
        </p:spPr>
        <p:txBody>
          <a:bodyPr wrap="square" lIns="0" tIns="0" rIns="0" bIns="0">
            <a:normAutofit lnSpcReduction="20000"/>
          </a:bodyPr>
          <a:p>
            <a:pPr>
              <a:lnSpc>
                <a:spcPct val="160000"/>
              </a:lnSpc>
            </a:pPr>
            <a:r>
              <a:rPr lang="zh-CN" sz="1160" b="1">
                <a:solidFill>
                  <a:srgbClr val="1F1F1F"/>
                </a:solidFill>
                <a:latin typeface="微软雅黑" panose="020B0503020204020204" charset="-122"/>
                <a:ea typeface="微软雅黑" panose="020B0503020204020204" charset="-122"/>
                <a:sym typeface="+mn-ea"/>
              </a:rPr>
              <a:t>股改前：</a:t>
            </a:r>
            <a:r>
              <a:rPr lang="en-US" altLang="zh-CN" sz="1160" b="1">
                <a:solidFill>
                  <a:srgbClr val="1F1F1F"/>
                </a:solidFill>
                <a:latin typeface="微软雅黑" panose="020B0503020204020204" charset="-122"/>
                <a:ea typeface="微软雅黑" panose="020B0503020204020204" charset="-122"/>
                <a:sym typeface="+mn-ea"/>
              </a:rPr>
              <a:t>AR≈0.53-0.69</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AR²≈0.30-0.56</a:t>
            </a:r>
            <a:endParaRPr lang="zh-CN" sz="1160" b="1">
              <a:solidFill>
                <a:srgbClr val="1F1F1F"/>
              </a:solidFill>
              <a:latin typeface="微软雅黑" panose="020B0503020204020204" charset="-122"/>
              <a:ea typeface="微软雅黑" panose="020B0503020204020204" charset="-122"/>
            </a:endParaRPr>
          </a:p>
          <a:p>
            <a:pPr>
              <a:lnSpc>
                <a:spcPct val="160000"/>
              </a:lnSpc>
            </a:pPr>
            <a:r>
              <a:rPr lang="zh-CN" sz="1160" b="1">
                <a:solidFill>
                  <a:srgbClr val="1F1F1F"/>
                </a:solidFill>
                <a:latin typeface="微软雅黑" panose="020B0503020204020204" charset="-122"/>
                <a:ea typeface="微软雅黑" panose="020B0503020204020204" charset="-122"/>
                <a:sym typeface="+mn-ea"/>
              </a:rPr>
              <a:t>股改后：</a:t>
            </a:r>
            <a:r>
              <a:rPr lang="en-US" altLang="zh-CN" sz="1160" b="1">
                <a:solidFill>
                  <a:srgbClr val="1F1F1F"/>
                </a:solidFill>
                <a:latin typeface="微软雅黑" panose="020B0503020204020204" charset="-122"/>
                <a:ea typeface="微软雅黑" panose="020B0503020204020204" charset="-122"/>
                <a:sym typeface="+mn-ea"/>
              </a:rPr>
              <a:t>AR≈0.35-0.40</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AR²≈0.13-0.17</a:t>
            </a:r>
            <a:endParaRPr lang="en-US" altLang="zh-CN" sz="1160" b="1">
              <a:solidFill>
                <a:srgbClr val="1F1F1F"/>
              </a:solidFill>
              <a:latin typeface="微软雅黑" panose="020B0503020204020204" charset="-122"/>
              <a:ea typeface="微软雅黑" panose="020B0503020204020204" charset="-122"/>
              <a:sym typeface="+mn-ea"/>
            </a:endParaRPr>
          </a:p>
          <a:p>
            <a:pPr>
              <a:lnSpc>
                <a:spcPct val="160000"/>
              </a:lnSpc>
            </a:pPr>
            <a:r>
              <a:rPr lang="zh-CN" sz="1400">
                <a:solidFill>
                  <a:srgbClr val="1F1F1F"/>
                </a:solidFill>
                <a:latin typeface="微软雅黑" panose="020B0503020204020204" charset="-122"/>
                <a:ea typeface="微软雅黑" panose="020B0503020204020204" charset="-122"/>
                <a:sym typeface="+mn-ea"/>
              </a:rPr>
              <a:t>股改后  的 AR、</a:t>
            </a:r>
            <a:r>
              <a:rPr lang="en-US" altLang="zh-CN" sz="1400" b="1">
                <a:solidFill>
                  <a:srgbClr val="1F1F1F"/>
                </a:solidFill>
                <a:latin typeface="微软雅黑" panose="020B0503020204020204" charset="-122"/>
                <a:ea typeface="微软雅黑" panose="020B0503020204020204" charset="-122"/>
                <a:sym typeface="+mn-ea"/>
              </a:rPr>
              <a:t>AR²</a:t>
            </a:r>
            <a:r>
              <a:rPr lang="zh-CN" altLang="en-US" sz="1400" b="1">
                <a:solidFill>
                  <a:srgbClr val="1F1F1F"/>
                </a:solidFill>
                <a:latin typeface="微软雅黑" panose="020B0503020204020204" charset="-122"/>
                <a:ea typeface="微软雅黑" panose="020B0503020204020204" charset="-122"/>
                <a:sym typeface="+mn-ea"/>
              </a:rPr>
              <a:t>相比股改前明显下降</a:t>
            </a:r>
            <a:endParaRPr lang="zh-CN" altLang="en-US" sz="1400" b="1">
              <a:solidFill>
                <a:srgbClr val="1F1F1F"/>
              </a:solidFill>
              <a:latin typeface="微软雅黑" panose="020B0503020204020204" charset="-122"/>
              <a:ea typeface="微软雅黑" panose="020B0503020204020204" charset="-122"/>
              <a:sym typeface="+mn-ea"/>
            </a:endParaRPr>
          </a:p>
        </p:txBody>
      </p:sp>
      <p:sp>
        <p:nvSpPr>
          <p:cNvPr id="6" name="文本框 5" descr="{&quot;isTemplate&quot;:true,&quot;type&quot;:&quot;text&quot;}"/>
          <p:cNvSpPr txBox="1"/>
          <p:nvPr/>
        </p:nvSpPr>
        <p:spPr>
          <a:xfrm>
            <a:off x="6343650" y="4444365"/>
            <a:ext cx="2124710" cy="1341120"/>
          </a:xfrm>
          <a:prstGeom prst="rect">
            <a:avLst/>
          </a:prstGeom>
        </p:spPr>
        <p:txBody>
          <a:bodyPr wrap="square" lIns="0" tIns="0" rIns="0" bIns="0"/>
          <a:p>
            <a:pPr>
              <a:lnSpc>
                <a:spcPct val="145000"/>
              </a:lnSpc>
            </a:pPr>
            <a:r>
              <a:rPr lang="zh-CN" sz="1600" b="1">
                <a:solidFill>
                  <a:srgbClr val="1F1F1F"/>
                </a:solidFill>
                <a:latin typeface="微软雅黑" panose="020B0503020204020204" charset="-122"/>
                <a:ea typeface="微软雅黑" panose="020B0503020204020204" charset="-122"/>
              </a:rPr>
              <a:t>对比三因子，五因子的指标进一步变小，解释能力更强。</a:t>
            </a:r>
            <a:endParaRPr lang="zh-CN" sz="1600" b="1">
              <a:solidFill>
                <a:srgbClr val="1F1F1F"/>
              </a:solidFill>
              <a:latin typeface="微软雅黑" panose="020B0503020204020204" charset="-122"/>
              <a:ea typeface="微软雅黑" panose="020B0503020204020204" charset="-122"/>
            </a:endParaRPr>
          </a:p>
        </p:txBody>
      </p:sp>
      <p:sp>
        <p:nvSpPr>
          <p:cNvPr id="7" name="任意多边形 6"/>
          <p:cNvSpPr/>
          <p:nvPr/>
        </p:nvSpPr>
        <p:spPr>
          <a:xfrm>
            <a:off x="6191250" y="1104900"/>
            <a:ext cx="2524125" cy="4381500"/>
          </a:xfrm>
          <a:custGeom>
            <a:avLst/>
            <a:gdLst/>
            <a:ahLst/>
            <a:cxnLst/>
            <a:pathLst>
              <a:path w="265" h="460">
                <a:moveTo>
                  <a:pt x="0" y="0"/>
                </a:moveTo>
                <a:lnTo>
                  <a:pt x="265" y="0"/>
                </a:lnTo>
                <a:lnTo>
                  <a:pt x="265" y="4"/>
                </a:lnTo>
                <a:lnTo>
                  <a:pt x="0" y="4"/>
                </a:lnTo>
                <a:close/>
              </a:path>
            </a:pathLst>
          </a:custGeom>
          <a:solidFill>
            <a:srgbClr val="01A5B1"/>
          </a:solidFill>
        </p:spPr>
        <p:txBody>
          <a:bodyPr/>
          <a:p/>
        </p:txBody>
      </p:sp>
      <p:sp>
        <p:nvSpPr>
          <p:cNvPr id="8" name="文本框 7" descr="{&quot;isTemplate&quot;:true,&quot;type&quot;:&quot;text&quot;}"/>
          <p:cNvSpPr txBox="1"/>
          <p:nvPr/>
        </p:nvSpPr>
        <p:spPr>
          <a:xfrm>
            <a:off x="8963025" y="1961515"/>
            <a:ext cx="2219325" cy="661670"/>
          </a:xfrm>
          <a:prstGeom prst="rect">
            <a:avLst/>
          </a:prstGeom>
        </p:spPr>
        <p:txBody>
          <a:bodyPr wrap="none" lIns="0" tIns="0" rIns="0" bIns="0"/>
          <a:p>
            <a:pPr algn="l">
              <a:lnSpc>
                <a:spcPct val="100000"/>
              </a:lnSpc>
            </a:pPr>
            <a:r>
              <a:rPr lang="zh-CN" sz="1400" b="1">
                <a:solidFill>
                  <a:srgbClr val="01A5B1"/>
                </a:solidFill>
                <a:latin typeface="微软雅黑" panose="020B0503020204020204" charset="-122"/>
                <a:ea typeface="微软雅黑" panose="020B0503020204020204" charset="-122"/>
                <a:sym typeface="+mn-ea"/>
              </a:rPr>
              <a:t>FF5+MOM</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（六因子：五因子 +</a:t>
            </a:r>
            <a:endParaRPr lang="zh-CN" sz="1400" b="1">
              <a:solidFill>
                <a:srgbClr val="01A5B1"/>
              </a:solidFill>
              <a:latin typeface="微软雅黑" panose="020B0503020204020204" charset="-122"/>
              <a:ea typeface="微软雅黑" panose="020B0503020204020204" charset="-122"/>
              <a:sym typeface="+mn-ea"/>
            </a:endParaRPr>
          </a:p>
          <a:p>
            <a:pPr algn="l">
              <a:lnSpc>
                <a:spcPct val="100000"/>
              </a:lnSpc>
            </a:pPr>
            <a:r>
              <a:rPr lang="zh-CN" sz="1400" b="1">
                <a:solidFill>
                  <a:srgbClr val="01A5B1"/>
                </a:solidFill>
                <a:latin typeface="微软雅黑" panose="020B0503020204020204" charset="-122"/>
                <a:ea typeface="微软雅黑" panose="020B0503020204020204" charset="-122"/>
                <a:sym typeface="+mn-ea"/>
              </a:rPr>
              <a:t> 动量 MOM））</a:t>
            </a:r>
            <a:endParaRPr lang="zh-CN" sz="1400" b="1">
              <a:solidFill>
                <a:srgbClr val="01A5B1"/>
              </a:solidFill>
              <a:latin typeface="微软雅黑" panose="020B0503020204020204" charset="-122"/>
              <a:ea typeface="微软雅黑" panose="020B0503020204020204" charset="-122"/>
              <a:sym typeface="+mn-ea"/>
            </a:endParaRPr>
          </a:p>
        </p:txBody>
      </p:sp>
      <p:sp>
        <p:nvSpPr>
          <p:cNvPr id="9" name="文本框 8" descr="{&quot;isTemplate&quot;:true,&quot;type&quot;:&quot;text&quot;}"/>
          <p:cNvSpPr txBox="1"/>
          <p:nvPr/>
        </p:nvSpPr>
        <p:spPr>
          <a:xfrm>
            <a:off x="8963025" y="2724150"/>
            <a:ext cx="2219325" cy="1704975"/>
          </a:xfrm>
          <a:prstGeom prst="rect">
            <a:avLst/>
          </a:prstGeom>
        </p:spPr>
        <p:txBody>
          <a:bodyPr wrap="square" lIns="0" tIns="0" rIns="0" bIns="0">
            <a:normAutofit lnSpcReduction="20000"/>
          </a:bodyPr>
          <a:p>
            <a:pPr>
              <a:lnSpc>
                <a:spcPct val="160000"/>
              </a:lnSpc>
            </a:pPr>
            <a:r>
              <a:rPr lang="zh-CN" sz="1160" b="1">
                <a:solidFill>
                  <a:srgbClr val="1F1F1F"/>
                </a:solidFill>
                <a:latin typeface="微软雅黑" panose="020B0503020204020204" charset="-122"/>
                <a:ea typeface="微软雅黑" panose="020B0503020204020204" charset="-122"/>
                <a:sym typeface="+mn-ea"/>
              </a:rPr>
              <a:t>股改前：</a:t>
            </a:r>
            <a:r>
              <a:rPr lang="en-US" altLang="zh-CN" sz="1160" b="1">
                <a:solidFill>
                  <a:srgbClr val="1F1F1F"/>
                </a:solidFill>
                <a:latin typeface="微软雅黑" panose="020B0503020204020204" charset="-122"/>
                <a:ea typeface="微软雅黑" panose="020B0503020204020204" charset="-122"/>
                <a:sym typeface="+mn-ea"/>
              </a:rPr>
              <a:t>AR≈0.53-0.58</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AR²≈0.29-0.41</a:t>
            </a:r>
            <a:endParaRPr lang="zh-CN" sz="1160" b="1">
              <a:solidFill>
                <a:srgbClr val="1F1F1F"/>
              </a:solidFill>
              <a:latin typeface="微软雅黑" panose="020B0503020204020204" charset="-122"/>
              <a:ea typeface="微软雅黑" panose="020B0503020204020204" charset="-122"/>
            </a:endParaRPr>
          </a:p>
          <a:p>
            <a:pPr>
              <a:lnSpc>
                <a:spcPct val="160000"/>
              </a:lnSpc>
            </a:pPr>
            <a:r>
              <a:rPr lang="zh-CN" sz="1160" b="1">
                <a:solidFill>
                  <a:srgbClr val="1F1F1F"/>
                </a:solidFill>
                <a:latin typeface="微软雅黑" panose="020B0503020204020204" charset="-122"/>
                <a:ea typeface="微软雅黑" panose="020B0503020204020204" charset="-122"/>
                <a:sym typeface="+mn-ea"/>
              </a:rPr>
              <a:t>股改后：</a:t>
            </a:r>
            <a:r>
              <a:rPr lang="en-US" altLang="zh-CN" sz="1160" b="1">
                <a:solidFill>
                  <a:srgbClr val="1F1F1F"/>
                </a:solidFill>
                <a:latin typeface="微软雅黑" panose="020B0503020204020204" charset="-122"/>
                <a:ea typeface="微软雅黑" panose="020B0503020204020204" charset="-122"/>
                <a:sym typeface="+mn-ea"/>
              </a:rPr>
              <a:t>AR≈0.28-0.39</a:t>
            </a:r>
            <a:r>
              <a:rPr lang="zh-CN" altLang="en-US" sz="1160" b="1">
                <a:solidFill>
                  <a:srgbClr val="1F1F1F"/>
                </a:solidFill>
                <a:latin typeface="微软雅黑" panose="020B0503020204020204" charset="-122"/>
                <a:ea typeface="微软雅黑" panose="020B0503020204020204" charset="-122"/>
                <a:sym typeface="+mn-ea"/>
              </a:rPr>
              <a:t>，</a:t>
            </a:r>
            <a:r>
              <a:rPr lang="en-US" altLang="zh-CN" sz="1160" b="1">
                <a:solidFill>
                  <a:srgbClr val="1F1F1F"/>
                </a:solidFill>
                <a:latin typeface="微软雅黑" panose="020B0503020204020204" charset="-122"/>
                <a:ea typeface="微软雅黑" panose="020B0503020204020204" charset="-122"/>
                <a:sym typeface="+mn-ea"/>
              </a:rPr>
              <a:t>AR²≈0.10-0.16</a:t>
            </a:r>
            <a:endParaRPr lang="en-US" altLang="zh-CN" sz="1160" b="1">
              <a:solidFill>
                <a:srgbClr val="1F1F1F"/>
              </a:solidFill>
              <a:latin typeface="微软雅黑" panose="020B0503020204020204" charset="-122"/>
              <a:ea typeface="微软雅黑" panose="020B0503020204020204" charset="-122"/>
              <a:sym typeface="+mn-ea"/>
            </a:endParaRPr>
          </a:p>
          <a:p>
            <a:pPr>
              <a:lnSpc>
                <a:spcPct val="160000"/>
              </a:lnSpc>
            </a:pPr>
            <a:r>
              <a:rPr lang="zh-CN" sz="1400">
                <a:solidFill>
                  <a:srgbClr val="1F1F1F"/>
                </a:solidFill>
                <a:latin typeface="微软雅黑" panose="020B0503020204020204" charset="-122"/>
                <a:ea typeface="微软雅黑" panose="020B0503020204020204" charset="-122"/>
                <a:sym typeface="+mn-ea"/>
              </a:rPr>
              <a:t>股改后  的 AR、</a:t>
            </a:r>
            <a:r>
              <a:rPr lang="en-US" altLang="zh-CN" sz="1400" b="1">
                <a:solidFill>
                  <a:srgbClr val="1F1F1F"/>
                </a:solidFill>
                <a:latin typeface="微软雅黑" panose="020B0503020204020204" charset="-122"/>
                <a:ea typeface="微软雅黑" panose="020B0503020204020204" charset="-122"/>
                <a:sym typeface="+mn-ea"/>
              </a:rPr>
              <a:t>AR²</a:t>
            </a:r>
            <a:r>
              <a:rPr lang="zh-CN" altLang="en-US" sz="1400" b="1">
                <a:solidFill>
                  <a:srgbClr val="1F1F1F"/>
                </a:solidFill>
                <a:latin typeface="微软雅黑" panose="020B0503020204020204" charset="-122"/>
                <a:ea typeface="微软雅黑" panose="020B0503020204020204" charset="-122"/>
                <a:sym typeface="+mn-ea"/>
              </a:rPr>
              <a:t>相比股改前明显下降</a:t>
            </a:r>
            <a:endParaRPr lang="zh-CN" altLang="en-US" sz="1400" b="1">
              <a:solidFill>
                <a:srgbClr val="1F1F1F"/>
              </a:solidFill>
              <a:latin typeface="微软雅黑" panose="020B0503020204020204" charset="-122"/>
              <a:ea typeface="微软雅黑" panose="020B0503020204020204" charset="-122"/>
              <a:sym typeface="+mn-ea"/>
            </a:endParaRPr>
          </a:p>
        </p:txBody>
      </p:sp>
      <p:sp>
        <p:nvSpPr>
          <p:cNvPr id="10" name="矩形 9"/>
          <p:cNvSpPr/>
          <p:nvPr/>
        </p:nvSpPr>
        <p:spPr>
          <a:xfrm>
            <a:off x="9010015" y="4435475"/>
            <a:ext cx="2219325" cy="1536065"/>
          </a:xfrm>
          <a:prstGeom prst="rect">
            <a:avLst/>
          </a:prstGeom>
          <a:solidFill>
            <a:srgbClr val="01A5B1">
              <a:alpha val="12000"/>
            </a:srgbClr>
          </a:solidFill>
        </p:spPr>
        <p:txBody>
          <a:bodyPr/>
          <a:p/>
        </p:txBody>
      </p:sp>
      <p:sp>
        <p:nvSpPr>
          <p:cNvPr id="11" name="文本框 10" descr="{&quot;isTemplate&quot;:true,&quot;type&quot;:&quot;text&quot;}"/>
          <p:cNvSpPr txBox="1"/>
          <p:nvPr/>
        </p:nvSpPr>
        <p:spPr>
          <a:xfrm>
            <a:off x="9057640" y="4495165"/>
            <a:ext cx="2124710" cy="1341120"/>
          </a:xfrm>
          <a:prstGeom prst="rect">
            <a:avLst/>
          </a:prstGeom>
        </p:spPr>
        <p:txBody>
          <a:bodyPr wrap="square" lIns="0" tIns="0" rIns="0" bIns="0"/>
          <a:p>
            <a:pPr>
              <a:lnSpc>
                <a:spcPct val="145000"/>
              </a:lnSpc>
            </a:pPr>
            <a:r>
              <a:rPr lang="zh-CN" sz="1600" b="1">
                <a:solidFill>
                  <a:srgbClr val="1F1F1F"/>
                </a:solidFill>
                <a:latin typeface="微软雅黑" panose="020B0503020204020204" charset="-122"/>
                <a:ea typeface="微软雅黑" panose="020B0503020204020204" charset="-122"/>
              </a:rPr>
              <a:t>股改后所有模型中，六因子 AR、$AR^2 数值最小，解释能力最优。</a:t>
            </a:r>
            <a:endParaRPr lang="zh-CN" sz="1600" b="1">
              <a:solidFill>
                <a:srgbClr val="1F1F1F"/>
              </a:solidFill>
              <a:latin typeface="微软雅黑" panose="020B0503020204020204" charset="-122"/>
              <a:ea typeface="微软雅黑" panose="020B0503020204020204" charset="-122"/>
            </a:endParaRPr>
          </a:p>
        </p:txBody>
      </p:sp>
      <p:sp>
        <p:nvSpPr>
          <p:cNvPr id="737" name="Rectangle 736"/>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Rectangle 737"/>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TextBox 738"/>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740" name="TextBox 739"/>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741" name="TextBox 740"/>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742" name="TextBox 74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743" name="Rectangle 742"/>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TextBox 743"/>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745" name="TextBox 744"/>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746" name="TextBox 745"/>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747" name="TextBox 746"/>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1"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母模型主线：FF 体系的自我迭代&lt;/Text&gt;&#10;        &lt;/Box&gt;&#10;&#10;        &lt;Box style={{ height: 544, flexDirection: 'column' }}&gt;&#10;            {/* 时间轴 */}&#10;            &lt;Box style={{ width: 1120, height: 152, background: '#FFFFFF', border: '1px solid #EAEAEA', padding: 18, flexDirection: 'column', position: 'relative' }}&gt;&#10;                &lt;Box style={{ position: 'absolute', top: 60, left: 20, width: 1080, height: 3, background: '#EAEAEA' }} /&gt;&#10;                &lt;Box style={{ flexDirection: 'row', width: 1084 }}&gt;&#10;                    &lt;Box style={{ width: 154, flexDirection: 'column', alignItems: 'center' }}&gt;&#10;                        &lt;Text style={{ fontSize: 17, fontWeight: 'bold', color: '#8A8A8A' }}&gt;1964&lt;/Text&gt;&#10;                        &lt;Box style={{ width: 16, height: 16, borderRadius: 8, background: '#8A8A8A', marginTop: 8, marginBottom: 8 }} /&gt;&#10;                        &lt;Text style={{ fontSize: 14, color: '#5A5A5A', textAlign: 'center' }}&gt;CAPM&lt;br /&gt;单因子&lt;/Text&gt;&#10;                    &lt;/Box&gt;&#10;                    &lt;Box style={{ width: 154, flexDirection: 'column', alignItems: 'center' }}&gt;&#10;                        &lt;Text style={{ fontSize: 17, fontWeight: 'bold', color: '#01A5B1' }}&gt;1993&lt;/Text&gt;&#10;                        &lt;Box style={{ width: 16, height: 16, borderRadius: 8, background: '#01A5B1', marginTop: 8, marginBottom: 8 }} /&gt;&#10;                        &lt;Text style={{ fontSize: 14, color: '#5A5A5A', textAlign: 'center' }}&gt;FF3&lt;br /&gt;+SMB +HML&lt;/Text&gt;&#10;                    &lt;/Box&gt;&#10;                    &lt;Box style={{ width: 154, flexDirection: 'column', alignItems: 'center' }}&gt;&#10;                        &lt;Text style={{ fontSize: 17, fontWeight: 'bold', color: '#01A5B1' }}&gt;1997&lt;/Text&gt;&#10;                        &lt;Box style={{ width: 16, height: 16, borderRadius: 8, background: '#01A5B1', marginTop: 8, marginBottom: 8 }} /&gt;&#10;                        &lt;Text style={{ fontSize: 14, color: '#5A5A5A', textAlign: 'center' }}&gt;Carhart 4&lt;br /&gt;+MOM&lt;/Text&gt;&#10;                    &lt;/Box&gt;&#10;                    &lt;Box style={{ width: 154, flexDirection: 'column', alignItems: 'center' }}&gt;&#10;                        &lt;Text style={{ fontSize: 17, fontWeight: 'bold', color: '#01A5B1' }}&gt;2013&lt;/Text&gt;&#10;                        &lt;Box style={{ width: 16, height: 16, borderRadius: 8, background: '#01A5B1', marginTop: 8, marginBottom: 8 }} /&gt;&#10;                        &lt;Text style={{ fontSize: 14, color: '#5A5A5A', textAlign: 'center' }}&gt;Novy-Marx&lt;br /&gt;Aharoni&lt;/Text&gt;&#10;                    &lt;/Box&gt;&#10;                    &lt;Box style={{ width: 154, flexDirection: 'column', alignItems: 'center' }}&gt;&#10;                        &lt;Text style={{ fontSize: 17, fontWeight: 'bold', color: '#E8503A' }}&gt;2015a&lt;/Text&gt;&#10;                        &lt;Box style={{ width: 18, height: 18, borderRadius: 9, background: '#E8503A', marginTop: 7, marginBottom: 7 }} /&gt;&#10;                        &lt;Text style={{ fontSize: 14, fontWeight: 'bold', color: '#E8503A', textAlign: 'center' }}&gt;FF5&lt;br /&gt;+RMW +CMA&lt;/Text&gt;&#10;                    &lt;/Box&gt;&#10;                    &lt;Box style={{ width: 154, flexDirection: 'column', alignItems: 'center' }}&gt;&#10;                        &lt;Text style={{ fontSize: 17, fontWeight: 'bold', color: '#01A5B1' }}&gt;2015b&lt;/Text&gt;&#10;                        &lt;Box style={{ width: 16, height: 16, borderRadius: 8, background: '#01A5B1', marginTop: 8, marginBottom: 8 }} /&gt;&#10;                        &lt;Text style={{ fontSize: 14, color: '#5A5A5A', textAlign: 'center' }}&gt;FF5&lt;br /&gt;国际检验&lt;/Text&gt;&#10;                    &lt;/Box&gt;&#10;                    &lt;Box style={{ width: 154, flexDirection: 'column', alignItems: 'center' }}&gt;&#10;                        &lt;Text style={{ fontSize: 17, fontWeight: 'bold', color: '#01A5B1' }}&gt;2016&lt;/Text&gt;&#10;                        &lt;Box style={{ width: 16, height: 16, borderRadius: 8, background: '#01A5B1', marginTop: 8, marginBottom: 8 }} /&gt;&#10;                        &lt;Text style={{ fontSize: 14, color: '#5A5A5A', textAlign: 'center' }}&gt;FF6&lt;br /&gt;+MOM&lt;/Text&gt;&#10;                    &lt;/Box&gt;&#10;                &lt;/Box&gt;&#10;            &lt;/Box&gt;&#10;&#10;            {/* 要点 + 参考文献截图 */}&#10;            &lt;Box style={{ height: 376, flexDirection: 'row', gap: 32, marginTop: 16 }}&gt;&#10;                &lt;Box style={{ width: 700, height: 376, flexDirection: 'column' }}&gt;&#10;                    &lt;Box style={{ width: 700, height: 178, background: '#FFFFFF', border: '1px solid #EAEAEA', borderLeft: '4px solid #01A5B1', padding: 16, flexDirection: 'column' }}&gt;&#10;                        &lt;Text style={{ fontSize: 19, fontWeight: 'bold', color: '#1F1F1F', marginBottom: 8 }}&gt;每一次升级，都在给上一代判刑&lt;/Text&gt;&#10;                        &lt;Text style={{ width: 664, fontSize: 17, color: '#5A5A5A', lineHeight: 1.6 }}&gt;&#10;                            FF5 的理论基础是红利贴现模型（原文 p.192）。把 RMW 与 CMA 加进来，是为了更好地描述横截面期望收益率——代价是体系内部出现了新的&quot;冗余&quot;判定。&#10;                        &lt;/Text&gt;&#10;                    &lt;/Box&gt;&#10;                    &lt;Box style={{ width: 700, height: 182, background: 'rgba(232,80,58,0.10)', flexDirection: 'row', marginTop: 16 }}&gt;&#10;                        &lt;Box style={{ width: 4, height: 182, background: '#E8503A' }} /&gt;&#10;                        &lt;Box style={{ width: 696, padding: 16, flexDirection: 'column' }}&gt;&#10;                            &lt;Text style={{ fontSize: 19, fontWeight: 'bold', color: '#E8503A', marginBottom: 8 }}&gt;裂缝信号：谁被宣布冗余&lt;/Text&gt;&#10;                            &lt;Text style={{ width: 660, fontSize: 17, color: '#1F1F1F', lineHeight: 1.6 }}&gt;&#10;                                美国市场：HML 被判冗余，FF 改用 HMLm（残差版）。&lt;br /&gt;&#10;                                中国市场：&lt;span style={{ fontWeight: 'bold' }}&gt;CMA 被判冗余&lt;/span&gt;（原文表 3，p.196）。&lt;br /&gt;&#10;                                同一个体系，冗余的支柱却不是同一根。&#10;                            &lt;/Text&gt;&#10;                        &lt;/Box&gt;&#10;                    &lt;/Box&gt;&#10;                &lt;/Box&gt;&#10;&#10;                &lt;Box style={{ width: 388, height: 376, flexDirection: 'column' }}&gt;&#10;                    &lt;Box style={{ width: 388, height: 296, background: '#FFFFFF', border: '1px solid #EAEAEA', boxShadow: '0 2px 12px rgba(0,0,0,0.08)', alignItems: 'center', justifyContent: 'center', padding: 8 }}&gt;&#10;                        &lt;Image src=&quot;assets/refs_en.png&quot; style={{ width: 372, height: 280, objectFit: 'contain' }} /&gt;&#10;                    &lt;/Box&gt;&#10;                    &lt;Text style={{ width: 388, fontSize: 15, color: '#8A8A8A', marginTop: 8, lineHeight: 1.5 }}&gt;&#10;                        原文 P205 参考文献：家谱上的每一条边，都能追到原始出处&#10;                    &lt;/Text&gt;&#10;                &lt;/Box&gt;&#10;            &lt;/Box&gt;&#10;        &lt;/Box&gt;&#10;&#10;        &lt;Box style={{ height: 40, flexDirection: 'row', justifyContent: 'space-between', alignItems: 'center' }}&gt;&#10;            &lt;Text style={{ fontSize: 14, color: '#8A8A8A' }}&gt;三维结构法 · FF5 中国实证拆解&lt;/Text&gt;&#10;            &lt;Text style={{ fontSize: 14, color: '#8A8A8A' }}&gt;10 / 37&lt;/Text&gt;&#10;        &lt;/Box&gt;&#10;    &lt;/Box&gt;&#10;&lt;/Slide&gt;"/>
        <p:cNvGrpSpPr/>
        <p:nvPr/>
      </p:nvGrpSpPr>
      <p:grpSpPr>
        <a:xfrm>
          <a:off x="0" y="0"/>
          <a:ext cx="0" cy="0"/>
          <a:chOff x="0" y="0"/>
          <a:chExt cx="0" cy="0"/>
        </a:xfrm>
      </p:grpSpPr>
      <p:sp>
        <p:nvSpPr>
          <p:cNvPr id="12" name="矩形 11"/>
          <p:cNvSpPr/>
          <p:nvPr/>
        </p:nvSpPr>
        <p:spPr>
          <a:xfrm>
            <a:off x="0" y="0"/>
            <a:ext cx="12192000" cy="6858000"/>
          </a:xfrm>
          <a:prstGeom prst="rect">
            <a:avLst/>
          </a:prstGeom>
          <a:solidFill>
            <a:srgbClr val="FFFFFF"/>
          </a:solidFill>
        </p:spPr>
        <p:txBody>
          <a:bodyPr/>
          <a:p/>
        </p:txBody>
      </p:sp>
      <p:pic>
        <p:nvPicPr>
          <p:cNvPr id="13" name="图片 12"/>
          <p:cNvPicPr>
            <a:picLocks noChangeAspect="1"/>
          </p:cNvPicPr>
          <p:nvPr/>
        </p:nvPicPr>
        <p:blipFill>
          <a:blip r:embed="rId1"/>
          <a:stretch>
            <a:fillRect/>
          </a:stretch>
        </p:blipFill>
        <p:spPr>
          <a:xfrm>
            <a:off x="0" y="0"/>
            <a:ext cx="12192000" cy="6858000"/>
          </a:xfrm>
          <a:prstGeom prst="rect">
            <a:avLst/>
          </a:prstGeom>
        </p:spPr>
      </p:pic>
      <p:sp>
        <p:nvSpPr>
          <p:cNvPr id="14" name="矩形 13"/>
          <p:cNvSpPr/>
          <p:nvPr/>
        </p:nvSpPr>
        <p:spPr>
          <a:xfrm>
            <a:off x="762000" y="476250"/>
            <a:ext cx="57150" cy="342900"/>
          </a:xfrm>
          <a:prstGeom prst="rect">
            <a:avLst/>
          </a:prstGeom>
          <a:solidFill>
            <a:srgbClr val="01A5B1"/>
          </a:solidFill>
        </p:spPr>
        <p:txBody>
          <a:bodyPr/>
          <a:p/>
        </p:txBody>
      </p:sp>
      <p:sp>
        <p:nvSpPr>
          <p:cNvPr id="15" name="文本框 14"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母模型主线：</a:t>
            </a:r>
            <a:r>
              <a:rPr lang="en-US" sz="2200" b="1">
                <a:solidFill>
                  <a:srgbClr val="1F1F1F"/>
                </a:solidFill>
                <a:latin typeface="微软雅黑" panose="020B0503020204020204" charset="-122"/>
                <a:ea typeface="微软雅黑" panose="020B0503020204020204" charset="-122"/>
              </a:rPr>
              <a:t>FF </a:t>
            </a:r>
            <a:r>
              <a:rPr lang="zh-CN" sz="2200" b="1">
                <a:solidFill>
                  <a:srgbClr val="1F1F1F"/>
                </a:solidFill>
                <a:latin typeface="微软雅黑" panose="020B0503020204020204" charset="-122"/>
                <a:ea typeface="微软雅黑" panose="020B0503020204020204" charset="-122"/>
              </a:rPr>
              <a:t>体系的自我迭代</a:t>
            </a:r>
            <a:endParaRPr lang="zh-CN" sz="2550" b="1">
              <a:solidFill>
                <a:srgbClr val="01A5B1"/>
              </a:solidFill>
              <a:latin typeface="微软雅黑" panose="020B0503020204020204" charset="-122"/>
              <a:ea typeface="微软雅黑" panose="020B0503020204020204" charset="-122"/>
            </a:endParaRPr>
          </a:p>
        </p:txBody>
      </p:sp>
      <p:sp>
        <p:nvSpPr>
          <p:cNvPr id="16" name="矩形 15"/>
          <p:cNvSpPr/>
          <p:nvPr/>
        </p:nvSpPr>
        <p:spPr>
          <a:xfrm>
            <a:off x="800100" y="2705100"/>
            <a:ext cx="6629400" cy="1695450"/>
          </a:xfrm>
          <a:prstGeom prst="rect">
            <a:avLst/>
          </a:prstGeom>
          <a:solidFill>
            <a:srgbClr val="FFFFFF"/>
          </a:solidFill>
        </p:spPr>
        <p:txBody>
          <a:bodyPr/>
          <a:p/>
        </p:txBody>
      </p:sp>
      <p:sp>
        <p:nvSpPr>
          <p:cNvPr id="17" name="任意多边形 16"/>
          <p:cNvSpPr/>
          <p:nvPr/>
        </p:nvSpPr>
        <p:spPr>
          <a:xfrm>
            <a:off x="762000" y="2705100"/>
            <a:ext cx="6667500" cy="1695450"/>
          </a:xfrm>
          <a:custGeom>
            <a:avLst/>
            <a:gdLst/>
            <a:ahLst/>
            <a:cxnLst/>
            <a:pathLst>
              <a:path w="700" h="178">
                <a:moveTo>
                  <a:pt x="0" y="0"/>
                </a:moveTo>
                <a:lnTo>
                  <a:pt x="4" y="0"/>
                </a:lnTo>
                <a:lnTo>
                  <a:pt x="4" y="178"/>
                </a:lnTo>
                <a:lnTo>
                  <a:pt x="0" y="178"/>
                </a:lnTo>
                <a:close/>
              </a:path>
            </a:pathLst>
          </a:custGeom>
          <a:solidFill>
            <a:srgbClr val="01A5B1"/>
          </a:solidFill>
        </p:spPr>
        <p:txBody>
          <a:bodyPr/>
          <a:p/>
        </p:txBody>
      </p:sp>
      <p:sp>
        <p:nvSpPr>
          <p:cNvPr id="18" name="文本框 17" descr="{&quot;isTemplate&quot;:true,&quot;type&quot;:&quot;text&quot;}"/>
          <p:cNvSpPr txBox="1"/>
          <p:nvPr/>
        </p:nvSpPr>
        <p:spPr>
          <a:xfrm>
            <a:off x="971550" y="2781300"/>
            <a:ext cx="6324600" cy="219075"/>
          </a:xfrm>
          <a:prstGeom prst="rect">
            <a:avLst/>
          </a:prstGeom>
        </p:spPr>
        <p:txBody>
          <a:bodyPr wrap="none" lIns="0" tIns="0" rIns="0" bIns="0"/>
          <a:p>
            <a:pPr algn="l">
              <a:lnSpc>
                <a:spcPct val="160000"/>
              </a:lnSpc>
            </a:pPr>
            <a:r>
              <a:rPr sz="1425" b="1">
                <a:solidFill>
                  <a:srgbClr val="5A5A5A"/>
                </a:solidFill>
                <a:latin typeface="微软雅黑" panose="020B0503020204020204" charset="-122"/>
                <a:ea typeface="微软雅黑" panose="020B0503020204020204" charset="-122"/>
                <a:sym typeface="+mn-ea"/>
              </a:rPr>
              <a:t>横向对比：同一模型，股改前 VS 股改后</a:t>
            </a:r>
            <a:endParaRPr lang="zh-CN" sz="1425" b="1">
              <a:solidFill>
                <a:srgbClr val="5A5A5A"/>
              </a:solidFill>
              <a:latin typeface="微软雅黑" panose="020B0503020204020204" charset="-122"/>
              <a:ea typeface="微软雅黑" panose="020B0503020204020204" charset="-122"/>
              <a:sym typeface="+mn-ea"/>
            </a:endParaRPr>
          </a:p>
        </p:txBody>
      </p:sp>
      <p:sp>
        <p:nvSpPr>
          <p:cNvPr id="19" name="文本框 18" descr="{&quot;isTemplate&quot;:true,&quot;type&quot;:&quot;text&quot;}"/>
          <p:cNvSpPr txBox="1"/>
          <p:nvPr/>
        </p:nvSpPr>
        <p:spPr>
          <a:xfrm>
            <a:off x="952500" y="3152775"/>
            <a:ext cx="6324600" cy="1847850"/>
          </a:xfrm>
          <a:prstGeom prst="rect">
            <a:avLst/>
          </a:prstGeom>
        </p:spPr>
        <p:txBody>
          <a:bodyPr wrap="square" lIns="0" tIns="0" rIns="0" bIns="0"/>
          <a:p>
            <a:pPr>
              <a:lnSpc>
                <a:spcPct val="160000"/>
              </a:lnSpc>
            </a:pPr>
            <a:r>
              <a:rPr sz="1400" b="1">
                <a:solidFill>
                  <a:srgbClr val="5A5A5A"/>
                </a:solidFill>
                <a:latin typeface="微软雅黑" panose="020B0503020204020204" charset="-122"/>
                <a:ea typeface="微软雅黑" panose="020B0503020204020204" charset="-122"/>
              </a:rPr>
              <a:t>1. CAPM：股改后指标变大，模型变差</a:t>
            </a:r>
            <a:endParaRPr sz="1400" b="1">
              <a:solidFill>
                <a:srgbClr val="5A5A5A"/>
              </a:solidFill>
              <a:latin typeface="微软雅黑" panose="020B0503020204020204" charset="-122"/>
              <a:ea typeface="微软雅黑" panose="020B0503020204020204" charset="-122"/>
            </a:endParaRPr>
          </a:p>
          <a:p>
            <a:pPr>
              <a:lnSpc>
                <a:spcPct val="160000"/>
              </a:lnSpc>
            </a:pPr>
            <a:r>
              <a:rPr sz="1400" b="1">
                <a:solidFill>
                  <a:srgbClr val="5A5A5A"/>
                </a:solidFill>
                <a:latin typeface="微软雅黑" panose="020B0503020204020204" charset="-122"/>
                <a:ea typeface="微软雅黑" panose="020B0503020204020204" charset="-122"/>
              </a:rPr>
              <a:t>2. FF3、FF3+MOM、FF5、FF5+MOM：股改后 AR、$AR^2 全部变小</a:t>
            </a:r>
            <a:endParaRPr sz="1400" b="1">
              <a:solidFill>
                <a:srgbClr val="5A5A5A"/>
              </a:solidFill>
              <a:latin typeface="微软雅黑" panose="020B0503020204020204" charset="-122"/>
              <a:ea typeface="微软雅黑" panose="020B0503020204020204" charset="-122"/>
            </a:endParaRPr>
          </a:p>
          <a:p>
            <a:pPr>
              <a:lnSpc>
                <a:spcPct val="160000"/>
              </a:lnSpc>
            </a:pPr>
            <a:r>
              <a:rPr sz="1400" b="1">
                <a:solidFill>
                  <a:srgbClr val="5A5A5A"/>
                </a:solidFill>
                <a:latin typeface="微软雅黑" panose="020B0503020204020204" charset="-122"/>
                <a:ea typeface="微软雅黑" panose="020B0503020204020204" charset="-122"/>
              </a:rPr>
              <a:t>核心结论：</a:t>
            </a:r>
            <a:endParaRPr sz="1400" b="1">
              <a:solidFill>
                <a:srgbClr val="5A5A5A"/>
              </a:solidFill>
              <a:latin typeface="微软雅黑" panose="020B0503020204020204" charset="-122"/>
              <a:ea typeface="微软雅黑" panose="020B0503020204020204" charset="-122"/>
            </a:endParaRPr>
          </a:p>
          <a:p>
            <a:pPr>
              <a:lnSpc>
                <a:spcPct val="160000"/>
              </a:lnSpc>
            </a:pPr>
            <a:r>
              <a:rPr sz="1400" b="1">
                <a:solidFill>
                  <a:srgbClr val="5A5A5A"/>
                </a:solidFill>
                <a:latin typeface="微软雅黑" panose="020B0503020204020204" charset="-122"/>
                <a:ea typeface="微软雅黑" panose="020B0503020204020204" charset="-122"/>
              </a:rPr>
              <a:t>在多因子模型框架下，股改之后，不可解释的超额收益占比下降，A 股资本市场效率得到提升。</a:t>
            </a:r>
            <a:endParaRPr sz="1400" b="1">
              <a:solidFill>
                <a:srgbClr val="5A5A5A"/>
              </a:solidFill>
              <a:latin typeface="微软雅黑" panose="020B0503020204020204" charset="-122"/>
              <a:ea typeface="微软雅黑" panose="020B0503020204020204" charset="-122"/>
            </a:endParaRPr>
          </a:p>
        </p:txBody>
      </p:sp>
      <p:sp>
        <p:nvSpPr>
          <p:cNvPr id="20" name="矩形 19"/>
          <p:cNvSpPr/>
          <p:nvPr/>
        </p:nvSpPr>
        <p:spPr>
          <a:xfrm>
            <a:off x="762000" y="4552950"/>
            <a:ext cx="6667500" cy="1733550"/>
          </a:xfrm>
          <a:prstGeom prst="rect">
            <a:avLst/>
          </a:prstGeom>
          <a:solidFill>
            <a:srgbClr val="E8503A">
              <a:alpha val="10000"/>
            </a:srgbClr>
          </a:solidFill>
        </p:spPr>
        <p:txBody>
          <a:bodyPr/>
          <a:p/>
        </p:txBody>
      </p:sp>
      <p:sp>
        <p:nvSpPr>
          <p:cNvPr id="21" name="矩形 20"/>
          <p:cNvSpPr/>
          <p:nvPr/>
        </p:nvSpPr>
        <p:spPr>
          <a:xfrm>
            <a:off x="762000" y="4552950"/>
            <a:ext cx="38100" cy="1733550"/>
          </a:xfrm>
          <a:prstGeom prst="rect">
            <a:avLst/>
          </a:prstGeom>
          <a:solidFill>
            <a:srgbClr val="E8503A"/>
          </a:solidFill>
        </p:spPr>
        <p:txBody>
          <a:bodyPr/>
          <a:p/>
        </p:txBody>
      </p:sp>
      <p:sp>
        <p:nvSpPr>
          <p:cNvPr id="22" name="文本框 21" descr="{&quot;isTemplate&quot;:true,&quot;type&quot;:&quot;text&quot;}"/>
          <p:cNvSpPr txBox="1"/>
          <p:nvPr/>
        </p:nvSpPr>
        <p:spPr>
          <a:xfrm>
            <a:off x="952500" y="4705350"/>
            <a:ext cx="6324600" cy="219075"/>
          </a:xfrm>
          <a:prstGeom prst="rect">
            <a:avLst/>
          </a:prstGeom>
        </p:spPr>
        <p:txBody>
          <a:bodyPr wrap="none" lIns="0" tIns="0" rIns="0" bIns="0"/>
          <a:p>
            <a:pPr>
              <a:lnSpc>
                <a:spcPct val="100000"/>
              </a:lnSpc>
            </a:pPr>
            <a:r>
              <a:rPr lang="zh-CN" sz="1425" b="1">
                <a:solidFill>
                  <a:srgbClr val="E8503A"/>
                </a:solidFill>
                <a:latin typeface="微软雅黑" panose="020B0503020204020204" charset="-122"/>
                <a:ea typeface="微软雅黑" panose="020B0503020204020204" charset="-122"/>
              </a:rPr>
              <a:t>裂缝信号：谁被宣布冗余</a:t>
            </a:r>
            <a:endParaRPr lang="zh-CN" sz="1425" b="1">
              <a:solidFill>
                <a:srgbClr val="E8503A"/>
              </a:solidFill>
              <a:latin typeface="微软雅黑" panose="020B0503020204020204" charset="-122"/>
              <a:ea typeface="微软雅黑" panose="020B0503020204020204" charset="-122"/>
            </a:endParaRPr>
          </a:p>
        </p:txBody>
      </p:sp>
      <p:sp>
        <p:nvSpPr>
          <p:cNvPr id="23" name="文本框 22" descr="{&quot;isTemplate&quot;:true,&quot;type&quot;:&quot;text&quot;}"/>
          <p:cNvSpPr txBox="1"/>
          <p:nvPr/>
        </p:nvSpPr>
        <p:spPr>
          <a:xfrm>
            <a:off x="952500" y="5000625"/>
            <a:ext cx="6286500" cy="933450"/>
          </a:xfrm>
          <a:prstGeom prst="rect">
            <a:avLst/>
          </a:prstGeom>
        </p:spPr>
        <p:txBody>
          <a:bodyPr wrap="none" lIns="0" tIns="0" rIns="0" bIns="0"/>
          <a:p>
            <a:pPr>
              <a:lnSpc>
                <a:spcPct val="160000"/>
              </a:lnSpc>
            </a:pPr>
            <a:r>
              <a:rPr lang="zh-CN" sz="1275">
                <a:solidFill>
                  <a:srgbClr val="1F1F1F"/>
                </a:solidFill>
                <a:latin typeface="微软雅黑" panose="020B0503020204020204" charset="-122"/>
                <a:ea typeface="微软雅黑" panose="020B0503020204020204" charset="-122"/>
              </a:rPr>
              <a:t>美国市场：</a:t>
            </a:r>
            <a:r>
              <a:rPr lang="en-US" sz="1275">
                <a:solidFill>
                  <a:srgbClr val="1F1F1F"/>
                </a:solidFill>
                <a:latin typeface="微软雅黑" panose="020B0503020204020204" charset="-122"/>
                <a:ea typeface="微软雅黑" panose="020B0503020204020204" charset="-122"/>
              </a:rPr>
              <a:t>HML </a:t>
            </a:r>
            <a:r>
              <a:rPr lang="zh-CN" sz="1275">
                <a:solidFill>
                  <a:srgbClr val="1F1F1F"/>
                </a:solidFill>
                <a:latin typeface="微软雅黑" panose="020B0503020204020204" charset="-122"/>
                <a:ea typeface="微软雅黑" panose="020B0503020204020204" charset="-122"/>
              </a:rPr>
              <a:t>被判冗余，</a:t>
            </a:r>
            <a:r>
              <a:rPr lang="en-US" sz="1275">
                <a:solidFill>
                  <a:srgbClr val="1F1F1F"/>
                </a:solidFill>
                <a:latin typeface="微软雅黑" panose="020B0503020204020204" charset="-122"/>
                <a:ea typeface="微软雅黑" panose="020B0503020204020204" charset="-122"/>
              </a:rPr>
              <a:t>FF </a:t>
            </a:r>
            <a:r>
              <a:rPr lang="zh-CN" sz="1275">
                <a:solidFill>
                  <a:srgbClr val="1F1F1F"/>
                </a:solidFill>
                <a:latin typeface="微软雅黑" panose="020B0503020204020204" charset="-122"/>
                <a:ea typeface="微软雅黑" panose="020B0503020204020204" charset="-122"/>
              </a:rPr>
              <a:t>改用</a:t>
            </a:r>
            <a:r>
              <a:rPr lang="en-US" sz="1275">
                <a:solidFill>
                  <a:srgbClr val="1F1F1F"/>
                </a:solidFill>
                <a:latin typeface="微软雅黑" panose="020B0503020204020204" charset="-122"/>
                <a:ea typeface="微软雅黑" panose="020B0503020204020204" charset="-122"/>
              </a:rPr>
              <a:t> HMLm</a:t>
            </a:r>
            <a:r>
              <a:rPr lang="zh-CN" sz="1275">
                <a:solidFill>
                  <a:srgbClr val="1F1F1F"/>
                </a:solidFill>
                <a:latin typeface="微软雅黑" panose="020B0503020204020204" charset="-122"/>
                <a:ea typeface="微软雅黑" panose="020B0503020204020204" charset="-122"/>
              </a:rPr>
              <a:t>（残差版）。</a:t>
            </a:r>
            <a:endParaRPr lang="zh-CN" sz="1275">
              <a:solidFill>
                <a:srgbClr val="1F1F1F"/>
              </a:solidFill>
              <a:latin typeface="微软雅黑" panose="020B0503020204020204" charset="-122"/>
              <a:ea typeface="微软雅黑" panose="020B0503020204020204" charset="-122"/>
            </a:endParaRPr>
          </a:p>
          <a:p>
            <a:pPr>
              <a:lnSpc>
                <a:spcPct val="160000"/>
              </a:lnSpc>
            </a:pPr>
            <a:r>
              <a:rPr lang="zh-CN" sz="1275">
                <a:solidFill>
                  <a:srgbClr val="1F1F1F"/>
                </a:solidFill>
                <a:latin typeface="微软雅黑" panose="020B0503020204020204" charset="-122"/>
                <a:ea typeface="微软雅黑" panose="020B0503020204020204" charset="-122"/>
              </a:rPr>
              <a:t>中国市场：</a:t>
            </a:r>
            <a:r>
              <a:rPr lang="en-US" sz="1275" b="1">
                <a:solidFill>
                  <a:srgbClr val="1F1F1F"/>
                </a:solidFill>
                <a:latin typeface="微软雅黑" panose="020B0503020204020204" charset="-122"/>
                <a:ea typeface="微软雅黑" panose="020B0503020204020204" charset="-122"/>
              </a:rPr>
              <a:t>CMA </a:t>
            </a:r>
            <a:r>
              <a:rPr lang="zh-CN" sz="1275" b="1">
                <a:solidFill>
                  <a:srgbClr val="1F1F1F"/>
                </a:solidFill>
                <a:latin typeface="微软雅黑" panose="020B0503020204020204" charset="-122"/>
                <a:ea typeface="微软雅黑" panose="020B0503020204020204" charset="-122"/>
              </a:rPr>
              <a:t>被判冗余</a:t>
            </a:r>
            <a:r>
              <a:rPr lang="zh-CN" sz="1275">
                <a:solidFill>
                  <a:srgbClr val="1F1F1F"/>
                </a:solidFill>
                <a:latin typeface="微软雅黑" panose="020B0503020204020204" charset="-122"/>
                <a:ea typeface="微软雅黑" panose="020B0503020204020204" charset="-122"/>
              </a:rPr>
              <a:t>（原文表</a:t>
            </a:r>
            <a:r>
              <a:rPr lang="en-US" sz="1275">
                <a:solidFill>
                  <a:srgbClr val="1F1F1F"/>
                </a:solidFill>
                <a:latin typeface="微软雅黑" panose="020B0503020204020204" charset="-122"/>
                <a:ea typeface="微软雅黑" panose="020B0503020204020204" charset="-122"/>
              </a:rPr>
              <a:t> 3</a:t>
            </a:r>
            <a:r>
              <a:rPr lang="zh-CN" sz="1275">
                <a:solidFill>
                  <a:srgbClr val="1F1F1F"/>
                </a:solidFill>
                <a:latin typeface="微软雅黑" panose="020B0503020204020204" charset="-122"/>
                <a:ea typeface="微软雅黑" panose="020B0503020204020204" charset="-122"/>
              </a:rPr>
              <a:t>，</a:t>
            </a:r>
            <a:r>
              <a:rPr lang="en-US" sz="1275">
                <a:solidFill>
                  <a:srgbClr val="1F1F1F"/>
                </a:solidFill>
                <a:latin typeface="微软雅黑" panose="020B0503020204020204" charset="-122"/>
                <a:ea typeface="微软雅黑" panose="020B0503020204020204" charset="-122"/>
              </a:rPr>
              <a:t>p.196</a:t>
            </a:r>
            <a:r>
              <a:rPr lang="zh-CN" sz="1275">
                <a:solidFill>
                  <a:srgbClr val="1F1F1F"/>
                </a:solidFill>
                <a:latin typeface="微软雅黑" panose="020B0503020204020204" charset="-122"/>
                <a:ea typeface="微软雅黑" panose="020B0503020204020204" charset="-122"/>
              </a:rPr>
              <a:t>）。</a:t>
            </a:r>
            <a:endParaRPr lang="zh-CN" sz="1275">
              <a:solidFill>
                <a:srgbClr val="1F1F1F"/>
              </a:solidFill>
              <a:latin typeface="微软雅黑" panose="020B0503020204020204" charset="-122"/>
              <a:ea typeface="微软雅黑" panose="020B0503020204020204" charset="-122"/>
            </a:endParaRPr>
          </a:p>
          <a:p>
            <a:pPr>
              <a:lnSpc>
                <a:spcPct val="160000"/>
              </a:lnSpc>
            </a:pPr>
            <a:r>
              <a:rPr lang="zh-CN" sz="1275">
                <a:solidFill>
                  <a:srgbClr val="1F1F1F"/>
                </a:solidFill>
                <a:latin typeface="微软雅黑" panose="020B0503020204020204" charset="-122"/>
                <a:ea typeface="微软雅黑" panose="020B0503020204020204" charset="-122"/>
              </a:rPr>
              <a:t>同一个体系，冗余的支柱却不是同一根。</a:t>
            </a:r>
            <a:endParaRPr lang="zh-CN" sz="1275">
              <a:solidFill>
                <a:srgbClr val="1F1F1F"/>
              </a:solidFill>
              <a:latin typeface="微软雅黑" panose="020B0503020204020204" charset="-122"/>
              <a:ea typeface="微软雅黑" panose="020B0503020204020204" charset="-122"/>
            </a:endParaRPr>
          </a:p>
        </p:txBody>
      </p:sp>
      <p:sp>
        <p:nvSpPr>
          <p:cNvPr id="30" name="文本框 29" descr="{&quot;isTemplate&quot;:true,&quot;type&quot;:&quot;text&quot;}"/>
          <p:cNvSpPr txBox="1"/>
          <p:nvPr/>
        </p:nvSpPr>
        <p:spPr>
          <a:xfrm>
            <a:off x="1466850" y="1276350"/>
            <a:ext cx="400050" cy="200025"/>
          </a:xfrm>
          <a:prstGeom prst="rect">
            <a:avLst/>
          </a:prstGeom>
        </p:spPr>
        <p:txBody>
          <a:bodyPr wrap="none" lIns="0" tIns="0" rIns="0" bIns="0"/>
          <a:p>
            <a:pPr>
              <a:lnSpc>
                <a:spcPct val="100000"/>
              </a:lnSpc>
            </a:pPr>
            <a:r>
              <a:rPr lang="en-US" sz="1275" b="1">
                <a:solidFill>
                  <a:srgbClr val="8A8A8A"/>
                </a:solidFill>
                <a:latin typeface="微软雅黑" panose="020B0503020204020204" charset="-122"/>
                <a:ea typeface="微软雅黑" panose="020B0503020204020204" charset="-122"/>
              </a:rPr>
              <a:t>1964</a:t>
            </a:r>
            <a:endParaRPr lang="en-US" sz="1275" b="1">
              <a:solidFill>
                <a:srgbClr val="8A8A8A"/>
              </a:solidFill>
              <a:latin typeface="微软雅黑" panose="020B0503020204020204" charset="-122"/>
              <a:ea typeface="微软雅黑" panose="020B0503020204020204" charset="-122"/>
            </a:endParaRPr>
          </a:p>
        </p:txBody>
      </p:sp>
      <p:sp>
        <p:nvSpPr>
          <p:cNvPr id="31" name="圆角矩形 30"/>
          <p:cNvSpPr/>
          <p:nvPr/>
        </p:nvSpPr>
        <p:spPr>
          <a:xfrm>
            <a:off x="1590675" y="1552575"/>
            <a:ext cx="152400" cy="152400"/>
          </a:xfrm>
          <a:prstGeom prst="roundRect">
            <a:avLst>
              <a:gd name="adj" fmla="val 50000"/>
            </a:avLst>
          </a:prstGeom>
          <a:solidFill>
            <a:srgbClr val="8A8A8A"/>
          </a:solidFill>
        </p:spPr>
        <p:txBody>
          <a:bodyPr/>
          <a:p/>
        </p:txBody>
      </p:sp>
      <p:sp>
        <p:nvSpPr>
          <p:cNvPr id="32" name="文本框 31" descr="{&quot;isTemplate&quot;:true,&quot;type&quot;:&quot;text&quot;}"/>
          <p:cNvSpPr txBox="1"/>
          <p:nvPr/>
        </p:nvSpPr>
        <p:spPr>
          <a:xfrm>
            <a:off x="1466850" y="1781175"/>
            <a:ext cx="400050"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CAPM</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zh-CN" sz="1050">
                <a:solidFill>
                  <a:srgbClr val="5A5A5A"/>
                </a:solidFill>
                <a:latin typeface="微软雅黑" panose="020B0503020204020204" charset="-122"/>
                <a:ea typeface="微软雅黑" panose="020B0503020204020204" charset="-122"/>
              </a:rPr>
              <a:t>单因子</a:t>
            </a:r>
            <a:endParaRPr lang="zh-CN" sz="1050">
              <a:solidFill>
                <a:srgbClr val="5A5A5A"/>
              </a:solidFill>
              <a:latin typeface="微软雅黑" panose="020B0503020204020204" charset="-122"/>
              <a:ea typeface="微软雅黑" panose="020B0503020204020204" charset="-122"/>
            </a:endParaRPr>
          </a:p>
        </p:txBody>
      </p:sp>
      <p:sp>
        <p:nvSpPr>
          <p:cNvPr id="33" name="文本框 32" descr="{&quot;isTemplate&quot;:true,&quot;type&quot;:&quot;text&quot;}"/>
          <p:cNvSpPr txBox="1"/>
          <p:nvPr/>
        </p:nvSpPr>
        <p:spPr>
          <a:xfrm>
            <a:off x="2933700" y="1276350"/>
            <a:ext cx="400050" cy="200025"/>
          </a:xfrm>
          <a:prstGeom prst="rect">
            <a:avLst/>
          </a:prstGeom>
        </p:spPr>
        <p:txBody>
          <a:bodyPr wrap="none" lIns="0" tIns="0" rIns="0" bIns="0"/>
          <a:p>
            <a:pPr>
              <a:lnSpc>
                <a:spcPct val="100000"/>
              </a:lnSpc>
            </a:pPr>
            <a:r>
              <a:rPr lang="en-US" sz="1275" b="1">
                <a:solidFill>
                  <a:srgbClr val="01A5B1"/>
                </a:solidFill>
                <a:latin typeface="微软雅黑" panose="020B0503020204020204" charset="-122"/>
                <a:ea typeface="微软雅黑" panose="020B0503020204020204" charset="-122"/>
              </a:rPr>
              <a:t>1993</a:t>
            </a:r>
            <a:endParaRPr lang="en-US" sz="1275" b="1">
              <a:solidFill>
                <a:srgbClr val="01A5B1"/>
              </a:solidFill>
              <a:latin typeface="微软雅黑" panose="020B0503020204020204" charset="-122"/>
              <a:ea typeface="微软雅黑" panose="020B0503020204020204" charset="-122"/>
            </a:endParaRPr>
          </a:p>
        </p:txBody>
      </p:sp>
      <p:sp>
        <p:nvSpPr>
          <p:cNvPr id="34" name="圆角矩形 33"/>
          <p:cNvSpPr/>
          <p:nvPr/>
        </p:nvSpPr>
        <p:spPr>
          <a:xfrm>
            <a:off x="3057525" y="1552575"/>
            <a:ext cx="152400" cy="152400"/>
          </a:xfrm>
          <a:prstGeom prst="roundRect">
            <a:avLst>
              <a:gd name="adj" fmla="val 50000"/>
            </a:avLst>
          </a:prstGeom>
          <a:solidFill>
            <a:srgbClr val="01A5B1"/>
          </a:solidFill>
        </p:spPr>
        <p:txBody>
          <a:bodyPr/>
          <a:p/>
        </p:txBody>
      </p:sp>
      <p:sp>
        <p:nvSpPr>
          <p:cNvPr id="35" name="文本框 34" descr="{&quot;isTemplate&quot;:true,&quot;type&quot;:&quot;text&quot;}"/>
          <p:cNvSpPr txBox="1"/>
          <p:nvPr/>
        </p:nvSpPr>
        <p:spPr>
          <a:xfrm>
            <a:off x="2714625" y="1781175"/>
            <a:ext cx="838200"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FF3</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en-US" sz="1050">
                <a:solidFill>
                  <a:srgbClr val="5A5A5A"/>
                </a:solidFill>
                <a:latin typeface="微软雅黑" panose="020B0503020204020204" charset="-122"/>
                <a:ea typeface="微软雅黑" panose="020B0503020204020204" charset="-122"/>
              </a:rPr>
              <a:t>+SMB +HML</a:t>
            </a:r>
            <a:endParaRPr lang="en-US" sz="1050">
              <a:solidFill>
                <a:srgbClr val="5A5A5A"/>
              </a:solidFill>
              <a:latin typeface="微软雅黑" panose="020B0503020204020204" charset="-122"/>
              <a:ea typeface="微软雅黑" panose="020B0503020204020204" charset="-122"/>
            </a:endParaRPr>
          </a:p>
        </p:txBody>
      </p:sp>
      <p:sp>
        <p:nvSpPr>
          <p:cNvPr id="36" name="文本框 35" descr="{&quot;isTemplate&quot;:true,&quot;type&quot;:&quot;text&quot;}"/>
          <p:cNvSpPr txBox="1"/>
          <p:nvPr/>
        </p:nvSpPr>
        <p:spPr>
          <a:xfrm>
            <a:off x="4400550" y="1276350"/>
            <a:ext cx="400050" cy="200025"/>
          </a:xfrm>
          <a:prstGeom prst="rect">
            <a:avLst/>
          </a:prstGeom>
        </p:spPr>
        <p:txBody>
          <a:bodyPr wrap="none" lIns="0" tIns="0" rIns="0" bIns="0"/>
          <a:p>
            <a:pPr>
              <a:lnSpc>
                <a:spcPct val="100000"/>
              </a:lnSpc>
            </a:pPr>
            <a:r>
              <a:rPr lang="en-US" sz="1275" b="1">
                <a:solidFill>
                  <a:srgbClr val="01A5B1"/>
                </a:solidFill>
                <a:latin typeface="微软雅黑" panose="020B0503020204020204" charset="-122"/>
                <a:ea typeface="微软雅黑" panose="020B0503020204020204" charset="-122"/>
              </a:rPr>
              <a:t>1997</a:t>
            </a:r>
            <a:endParaRPr lang="en-US" sz="1275" b="1">
              <a:solidFill>
                <a:srgbClr val="01A5B1"/>
              </a:solidFill>
              <a:latin typeface="微软雅黑" panose="020B0503020204020204" charset="-122"/>
              <a:ea typeface="微软雅黑" panose="020B0503020204020204" charset="-122"/>
            </a:endParaRPr>
          </a:p>
        </p:txBody>
      </p:sp>
      <p:sp>
        <p:nvSpPr>
          <p:cNvPr id="37" name="圆角矩形 36"/>
          <p:cNvSpPr/>
          <p:nvPr/>
        </p:nvSpPr>
        <p:spPr>
          <a:xfrm>
            <a:off x="4524375" y="1552575"/>
            <a:ext cx="152400" cy="152400"/>
          </a:xfrm>
          <a:prstGeom prst="roundRect">
            <a:avLst>
              <a:gd name="adj" fmla="val 50000"/>
            </a:avLst>
          </a:prstGeom>
          <a:solidFill>
            <a:srgbClr val="01A5B1"/>
          </a:solidFill>
        </p:spPr>
        <p:txBody>
          <a:bodyPr/>
          <a:p/>
        </p:txBody>
      </p:sp>
      <p:sp>
        <p:nvSpPr>
          <p:cNvPr id="38" name="文本框 37" descr="{&quot;isTemplate&quot;:true,&quot;type&quot;:&quot;text&quot;}"/>
          <p:cNvSpPr txBox="1"/>
          <p:nvPr/>
        </p:nvSpPr>
        <p:spPr>
          <a:xfrm>
            <a:off x="4305300" y="1781175"/>
            <a:ext cx="600075"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Carhart 4</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en-US" sz="1050">
                <a:solidFill>
                  <a:srgbClr val="5A5A5A"/>
                </a:solidFill>
                <a:latin typeface="微软雅黑" panose="020B0503020204020204" charset="-122"/>
                <a:ea typeface="微软雅黑" panose="020B0503020204020204" charset="-122"/>
              </a:rPr>
              <a:t>+MOM</a:t>
            </a:r>
            <a:endParaRPr lang="en-US" sz="1050">
              <a:solidFill>
                <a:srgbClr val="5A5A5A"/>
              </a:solidFill>
              <a:latin typeface="微软雅黑" panose="020B0503020204020204" charset="-122"/>
              <a:ea typeface="微软雅黑" panose="020B0503020204020204" charset="-122"/>
            </a:endParaRPr>
          </a:p>
        </p:txBody>
      </p:sp>
      <p:sp>
        <p:nvSpPr>
          <p:cNvPr id="39" name="文本框 38" descr="{&quot;isTemplate&quot;:true,&quot;type&quot;:&quot;text&quot;}"/>
          <p:cNvSpPr txBox="1"/>
          <p:nvPr/>
        </p:nvSpPr>
        <p:spPr>
          <a:xfrm>
            <a:off x="5867400" y="1276350"/>
            <a:ext cx="400050" cy="200025"/>
          </a:xfrm>
          <a:prstGeom prst="rect">
            <a:avLst/>
          </a:prstGeom>
        </p:spPr>
        <p:txBody>
          <a:bodyPr wrap="none" lIns="0" tIns="0" rIns="0" bIns="0"/>
          <a:p>
            <a:pPr>
              <a:lnSpc>
                <a:spcPct val="100000"/>
              </a:lnSpc>
            </a:pPr>
            <a:r>
              <a:rPr lang="en-US" sz="1275" b="1">
                <a:solidFill>
                  <a:srgbClr val="01A5B1"/>
                </a:solidFill>
                <a:latin typeface="微软雅黑" panose="020B0503020204020204" charset="-122"/>
                <a:ea typeface="微软雅黑" panose="020B0503020204020204" charset="-122"/>
              </a:rPr>
              <a:t>2013</a:t>
            </a:r>
            <a:endParaRPr lang="en-US" sz="1275" b="1">
              <a:solidFill>
                <a:srgbClr val="01A5B1"/>
              </a:solidFill>
              <a:latin typeface="微软雅黑" panose="020B0503020204020204" charset="-122"/>
              <a:ea typeface="微软雅黑" panose="020B0503020204020204" charset="-122"/>
            </a:endParaRPr>
          </a:p>
        </p:txBody>
      </p:sp>
      <p:sp>
        <p:nvSpPr>
          <p:cNvPr id="40" name="圆角矩形 39"/>
          <p:cNvSpPr/>
          <p:nvPr/>
        </p:nvSpPr>
        <p:spPr>
          <a:xfrm>
            <a:off x="5991225" y="1552575"/>
            <a:ext cx="152400" cy="152400"/>
          </a:xfrm>
          <a:prstGeom prst="roundRect">
            <a:avLst>
              <a:gd name="adj" fmla="val 50000"/>
            </a:avLst>
          </a:prstGeom>
          <a:solidFill>
            <a:srgbClr val="01A5B1"/>
          </a:solidFill>
        </p:spPr>
        <p:txBody>
          <a:bodyPr/>
          <a:p/>
        </p:txBody>
      </p:sp>
      <p:sp>
        <p:nvSpPr>
          <p:cNvPr id="41" name="文本框 40" descr="{&quot;isTemplate&quot;:true,&quot;type&quot;:&quot;text&quot;}"/>
          <p:cNvSpPr txBox="1"/>
          <p:nvPr/>
        </p:nvSpPr>
        <p:spPr>
          <a:xfrm>
            <a:off x="5705475" y="1781175"/>
            <a:ext cx="723900"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Novy-Marx</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en-US" sz="1050">
                <a:solidFill>
                  <a:srgbClr val="5A5A5A"/>
                </a:solidFill>
                <a:latin typeface="微软雅黑" panose="020B0503020204020204" charset="-122"/>
                <a:ea typeface="微软雅黑" panose="020B0503020204020204" charset="-122"/>
              </a:rPr>
              <a:t>Aharoni</a:t>
            </a:r>
            <a:endParaRPr lang="en-US" sz="1050">
              <a:solidFill>
                <a:srgbClr val="5A5A5A"/>
              </a:solidFill>
              <a:latin typeface="微软雅黑" panose="020B0503020204020204" charset="-122"/>
              <a:ea typeface="微软雅黑" panose="020B0503020204020204" charset="-122"/>
            </a:endParaRPr>
          </a:p>
        </p:txBody>
      </p:sp>
      <p:sp>
        <p:nvSpPr>
          <p:cNvPr id="42" name="文本框 41" descr="{&quot;isTemplate&quot;:true,&quot;type&quot;:&quot;text&quot;}"/>
          <p:cNvSpPr txBox="1"/>
          <p:nvPr/>
        </p:nvSpPr>
        <p:spPr>
          <a:xfrm>
            <a:off x="7286625" y="1276350"/>
            <a:ext cx="495300" cy="200025"/>
          </a:xfrm>
          <a:prstGeom prst="rect">
            <a:avLst/>
          </a:prstGeom>
        </p:spPr>
        <p:txBody>
          <a:bodyPr wrap="none" lIns="0" tIns="0" rIns="0" bIns="0"/>
          <a:p>
            <a:pPr>
              <a:lnSpc>
                <a:spcPct val="100000"/>
              </a:lnSpc>
            </a:pPr>
            <a:r>
              <a:rPr lang="en-US" sz="1275" b="1">
                <a:solidFill>
                  <a:srgbClr val="E8503A"/>
                </a:solidFill>
                <a:latin typeface="微软雅黑" panose="020B0503020204020204" charset="-122"/>
                <a:ea typeface="微软雅黑" panose="020B0503020204020204" charset="-122"/>
              </a:rPr>
              <a:t>2015a</a:t>
            </a:r>
            <a:endParaRPr lang="en-US" sz="1275" b="1">
              <a:solidFill>
                <a:srgbClr val="E8503A"/>
              </a:solidFill>
              <a:latin typeface="微软雅黑" panose="020B0503020204020204" charset="-122"/>
              <a:ea typeface="微软雅黑" panose="020B0503020204020204" charset="-122"/>
            </a:endParaRPr>
          </a:p>
        </p:txBody>
      </p:sp>
      <p:sp>
        <p:nvSpPr>
          <p:cNvPr id="43" name="圆角矩形 42"/>
          <p:cNvSpPr/>
          <p:nvPr/>
        </p:nvSpPr>
        <p:spPr>
          <a:xfrm>
            <a:off x="7448550" y="1543050"/>
            <a:ext cx="171450" cy="171450"/>
          </a:xfrm>
          <a:prstGeom prst="roundRect">
            <a:avLst>
              <a:gd name="adj" fmla="val 50000"/>
            </a:avLst>
          </a:prstGeom>
          <a:solidFill>
            <a:srgbClr val="E8503A"/>
          </a:solidFill>
        </p:spPr>
        <p:txBody>
          <a:bodyPr/>
          <a:p/>
        </p:txBody>
      </p:sp>
      <p:sp>
        <p:nvSpPr>
          <p:cNvPr id="44" name="文本框 43" descr="{&quot;isTemplate&quot;:true,&quot;type&quot;:&quot;text&quot;}"/>
          <p:cNvSpPr txBox="1"/>
          <p:nvPr/>
        </p:nvSpPr>
        <p:spPr>
          <a:xfrm>
            <a:off x="7058025" y="1781175"/>
            <a:ext cx="952500" cy="323850"/>
          </a:xfrm>
          <a:prstGeom prst="rect">
            <a:avLst/>
          </a:prstGeom>
        </p:spPr>
        <p:txBody>
          <a:bodyPr wrap="none" lIns="0" tIns="0" rIns="0" bIns="0"/>
          <a:p>
            <a:pPr algn="ctr">
              <a:lnSpc>
                <a:spcPct val="100000"/>
              </a:lnSpc>
            </a:pPr>
            <a:r>
              <a:rPr lang="en-US" sz="1050" b="1">
                <a:solidFill>
                  <a:srgbClr val="E8503A"/>
                </a:solidFill>
                <a:latin typeface="微软雅黑" panose="020B0503020204020204" charset="-122"/>
                <a:ea typeface="微软雅黑" panose="020B0503020204020204" charset="-122"/>
              </a:rPr>
              <a:t>FF5</a:t>
            </a:r>
            <a:endParaRPr lang="en-US" sz="1050" b="1">
              <a:solidFill>
                <a:srgbClr val="E8503A"/>
              </a:solidFill>
              <a:latin typeface="微软雅黑" panose="020B0503020204020204" charset="-122"/>
              <a:ea typeface="微软雅黑" panose="020B0503020204020204" charset="-122"/>
            </a:endParaRPr>
          </a:p>
          <a:p>
            <a:pPr algn="ctr">
              <a:lnSpc>
                <a:spcPct val="100000"/>
              </a:lnSpc>
            </a:pPr>
            <a:r>
              <a:rPr lang="en-US" sz="1050" b="1">
                <a:solidFill>
                  <a:srgbClr val="E8503A"/>
                </a:solidFill>
                <a:latin typeface="微软雅黑" panose="020B0503020204020204" charset="-122"/>
                <a:ea typeface="微软雅黑" panose="020B0503020204020204" charset="-122"/>
              </a:rPr>
              <a:t>+RMW +CMA</a:t>
            </a:r>
            <a:endParaRPr lang="en-US" sz="1050" b="1">
              <a:solidFill>
                <a:srgbClr val="E8503A"/>
              </a:solidFill>
              <a:latin typeface="微软雅黑" panose="020B0503020204020204" charset="-122"/>
              <a:ea typeface="微软雅黑" panose="020B0503020204020204" charset="-122"/>
            </a:endParaRPr>
          </a:p>
        </p:txBody>
      </p:sp>
      <p:sp>
        <p:nvSpPr>
          <p:cNvPr id="45" name="文本框 44" descr="{&quot;isTemplate&quot;:true,&quot;type&quot;:&quot;text&quot;}"/>
          <p:cNvSpPr txBox="1"/>
          <p:nvPr/>
        </p:nvSpPr>
        <p:spPr>
          <a:xfrm>
            <a:off x="8743950" y="1276350"/>
            <a:ext cx="514350" cy="200025"/>
          </a:xfrm>
          <a:prstGeom prst="rect">
            <a:avLst/>
          </a:prstGeom>
        </p:spPr>
        <p:txBody>
          <a:bodyPr wrap="none" lIns="0" tIns="0" rIns="0" bIns="0"/>
          <a:p>
            <a:pPr>
              <a:lnSpc>
                <a:spcPct val="100000"/>
              </a:lnSpc>
            </a:pPr>
            <a:r>
              <a:rPr lang="en-US" sz="1275" b="1">
                <a:solidFill>
                  <a:srgbClr val="01A5B1"/>
                </a:solidFill>
                <a:latin typeface="微软雅黑" panose="020B0503020204020204" charset="-122"/>
                <a:ea typeface="微软雅黑" panose="020B0503020204020204" charset="-122"/>
              </a:rPr>
              <a:t>2015b</a:t>
            </a:r>
            <a:endParaRPr lang="en-US" sz="1275" b="1">
              <a:solidFill>
                <a:srgbClr val="01A5B1"/>
              </a:solidFill>
              <a:latin typeface="微软雅黑" panose="020B0503020204020204" charset="-122"/>
              <a:ea typeface="微软雅黑" panose="020B0503020204020204" charset="-122"/>
            </a:endParaRPr>
          </a:p>
        </p:txBody>
      </p:sp>
      <p:sp>
        <p:nvSpPr>
          <p:cNvPr id="46" name="圆角矩形 45"/>
          <p:cNvSpPr/>
          <p:nvPr/>
        </p:nvSpPr>
        <p:spPr>
          <a:xfrm>
            <a:off x="8924925" y="1552575"/>
            <a:ext cx="152400" cy="152400"/>
          </a:xfrm>
          <a:prstGeom prst="roundRect">
            <a:avLst>
              <a:gd name="adj" fmla="val 50000"/>
            </a:avLst>
          </a:prstGeom>
          <a:solidFill>
            <a:srgbClr val="01A5B1"/>
          </a:solidFill>
        </p:spPr>
        <p:txBody>
          <a:bodyPr/>
          <a:p/>
        </p:txBody>
      </p:sp>
      <p:sp>
        <p:nvSpPr>
          <p:cNvPr id="47" name="文本框 46" descr="{&quot;isTemplate&quot;:true,&quot;type&quot;:&quot;text&quot;}"/>
          <p:cNvSpPr txBox="1"/>
          <p:nvPr/>
        </p:nvSpPr>
        <p:spPr>
          <a:xfrm>
            <a:off x="8734425" y="1781175"/>
            <a:ext cx="533400"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FF5</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zh-CN" sz="1050">
                <a:solidFill>
                  <a:srgbClr val="5A5A5A"/>
                </a:solidFill>
                <a:latin typeface="微软雅黑" panose="020B0503020204020204" charset="-122"/>
                <a:ea typeface="微软雅黑" panose="020B0503020204020204" charset="-122"/>
              </a:rPr>
              <a:t>国际检验</a:t>
            </a:r>
            <a:endParaRPr lang="zh-CN" sz="1050">
              <a:solidFill>
                <a:srgbClr val="5A5A5A"/>
              </a:solidFill>
              <a:latin typeface="微软雅黑" panose="020B0503020204020204" charset="-122"/>
              <a:ea typeface="微软雅黑" panose="020B0503020204020204" charset="-122"/>
            </a:endParaRPr>
          </a:p>
        </p:txBody>
      </p:sp>
      <p:sp>
        <p:nvSpPr>
          <p:cNvPr id="48" name="文本框 47" descr="{&quot;isTemplate&quot;:true,&quot;type&quot;:&quot;text&quot;}"/>
          <p:cNvSpPr txBox="1"/>
          <p:nvPr/>
        </p:nvSpPr>
        <p:spPr>
          <a:xfrm>
            <a:off x="10267950" y="1276350"/>
            <a:ext cx="400050" cy="200025"/>
          </a:xfrm>
          <a:prstGeom prst="rect">
            <a:avLst/>
          </a:prstGeom>
        </p:spPr>
        <p:txBody>
          <a:bodyPr wrap="none" lIns="0" tIns="0" rIns="0" bIns="0"/>
          <a:p>
            <a:pPr>
              <a:lnSpc>
                <a:spcPct val="100000"/>
              </a:lnSpc>
            </a:pPr>
            <a:r>
              <a:rPr lang="en-US" sz="1275" b="1">
                <a:solidFill>
                  <a:srgbClr val="01A5B1"/>
                </a:solidFill>
                <a:latin typeface="微软雅黑" panose="020B0503020204020204" charset="-122"/>
                <a:ea typeface="微软雅黑" panose="020B0503020204020204" charset="-122"/>
              </a:rPr>
              <a:t>2016</a:t>
            </a:r>
            <a:endParaRPr lang="en-US" sz="1275" b="1">
              <a:solidFill>
                <a:srgbClr val="01A5B1"/>
              </a:solidFill>
              <a:latin typeface="微软雅黑" panose="020B0503020204020204" charset="-122"/>
              <a:ea typeface="微软雅黑" panose="020B0503020204020204" charset="-122"/>
            </a:endParaRPr>
          </a:p>
        </p:txBody>
      </p:sp>
      <p:sp>
        <p:nvSpPr>
          <p:cNvPr id="49" name="圆角矩形 48"/>
          <p:cNvSpPr/>
          <p:nvPr/>
        </p:nvSpPr>
        <p:spPr>
          <a:xfrm>
            <a:off x="10391775" y="1552575"/>
            <a:ext cx="152400" cy="152400"/>
          </a:xfrm>
          <a:prstGeom prst="roundRect">
            <a:avLst>
              <a:gd name="adj" fmla="val 50000"/>
            </a:avLst>
          </a:prstGeom>
          <a:solidFill>
            <a:srgbClr val="01A5B1"/>
          </a:solidFill>
        </p:spPr>
        <p:txBody>
          <a:bodyPr/>
          <a:p/>
        </p:txBody>
      </p:sp>
      <p:sp>
        <p:nvSpPr>
          <p:cNvPr id="50" name="文本框 49" descr="{&quot;isTemplate&quot;:true,&quot;type&quot;:&quot;text&quot;}"/>
          <p:cNvSpPr txBox="1"/>
          <p:nvPr/>
        </p:nvSpPr>
        <p:spPr>
          <a:xfrm>
            <a:off x="10229850" y="1781175"/>
            <a:ext cx="476250" cy="323850"/>
          </a:xfrm>
          <a:prstGeom prst="rect">
            <a:avLst/>
          </a:prstGeom>
        </p:spPr>
        <p:txBody>
          <a:bodyPr wrap="none" lIns="0" tIns="0" rIns="0" bIns="0"/>
          <a:p>
            <a:pPr algn="ctr">
              <a:lnSpc>
                <a:spcPct val="100000"/>
              </a:lnSpc>
            </a:pPr>
            <a:r>
              <a:rPr lang="en-US" sz="1050">
                <a:solidFill>
                  <a:srgbClr val="5A5A5A"/>
                </a:solidFill>
                <a:latin typeface="微软雅黑" panose="020B0503020204020204" charset="-122"/>
                <a:ea typeface="微软雅黑" panose="020B0503020204020204" charset="-122"/>
              </a:rPr>
              <a:t>FF6</a:t>
            </a:r>
            <a:endParaRPr lang="en-US" sz="1050">
              <a:solidFill>
                <a:srgbClr val="5A5A5A"/>
              </a:solidFill>
              <a:latin typeface="微软雅黑" panose="020B0503020204020204" charset="-122"/>
              <a:ea typeface="微软雅黑" panose="020B0503020204020204" charset="-122"/>
            </a:endParaRPr>
          </a:p>
          <a:p>
            <a:pPr algn="ctr">
              <a:lnSpc>
                <a:spcPct val="100000"/>
              </a:lnSpc>
            </a:pPr>
            <a:r>
              <a:rPr lang="en-US" sz="1050">
                <a:solidFill>
                  <a:srgbClr val="5A5A5A"/>
                </a:solidFill>
                <a:latin typeface="微软雅黑" panose="020B0503020204020204" charset="-122"/>
                <a:ea typeface="微软雅黑" panose="020B0503020204020204" charset="-122"/>
              </a:rPr>
              <a:t>+MOM</a:t>
            </a:r>
            <a:endParaRPr lang="en-US" sz="1050">
              <a:solidFill>
                <a:srgbClr val="5A5A5A"/>
              </a:solidFill>
              <a:latin typeface="微软雅黑" panose="020B0503020204020204" charset="-122"/>
              <a:ea typeface="微软雅黑" panose="020B0503020204020204" charset="-122"/>
            </a:endParaRPr>
          </a:p>
        </p:txBody>
      </p:sp>
      <p:sp>
        <p:nvSpPr>
          <p:cNvPr id="51" name="矩形 50"/>
          <p:cNvSpPr/>
          <p:nvPr/>
        </p:nvSpPr>
        <p:spPr>
          <a:xfrm>
            <a:off x="952500" y="1676400"/>
            <a:ext cx="10287000" cy="28575"/>
          </a:xfrm>
          <a:prstGeom prst="rect">
            <a:avLst/>
          </a:prstGeom>
          <a:solidFill>
            <a:srgbClr val="EAEAEA"/>
          </a:solidFill>
        </p:spPr>
        <p:txBody>
          <a:bodyPr/>
          <a:p/>
        </p:txBody>
      </p:sp>
      <p:pic>
        <p:nvPicPr>
          <p:cNvPr id="3" name="图片 2"/>
          <p:cNvPicPr>
            <a:picLocks noChangeAspect="1"/>
          </p:cNvPicPr>
          <p:nvPr/>
        </p:nvPicPr>
        <p:blipFill>
          <a:blip r:embed="rId1"/>
          <a:stretch>
            <a:fillRect/>
          </a:stretch>
        </p:blipFill>
        <p:spPr>
          <a:xfrm>
            <a:off x="201930" y="123825"/>
            <a:ext cx="12192000" cy="6858000"/>
          </a:xfrm>
          <a:prstGeom prst="rect">
            <a:avLst/>
          </a:prstGeom>
        </p:spPr>
      </p:pic>
      <p:sp>
        <p:nvSpPr>
          <p:cNvPr id="2" name="矩形 1"/>
          <p:cNvSpPr/>
          <p:nvPr/>
        </p:nvSpPr>
        <p:spPr>
          <a:xfrm>
            <a:off x="1104900" y="692150"/>
            <a:ext cx="9995535" cy="2587625"/>
          </a:xfrm>
          <a:prstGeom prst="rect">
            <a:avLst/>
          </a:prstGeom>
          <a:solidFill>
            <a:srgbClr val="FFFFFF"/>
          </a:solidFill>
        </p:spPr>
        <p:txBody>
          <a:bodyPr/>
          <a:p/>
        </p:txBody>
      </p:sp>
      <p:sp>
        <p:nvSpPr>
          <p:cNvPr id="5" name="任意多边形 4"/>
          <p:cNvSpPr/>
          <p:nvPr/>
        </p:nvSpPr>
        <p:spPr>
          <a:xfrm>
            <a:off x="1104900" y="819150"/>
            <a:ext cx="6515100" cy="2460625"/>
          </a:xfrm>
          <a:custGeom>
            <a:avLst/>
            <a:gdLst/>
            <a:ahLst/>
            <a:cxnLst/>
            <a:pathLst>
              <a:path w="700" h="178">
                <a:moveTo>
                  <a:pt x="0" y="0"/>
                </a:moveTo>
                <a:lnTo>
                  <a:pt x="4" y="0"/>
                </a:lnTo>
                <a:lnTo>
                  <a:pt x="4" y="178"/>
                </a:lnTo>
                <a:lnTo>
                  <a:pt x="0" y="178"/>
                </a:lnTo>
                <a:close/>
              </a:path>
            </a:pathLst>
          </a:custGeom>
          <a:solidFill>
            <a:srgbClr val="01A5B1"/>
          </a:solidFill>
        </p:spPr>
        <p:txBody>
          <a:bodyPr/>
          <a:p/>
        </p:txBody>
      </p:sp>
      <p:sp>
        <p:nvSpPr>
          <p:cNvPr id="6" name="文本框 5" descr="{&quot;isTemplate&quot;:true,&quot;type&quot;:&quot;text&quot;}"/>
          <p:cNvSpPr txBox="1"/>
          <p:nvPr/>
        </p:nvSpPr>
        <p:spPr>
          <a:xfrm>
            <a:off x="1296035" y="1431925"/>
            <a:ext cx="9248140" cy="1847850"/>
          </a:xfrm>
          <a:prstGeom prst="rect">
            <a:avLst/>
          </a:prstGeom>
        </p:spPr>
        <p:txBody>
          <a:bodyPr wrap="square" lIns="0" tIns="0" rIns="0" bIns="0"/>
          <a:p>
            <a:pPr>
              <a:lnSpc>
                <a:spcPct val="160000"/>
              </a:lnSpc>
            </a:pPr>
            <a:r>
              <a:rPr sz="1600" b="1">
                <a:solidFill>
                  <a:srgbClr val="5A5A5A"/>
                </a:solidFill>
                <a:latin typeface="微软雅黑" panose="020B0503020204020204" charset="-122"/>
                <a:ea typeface="微软雅黑" panose="020B0503020204020204" charset="-122"/>
              </a:rPr>
              <a:t>1. CAPM：股改后指标变大，模型变差</a:t>
            </a:r>
            <a:endParaRPr sz="1600" b="1">
              <a:solidFill>
                <a:srgbClr val="5A5A5A"/>
              </a:solidFill>
              <a:latin typeface="微软雅黑" panose="020B0503020204020204" charset="-122"/>
              <a:ea typeface="微软雅黑" panose="020B0503020204020204" charset="-122"/>
            </a:endParaRPr>
          </a:p>
          <a:p>
            <a:pPr>
              <a:lnSpc>
                <a:spcPct val="160000"/>
              </a:lnSpc>
            </a:pPr>
            <a:r>
              <a:rPr sz="1600" b="1">
                <a:solidFill>
                  <a:srgbClr val="5A5A5A"/>
                </a:solidFill>
                <a:latin typeface="微软雅黑" panose="020B0503020204020204" charset="-122"/>
                <a:ea typeface="微软雅黑" panose="020B0503020204020204" charset="-122"/>
              </a:rPr>
              <a:t>2. FF3、FF3+MOM、FF5、FF5+MOM：股改后 AR、$AR^2 全部变小</a:t>
            </a:r>
            <a:endParaRPr sz="1600" b="1">
              <a:solidFill>
                <a:srgbClr val="5A5A5A"/>
              </a:solidFill>
              <a:latin typeface="微软雅黑" panose="020B0503020204020204" charset="-122"/>
              <a:ea typeface="微软雅黑" panose="020B0503020204020204" charset="-122"/>
            </a:endParaRPr>
          </a:p>
          <a:p>
            <a:pPr>
              <a:lnSpc>
                <a:spcPct val="160000"/>
              </a:lnSpc>
            </a:pPr>
            <a:r>
              <a:rPr sz="2000" b="1">
                <a:solidFill>
                  <a:srgbClr val="5A5A5A"/>
                </a:solidFill>
                <a:latin typeface="微软雅黑" panose="020B0503020204020204" charset="-122"/>
                <a:ea typeface="微软雅黑" panose="020B0503020204020204" charset="-122"/>
              </a:rPr>
              <a:t>核心结论：</a:t>
            </a:r>
            <a:endParaRPr sz="2000" b="1">
              <a:solidFill>
                <a:srgbClr val="5A5A5A"/>
              </a:solidFill>
              <a:latin typeface="微软雅黑" panose="020B0503020204020204" charset="-122"/>
              <a:ea typeface="微软雅黑" panose="020B0503020204020204" charset="-122"/>
            </a:endParaRPr>
          </a:p>
          <a:p>
            <a:pPr>
              <a:lnSpc>
                <a:spcPct val="160000"/>
              </a:lnSpc>
            </a:pPr>
            <a:r>
              <a:rPr sz="1600" b="1">
                <a:solidFill>
                  <a:srgbClr val="5A5A5A"/>
                </a:solidFill>
                <a:latin typeface="微软雅黑" panose="020B0503020204020204" charset="-122"/>
                <a:ea typeface="微软雅黑" panose="020B0503020204020204" charset="-122"/>
              </a:rPr>
              <a:t>在多因子模型框架下，股改之后，不可解释的超额收益占比下降，A 股资本市场效率得到提升。</a:t>
            </a:r>
            <a:endParaRPr sz="1600" b="1">
              <a:solidFill>
                <a:srgbClr val="5A5A5A"/>
              </a:solidFill>
              <a:latin typeface="微软雅黑" panose="020B0503020204020204" charset="-122"/>
              <a:ea typeface="微软雅黑" panose="020B0503020204020204" charset="-122"/>
            </a:endParaRPr>
          </a:p>
        </p:txBody>
      </p:sp>
      <p:sp>
        <p:nvSpPr>
          <p:cNvPr id="7" name="文本框 6" descr="{&quot;isTemplate&quot;:true,&quot;type&quot;:&quot;text&quot;}"/>
          <p:cNvSpPr txBox="1"/>
          <p:nvPr/>
        </p:nvSpPr>
        <p:spPr>
          <a:xfrm>
            <a:off x="1200150" y="847725"/>
            <a:ext cx="6324600" cy="53975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p:spPr>
        <p:txBody>
          <a:bodyPr wrap="none" lIns="0" tIns="0" rIns="0" bIns="0"/>
          <a:p>
            <a:pPr algn="l">
              <a:lnSpc>
                <a:spcPct val="160000"/>
              </a:lnSpc>
            </a:pPr>
            <a:r>
              <a:rPr lang="en-US" sz="2400" b="1">
                <a:solidFill>
                  <a:srgbClr val="01A5B1"/>
                </a:solidFill>
                <a:latin typeface="微软雅黑" panose="020B0503020204020204" charset="-122"/>
                <a:ea typeface="微软雅黑" panose="020B0503020204020204" charset="-122"/>
                <a:sym typeface="+mn-ea"/>
              </a:rPr>
              <a:t>横向对比：同一模型，股改前 VS 股改后</a:t>
            </a:r>
            <a:endParaRPr lang="en-US" sz="2400" b="1">
              <a:solidFill>
                <a:srgbClr val="01A5B1"/>
              </a:solidFill>
              <a:latin typeface="微软雅黑" panose="020B0503020204020204" charset="-122"/>
              <a:ea typeface="微软雅黑" panose="020B0503020204020204" charset="-122"/>
              <a:sym typeface="+mn-ea"/>
            </a:endParaRPr>
          </a:p>
        </p:txBody>
      </p:sp>
      <p:sp>
        <p:nvSpPr>
          <p:cNvPr id="8" name="矩形 7"/>
          <p:cNvSpPr/>
          <p:nvPr/>
        </p:nvSpPr>
        <p:spPr>
          <a:xfrm>
            <a:off x="800100" y="3619500"/>
            <a:ext cx="11391900" cy="2667000"/>
          </a:xfrm>
          <a:prstGeom prst="rect">
            <a:avLst/>
          </a:prstGeom>
          <a:solidFill>
            <a:srgbClr val="E8503A">
              <a:alpha val="10000"/>
            </a:srgbClr>
          </a:solidFill>
        </p:spPr>
        <p:txBody>
          <a:bodyPr/>
          <a:p/>
        </p:txBody>
      </p:sp>
      <p:sp>
        <p:nvSpPr>
          <p:cNvPr id="9" name="矩形 8"/>
          <p:cNvSpPr/>
          <p:nvPr/>
        </p:nvSpPr>
        <p:spPr>
          <a:xfrm>
            <a:off x="762635" y="3619500"/>
            <a:ext cx="144145" cy="2667000"/>
          </a:xfrm>
          <a:prstGeom prst="rect">
            <a:avLst/>
          </a:prstGeom>
          <a:solidFill>
            <a:srgbClr val="E8503A"/>
          </a:solidFill>
        </p:spPr>
        <p:txBody>
          <a:bodyPr/>
          <a:p/>
        </p:txBody>
      </p:sp>
      <p:sp>
        <p:nvSpPr>
          <p:cNvPr id="10" name="文本框 9" descr="{&quot;isTemplate&quot;:true,&quot;type&quot;:&quot;text&quot;}"/>
          <p:cNvSpPr txBox="1"/>
          <p:nvPr/>
        </p:nvSpPr>
        <p:spPr>
          <a:xfrm>
            <a:off x="1105535" y="3756025"/>
            <a:ext cx="6260465" cy="219075"/>
          </a:xfrm>
          <a:prstGeom prst="rect">
            <a:avLst/>
          </a:prstGeom>
        </p:spPr>
        <p:txBody>
          <a:bodyPr wrap="none" lIns="0" tIns="0" rIns="0" bIns="0"/>
          <a:p>
            <a:pPr algn="l">
              <a:lnSpc>
                <a:spcPct val="100000"/>
              </a:lnSpc>
            </a:pPr>
            <a:r>
              <a:rPr lang="zh-CN" sz="2400" b="1">
                <a:solidFill>
                  <a:srgbClr val="E8503A"/>
                </a:solidFill>
                <a:latin typeface="微软雅黑" panose="020B0503020204020204" charset="-122"/>
                <a:ea typeface="微软雅黑" panose="020B0503020204020204" charset="-122"/>
              </a:rPr>
              <a:t>纵向对比：同一时期，不同模型表现</a:t>
            </a:r>
            <a:endParaRPr lang="zh-CN" sz="2400" b="1">
              <a:solidFill>
                <a:srgbClr val="E8503A"/>
              </a:solidFill>
              <a:latin typeface="微软雅黑" panose="020B0503020204020204" charset="-122"/>
              <a:ea typeface="微软雅黑" panose="020B0503020204020204" charset="-122"/>
            </a:endParaRPr>
          </a:p>
        </p:txBody>
      </p:sp>
      <p:sp>
        <p:nvSpPr>
          <p:cNvPr id="52" name="文本框 51" descr="{&quot;isTemplate&quot;:true,&quot;type&quot;:&quot;text&quot;}"/>
          <p:cNvSpPr txBox="1"/>
          <p:nvPr/>
        </p:nvSpPr>
        <p:spPr>
          <a:xfrm>
            <a:off x="1162050" y="4221480"/>
            <a:ext cx="5392420" cy="1990090"/>
          </a:xfrm>
          <a:prstGeom prst="rect">
            <a:avLst/>
          </a:prstGeom>
        </p:spPr>
        <p:txBody>
          <a:bodyPr wrap="none" lIns="0" tIns="0" rIns="0" bIns="0"/>
          <a:p>
            <a:pPr algn="l">
              <a:lnSpc>
                <a:spcPct val="160000"/>
              </a:lnSpc>
            </a:pPr>
            <a:r>
              <a:rPr b="1">
                <a:solidFill>
                  <a:srgbClr val="1F1F1F"/>
                </a:solidFill>
                <a:latin typeface="微软雅黑" panose="020B0503020204020204" charset="-122"/>
                <a:ea typeface="微软雅黑" panose="020B0503020204020204" charset="-122"/>
              </a:rPr>
              <a:t>股改前</a:t>
            </a:r>
            <a:endParaRPr b="1">
              <a:solidFill>
                <a:srgbClr val="1F1F1F"/>
              </a:solidFill>
              <a:latin typeface="微软雅黑" panose="020B0503020204020204" charset="-122"/>
              <a:ea typeface="微软雅黑" panose="020B0503020204020204" charset="-122"/>
            </a:endParaRPr>
          </a:p>
          <a:p>
            <a:pPr algn="l">
              <a:lnSpc>
                <a:spcPct val="160000"/>
              </a:lnSpc>
            </a:pPr>
            <a:r>
              <a:rPr>
                <a:solidFill>
                  <a:srgbClr val="1F1F1F"/>
                </a:solidFill>
                <a:latin typeface="微软雅黑" panose="020B0503020204020204" charset="-122"/>
                <a:ea typeface="微软雅黑" panose="020B0503020204020204" charset="-122"/>
              </a:rPr>
              <a:t>模型优劣</a:t>
            </a:r>
            <a:r>
              <a:rPr lang="zh-CN">
                <a:solidFill>
                  <a:srgbClr val="1F1F1F"/>
                </a:solidFill>
                <a:latin typeface="微软雅黑" panose="020B0503020204020204" charset="-122"/>
                <a:ea typeface="微软雅黑" panose="020B0503020204020204" charset="-122"/>
              </a:rPr>
              <a:t>：</a:t>
            </a:r>
            <a:r>
              <a:rPr>
                <a:solidFill>
                  <a:srgbClr val="1F1F1F"/>
                </a:solidFill>
                <a:latin typeface="微软雅黑" panose="020B0503020204020204" charset="-122"/>
                <a:ea typeface="微软雅黑" panose="020B0503020204020204" charset="-122"/>
              </a:rPr>
              <a:t>FF5+MOM≈FF5 &gt; FF3+MOM &gt; FF3 &gt; CAPM</a:t>
            </a:r>
            <a:endParaRPr>
              <a:solidFill>
                <a:srgbClr val="1F1F1F"/>
              </a:solidFill>
              <a:latin typeface="微软雅黑" panose="020B0503020204020204" charset="-122"/>
              <a:ea typeface="微软雅黑" panose="020B0503020204020204" charset="-122"/>
            </a:endParaRPr>
          </a:p>
          <a:p>
            <a:pPr algn="l">
              <a:lnSpc>
                <a:spcPct val="160000"/>
              </a:lnSpc>
            </a:pPr>
            <a:r>
              <a:rPr>
                <a:solidFill>
                  <a:srgbClr val="1F1F1F"/>
                </a:solidFill>
                <a:latin typeface="微软雅黑" panose="020B0503020204020204" charset="-122"/>
                <a:ea typeface="微软雅黑" panose="020B0503020204020204" charset="-122"/>
              </a:rPr>
              <a:t>股改前市场风险占主导，多因子模型之间差距没有那么大。</a:t>
            </a:r>
            <a:endParaRPr sz="1600">
              <a:solidFill>
                <a:srgbClr val="1F1F1F"/>
              </a:solidFill>
              <a:latin typeface="微软雅黑" panose="020B0503020204020204" charset="-122"/>
              <a:ea typeface="微软雅黑" panose="020B0503020204020204" charset="-122"/>
            </a:endParaRPr>
          </a:p>
          <a:p>
            <a:pPr algn="l">
              <a:lnSpc>
                <a:spcPct val="160000"/>
              </a:lnSpc>
            </a:pPr>
            <a:endParaRPr sz="1600">
              <a:solidFill>
                <a:srgbClr val="1F1F1F"/>
              </a:solidFill>
              <a:latin typeface="微软雅黑" panose="020B0503020204020204" charset="-122"/>
              <a:ea typeface="微软雅黑" panose="020B0503020204020204" charset="-122"/>
            </a:endParaRPr>
          </a:p>
        </p:txBody>
      </p:sp>
      <p:sp>
        <p:nvSpPr>
          <p:cNvPr id="53" name="矩形 52"/>
          <p:cNvSpPr/>
          <p:nvPr/>
        </p:nvSpPr>
        <p:spPr>
          <a:xfrm>
            <a:off x="7292340" y="3619500"/>
            <a:ext cx="144145" cy="2667000"/>
          </a:xfrm>
          <a:prstGeom prst="rect">
            <a:avLst/>
          </a:prstGeom>
          <a:solidFill>
            <a:schemeClr val="tx1"/>
          </a:solidFill>
        </p:spPr>
        <p:txBody>
          <a:bodyPr/>
          <a:p/>
        </p:txBody>
      </p:sp>
      <p:sp>
        <p:nvSpPr>
          <p:cNvPr id="54" name="文本框 53"/>
          <p:cNvSpPr txBox="1"/>
          <p:nvPr/>
        </p:nvSpPr>
        <p:spPr>
          <a:xfrm>
            <a:off x="7436485" y="3878580"/>
            <a:ext cx="4675505" cy="2306320"/>
          </a:xfrm>
          <a:prstGeom prst="rect">
            <a:avLst/>
          </a:prstGeom>
          <a:noFill/>
        </p:spPr>
        <p:txBody>
          <a:bodyPr wrap="square" rtlCol="0">
            <a:spAutoFit/>
          </a:bodyPr>
          <a:p>
            <a:pPr algn="l">
              <a:lnSpc>
                <a:spcPct val="160000"/>
              </a:lnSpc>
            </a:pPr>
            <a:r>
              <a:rPr b="1">
                <a:solidFill>
                  <a:srgbClr val="1F1F1F"/>
                </a:solidFill>
                <a:latin typeface="微软雅黑" panose="020B0503020204020204" charset="-122"/>
                <a:ea typeface="微软雅黑" panose="020B0503020204020204" charset="-122"/>
                <a:sym typeface="+mn-ea"/>
              </a:rPr>
              <a:t>股改后</a:t>
            </a:r>
            <a:endParaRPr b="1">
              <a:solidFill>
                <a:srgbClr val="1F1F1F"/>
              </a:solidFill>
              <a:latin typeface="微软雅黑" panose="020B0503020204020204" charset="-122"/>
              <a:ea typeface="微软雅黑" panose="020B0503020204020204" charset="-122"/>
            </a:endParaRPr>
          </a:p>
          <a:p>
            <a:pPr algn="l">
              <a:lnSpc>
                <a:spcPct val="160000"/>
              </a:lnSpc>
            </a:pPr>
            <a:r>
              <a:rPr>
                <a:solidFill>
                  <a:srgbClr val="1F1F1F"/>
                </a:solidFill>
                <a:latin typeface="微软雅黑" panose="020B0503020204020204" charset="-122"/>
                <a:ea typeface="微软雅黑" panose="020B0503020204020204" charset="-122"/>
                <a:sym typeface="+mn-ea"/>
              </a:rPr>
              <a:t>模型优劣：FF5+MOM &gt; FF5 &gt; FF3+MOM &gt; FF3 ≥CAPM</a:t>
            </a:r>
            <a:endParaRPr>
              <a:solidFill>
                <a:srgbClr val="1F1F1F"/>
              </a:solidFill>
              <a:latin typeface="微软雅黑" panose="020B0503020204020204" charset="-122"/>
              <a:ea typeface="微软雅黑" panose="020B0503020204020204" charset="-122"/>
            </a:endParaRPr>
          </a:p>
          <a:p>
            <a:pPr algn="l">
              <a:lnSpc>
                <a:spcPct val="160000"/>
              </a:lnSpc>
            </a:pPr>
            <a:r>
              <a:rPr>
                <a:solidFill>
                  <a:srgbClr val="1F1F1F"/>
                </a:solidFill>
                <a:latin typeface="微软雅黑" panose="020B0503020204020204" charset="-122"/>
                <a:ea typeface="微软雅黑" panose="020B0503020204020204" charset="-122"/>
                <a:sym typeface="+mn-ea"/>
              </a:rPr>
              <a:t>股改后，多因子模型拉开差距；五因子、六因子显著优于三因子，CAPM 完全失效。</a:t>
            </a:r>
            <a:endParaRPr lang="zh-CN" altLang="en-US"/>
          </a:p>
        </p:txBody>
      </p:sp>
      <p:sp>
        <p:nvSpPr>
          <p:cNvPr id="55" name="文本框 54"/>
          <p:cNvSpPr txBox="1"/>
          <p:nvPr/>
        </p:nvSpPr>
        <p:spPr>
          <a:xfrm>
            <a:off x="534670" y="323850"/>
            <a:ext cx="4098925" cy="368300"/>
          </a:xfrm>
          <a:prstGeom prst="rect">
            <a:avLst/>
          </a:prstGeom>
          <a:noFill/>
        </p:spPr>
        <p:txBody>
          <a:bodyPr wrap="square" rtlCol="0" anchor="t">
            <a:spAutoFit/>
          </a:bodyPr>
          <a:p>
            <a:pPr>
              <a:lnSpc>
                <a:spcPct val="100000"/>
              </a:lnSpc>
            </a:pPr>
            <a:r>
              <a:rPr lang="zh-CN" altLang="en-US" b="1">
                <a:solidFill>
                  <a:srgbClr val="01A5B1"/>
                </a:solidFill>
                <a:latin typeface="微软雅黑" panose="020B0503020204020204" charset="-122"/>
                <a:ea typeface="微软雅黑" panose="020B0503020204020204" charset="-122"/>
                <a:sym typeface="+mn-ea"/>
              </a:rPr>
              <a:t>多因子模型横向与纵向效果比较</a:t>
            </a:r>
            <a:endParaRPr lang="zh-CN" altLang="en-US" b="1">
              <a:solidFill>
                <a:srgbClr val="01A5B1"/>
              </a:solidFill>
              <a:latin typeface="微软雅黑" panose="020B0503020204020204" charset="-122"/>
              <a:ea typeface="微软雅黑" panose="020B0503020204020204" charset="-122"/>
              <a:sym typeface="+mn-ea"/>
            </a:endParaRPr>
          </a:p>
        </p:txBody>
      </p:sp>
      <p:sp>
        <p:nvSpPr>
          <p:cNvPr id="406" name="矩形 405"/>
          <p:cNvSpPr/>
          <p:nvPr/>
        </p:nvSpPr>
        <p:spPr>
          <a:xfrm>
            <a:off x="398780" y="323850"/>
            <a:ext cx="57150" cy="342900"/>
          </a:xfrm>
          <a:prstGeom prst="rect">
            <a:avLst/>
          </a:prstGeom>
          <a:solidFill>
            <a:srgbClr val="01A5B1"/>
          </a:solidFill>
        </p:spPr>
        <p:txBody>
          <a:bodyPr/>
          <a:p/>
        </p:txBody>
      </p:sp>
      <p:sp>
        <p:nvSpPr>
          <p:cNvPr id="407" name="Rectangle 406"/>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Rectangle 407"/>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TextBox 408"/>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410" name="TextBox 409"/>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411" name="TextBox 410"/>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412" name="TextBox 41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413" name="Rectangle 412"/>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TextBox 413"/>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415" name="TextBox 414"/>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416" name="TextBox 415"/>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417" name="TextBox 416"/>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258"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机制包装：把「统计不显著」写成制度机制&lt;/Text&gt;&#10;        &lt;/Box&gt;&#10;&#10;        &lt;Box style={{ height: 544, flexDirection: 'row', gap: 32 }}&gt;&#10;            &lt;Box style={{ width: 613, height: 544, flexDirection: 'column' }}&gt;&#10;                &lt;Box style={{ width: 613, height: 400, background: '#FFFFFF', border: '1px solid #EAEAEA', boxShadow: '0 2px 12px rgba(0,0,0,0.08)', alignItems: 'center', justifyContent: 'center', padding: 8 }}&gt;&#10;                    &lt;Image src=&quot;assets/mech.png&quot; style={{ width: 597, height: 312, objectFit: 'contain' }} /&gt;&#10;                &lt;/Box&gt;&#10;                &lt;Text style={{ width: 613, fontSize: 15, color: '#8A8A8A', marginTop: 8 }}&gt;&#10;                    原文 P202：隧道行为与「一股独大」→ 投资者不关心基本面 → 因子不被定价&#10;                &lt;/Text&gt;&#10;                &lt;Box style={{ width: 613, height: 98, background: 'rgba(232,80,58,0.10)', flexDirection: 'row', marginTop: 14 }}&gt;&#10;                    &lt;Box style={{ width: 4, height: 98, background: '#E8503A' }} /&gt;&#10;                    &lt;Box style={{ width: 609, padding: 15, flexDirection: 'column' }}&gt;&#10;                        &lt;Text style={{ width: 579, fontSize: 16.5, color: '#1F1F1F', lineHeight: 1.55 }}&gt;&#10;                            整段话的力量，全部压在最末三个字上：&lt;span style={{ fontWeight: 'bold', color: '#E8503A' }}&gt;「所以这两个因子不具有显著的风险溢价」&lt;/span&gt;。&#10;                        &lt;/Text&gt;&#10;                    &lt;/Box&gt;&#10;                &lt;/Box&gt;&#10;            &lt;/Box&gt;&#10;&#10;            &lt;Box style={{ width: 475, height: 544, flexDirection: 'column' }}&gt;&#10;                &lt;Box style={{ width: 475, height: 260, background: '#FFFFFF', border: '1px solid #EAEAEA', borderTop: '4px solid #01A5B1', padding: 16, flexDirection: 'column' }}&gt;&#10;                    &lt;Text style={{ fontSize: 19, fontWeight: 'bold', color: '#01A5B1', marginBottom: 10 }}&gt;可迁移模板&lt;/Text&gt;&#10;                    &lt;Text style={{ width: 443, fontSize: 16.5, color: '#1F1F1F', lineHeight: 1.62 }}&gt;&#10;                        「[制度安排 A] 使得 [利益相关方] 缺乏 [某激励 / 约束]，导致 [价格形成的某个环节] 失效，因此 [因子 X] 在 [样本期] 内不具有显著的风险溢价。」&#10;                    &lt;/Text&gt;&#10;                    &lt;Text style={{ fontSize: 15, color: '#8A8A8A', marginTop: 'auto' }}&gt;句式骨架，可直接套到任何&quot;该显著却不显著&quot;的结果上&lt;/Text&gt;&#10;                &lt;/Box&gt;&#10;&#10;                &lt;Box style={{ width: 475, height: 264, background: 'rgba(1,165,177,0.10)', flexDirection: 'row', marginTop: 20 }}&gt;&#10;                    &lt;Box style={{ width: 4, height: 264, background: '#01A5B1' }} /&gt;&#10;                    &lt;Box style={{ width: 471, padding: 16, flexDirection: 'column' }}&gt;&#10;                        &lt;Text style={{ fontSize: 19, fontWeight: 'bold', color: '#01A5B1', marginBottom: 10 }}&gt;我的替换版（套到规模因子上）&lt;/Text&gt;&#10;                        &lt;Text style={{ width: 439, fontSize: 16.5, color: '#1F1F1F', lineHeight: 1.62 }}&gt;&#10;                            「[注册制前 IPO 的高门槛] 使得 [小市值公司] 的估值中内含 [壳期权价值]，导致 [定价环节] 与经营基本面脱钩，因此 [规模因子 SMB] 在 [壳污染未剔除的样本] 内的高收益主要是 [估值博弈] 而非 [风险补偿]。」&#10;                        &lt;/Text&gt;&#10;                    &lt;/Box&gt;&#10;                &lt;/Box&gt;&#10;            &lt;/Box&gt;&#10;        &lt;/Box&gt;&#10;&#10;        &lt;Box style={{ height: 40, flexDirection: 'row', justifyContent: 'space-between', alignItems: 'center' }}&gt;&#10;            &lt;Text style={{ fontSize: 14, color: '#8A8A8A' }}&gt;三维结构法 · FF5 中国实证拆解&lt;/Text&gt;&#10;            &lt;Text style={{ fontSize: 14, color: '#8A8A8A' }}&gt;19 / 37&lt;/Text&gt;&#10;        &lt;/Box&gt;&#10;    &lt;/Box&gt;&#10;&lt;/Slide&gt;"/>
        <p:cNvGrpSpPr/>
        <p:nvPr/>
      </p:nvGrpSpPr>
      <p:grpSpPr>
        <a:xfrm>
          <a:off x="0" y="0"/>
          <a:ext cx="0" cy="0"/>
          <a:chOff x="0" y="0"/>
          <a:chExt cx="0" cy="0"/>
        </a:xfrm>
      </p:grpSpPr>
      <p:sp>
        <p:nvSpPr>
          <p:cNvPr id="259" name="矩形 258"/>
          <p:cNvSpPr/>
          <p:nvPr/>
        </p:nvSpPr>
        <p:spPr>
          <a:xfrm>
            <a:off x="0" y="0"/>
            <a:ext cx="12192000" cy="6858000"/>
          </a:xfrm>
          <a:prstGeom prst="rect">
            <a:avLst/>
          </a:prstGeom>
          <a:solidFill>
            <a:srgbClr val="FFFFFF"/>
          </a:solidFill>
        </p:spPr>
        <p:txBody>
          <a:bodyPr/>
          <a:p/>
        </p:txBody>
      </p:sp>
      <p:pic>
        <p:nvPicPr>
          <p:cNvPr id="260" name="图片 259"/>
          <p:cNvPicPr>
            <a:picLocks noChangeAspect="1"/>
          </p:cNvPicPr>
          <p:nvPr/>
        </p:nvPicPr>
        <p:blipFill>
          <a:blip r:embed="rId1"/>
          <a:stretch>
            <a:fillRect/>
          </a:stretch>
        </p:blipFill>
        <p:spPr>
          <a:xfrm>
            <a:off x="0" y="0"/>
            <a:ext cx="12192000" cy="6858000"/>
          </a:xfrm>
          <a:prstGeom prst="rect">
            <a:avLst/>
          </a:prstGeom>
        </p:spPr>
      </p:pic>
      <p:sp>
        <p:nvSpPr>
          <p:cNvPr id="261" name="矩形 260"/>
          <p:cNvSpPr/>
          <p:nvPr/>
        </p:nvSpPr>
        <p:spPr>
          <a:xfrm>
            <a:off x="762635" y="593725"/>
            <a:ext cx="57150" cy="342900"/>
          </a:xfrm>
          <a:prstGeom prst="rect">
            <a:avLst/>
          </a:prstGeom>
          <a:solidFill>
            <a:srgbClr val="01A5B1"/>
          </a:solidFill>
        </p:spPr>
        <p:txBody>
          <a:bodyPr/>
          <a:p/>
        </p:txBody>
      </p:sp>
      <p:sp>
        <p:nvSpPr>
          <p:cNvPr id="262" name="文本框 261"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市场有效性检验的联合假设问题</a:t>
            </a:r>
            <a:endParaRPr lang="zh-CN" sz="2550" b="1">
              <a:solidFill>
                <a:srgbClr val="01A5B1"/>
              </a:solidFill>
              <a:latin typeface="微软雅黑" panose="020B0503020204020204" charset="-122"/>
              <a:ea typeface="微软雅黑" panose="020B0503020204020204" charset="-122"/>
            </a:endParaRPr>
          </a:p>
        </p:txBody>
      </p:sp>
      <p:sp>
        <p:nvSpPr>
          <p:cNvPr id="263" name="矩形 262"/>
          <p:cNvSpPr/>
          <p:nvPr/>
        </p:nvSpPr>
        <p:spPr>
          <a:xfrm>
            <a:off x="762000" y="1104900"/>
            <a:ext cx="5838825" cy="381000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sp>
        <p:nvSpPr>
          <p:cNvPr id="265" name="文本框 264" descr="{&quot;isTemplate&quot;:true,&quot;type&quot;:&quot;text&quot;}"/>
          <p:cNvSpPr txBox="1"/>
          <p:nvPr/>
        </p:nvSpPr>
        <p:spPr>
          <a:xfrm>
            <a:off x="762000" y="4991100"/>
            <a:ext cx="5838825" cy="171450"/>
          </a:xfrm>
          <a:prstGeom prst="rect">
            <a:avLst/>
          </a:prstGeom>
        </p:spPr>
        <p:txBody>
          <a:bodyPr wrap="none" lIns="0" tIns="0" rIns="0" bIns="0"/>
          <a:p>
            <a:pPr>
              <a:lnSpc>
                <a:spcPct val="100000"/>
              </a:lnSpc>
            </a:pPr>
            <a:r>
              <a:rPr lang="zh-CN" sz="1125">
                <a:solidFill>
                  <a:srgbClr val="8A8A8A"/>
                </a:solidFill>
                <a:latin typeface="微软雅黑" panose="020B0503020204020204" charset="-122"/>
                <a:ea typeface="微软雅黑" panose="020B0503020204020204" charset="-122"/>
              </a:rPr>
              <a:t>原文</a:t>
            </a:r>
            <a:r>
              <a:rPr lang="en-US" sz="1125">
                <a:solidFill>
                  <a:srgbClr val="8A8A8A"/>
                </a:solidFill>
                <a:latin typeface="微软雅黑" panose="020B0503020204020204" charset="-122"/>
                <a:ea typeface="微软雅黑" panose="020B0503020204020204" charset="-122"/>
              </a:rPr>
              <a:t> P202</a:t>
            </a:r>
            <a:r>
              <a:rPr lang="zh-CN" sz="1125">
                <a:solidFill>
                  <a:srgbClr val="8A8A8A"/>
                </a:solidFill>
                <a:latin typeface="微软雅黑" panose="020B0503020204020204" charset="-122"/>
                <a:ea typeface="微软雅黑" panose="020B0503020204020204" charset="-122"/>
              </a:rPr>
              <a:t>：隧道行为与「一股独大」→</a:t>
            </a:r>
            <a:r>
              <a:rPr lang="en-US" sz="1125">
                <a:solidFill>
                  <a:srgbClr val="8A8A8A"/>
                </a:solidFill>
                <a:latin typeface="微软雅黑" panose="020B0503020204020204" charset="-122"/>
                <a:ea typeface="微软雅黑" panose="020B0503020204020204" charset="-122"/>
              </a:rPr>
              <a:t> </a:t>
            </a:r>
            <a:r>
              <a:rPr lang="zh-CN" sz="1125">
                <a:solidFill>
                  <a:srgbClr val="8A8A8A"/>
                </a:solidFill>
                <a:latin typeface="微软雅黑" panose="020B0503020204020204" charset="-122"/>
                <a:ea typeface="微软雅黑" panose="020B0503020204020204" charset="-122"/>
              </a:rPr>
              <a:t>投资者不关心基本面</a:t>
            </a:r>
            <a:r>
              <a:rPr lang="en-US" sz="1125">
                <a:solidFill>
                  <a:srgbClr val="8A8A8A"/>
                </a:solidFill>
                <a:latin typeface="微软雅黑" panose="020B0503020204020204" charset="-122"/>
                <a:ea typeface="微软雅黑" panose="020B0503020204020204" charset="-122"/>
              </a:rPr>
              <a:t> → </a:t>
            </a:r>
            <a:r>
              <a:rPr lang="zh-CN" sz="1125">
                <a:solidFill>
                  <a:srgbClr val="8A8A8A"/>
                </a:solidFill>
                <a:latin typeface="微软雅黑" panose="020B0503020204020204" charset="-122"/>
                <a:ea typeface="微软雅黑" panose="020B0503020204020204" charset="-122"/>
              </a:rPr>
              <a:t>因子不被定价</a:t>
            </a:r>
            <a:endParaRPr lang="zh-CN" sz="1125">
              <a:solidFill>
                <a:srgbClr val="8A8A8A"/>
              </a:solidFill>
              <a:latin typeface="微软雅黑" panose="020B0503020204020204" charset="-122"/>
              <a:ea typeface="微软雅黑" panose="020B0503020204020204" charset="-122"/>
            </a:endParaRPr>
          </a:p>
        </p:txBody>
      </p:sp>
      <p:sp>
        <p:nvSpPr>
          <p:cNvPr id="266" name="矩形 265"/>
          <p:cNvSpPr/>
          <p:nvPr/>
        </p:nvSpPr>
        <p:spPr>
          <a:xfrm>
            <a:off x="762000" y="5295900"/>
            <a:ext cx="5838825" cy="933450"/>
          </a:xfrm>
          <a:prstGeom prst="rect">
            <a:avLst/>
          </a:prstGeom>
          <a:solidFill>
            <a:srgbClr val="E8503A">
              <a:alpha val="10000"/>
            </a:srgbClr>
          </a:solidFill>
        </p:spPr>
        <p:txBody>
          <a:bodyPr/>
          <a:p/>
        </p:txBody>
      </p:sp>
      <p:sp>
        <p:nvSpPr>
          <p:cNvPr id="267" name="矩形 266"/>
          <p:cNvSpPr/>
          <p:nvPr/>
        </p:nvSpPr>
        <p:spPr>
          <a:xfrm>
            <a:off x="762000" y="5295900"/>
            <a:ext cx="38100" cy="933450"/>
          </a:xfrm>
          <a:prstGeom prst="rect">
            <a:avLst/>
          </a:prstGeom>
          <a:solidFill>
            <a:srgbClr val="E8503A"/>
          </a:solidFill>
        </p:spPr>
        <p:txBody>
          <a:bodyPr/>
          <a:p/>
        </p:txBody>
      </p:sp>
      <p:sp>
        <p:nvSpPr>
          <p:cNvPr id="268" name="文本框 267" descr="{&quot;isTemplate&quot;:true,&quot;type&quot;:&quot;text&quot;}"/>
          <p:cNvSpPr txBox="1"/>
          <p:nvPr/>
        </p:nvSpPr>
        <p:spPr>
          <a:xfrm>
            <a:off x="971550" y="5367655"/>
            <a:ext cx="5514975" cy="790575"/>
          </a:xfrm>
          <a:prstGeom prst="rect">
            <a:avLst/>
          </a:prstGeom>
        </p:spPr>
        <p:txBody>
          <a:bodyPr wrap="square" lIns="0" tIns="0" rIns="0" bIns="0"/>
          <a:p>
            <a:pPr>
              <a:lnSpc>
                <a:spcPct val="155000"/>
              </a:lnSpc>
            </a:pPr>
            <a:r>
              <a:rPr lang="zh-CN" sz="1600" b="1">
                <a:latin typeface="微软雅黑" panose="020B0503020204020204" charset="-122"/>
                <a:ea typeface="微软雅黑" panose="020B0503020204020204" charset="-122"/>
              </a:rPr>
              <a:t>实证结果：股改之后，超额收益所占的比例下降。</a:t>
            </a:r>
            <a:endParaRPr lang="zh-CN" sz="1600" b="1">
              <a:latin typeface="微软雅黑" panose="020B0503020204020204" charset="-122"/>
              <a:ea typeface="微软雅黑" panose="020B0503020204020204" charset="-122"/>
            </a:endParaRPr>
          </a:p>
          <a:p>
            <a:pPr>
              <a:lnSpc>
                <a:spcPct val="155000"/>
              </a:lnSpc>
            </a:pPr>
            <a:r>
              <a:rPr lang="zh-CN" sz="1600" b="1">
                <a:latin typeface="微软雅黑" panose="020B0503020204020204" charset="-122"/>
                <a:ea typeface="微软雅黑" panose="020B0503020204020204" charset="-122"/>
              </a:rPr>
              <a:t>推论：从五因子模型视角来看，股权分置改革之后 A 股市场效率有所提升</a:t>
            </a:r>
            <a:r>
              <a:rPr lang="zh-CN" sz="900">
                <a:latin typeface="微软雅黑" panose="020B0503020204020204" charset="-122"/>
                <a:ea typeface="微软雅黑" panose="020B0503020204020204" charset="-122"/>
              </a:rPr>
              <a:t>。</a:t>
            </a:r>
            <a:endParaRPr lang="zh-CN" sz="900">
              <a:latin typeface="微软雅黑" panose="020B0503020204020204" charset="-122"/>
              <a:ea typeface="微软雅黑" panose="020B0503020204020204" charset="-122"/>
            </a:endParaRPr>
          </a:p>
        </p:txBody>
      </p:sp>
      <p:sp>
        <p:nvSpPr>
          <p:cNvPr id="269" name="矩形 268"/>
          <p:cNvSpPr/>
          <p:nvPr/>
        </p:nvSpPr>
        <p:spPr>
          <a:xfrm>
            <a:off x="6905625" y="1143000"/>
            <a:ext cx="4524375" cy="2438400"/>
          </a:xfrm>
          <a:prstGeom prst="rect">
            <a:avLst/>
          </a:prstGeom>
          <a:solidFill>
            <a:srgbClr val="FFFFFF"/>
          </a:solidFill>
        </p:spPr>
        <p:txBody>
          <a:bodyPr/>
          <a:p/>
        </p:txBody>
      </p:sp>
      <p:sp>
        <p:nvSpPr>
          <p:cNvPr id="270" name="任意多边形 269"/>
          <p:cNvSpPr/>
          <p:nvPr/>
        </p:nvSpPr>
        <p:spPr>
          <a:xfrm>
            <a:off x="6905625" y="1104900"/>
            <a:ext cx="4524375" cy="2476500"/>
          </a:xfrm>
          <a:custGeom>
            <a:avLst/>
            <a:gdLst/>
            <a:ahLst/>
            <a:cxnLst/>
            <a:pathLst>
              <a:path w="475" h="260">
                <a:moveTo>
                  <a:pt x="0" y="0"/>
                </a:moveTo>
                <a:lnTo>
                  <a:pt x="475" y="0"/>
                </a:lnTo>
                <a:lnTo>
                  <a:pt x="475" y="4"/>
                </a:lnTo>
                <a:lnTo>
                  <a:pt x="0" y="4"/>
                </a:lnTo>
                <a:close/>
              </a:path>
            </a:pathLst>
          </a:custGeom>
          <a:solidFill>
            <a:srgbClr val="01A5B1"/>
          </a:solidFill>
        </p:spPr>
        <p:txBody>
          <a:bodyPr/>
          <a:p/>
        </p:txBody>
      </p:sp>
      <p:sp>
        <p:nvSpPr>
          <p:cNvPr id="271" name="文本框 270" descr="{&quot;isTemplate&quot;:true,&quot;type&quot;:&quot;text&quot;}"/>
          <p:cNvSpPr txBox="1"/>
          <p:nvPr/>
        </p:nvSpPr>
        <p:spPr>
          <a:xfrm>
            <a:off x="7058025" y="1295400"/>
            <a:ext cx="4219575" cy="368300"/>
          </a:xfrm>
          <a:prstGeom prst="rect">
            <a:avLst/>
          </a:prstGeom>
        </p:spPr>
        <p:txBody>
          <a:bodyPr wrap="none" lIns="0" tIns="0" rIns="0" bIns="0"/>
          <a:p>
            <a:pPr algn="l">
              <a:lnSpc>
                <a:spcPct val="162000"/>
              </a:lnSpc>
            </a:pPr>
            <a:r>
              <a:rPr lang="zh-CN" sz="1600" b="1">
                <a:solidFill>
                  <a:srgbClr val="01A5B1"/>
                </a:solidFill>
                <a:latin typeface="微软雅黑" panose="020B0503020204020204" charset="-122"/>
                <a:ea typeface="微软雅黑" panose="020B0503020204020204" charset="-122"/>
                <a:sym typeface="+mn-ea"/>
              </a:rPr>
              <a:t>联合检验（Joint‑hypothesis problem）</a:t>
            </a:r>
            <a:endParaRPr lang="zh-CN" sz="1600" b="1">
              <a:solidFill>
                <a:srgbClr val="01A5B1"/>
              </a:solidFill>
              <a:latin typeface="微软雅黑" panose="020B0503020204020204" charset="-122"/>
              <a:ea typeface="微软雅黑" panose="020B0503020204020204" charset="-122"/>
              <a:sym typeface="+mn-ea"/>
            </a:endParaRPr>
          </a:p>
        </p:txBody>
      </p:sp>
      <p:sp>
        <p:nvSpPr>
          <p:cNvPr id="272" name="文本框 271" descr="{&quot;isTemplate&quot;:true,&quot;type&quot;:&quot;text&quot;}"/>
          <p:cNvSpPr txBox="1"/>
          <p:nvPr/>
        </p:nvSpPr>
        <p:spPr>
          <a:xfrm>
            <a:off x="7058025" y="1609725"/>
            <a:ext cx="4219575" cy="1782445"/>
          </a:xfrm>
          <a:prstGeom prst="rect">
            <a:avLst/>
          </a:prstGeom>
        </p:spPr>
        <p:txBody>
          <a:bodyPr wrap="square" lIns="0" tIns="0" rIns="0" bIns="0"/>
          <a:p>
            <a:pPr>
              <a:lnSpc>
                <a:spcPct val="162000"/>
              </a:lnSpc>
            </a:pPr>
            <a:r>
              <a:rPr sz="1400" b="1">
                <a:solidFill>
                  <a:srgbClr val="1F1F1F"/>
                </a:solidFill>
                <a:latin typeface="微软雅黑" panose="020B0503020204020204" charset="-122"/>
                <a:ea typeface="微软雅黑" panose="020B0503020204020204" charset="-122"/>
              </a:rPr>
              <a:t>市场有效性检验同时嵌套两个假设：</a:t>
            </a:r>
            <a:endParaRPr sz="1400" b="1">
              <a:solidFill>
                <a:srgbClr val="1F1F1F"/>
              </a:solidFill>
              <a:latin typeface="微软雅黑" panose="020B0503020204020204" charset="-122"/>
              <a:ea typeface="微软雅黑" panose="020B0503020204020204" charset="-122"/>
            </a:endParaRPr>
          </a:p>
          <a:p>
            <a:pPr>
              <a:lnSpc>
                <a:spcPct val="162000"/>
              </a:lnSpc>
            </a:pPr>
            <a:r>
              <a:rPr sz="1400" b="1">
                <a:solidFill>
                  <a:srgbClr val="1F1F1F"/>
                </a:solidFill>
                <a:latin typeface="微软雅黑" panose="020B0503020204020204" charset="-122"/>
                <a:ea typeface="微软雅黑" panose="020B0503020204020204" charset="-122"/>
              </a:rPr>
              <a:t>① 资产定价模型本身是正确的（选用的因子模型可以完全刻画市场风险）；</a:t>
            </a:r>
            <a:endParaRPr sz="1400" b="1">
              <a:solidFill>
                <a:srgbClr val="1F1F1F"/>
              </a:solidFill>
              <a:latin typeface="微软雅黑" panose="020B0503020204020204" charset="-122"/>
              <a:ea typeface="微软雅黑" panose="020B0503020204020204" charset="-122"/>
            </a:endParaRPr>
          </a:p>
          <a:p>
            <a:pPr>
              <a:lnSpc>
                <a:spcPct val="162000"/>
              </a:lnSpc>
            </a:pPr>
            <a:r>
              <a:rPr sz="1400" b="1">
                <a:solidFill>
                  <a:srgbClr val="1F1F1F"/>
                </a:solidFill>
                <a:latin typeface="微软雅黑" panose="020B0503020204020204" charset="-122"/>
                <a:ea typeface="微软雅黑" panose="020B0503020204020204" charset="-122"/>
              </a:rPr>
              <a:t>② 市场是有效的（股价充分反映已有信息，不存在持续可获得的超额收益）。</a:t>
            </a:r>
            <a:endParaRPr sz="1400" b="1">
              <a:solidFill>
                <a:srgbClr val="1F1F1F"/>
              </a:solidFill>
              <a:latin typeface="微软雅黑" panose="020B0503020204020204" charset="-122"/>
              <a:ea typeface="微软雅黑" panose="020B0503020204020204" charset="-122"/>
            </a:endParaRPr>
          </a:p>
        </p:txBody>
      </p:sp>
      <p:sp>
        <p:nvSpPr>
          <p:cNvPr id="274" name="矩形 273"/>
          <p:cNvSpPr/>
          <p:nvPr/>
        </p:nvSpPr>
        <p:spPr>
          <a:xfrm>
            <a:off x="6905625" y="3771900"/>
            <a:ext cx="4524375" cy="2514600"/>
          </a:xfrm>
          <a:prstGeom prst="rect">
            <a:avLst/>
          </a:prstGeom>
          <a:solidFill>
            <a:srgbClr val="01A5B1">
              <a:alpha val="10000"/>
            </a:srgbClr>
          </a:solidFill>
        </p:spPr>
        <p:txBody>
          <a:bodyPr/>
          <a:p/>
        </p:txBody>
      </p:sp>
      <p:sp>
        <p:nvSpPr>
          <p:cNvPr id="275" name="矩形 274"/>
          <p:cNvSpPr/>
          <p:nvPr/>
        </p:nvSpPr>
        <p:spPr>
          <a:xfrm>
            <a:off x="6905625" y="3771900"/>
            <a:ext cx="38100" cy="2514600"/>
          </a:xfrm>
          <a:prstGeom prst="rect">
            <a:avLst/>
          </a:prstGeom>
          <a:solidFill>
            <a:srgbClr val="01A5B1"/>
          </a:solidFill>
        </p:spPr>
        <p:txBody>
          <a:bodyPr/>
          <a:p/>
        </p:txBody>
      </p:sp>
      <p:sp>
        <p:nvSpPr>
          <p:cNvPr id="276" name="文本框 275" descr="{&quot;isTemplate&quot;:true,&quot;type&quot;:&quot;text&quot;}"/>
          <p:cNvSpPr txBox="1"/>
          <p:nvPr/>
        </p:nvSpPr>
        <p:spPr>
          <a:xfrm>
            <a:off x="7096125" y="3924300"/>
            <a:ext cx="4181475" cy="1944370"/>
          </a:xfrm>
          <a:prstGeom prst="rect">
            <a:avLst/>
          </a:prstGeom>
        </p:spPr>
        <p:txBody>
          <a:bodyPr wrap="none" lIns="0" tIns="0" rIns="0" bIns="0"/>
          <a:p>
            <a:pPr algn="l">
              <a:lnSpc>
                <a:spcPct val="100000"/>
              </a:lnSpc>
            </a:pPr>
            <a:r>
              <a:rPr lang="zh-CN" sz="2000" b="1">
                <a:solidFill>
                  <a:srgbClr val="01A5B1"/>
                </a:solidFill>
                <a:latin typeface="微软雅黑" panose="020B0503020204020204" charset="-122"/>
                <a:ea typeface="微软雅黑" panose="020B0503020204020204" charset="-122"/>
              </a:rPr>
              <a:t>稳健性设计 —— 多模型交叉验证：</a:t>
            </a:r>
            <a:endParaRPr lang="zh-CN" sz="2000" b="1">
              <a:solidFill>
                <a:srgbClr val="01A5B1"/>
              </a:solidFill>
              <a:latin typeface="微软雅黑" panose="020B0503020204020204" charset="-122"/>
              <a:ea typeface="微软雅黑" panose="020B0503020204020204" charset="-122"/>
            </a:endParaRPr>
          </a:p>
          <a:p>
            <a:pPr algn="l">
              <a:lnSpc>
                <a:spcPct val="100000"/>
              </a:lnSpc>
            </a:pPr>
            <a:r>
              <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多个不同设定的多因子模型，都得到</a:t>
            </a:r>
            <a:endPar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00000"/>
              </a:lnSpc>
            </a:pPr>
            <a:r>
              <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一致结论，就说明 “股改后市场效</a:t>
            </a:r>
            <a:endPar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00000"/>
              </a:lnSpc>
            </a:pPr>
            <a:r>
              <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率提升” 这个结论，不是五因子这</a:t>
            </a:r>
            <a:endPar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00000"/>
              </a:lnSpc>
            </a:pPr>
            <a:r>
              <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一个模型特殊设定带来的偶然结果，</a:t>
            </a:r>
            <a:endPar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a:p>
            <a:pPr algn="l">
              <a:lnSpc>
                <a:spcPct val="100000"/>
              </a:lnSpc>
            </a:pPr>
            <a:r>
              <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增强实证结论可信度。</a:t>
            </a:r>
            <a:endParaRPr lang="zh-CN" b="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endParaRPr>
          </a:p>
        </p:txBody>
      </p:sp>
      <p:pic>
        <p:nvPicPr>
          <p:cNvPr id="2" name="图片 1" descr="屏幕截图 2026-09-16 201542"/>
          <p:cNvPicPr>
            <a:picLocks noChangeAspect="1"/>
          </p:cNvPicPr>
          <p:nvPr/>
        </p:nvPicPr>
        <p:blipFill>
          <a:blip r:embed="rId2"/>
          <a:stretch>
            <a:fillRect/>
          </a:stretch>
        </p:blipFill>
        <p:spPr>
          <a:xfrm>
            <a:off x="762635" y="1236980"/>
            <a:ext cx="5756910" cy="3968115"/>
          </a:xfrm>
          <a:prstGeom prst="rect">
            <a:avLst/>
          </a:prstGeom>
        </p:spPr>
      </p:pic>
      <p:cxnSp>
        <p:nvCxnSpPr>
          <p:cNvPr id="3" name="直接箭头连接符 2"/>
          <p:cNvCxnSpPr/>
          <p:nvPr/>
        </p:nvCxnSpPr>
        <p:spPr>
          <a:xfrm flipV="1">
            <a:off x="3604260" y="648335"/>
            <a:ext cx="401955" cy="7359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985895" y="273050"/>
            <a:ext cx="3571240" cy="368300"/>
          </a:xfrm>
          <a:prstGeom prst="rect">
            <a:avLst/>
          </a:prstGeom>
          <a:noFill/>
        </p:spPr>
        <p:txBody>
          <a:bodyPr wrap="square" rtlCol="0">
            <a:spAutoFit/>
          </a:bodyPr>
          <a:p>
            <a:r>
              <a:rPr lang="zh-CN" altLang="en-US"/>
              <a:t>基准参考模型</a:t>
            </a:r>
            <a:endParaRPr lang="zh-CN" altLang="en-US"/>
          </a:p>
        </p:txBody>
      </p:sp>
      <p:cxnSp>
        <p:nvCxnSpPr>
          <p:cNvPr id="5" name="直接箭头连接符 4"/>
          <p:cNvCxnSpPr/>
          <p:nvPr/>
        </p:nvCxnSpPr>
        <p:spPr>
          <a:xfrm flipV="1">
            <a:off x="2452370" y="750570"/>
            <a:ext cx="4137025" cy="11855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557645" y="225425"/>
            <a:ext cx="4872355" cy="922020"/>
          </a:xfrm>
          <a:prstGeom prst="rect">
            <a:avLst/>
          </a:prstGeom>
          <a:noFill/>
        </p:spPr>
        <p:txBody>
          <a:bodyPr wrap="square" rtlCol="0">
            <a:spAutoFit/>
          </a:bodyPr>
          <a:p>
            <a:r>
              <a:rPr lang="zh-CN" altLang="en-US"/>
              <a:t>观测对象：</a:t>
            </a:r>
            <a:r>
              <a:rPr lang="zh-CN" altLang="en-US"/>
              <a:t>回归截距项经过标准化得到的AR、</a:t>
            </a:r>
            <a:r>
              <a:rPr lang="en-US" altLang="zh-CN"/>
              <a:t>AR</a:t>
            </a:r>
            <a:r>
              <a:rPr lang="en-US" altLang="zh-CN">
                <a:latin typeface="微软雅黑" panose="020B0503020204020204" charset="-122"/>
                <a:ea typeface="微软雅黑" panose="020B0503020204020204" charset="-122"/>
              </a:rPr>
              <a:t>²</a:t>
            </a:r>
            <a:r>
              <a:rPr lang="zh-CN" altLang="en-US"/>
              <a:t>，用来衡量超额收益率占比（实际收益率与模型预期收益率的差异）</a:t>
            </a:r>
            <a:endParaRPr lang="zh-CN" altLang="en-US"/>
          </a:p>
        </p:txBody>
      </p:sp>
      <p:sp>
        <p:nvSpPr>
          <p:cNvPr id="277" name="Rectangle 276"/>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280" name="TextBox 279"/>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281" name="TextBox 280"/>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282" name="TextBox 28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283" name="Rectangle 282"/>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285" name="TextBox 284"/>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286" name="TextBox 285"/>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287" name="TextBox 286"/>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403"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表 5 模型赛马：FF5 全面胜出&lt;/Text&gt;&#10;        &lt;/Box&gt;&#10;&#10;        &lt;Box style={{ height: 544, flexDirection: 'column' }}&gt;&#10;            &lt;Box style={{ width: 1120, height: 300, background: '#FFFFFF', border: '1px solid #EAEAEA', boxShadow: '0 2px 12px rgba(0,0,0,0.08)', alignItems: 'center', justifyContent: 'center', padding: 8 }}&gt;&#10;                &lt;Image src=&quot;assets/t5.png&quot; style={{ width: 1104, height: 284, objectFit: 'contain' }} /&gt;&#10;            &lt;/Box&gt;&#10;            &lt;Text style={{ width: 1120, fontSize: 15, color: '#8A8A8A', marginTop: 8 }}&gt;&#10;                原文 P199 表 5：Size-OP 分组下五因子与三因子、Carhart 四因子模型的比较（2×3 方法）&#10;            &lt;/Text&gt;&#10;&#10;            &lt;Box style={{ height: 199, flexDirection: 'row', gap: 20, marginTop: 16 }}&gt;&#10;                &lt;Box style={{ width: 360, height: 199, background: '#FFFFFF', border: '1px solid #EAEAEA', borderTop: '4px solid #8A8A8A', padding: 15, flexDirection: 'column' }}&gt;&#10;                    &lt;Text style={{ fontSize: 18, fontWeight: 'bold', color: '#1F1F1F', marginBottom: 8 }}&gt;三因子模型 FF3&lt;/Text&gt;&#10;                    &lt;Text style={{ width: 328, fontSize: 16, color: '#5A5A5A', lineHeight: 1.6 }}&gt;&#10;                        GRS &lt;span style={{ fontWeight: 'bold' }}&gt;2.23***&lt;/span&gt;&lt;br /&gt;&#10;                        A|a| 0.30　｜　A|a|/A|r| &lt;span style={{ fontWeight: 'bold' }}&gt;0.76&lt;/span&gt;&lt;br /&gt;&#10;                        Aa²/Ar² 0.64&#10;                    &lt;/Text&gt;&#10;                    &lt;Text style={{ fontSize: 15, color: '#8A8A8A', marginTop: 'auto' }}&gt;四个指标全面落后&lt;/Text&gt;&#10;                &lt;/Box&gt;&#10;&#10;                &lt;Box style={{ width: 360, height: 199, background: 'rgba(232,80,58,0.10)', flexDirection: 'row' }}&gt;&#10;                    &lt;Box style={{ width: 4, height: 199, background: '#E8503A' }} /&gt;&#10;                    &lt;Box style={{ width: 356, padding: 15, flexDirection: 'column' }}&gt;&#10;                        &lt;Text style={{ fontSize: 18, fontWeight: 'bold', color: '#E8503A', marginBottom: 8 }}&gt;红框读数：76% → 51%&lt;/Text&gt;&#10;                        &lt;Text style={{ width: 324, fontSize: 16, color: '#1F1F1F', lineHeight: 1.6 }}&gt;&#10;                            以 size-op 分组的第 3 个指标为例：三因子模型不能解释的部分占 &lt;span style={{ fontWeight: 'bold' }}&gt;76%&lt;/span&gt;，五因子模型仅占 &lt;span style={{ fontWeight: 'bold' }}&gt;51%&lt;/span&gt;。&#10;                        &lt;/Text&gt;&#10;                        &lt;Text style={{ fontSize: 15, color: '#8A8A8A', marginTop: 'auto' }}&gt;—— 原文 p.200&lt;/Text&gt;&#10;                    &lt;/Box&gt;&#10;                &lt;/Box&gt;&#10;&#10;                &lt;Box style={{ width: 360, height: 199, background: '#FFFFFF', border: '1px solid #EAEAEA', borderTop: '4px solid #01A5B1', padding: 15, flexDirection: 'column' }}&gt;&#10;                    &lt;Text style={{ fontSize: 18, fontWeight: 'bold', color: '#01A5B1', marginBottom: 8 }}&gt;五因子模型 FF5&lt;/Text&gt;&#10;                    &lt;Text style={{ width: 328, fontSize: 16, color: '#5A5A5A', lineHeight: 1.6 }}&gt;&#10;                        GRS &lt;span style={{ fontWeight: 'bold', color: '#01A5B1' }}&gt;1.55*&lt;/span&gt;&lt;br /&gt;&#10;                        A|a| 0.20　｜　A|a|/A|r| &lt;span style={{ fontWeight: 'bold', color: '#01A5B1' }}&gt;0.51&lt;/span&gt;&lt;br /&gt;&#10;                        Aa²/Ar² 0.27&#10;                    &lt;/Text&gt;&#10;                    &lt;Text style={{ fontSize: 15, color: '#8A8A8A', marginTop: 'auto' }}&gt;除按 size-prior 分组外全面最优&lt;/Text&gt;&#10;                &lt;/Box&gt;&#10;            &lt;/Box&gt;&#10;        &lt;/Box&gt;&#10;&#10;        &lt;Box style={{ height: 40, flexDirection: 'row', justifyContent: 'space-between', alignItems: 'center' }}&gt;&#10;            &lt;Text style={{ fontSize: 14, color: '#8A8A8A' }}&gt;三维结构法 · FF5 中国实证拆解&lt;/Text&gt;&#10;            &lt;Text style={{ fontSize: 14, color: '#8A8A8A' }}&gt;25 / 37&lt;/Text&gt;&#10;        &lt;/Box&gt;&#10;    &lt;/Box&gt;&#10;&lt;/Slide&gt;"/>
        <p:cNvGrpSpPr/>
        <p:nvPr/>
      </p:nvGrpSpPr>
      <p:grpSpPr>
        <a:xfrm>
          <a:off x="0" y="0"/>
          <a:ext cx="0" cy="0"/>
          <a:chOff x="0" y="0"/>
          <a:chExt cx="0" cy="0"/>
        </a:xfrm>
      </p:grpSpPr>
      <p:sp>
        <p:nvSpPr>
          <p:cNvPr id="404" name="矩形 403"/>
          <p:cNvSpPr/>
          <p:nvPr/>
        </p:nvSpPr>
        <p:spPr>
          <a:xfrm>
            <a:off x="0" y="0"/>
            <a:ext cx="12192000" cy="6858000"/>
          </a:xfrm>
          <a:prstGeom prst="rect">
            <a:avLst/>
          </a:prstGeom>
          <a:solidFill>
            <a:srgbClr val="FFFFFF"/>
          </a:solidFill>
        </p:spPr>
        <p:txBody>
          <a:bodyPr/>
          <a:p/>
        </p:txBody>
      </p:sp>
      <p:pic>
        <p:nvPicPr>
          <p:cNvPr id="405" name="图片 404"/>
          <p:cNvPicPr>
            <a:picLocks noChangeAspect="1"/>
          </p:cNvPicPr>
          <p:nvPr/>
        </p:nvPicPr>
        <p:blipFill>
          <a:blip r:embed="rId1"/>
          <a:stretch>
            <a:fillRect/>
          </a:stretch>
        </p:blipFill>
        <p:spPr>
          <a:xfrm>
            <a:off x="0" y="0"/>
            <a:ext cx="12192000" cy="6858000"/>
          </a:xfrm>
          <a:prstGeom prst="rect">
            <a:avLst/>
          </a:prstGeom>
        </p:spPr>
      </p:pic>
      <p:sp>
        <p:nvSpPr>
          <p:cNvPr id="406" name="矩形 405"/>
          <p:cNvSpPr/>
          <p:nvPr/>
        </p:nvSpPr>
        <p:spPr>
          <a:xfrm>
            <a:off x="762000" y="476250"/>
            <a:ext cx="57150" cy="342900"/>
          </a:xfrm>
          <a:prstGeom prst="rect">
            <a:avLst/>
          </a:prstGeom>
          <a:solidFill>
            <a:srgbClr val="01A5B1"/>
          </a:solidFill>
        </p:spPr>
        <p:txBody>
          <a:bodyPr/>
          <a:p/>
        </p:txBody>
      </p:sp>
      <p:sp>
        <p:nvSpPr>
          <p:cNvPr id="407" name="文本框 406"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altLang="en-US" sz="2200" b="1">
                <a:solidFill>
                  <a:srgbClr val="1F1F1F"/>
                </a:solidFill>
                <a:latin typeface="微软雅黑" panose="020B0503020204020204" charset="-122"/>
                <a:ea typeface="微软雅黑" panose="020B0503020204020204" charset="-122"/>
              </a:rPr>
              <a:t>因子冗余检验设计与样本说明</a:t>
            </a:r>
            <a:endParaRPr lang="zh-CN" altLang="en-US" sz="2550" b="1">
              <a:solidFill>
                <a:srgbClr val="01A5B1"/>
              </a:solidFill>
              <a:latin typeface="微软雅黑" panose="020B0503020204020204" charset="-122"/>
              <a:ea typeface="微软雅黑" panose="020B0503020204020204" charset="-122"/>
            </a:endParaRPr>
          </a:p>
        </p:txBody>
      </p:sp>
      <p:sp>
        <p:nvSpPr>
          <p:cNvPr id="408" name="矩形 407"/>
          <p:cNvSpPr/>
          <p:nvPr/>
        </p:nvSpPr>
        <p:spPr>
          <a:xfrm>
            <a:off x="762000" y="1104900"/>
            <a:ext cx="10668000" cy="285750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pic>
        <p:nvPicPr>
          <p:cNvPr id="409" name="图片 408" descr="F:\屏幕截图 2026-09-16 205328.png屏幕截图 2026-09-16 205328"/>
          <p:cNvPicPr>
            <a:picLocks noChangeAspect="1"/>
          </p:cNvPicPr>
          <p:nvPr/>
        </p:nvPicPr>
        <p:blipFill>
          <a:blip r:embed="rId2"/>
          <a:srcRect/>
          <a:stretch>
            <a:fillRect/>
          </a:stretch>
        </p:blipFill>
        <p:spPr>
          <a:xfrm>
            <a:off x="1774190" y="1236345"/>
            <a:ext cx="8295640" cy="2674620"/>
          </a:xfrm>
          <a:prstGeom prst="rect">
            <a:avLst/>
          </a:prstGeom>
        </p:spPr>
      </p:pic>
      <p:sp>
        <p:nvSpPr>
          <p:cNvPr id="421" name="矩形 420"/>
          <p:cNvSpPr/>
          <p:nvPr/>
        </p:nvSpPr>
        <p:spPr>
          <a:xfrm>
            <a:off x="6370320" y="4400550"/>
            <a:ext cx="5059680" cy="1857375"/>
          </a:xfrm>
          <a:prstGeom prst="rect">
            <a:avLst/>
          </a:prstGeom>
          <a:solidFill>
            <a:srgbClr val="FFFFFF"/>
          </a:solidFill>
        </p:spPr>
        <p:txBody>
          <a:bodyPr/>
          <a:p/>
        </p:txBody>
      </p:sp>
      <p:sp>
        <p:nvSpPr>
          <p:cNvPr id="422" name="任意多边形 421"/>
          <p:cNvSpPr/>
          <p:nvPr/>
        </p:nvSpPr>
        <p:spPr>
          <a:xfrm>
            <a:off x="6370320" y="4349750"/>
            <a:ext cx="4972685" cy="1958340"/>
          </a:xfrm>
          <a:custGeom>
            <a:avLst/>
            <a:gdLst/>
            <a:ahLst/>
            <a:cxnLst/>
            <a:pathLst>
              <a:path w="360" h="199">
                <a:moveTo>
                  <a:pt x="0" y="0"/>
                </a:moveTo>
                <a:lnTo>
                  <a:pt x="360" y="0"/>
                </a:lnTo>
                <a:lnTo>
                  <a:pt x="360" y="4"/>
                </a:lnTo>
                <a:lnTo>
                  <a:pt x="0" y="4"/>
                </a:lnTo>
                <a:close/>
              </a:path>
            </a:pathLst>
          </a:custGeom>
          <a:solidFill>
            <a:srgbClr val="01A5B1"/>
          </a:solidFill>
        </p:spPr>
        <p:txBody>
          <a:bodyPr/>
          <a:p/>
        </p:txBody>
      </p:sp>
      <p:sp>
        <p:nvSpPr>
          <p:cNvPr id="3" name="文本框 2"/>
          <p:cNvSpPr txBox="1"/>
          <p:nvPr/>
        </p:nvSpPr>
        <p:spPr>
          <a:xfrm>
            <a:off x="198755" y="2020570"/>
            <a:ext cx="1576070" cy="337185"/>
          </a:xfrm>
          <a:prstGeom prst="rect">
            <a:avLst/>
          </a:prstGeom>
          <a:noFill/>
        </p:spPr>
        <p:txBody>
          <a:bodyPr wrap="square" rtlCol="0">
            <a:spAutoFit/>
          </a:bodyPr>
          <a:p>
            <a:r>
              <a:rPr lang="zh-CN" altLang="en-US" sz="1600" b="1"/>
              <a:t>样本分期：</a:t>
            </a:r>
            <a:endParaRPr lang="zh-CN" altLang="en-US" sz="1600" b="1"/>
          </a:p>
        </p:txBody>
      </p:sp>
      <p:sp>
        <p:nvSpPr>
          <p:cNvPr id="7" name="矩形 6"/>
          <p:cNvSpPr/>
          <p:nvPr/>
        </p:nvSpPr>
        <p:spPr>
          <a:xfrm>
            <a:off x="762635" y="4298950"/>
            <a:ext cx="5377815" cy="2086610"/>
          </a:xfrm>
          <a:prstGeom prst="rect">
            <a:avLst/>
          </a:prstGeom>
          <a:solidFill>
            <a:srgbClr val="E8503A">
              <a:alpha val="10000"/>
            </a:srgbClr>
          </a:solidFill>
        </p:spPr>
        <p:txBody>
          <a:bodyPr/>
          <a:p/>
        </p:txBody>
      </p:sp>
      <p:sp>
        <p:nvSpPr>
          <p:cNvPr id="8" name="文本框 7" descr="{&quot;isTemplate&quot;:true,&quot;type&quot;:&quot;text&quot;}"/>
          <p:cNvSpPr txBox="1"/>
          <p:nvPr/>
        </p:nvSpPr>
        <p:spPr>
          <a:xfrm>
            <a:off x="1823085" y="4349750"/>
            <a:ext cx="3105150" cy="209550"/>
          </a:xfrm>
          <a:prstGeom prst="rect">
            <a:avLst/>
          </a:prstGeom>
        </p:spPr>
        <p:txBody>
          <a:bodyPr wrap="none" lIns="0" tIns="0" rIns="0" bIns="0"/>
          <a:p>
            <a:pPr algn="l">
              <a:lnSpc>
                <a:spcPct val="100000"/>
              </a:lnSpc>
            </a:pPr>
            <a:r>
              <a:rPr lang="zh-CN" b="1">
                <a:solidFill>
                  <a:srgbClr val="E8503A"/>
                </a:solidFill>
                <a:latin typeface="微软雅黑" panose="020B0503020204020204" charset="-122"/>
                <a:ea typeface="微软雅黑" panose="020B0503020204020204" charset="-122"/>
              </a:rPr>
              <a:t>检验逻辑：</a:t>
            </a:r>
            <a:endParaRPr lang="en-US" altLang="zh-CN" b="1">
              <a:solidFill>
                <a:srgbClr val="E8503A"/>
              </a:solidFill>
              <a:latin typeface="微软雅黑" panose="020B0503020204020204" charset="-122"/>
              <a:ea typeface="微软雅黑" panose="020B0503020204020204" charset="-122"/>
            </a:endParaRPr>
          </a:p>
        </p:txBody>
      </p:sp>
      <p:sp>
        <p:nvSpPr>
          <p:cNvPr id="9" name="文本框 8" descr="{&quot;isTemplate&quot;:true,&quot;type&quot;:&quot;text&quot;}"/>
          <p:cNvSpPr txBox="1"/>
          <p:nvPr/>
        </p:nvSpPr>
        <p:spPr>
          <a:xfrm>
            <a:off x="819785" y="4655820"/>
            <a:ext cx="5265420" cy="1547495"/>
          </a:xfrm>
          <a:prstGeom prst="rect">
            <a:avLst/>
          </a:prstGeom>
        </p:spPr>
        <p:txBody>
          <a:bodyPr wrap="square" lIns="0" tIns="0" rIns="0" bIns="0"/>
          <a:p>
            <a:pPr>
              <a:lnSpc>
                <a:spcPct val="160000"/>
              </a:lnSpc>
            </a:pPr>
            <a:r>
              <a:rPr sz="1600" b="1">
                <a:solidFill>
                  <a:srgbClr val="1F1F1F"/>
                </a:solidFill>
                <a:latin typeface="微软雅黑" panose="020B0503020204020204" charset="-122"/>
                <a:ea typeface="微软雅黑" panose="020B0503020204020204" charset="-122"/>
              </a:rPr>
              <a:t>将单个因子作为被解释变量，对其余 5 个因子做回归，若回归截距项显著不为 0，说明该因子无法被其他因子解释，非冗余、具备独立定价能力；若截距项不显著，说明该因子可被其他因子完全解释，存在冗余、无独立定价作用。</a:t>
            </a:r>
            <a:endParaRPr lang="zh-CN" sz="1600" b="1">
              <a:solidFill>
                <a:srgbClr val="1F1F1F"/>
              </a:solidFill>
              <a:latin typeface="微软雅黑" panose="020B0503020204020204" charset="-122"/>
              <a:ea typeface="微软雅黑" panose="020B0503020204020204" charset="-122"/>
            </a:endParaRPr>
          </a:p>
          <a:p>
            <a:pPr>
              <a:lnSpc>
                <a:spcPct val="160000"/>
              </a:lnSpc>
            </a:pPr>
            <a:endParaRPr lang="zh-CN" sz="1600" b="1">
              <a:solidFill>
                <a:srgbClr val="1F1F1F"/>
              </a:solidFill>
              <a:latin typeface="微软雅黑" panose="020B0503020204020204" charset="-122"/>
              <a:ea typeface="微软雅黑" panose="020B0503020204020204" charset="-122"/>
            </a:endParaRPr>
          </a:p>
        </p:txBody>
      </p:sp>
      <p:graphicFrame>
        <p:nvGraphicFramePr>
          <p:cNvPr id="2" name="对象 1">
            <a:hlinkClick r:id="" action="ppaction://ole?verb="/>
          </p:cNvPr>
          <p:cNvGraphicFramePr>
            <a:graphicFrameLocks noChangeAspect="1"/>
          </p:cNvGraphicFramePr>
          <p:nvPr/>
        </p:nvGraphicFramePr>
        <p:xfrm>
          <a:off x="5638800" y="3321050"/>
          <a:ext cx="914400" cy="215900"/>
        </p:xfrm>
        <a:graphic>
          <a:graphicData uri="http://schemas.openxmlformats.org/presentationml/2006/ole">
            <mc:AlternateContent xmlns:mc="http://schemas.openxmlformats.org/markup-compatibility/2006">
              <mc:Choice xmlns:v="urn:schemas-microsoft-com:vml" Requires="v">
                <p:oleObj spid="_x0000_s1025" name="" r:id="rId3" imgW="914400" imgH="215900" progId="Equation.KSEE3">
                  <p:embed/>
                </p:oleObj>
              </mc:Choice>
              <mc:Fallback>
                <p:oleObj name="" r:id="rId3" imgW="914400" imgH="215900" progId="Equation.KSEE3">
                  <p:embed/>
                  <p:pic>
                    <p:nvPicPr>
                      <p:cNvPr id="0" name="图片 1024"/>
                      <p:cNvPicPr/>
                      <p:nvPr/>
                    </p:nvPicPr>
                    <p:blipFill>
                      <a:blip r:embed="rId4"/>
                      <a:stretch>
                        <a:fillRect/>
                      </a:stretch>
                    </p:blipFill>
                    <p:spPr>
                      <a:xfrm>
                        <a:off x="5638800" y="3321050"/>
                        <a:ext cx="914400" cy="215900"/>
                      </a:xfrm>
                      <a:prstGeom prst="rect">
                        <a:avLst/>
                      </a:prstGeom>
                    </p:spPr>
                  </p:pic>
                </p:oleObj>
              </mc:Fallback>
            </mc:AlternateContent>
          </a:graphicData>
        </a:graphic>
      </p:graphicFrame>
      <p:sp>
        <p:nvSpPr>
          <p:cNvPr id="501" name="矩形 500"/>
          <p:cNvSpPr/>
          <p:nvPr/>
        </p:nvSpPr>
        <p:spPr>
          <a:xfrm>
            <a:off x="723900" y="4285615"/>
            <a:ext cx="38100" cy="2085975"/>
          </a:xfrm>
          <a:prstGeom prst="rect">
            <a:avLst/>
          </a:prstGeom>
          <a:solidFill>
            <a:srgbClr val="E8503A"/>
          </a:solidFill>
        </p:spPr>
        <p:txBody>
          <a:bodyPr/>
          <a:p/>
        </p:txBody>
      </p:sp>
      <p:sp>
        <p:nvSpPr>
          <p:cNvPr id="13" name="文本框 12"/>
          <p:cNvSpPr txBox="1"/>
          <p:nvPr/>
        </p:nvSpPr>
        <p:spPr>
          <a:xfrm>
            <a:off x="6370320" y="4056888"/>
            <a:ext cx="5747385" cy="2453640"/>
          </a:xfrm>
          <a:prstGeom prst="rect">
            <a:avLst/>
          </a:prstGeom>
          <a:noFill/>
        </p:spPr>
        <p:txBody>
          <a:bodyPr wrap="square" rtlCol="0">
            <a:spAutoFit/>
          </a:bodyPr>
          <a:p>
            <a:pPr>
              <a:lnSpc>
                <a:spcPct val="160000"/>
              </a:lnSpc>
            </a:pPr>
            <a:r>
              <a:rPr lang="zh-CN" sz="1600" b="1">
                <a:solidFill>
                  <a:srgbClr val="01A5B1"/>
                </a:solidFill>
                <a:latin typeface="微软雅黑" panose="020B0503020204020204" charset="-122"/>
                <a:ea typeface="微软雅黑" panose="020B0503020204020204" charset="-122"/>
                <a:sym typeface="+mn-ea"/>
              </a:rPr>
              <a:t>显著性规则：*代表 10% 显著性水平、**代表 5% 显著性水平、***代表 1% 显著性水平；截距项单位为百分号，括号内为 t 统计量。显著性水平代表我们结论犯错的最大概率。星号越多，代表因子存在独立定价能力的统计证据越强。 如果没有星号，说明达不到显著性标准，我们就认为该因子是冗余的。要注意，统计显著不代表现实当中的收益一定很高。”</a:t>
            </a:r>
            <a:endParaRPr lang="zh-CN" sz="1600" b="1">
              <a:solidFill>
                <a:srgbClr val="01A5B1"/>
              </a:solidFill>
              <a:latin typeface="微软雅黑" panose="020B0503020204020204" charset="-122"/>
              <a:ea typeface="微软雅黑" panose="020B0503020204020204" charset="-122"/>
              <a:sym typeface="+mn-ea"/>
            </a:endParaRPr>
          </a:p>
        </p:txBody>
      </p:sp>
      <p:cxnSp>
        <p:nvCxnSpPr>
          <p:cNvPr id="6" name="直接箭头连接符 5"/>
          <p:cNvCxnSpPr/>
          <p:nvPr/>
        </p:nvCxnSpPr>
        <p:spPr>
          <a:xfrm flipH="1" flipV="1">
            <a:off x="1327785" y="1636395"/>
            <a:ext cx="681990" cy="1225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485775" y="1390650"/>
            <a:ext cx="1165225" cy="368300"/>
          </a:xfrm>
          <a:prstGeom prst="rect">
            <a:avLst/>
          </a:prstGeom>
          <a:noFill/>
        </p:spPr>
        <p:txBody>
          <a:bodyPr wrap="square" rtlCol="0">
            <a:spAutoFit/>
          </a:bodyPr>
          <a:p>
            <a:r>
              <a:rPr lang="zh-CN" altLang="en-US"/>
              <a:t>股改前</a:t>
            </a:r>
            <a:endParaRPr lang="zh-CN" altLang="en-US"/>
          </a:p>
        </p:txBody>
      </p:sp>
      <p:sp>
        <p:nvSpPr>
          <p:cNvPr id="11" name="文本框 10"/>
          <p:cNvSpPr txBox="1"/>
          <p:nvPr/>
        </p:nvSpPr>
        <p:spPr>
          <a:xfrm>
            <a:off x="403860" y="2765425"/>
            <a:ext cx="1165225" cy="368300"/>
          </a:xfrm>
          <a:prstGeom prst="rect">
            <a:avLst/>
          </a:prstGeom>
          <a:noFill/>
        </p:spPr>
        <p:txBody>
          <a:bodyPr wrap="square" rtlCol="0">
            <a:spAutoFit/>
          </a:bodyPr>
          <a:p>
            <a:r>
              <a:rPr lang="zh-CN" altLang="en-US"/>
              <a:t>股改后</a:t>
            </a:r>
            <a:endParaRPr lang="zh-CN" altLang="en-US"/>
          </a:p>
        </p:txBody>
      </p:sp>
      <p:cxnSp>
        <p:nvCxnSpPr>
          <p:cNvPr id="12" name="直接箭头连接符 11"/>
          <p:cNvCxnSpPr/>
          <p:nvPr/>
        </p:nvCxnSpPr>
        <p:spPr>
          <a:xfrm flipH="1">
            <a:off x="1246505" y="2773680"/>
            <a:ext cx="888365" cy="177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4312920" y="859155"/>
            <a:ext cx="1043305" cy="7429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5307965" y="182880"/>
            <a:ext cx="6739890" cy="922020"/>
          </a:xfrm>
          <a:prstGeom prst="rect">
            <a:avLst/>
          </a:prstGeom>
          <a:noFill/>
        </p:spPr>
        <p:txBody>
          <a:bodyPr wrap="square" rtlCol="0">
            <a:spAutoFit/>
          </a:bodyPr>
          <a:p>
            <a:r>
              <a:rPr lang="zh-CN" altLang="en-US"/>
              <a:t>因子定义：R</a:t>
            </a:r>
            <a:r>
              <a:rPr lang="zh-CN" altLang="en-US" baseline="-25000"/>
              <a:t>M</a:t>
            </a:r>
            <a:r>
              <a:rPr lang="zh-CN" altLang="en-US"/>
              <a:t>-R</a:t>
            </a:r>
            <a:r>
              <a:rPr lang="en-US" altLang="zh-CN" baseline="-25000"/>
              <a:t>F</a:t>
            </a:r>
            <a:r>
              <a:rPr lang="zh-CN" altLang="en-US"/>
              <a:t>（市场因子）、SMB（规模因子）、HML（价值因子）、RMW（盈利因子）、CMA（投资因子）、MOM（动量因子）。</a:t>
            </a:r>
            <a:endParaRPr lang="zh-CN" altLang="en-US"/>
          </a:p>
        </p:txBody>
      </p:sp>
      <p:sp>
        <p:nvSpPr>
          <p:cNvPr id="16" name="文本框 15"/>
          <p:cNvSpPr txBox="1"/>
          <p:nvPr/>
        </p:nvSpPr>
        <p:spPr>
          <a:xfrm>
            <a:off x="10377170" y="1847850"/>
            <a:ext cx="1512570" cy="2030095"/>
          </a:xfrm>
          <a:prstGeom prst="rect">
            <a:avLst/>
          </a:prstGeom>
          <a:noFill/>
        </p:spPr>
        <p:txBody>
          <a:bodyPr wrap="square" rtlCol="0">
            <a:spAutoFit/>
          </a:bodyPr>
          <a:p>
            <a:r>
              <a:rPr lang="zh-CN" altLang="en-US"/>
              <a:t>用来判断回归截距是不是随机波动带来的。t 的绝对值越大，结果越可靠。</a:t>
            </a:r>
            <a:endParaRPr lang="zh-CN" altLang="en-US"/>
          </a:p>
          <a:p>
            <a:endParaRPr lang="zh-CN" altLang="en-US"/>
          </a:p>
        </p:txBody>
      </p:sp>
      <p:cxnSp>
        <p:nvCxnSpPr>
          <p:cNvPr id="17" name="直接连接符 16"/>
          <p:cNvCxnSpPr/>
          <p:nvPr/>
        </p:nvCxnSpPr>
        <p:spPr>
          <a:xfrm flipV="1">
            <a:off x="11202670" y="5186680"/>
            <a:ext cx="647700" cy="41275"/>
          </a:xfrm>
          <a:prstGeom prst="lin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575425" y="5589270"/>
            <a:ext cx="558800" cy="6350"/>
          </a:xfrm>
          <a:prstGeom prst="lin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flipV="1">
            <a:off x="11516360" y="3681095"/>
            <a:ext cx="67945" cy="12738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2" name="Rectangle 501"/>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Rectangle 502"/>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TextBox 503"/>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505" name="TextBox 504"/>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506" name="TextBox 505"/>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507" name="TextBox 506"/>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508" name="Rectangle 507"/>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TextBox 508"/>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510" name="TextBox 509"/>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511" name="TextBox 510"/>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512" name="TextBox 511"/>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637"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对照 C：单一断点 vs 未知断点扫描&lt;/Text&gt;&#10;        &lt;/Box&gt;&#10;&#10;        &lt;Box style={{ height: 544, flexDirection: 'row', gap: 32 }}&gt;&#10;            &lt;Box style={{ width: 560, height: 544, flexDirection: 'column' }}&gt;&#10;                &lt;Box style={{ width: 560, height: 250, background: '#FFFFFF', border: '1px solid #EAEAEA', borderLeft: '4px solid #01A5B1', padding: 16, flexDirection: 'column' }}&gt;&#10;                    &lt;Text style={{ fontSize: 19, fontWeight: 'bold', color: '#01A5B1', marginBottom: 10 }}&gt;第一步：先复现已知断点&lt;/Text&gt;&#10;                    &lt;Text style={{ width: 528, fontSize: 16.5, color: '#5A5A5A', lineHeight: 1.6 }}&gt;&#10;                        对 25 个 panel 分别做 Chow 检验（截距 + 5 个因子系数，共 6 个参数），再用 Fisher 方法合并 p 值。&lt;br /&gt;&lt;br /&gt;&#10;                        结果：&lt;span style={{ fontWeight: 'bold', color: '#1F1F1F' }}&gt;20 / 25 个 panel 在 1% 水平显著，Fisher 合并 p ≈ 0&lt;/span&gt;——与原文 p.200 脚注的表述一致。&#10;                    &lt;/Text&gt;&#10;                &lt;/Box&gt;&#10;&#10;                &lt;Box style={{ width: 560, height: 274, background: 'rgba(232,80,58,0.10)', flexDirection: 'row', marginTop: 20 }}&gt;&#10;                    &lt;Box style={{ width: 4, height: 274, background: '#E8503A' }} /&gt;&#10;                    &lt;Box style={{ width: 556, padding: 16, flexDirection: 'column' }}&gt;&#10;                        &lt;Text style={{ fontSize: 19, fontWeight: 'bold', color: '#E8503A', marginBottom: 10 }}&gt;第二步：把断点位置交给数据&lt;/Text&gt;&#10;                        &lt;Text style={{ width: 524, fontSize: 16.5, color: '#1F1F1F', lineHeight: 1.6 }}&gt;&#10;                            以面板平均 Chow F 为扫描统计量，逐候选点取最大值，再递归左右子样本。&lt;br /&gt;&lt;br /&gt;&#10;                            结果：&lt;span style={{ fontWeight: 'bold' }}&gt;独立命中 2007-06&lt;/span&gt;（平均 Chow F = 4.447）。&lt;br /&gt;&lt;br /&gt;&#10;                            &lt;span style={{ fontWeight: 'bold' }}&gt;这说明检验流程本身被验证了&lt;/span&gt;——但它仍然没有回答：断点到底有几个？&#10;                        &lt;/Text&gt;&#10;                    &lt;/Box&gt;&#10;                &lt;/Box&gt;&#10;            &lt;/Box&gt;&#10;&#10;            &lt;Box style={{ width: 528, height: 544, flexDirection: 'column' }}&gt;&#10;                &lt;Box style={{ width: 528, height: 240, background: '#FFFFFF', border: '1px solid #EAEAEA', boxShadow: '0 2px 12px rgba(0,0,0,0.08)', padding: 14, flexDirection: 'column' }}&gt;&#10;                    &lt;Text style={{ fontSize: 16, fontWeight: 'bold', color: '#01A5B1', marginBottom: 10 }}&gt;原文 P200 脚注（红框处的检验强度）&lt;/Text&gt;&#10;                    &lt;Image src=&quot;assets/chowfn.png&quot; style={{ width: 500, height: 120, objectFit: 'contain' }} /&gt;&#10;                &lt;/Box&gt;&#10;                &lt;Text style={{ width: 528, fontSize: 15, color: '#8A8A8A', marginTop: 8 }}&gt;&#10;                    原文 P200 脚注：25 个 panel 的邹至庄检验 p 值几乎全在 1% 显著&#10;                &lt;/Text&gt;&#10;                &lt;Box style={{ width: 528, height: 260, background: 'rgba(1,165,177,0.10)', flexDirection: 'row', marginTop: 14 }}&gt;&#10;                    &lt;Box style={{ width: 4, height: 260, background: '#01A5B1' }} /&gt;&#10;                    &lt;Box style={{ width: 524, padding: 16, flexDirection: 'column' }}&gt;&#10;                        &lt;Text style={{ fontSize: 19, fontWeight: 'bold', color: '#01A5B1', marginBottom: 10 }}&gt;Gap 5：从一次检验到一条时间线&lt;/Text&gt;&#10;                        &lt;Text style={{ width: 492, fontSize: 16.5, color: '#1F1F1F', lineHeight: 1.6 }}&gt;&#10;                            真实制度冲击不止一次：2005 股改、2017 注册制、2019 科创板。&lt;br /&gt;&lt;br /&gt;&#10;                            把&lt;span style={{ fontWeight: 'bold' }}&gt;单一已知断点 Chow&lt;/span&gt; 升级为&#10;                            &lt;span style={{ fontWeight: 'bold' }}&gt;多重未知断点（Bai-Perron / 顺序检验）&lt;/span&gt;，&#10;                            可同时输出断点个数、位置与置信区间——这是一篇独立论文的体量。&#10;                        &lt;/Text&gt;&#10;                    &lt;/Box&gt;&#10;                &lt;/Box&gt;&#10;            &lt;/Box&gt;&#10;        &lt;/Box&gt;&#10;&#10;        &lt;Box style={{ height: 40, flexDirection: 'row', justifyContent: 'space-between', alignItems: 'center' }}&gt;&#10;            &lt;Text style={{ fontSize: 14, color: '#8A8A8A' }}&gt;三维结构法 · FF5 中国实证拆解&lt;/Text&gt;&#10;            &lt;Text style={{ fontSize: 14, color: '#8A8A8A' }}&gt;33 / 37&lt;/Text&gt;&#10;        &lt;/Box&gt;&#10;    &lt;/Box&gt;&#10;&lt;/Slide&gt;"/>
        <p:cNvGrpSpPr/>
        <p:nvPr/>
      </p:nvGrpSpPr>
      <p:grpSpPr>
        <a:xfrm>
          <a:off x="0" y="0"/>
          <a:ext cx="0" cy="0"/>
          <a:chOff x="0" y="0"/>
          <a:chExt cx="0" cy="0"/>
        </a:xfrm>
      </p:grpSpPr>
      <p:sp>
        <p:nvSpPr>
          <p:cNvPr id="638" name="矩形 637"/>
          <p:cNvSpPr/>
          <p:nvPr/>
        </p:nvSpPr>
        <p:spPr>
          <a:xfrm>
            <a:off x="0" y="0"/>
            <a:ext cx="12192000" cy="6858000"/>
          </a:xfrm>
          <a:prstGeom prst="rect">
            <a:avLst/>
          </a:prstGeom>
          <a:solidFill>
            <a:srgbClr val="FFFFFF"/>
          </a:solidFill>
        </p:spPr>
        <p:txBody>
          <a:bodyPr/>
          <a:p/>
        </p:txBody>
      </p:sp>
      <p:pic>
        <p:nvPicPr>
          <p:cNvPr id="639" name="图片 638"/>
          <p:cNvPicPr>
            <a:picLocks noChangeAspect="1"/>
          </p:cNvPicPr>
          <p:nvPr/>
        </p:nvPicPr>
        <p:blipFill>
          <a:blip r:embed="rId1"/>
          <a:stretch>
            <a:fillRect/>
          </a:stretch>
        </p:blipFill>
        <p:spPr>
          <a:xfrm>
            <a:off x="0" y="0"/>
            <a:ext cx="12192000" cy="6858000"/>
          </a:xfrm>
          <a:prstGeom prst="rect">
            <a:avLst/>
          </a:prstGeom>
        </p:spPr>
      </p:pic>
      <p:sp>
        <p:nvSpPr>
          <p:cNvPr id="640" name="矩形 639"/>
          <p:cNvSpPr/>
          <p:nvPr/>
        </p:nvSpPr>
        <p:spPr>
          <a:xfrm>
            <a:off x="762000" y="476250"/>
            <a:ext cx="57150" cy="342900"/>
          </a:xfrm>
          <a:prstGeom prst="rect">
            <a:avLst/>
          </a:prstGeom>
          <a:solidFill>
            <a:srgbClr val="01A5B1"/>
          </a:solidFill>
        </p:spPr>
        <p:txBody>
          <a:bodyPr/>
          <a:p/>
        </p:txBody>
      </p:sp>
      <p:sp>
        <p:nvSpPr>
          <p:cNvPr id="641" name="文本框 640"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altLang="en-US" sz="2200" b="1">
                <a:solidFill>
                  <a:srgbClr val="1F1F1F"/>
                </a:solidFill>
                <a:latin typeface="微软雅黑" panose="020B0503020204020204" charset="-122"/>
                <a:ea typeface="微软雅黑" panose="020B0503020204020204" charset="-122"/>
              </a:rPr>
              <a:t>股改前后各因子独立定价能力分析</a:t>
            </a:r>
            <a:endParaRPr lang="zh-CN" altLang="en-US" sz="2550" b="1">
              <a:solidFill>
                <a:srgbClr val="01A5B1"/>
              </a:solidFill>
              <a:latin typeface="微软雅黑" panose="020B0503020204020204" charset="-122"/>
              <a:ea typeface="微软雅黑" panose="020B0503020204020204" charset="-122"/>
            </a:endParaRPr>
          </a:p>
        </p:txBody>
      </p:sp>
      <p:sp>
        <p:nvSpPr>
          <p:cNvPr id="642" name="矩形 641"/>
          <p:cNvSpPr/>
          <p:nvPr/>
        </p:nvSpPr>
        <p:spPr>
          <a:xfrm>
            <a:off x="800100" y="1104900"/>
            <a:ext cx="5295900" cy="2381250"/>
          </a:xfrm>
          <a:prstGeom prst="rect">
            <a:avLst/>
          </a:prstGeom>
          <a:solidFill>
            <a:srgbClr val="FFFFFF"/>
          </a:solidFill>
        </p:spPr>
        <p:txBody>
          <a:bodyPr/>
          <a:p/>
        </p:txBody>
      </p:sp>
      <p:sp>
        <p:nvSpPr>
          <p:cNvPr id="643" name="任意多边形 642"/>
          <p:cNvSpPr/>
          <p:nvPr/>
        </p:nvSpPr>
        <p:spPr>
          <a:xfrm>
            <a:off x="762000" y="1104900"/>
            <a:ext cx="5334000" cy="2381250"/>
          </a:xfrm>
          <a:custGeom>
            <a:avLst/>
            <a:gdLst/>
            <a:ahLst/>
            <a:cxnLst/>
            <a:pathLst>
              <a:path w="560" h="250">
                <a:moveTo>
                  <a:pt x="0" y="0"/>
                </a:moveTo>
                <a:lnTo>
                  <a:pt x="4" y="0"/>
                </a:lnTo>
                <a:lnTo>
                  <a:pt x="4" y="250"/>
                </a:lnTo>
                <a:lnTo>
                  <a:pt x="0" y="250"/>
                </a:lnTo>
                <a:close/>
              </a:path>
            </a:pathLst>
          </a:custGeom>
          <a:solidFill>
            <a:srgbClr val="01A5B1"/>
          </a:solidFill>
        </p:spPr>
        <p:txBody>
          <a:bodyPr/>
          <a:p/>
        </p:txBody>
      </p:sp>
      <p:sp>
        <p:nvSpPr>
          <p:cNvPr id="644" name="文本框 643" descr="{&quot;isTemplate&quot;:true,&quot;type&quot;:&quot;text&quot;}"/>
          <p:cNvSpPr txBox="1"/>
          <p:nvPr/>
        </p:nvSpPr>
        <p:spPr>
          <a:xfrm>
            <a:off x="952500" y="1257300"/>
            <a:ext cx="4991100" cy="219075"/>
          </a:xfrm>
          <a:prstGeom prst="rect">
            <a:avLst/>
          </a:prstGeom>
        </p:spPr>
        <p:txBody>
          <a:bodyPr wrap="none" lIns="0" tIns="0" rIns="0" bIns="0"/>
          <a:p>
            <a:pPr algn="l">
              <a:lnSpc>
                <a:spcPct val="100000"/>
              </a:lnSpc>
            </a:pPr>
            <a:r>
              <a:rPr lang="zh-CN" sz="1425" b="1">
                <a:solidFill>
                  <a:srgbClr val="01A5B1"/>
                </a:solidFill>
                <a:latin typeface="微软雅黑" panose="020B0503020204020204" charset="-122"/>
                <a:ea typeface="微软雅黑" panose="020B0503020204020204" charset="-122"/>
              </a:rPr>
              <a:t>非冗余因子（显著）</a:t>
            </a:r>
            <a:endParaRPr lang="zh-CN" sz="1425" b="1">
              <a:solidFill>
                <a:srgbClr val="01A5B1"/>
              </a:solidFill>
              <a:latin typeface="微软雅黑" panose="020B0503020204020204" charset="-122"/>
              <a:ea typeface="微软雅黑" panose="020B0503020204020204" charset="-122"/>
            </a:endParaRPr>
          </a:p>
        </p:txBody>
      </p:sp>
      <p:sp>
        <p:nvSpPr>
          <p:cNvPr id="645" name="文本框 644" descr="{&quot;isTemplate&quot;:true,&quot;type&quot;:&quot;text&quot;}"/>
          <p:cNvSpPr txBox="1"/>
          <p:nvPr/>
        </p:nvSpPr>
        <p:spPr>
          <a:xfrm>
            <a:off x="952500" y="1571625"/>
            <a:ext cx="5029200" cy="1514475"/>
          </a:xfrm>
          <a:prstGeom prst="rect">
            <a:avLst/>
          </a:prstGeom>
        </p:spPr>
        <p:txBody>
          <a:bodyPr wrap="square" lIns="0" tIns="0" rIns="0" bIns="0"/>
          <a:p>
            <a:pPr>
              <a:lnSpc>
                <a:spcPct val="160000"/>
              </a:lnSpc>
            </a:pPr>
            <a:r>
              <a:rPr lang="en-US" sz="1400" b="1">
                <a:solidFill>
                  <a:srgbClr val="5A5A5A"/>
                </a:solidFill>
                <a:latin typeface="微软雅黑" panose="020B0503020204020204" charset="-122"/>
                <a:ea typeface="微软雅黑" panose="020B0503020204020204" charset="-122"/>
              </a:rPr>
              <a:t>1.</a:t>
            </a:r>
            <a:r>
              <a:rPr sz="1400" b="1">
                <a:solidFill>
                  <a:srgbClr val="5A5A5A"/>
                </a:solidFill>
                <a:latin typeface="微软雅黑" panose="020B0503020204020204" charset="-122"/>
                <a:ea typeface="微软雅黑" panose="020B0503020204020204" charset="-122"/>
              </a:rPr>
              <a:t>市场因子RM-RF：截距 2.31%，t=3.25，在 1% 水平显著，是股改前定价能力最强的因子，无法被其他因子解释。</a:t>
            </a:r>
            <a:endParaRPr sz="1400" b="1">
              <a:solidFill>
                <a:srgbClr val="5A5A5A"/>
              </a:solidFill>
              <a:latin typeface="微软雅黑" panose="020B0503020204020204" charset="-122"/>
              <a:ea typeface="微软雅黑" panose="020B0503020204020204" charset="-122"/>
            </a:endParaRPr>
          </a:p>
          <a:p>
            <a:pPr>
              <a:lnSpc>
                <a:spcPct val="160000"/>
              </a:lnSpc>
            </a:pPr>
            <a:r>
              <a:rPr lang="en-US" sz="1400" b="1">
                <a:solidFill>
                  <a:srgbClr val="5A5A5A"/>
                </a:solidFill>
                <a:latin typeface="微软雅黑" panose="020B0503020204020204" charset="-122"/>
                <a:ea typeface="微软雅黑" panose="020B0503020204020204" charset="-122"/>
              </a:rPr>
              <a:t>2.</a:t>
            </a:r>
            <a:r>
              <a:rPr sz="1400" b="1">
                <a:solidFill>
                  <a:srgbClr val="5A5A5A"/>
                </a:solidFill>
                <a:latin typeface="微软雅黑" panose="020B0503020204020204" charset="-122"/>
                <a:ea typeface="微软雅黑" panose="020B0503020204020204" charset="-122"/>
              </a:rPr>
              <a:t>规模因子 SMB：截距 0.56%，t=1.99，在 5% 水平显著，具备独立的规模定价效应。</a:t>
            </a:r>
            <a:endParaRPr sz="1400" b="1">
              <a:solidFill>
                <a:srgbClr val="5A5A5A"/>
              </a:solidFill>
              <a:latin typeface="微软雅黑" panose="020B0503020204020204" charset="-122"/>
              <a:ea typeface="微软雅黑" panose="020B0503020204020204" charset="-122"/>
            </a:endParaRPr>
          </a:p>
          <a:p>
            <a:pPr>
              <a:lnSpc>
                <a:spcPct val="160000"/>
              </a:lnSpc>
            </a:pPr>
            <a:r>
              <a:rPr lang="en-US" sz="1400" b="1">
                <a:solidFill>
                  <a:srgbClr val="5A5A5A"/>
                </a:solidFill>
                <a:latin typeface="微软雅黑" panose="020B0503020204020204" charset="-122"/>
                <a:ea typeface="微软雅黑" panose="020B0503020204020204" charset="-122"/>
              </a:rPr>
              <a:t>3.</a:t>
            </a:r>
            <a:r>
              <a:rPr sz="1400" b="1">
                <a:solidFill>
                  <a:srgbClr val="5A5A5A"/>
                </a:solidFill>
                <a:latin typeface="微软雅黑" panose="020B0503020204020204" charset="-122"/>
                <a:ea typeface="微软雅黑" panose="020B0503020204020204" charset="-122"/>
              </a:rPr>
              <a:t>价值因子 HML：截距 0.67%，t=2.90，在 1% 水平显著，价值效应在股改前具备独立定价力。</a:t>
            </a:r>
            <a:endParaRPr lang="zh-CN" sz="1400" b="1">
              <a:solidFill>
                <a:srgbClr val="5A5A5A"/>
              </a:solidFill>
              <a:latin typeface="微软雅黑" panose="020B0503020204020204" charset="-122"/>
              <a:ea typeface="微软雅黑" panose="020B0503020204020204" charset="-122"/>
            </a:endParaRPr>
          </a:p>
        </p:txBody>
      </p:sp>
      <p:sp>
        <p:nvSpPr>
          <p:cNvPr id="646" name="矩形 645"/>
          <p:cNvSpPr/>
          <p:nvPr/>
        </p:nvSpPr>
        <p:spPr>
          <a:xfrm>
            <a:off x="762000" y="3676650"/>
            <a:ext cx="5334000" cy="2609850"/>
          </a:xfrm>
          <a:prstGeom prst="rect">
            <a:avLst/>
          </a:prstGeom>
          <a:solidFill>
            <a:srgbClr val="E8503A">
              <a:alpha val="10000"/>
            </a:srgbClr>
          </a:solidFill>
        </p:spPr>
        <p:txBody>
          <a:bodyPr/>
          <a:p/>
        </p:txBody>
      </p:sp>
      <p:sp>
        <p:nvSpPr>
          <p:cNvPr id="647" name="矩形 646"/>
          <p:cNvSpPr/>
          <p:nvPr/>
        </p:nvSpPr>
        <p:spPr>
          <a:xfrm>
            <a:off x="762000" y="3676650"/>
            <a:ext cx="38100" cy="2609850"/>
          </a:xfrm>
          <a:prstGeom prst="rect">
            <a:avLst/>
          </a:prstGeom>
          <a:solidFill>
            <a:srgbClr val="E8503A"/>
          </a:solidFill>
        </p:spPr>
        <p:txBody>
          <a:bodyPr/>
          <a:p/>
        </p:txBody>
      </p:sp>
      <p:sp>
        <p:nvSpPr>
          <p:cNvPr id="648" name="文本框 647" descr="{&quot;isTemplate&quot;:true,&quot;type&quot;:&quot;text&quot;}"/>
          <p:cNvSpPr txBox="1"/>
          <p:nvPr/>
        </p:nvSpPr>
        <p:spPr>
          <a:xfrm>
            <a:off x="952500" y="3829050"/>
            <a:ext cx="4991100" cy="219075"/>
          </a:xfrm>
          <a:prstGeom prst="rect">
            <a:avLst/>
          </a:prstGeom>
        </p:spPr>
        <p:txBody>
          <a:bodyPr wrap="none" lIns="0" tIns="0" rIns="0" bIns="0"/>
          <a:p>
            <a:pPr algn="l">
              <a:lnSpc>
                <a:spcPct val="100000"/>
              </a:lnSpc>
            </a:pPr>
            <a:r>
              <a:rPr lang="zh-CN" sz="1425" b="1">
                <a:solidFill>
                  <a:srgbClr val="E8503A"/>
                </a:solidFill>
                <a:latin typeface="微软雅黑" panose="020B0503020204020204" charset="-122"/>
                <a:ea typeface="微软雅黑" panose="020B0503020204020204" charset="-122"/>
              </a:rPr>
              <a:t>冗余因子（不显著）</a:t>
            </a:r>
            <a:endParaRPr lang="zh-CN" sz="1425" b="1">
              <a:solidFill>
                <a:srgbClr val="E8503A"/>
              </a:solidFill>
              <a:latin typeface="微软雅黑" panose="020B0503020204020204" charset="-122"/>
              <a:ea typeface="微软雅黑" panose="020B0503020204020204" charset="-122"/>
            </a:endParaRPr>
          </a:p>
        </p:txBody>
      </p:sp>
      <p:sp>
        <p:nvSpPr>
          <p:cNvPr id="649" name="文本框 648" descr="{&quot;isTemplate&quot;:true,&quot;type&quot;:&quot;text&quot;}"/>
          <p:cNvSpPr txBox="1"/>
          <p:nvPr/>
        </p:nvSpPr>
        <p:spPr>
          <a:xfrm>
            <a:off x="952500" y="4143375"/>
            <a:ext cx="4991100" cy="2114550"/>
          </a:xfrm>
          <a:prstGeom prst="rect">
            <a:avLst/>
          </a:prstGeom>
        </p:spPr>
        <p:txBody>
          <a:bodyPr wrap="square" lIns="0" tIns="0" rIns="0" bIns="0">
            <a:normAutofit/>
          </a:bodyPr>
          <a:p>
            <a:pPr>
              <a:lnSpc>
                <a:spcPct val="160000"/>
              </a:lnSpc>
            </a:pPr>
            <a:r>
              <a:rPr lang="zh-CN" sz="1600" b="1">
                <a:solidFill>
                  <a:srgbClr val="1F1F1F"/>
                </a:solidFill>
                <a:latin typeface="微软雅黑" panose="020B0503020204020204" charset="-122"/>
                <a:ea typeface="微软雅黑" panose="020B0503020204020204" charset="-122"/>
              </a:rPr>
              <a:t>盈利因子 RMW（截距 0.34%，t=1.25）、投资因子 CMA（截距 - 0.17%，t=-0.99）、动量因子 MOM（截距 - 0.04%，t=-0.12）的截距项均无统计显著性，说明这三个因子的信息完全可被市场、规模、价值因子解释，在股改前无独立的定价作用。</a:t>
            </a:r>
            <a:endParaRPr lang="zh-CN" sz="1600" b="1">
              <a:solidFill>
                <a:srgbClr val="1F1F1F"/>
              </a:solidFill>
              <a:latin typeface="微软雅黑" panose="020B0503020204020204" charset="-122"/>
              <a:ea typeface="微软雅黑" panose="020B0503020204020204" charset="-122"/>
            </a:endParaRPr>
          </a:p>
        </p:txBody>
      </p:sp>
      <p:sp>
        <p:nvSpPr>
          <p:cNvPr id="650" name="矩形 649"/>
          <p:cNvSpPr/>
          <p:nvPr/>
        </p:nvSpPr>
        <p:spPr>
          <a:xfrm>
            <a:off x="6400800" y="1104900"/>
            <a:ext cx="5520055" cy="2381250"/>
          </a:xfrm>
          <a:prstGeom prst="rect">
            <a:avLst/>
          </a:prstGeom>
          <a:solidFill>
            <a:srgbClr val="FFFFFF"/>
          </a:solidFill>
          <a:ln w="12700">
            <a:solidFill>
              <a:srgbClr val="EAEAEA"/>
            </a:solidFill>
            <a:prstDash val="solid"/>
          </a:ln>
          <a:effectLst>
            <a:outerShdw blurRad="114300" dist="19050" dir="5400000">
              <a:srgbClr val="000000">
                <a:alpha val="8000"/>
              </a:srgbClr>
            </a:outerShdw>
          </a:effectLst>
        </p:spPr>
        <p:txBody>
          <a:bodyPr/>
          <a:p/>
        </p:txBody>
      </p:sp>
      <p:sp>
        <p:nvSpPr>
          <p:cNvPr id="654" name="矩形 653"/>
          <p:cNvSpPr/>
          <p:nvPr/>
        </p:nvSpPr>
        <p:spPr>
          <a:xfrm>
            <a:off x="6400800" y="3771900"/>
            <a:ext cx="5029200" cy="2476500"/>
          </a:xfrm>
          <a:prstGeom prst="rect">
            <a:avLst/>
          </a:prstGeom>
          <a:solidFill>
            <a:srgbClr val="01A5B1">
              <a:alpha val="10000"/>
            </a:srgbClr>
          </a:solidFill>
        </p:spPr>
        <p:txBody>
          <a:bodyPr/>
          <a:p/>
        </p:txBody>
      </p:sp>
      <p:sp>
        <p:nvSpPr>
          <p:cNvPr id="655" name="矩形 654"/>
          <p:cNvSpPr/>
          <p:nvPr/>
        </p:nvSpPr>
        <p:spPr>
          <a:xfrm>
            <a:off x="6400800" y="3771900"/>
            <a:ext cx="38100" cy="2476500"/>
          </a:xfrm>
          <a:prstGeom prst="rect">
            <a:avLst/>
          </a:prstGeom>
          <a:solidFill>
            <a:srgbClr val="01A5B1"/>
          </a:solidFill>
        </p:spPr>
        <p:txBody>
          <a:bodyPr/>
          <a:p/>
        </p:txBody>
      </p:sp>
      <p:sp>
        <p:nvSpPr>
          <p:cNvPr id="657" name="文本框 656" descr="{&quot;isTemplate&quot;:true,&quot;type&quot;:&quot;text&quot;}"/>
          <p:cNvSpPr txBox="1"/>
          <p:nvPr/>
        </p:nvSpPr>
        <p:spPr>
          <a:xfrm>
            <a:off x="6591300" y="4238625"/>
            <a:ext cx="4686300" cy="1819275"/>
          </a:xfrm>
          <a:prstGeom prst="rect">
            <a:avLst/>
          </a:prstGeom>
        </p:spPr>
        <p:txBody>
          <a:bodyPr wrap="square" lIns="0" tIns="0" rIns="0" bIns="0">
            <a:normAutofit/>
          </a:bodyPr>
          <a:p>
            <a:pPr>
              <a:lnSpc>
                <a:spcPct val="160000"/>
              </a:lnSpc>
            </a:pPr>
            <a:r>
              <a:rPr lang="zh-CN" sz="1600" b="1">
                <a:solidFill>
                  <a:srgbClr val="1F1F1F"/>
                </a:solidFill>
                <a:latin typeface="微软雅黑" panose="020B0503020204020204" charset="-122"/>
                <a:ea typeface="微软雅黑" panose="020B0503020204020204" charset="-122"/>
              </a:rPr>
              <a:t>市场因(RM-RF：截距 1.10%，t=1.19，无统计显著性，从股改前的强显著非冗余转为冗余，说明股改后市场因子的信息可被其余 5 个因子完全解释，不再具备独立的定价能力。</a:t>
            </a:r>
            <a:endParaRPr lang="zh-CN" sz="1600" b="1">
              <a:solidFill>
                <a:srgbClr val="1F1F1F"/>
              </a:solidFill>
              <a:latin typeface="微软雅黑" panose="020B0503020204020204" charset="-122"/>
              <a:ea typeface="微软雅黑" panose="020B0503020204020204" charset="-122"/>
            </a:endParaRPr>
          </a:p>
        </p:txBody>
      </p:sp>
      <p:sp>
        <p:nvSpPr>
          <p:cNvPr id="4" name="文本框 3"/>
          <p:cNvSpPr txBox="1"/>
          <p:nvPr/>
        </p:nvSpPr>
        <p:spPr>
          <a:xfrm>
            <a:off x="6400800" y="1476375"/>
            <a:ext cx="5339715" cy="1938020"/>
          </a:xfrm>
          <a:prstGeom prst="rect">
            <a:avLst/>
          </a:prstGeom>
          <a:noFill/>
        </p:spPr>
        <p:txBody>
          <a:bodyPr wrap="square" rtlCol="0">
            <a:spAutoFit/>
          </a:bodyPr>
          <a:p>
            <a:r>
              <a:rPr lang="en-US" altLang="zh-CN" sz="1200" b="1"/>
              <a:t>1.</a:t>
            </a:r>
            <a:r>
              <a:rPr lang="zh-CN" altLang="en-US" sz="1200" b="1"/>
              <a:t>规模因子 SMB：截距 1.27%，t=4.38，在 1% 水平显著，截距和显著性较股改前大幅提升，规模效应的定价能力显著增强。</a:t>
            </a:r>
            <a:endParaRPr lang="zh-CN" altLang="en-US" sz="1200" b="1"/>
          </a:p>
          <a:p>
            <a:r>
              <a:rPr lang="en-US" altLang="zh-CN" sz="1200" b="1"/>
              <a:t>2.</a:t>
            </a:r>
            <a:r>
              <a:rPr lang="zh-CN" altLang="en-US" sz="1200" b="1"/>
              <a:t>盈利因子 RMW：截距 0.44%，t=2.75，在 1% 水平显著，从股改前的冗余转为强显著非冗余，盈利效应成为股改后重要的定价因子。</a:t>
            </a:r>
            <a:endParaRPr lang="zh-CN" altLang="en-US" sz="1200" b="1"/>
          </a:p>
          <a:p>
            <a:r>
              <a:rPr lang="en-US" altLang="zh-CN" sz="1200" b="1"/>
              <a:t>3.</a:t>
            </a:r>
            <a:r>
              <a:rPr lang="zh-CN" altLang="en-US" sz="1200" b="1"/>
              <a:t>动量因子 MOM：截距 - 0.76%，t=-2.04，在 5% 水平显著，从股改前的冗余转为显著非冗余，且呈现负向的动量定价效应。</a:t>
            </a:r>
            <a:endParaRPr lang="zh-CN" altLang="en-US" sz="1200" b="1"/>
          </a:p>
          <a:p>
            <a:r>
              <a:rPr lang="en-US" altLang="zh-CN" sz="1200" b="1"/>
              <a:t>4.</a:t>
            </a:r>
            <a:r>
              <a:rPr lang="zh-CN" altLang="en-US" sz="1200" b="1"/>
              <a:t>价值因子 HML：截距 0.21%，t=1.80，在 10% 水平显著，依然保持非冗余，但截距和显著性较股改前明显下降，价值效应的定价能力有所减弱。</a:t>
            </a:r>
            <a:endParaRPr lang="zh-CN" altLang="en-US" sz="1200" b="1"/>
          </a:p>
          <a:p>
            <a:r>
              <a:rPr lang="en-US" altLang="zh-CN" sz="1200" b="1"/>
              <a:t>5.</a:t>
            </a:r>
            <a:r>
              <a:rPr lang="zh-CN" altLang="en-US" sz="1200" b="1"/>
              <a:t>投资因子 CMA：截距 0.23%，t=1.91，在 10% 水平显著，从股改前的冗余转为非冗余，投资效应具备了独立定价力。</a:t>
            </a:r>
            <a:endParaRPr lang="zh-CN" altLang="en-US" sz="1200" b="1"/>
          </a:p>
        </p:txBody>
      </p:sp>
      <p:sp>
        <p:nvSpPr>
          <p:cNvPr id="2" name="文本框 1" descr="{&quot;isTemplate&quot;:true,&quot;type&quot;:&quot;text&quot;}"/>
          <p:cNvSpPr txBox="1"/>
          <p:nvPr/>
        </p:nvSpPr>
        <p:spPr>
          <a:xfrm>
            <a:off x="6438900" y="1179830"/>
            <a:ext cx="4991100" cy="219075"/>
          </a:xfrm>
          <a:prstGeom prst="rect">
            <a:avLst/>
          </a:prstGeom>
        </p:spPr>
        <p:txBody>
          <a:bodyPr wrap="none" lIns="0" tIns="0" rIns="0" bIns="0"/>
          <a:p>
            <a:pPr algn="l">
              <a:lnSpc>
                <a:spcPct val="100000"/>
              </a:lnSpc>
            </a:pPr>
            <a:r>
              <a:rPr lang="zh-CN" sz="1425" b="1">
                <a:solidFill>
                  <a:srgbClr val="01A5B1"/>
                </a:solidFill>
                <a:latin typeface="微软雅黑" panose="020B0503020204020204" charset="-122"/>
                <a:ea typeface="微软雅黑" panose="020B0503020204020204" charset="-122"/>
              </a:rPr>
              <a:t>非冗余因子（显著）</a:t>
            </a:r>
            <a:endParaRPr lang="zh-CN" sz="1425" b="1">
              <a:solidFill>
                <a:srgbClr val="01A5B1"/>
              </a:solidFill>
              <a:latin typeface="微软雅黑" panose="020B0503020204020204" charset="-122"/>
              <a:ea typeface="微软雅黑" panose="020B0503020204020204" charset="-122"/>
            </a:endParaRPr>
          </a:p>
        </p:txBody>
      </p:sp>
      <p:sp>
        <p:nvSpPr>
          <p:cNvPr id="3" name="文本框 2" descr="{&quot;isTemplate&quot;:true,&quot;type&quot;:&quot;text&quot;}"/>
          <p:cNvSpPr txBox="1"/>
          <p:nvPr/>
        </p:nvSpPr>
        <p:spPr>
          <a:xfrm>
            <a:off x="6574790" y="3771900"/>
            <a:ext cx="4991100" cy="219075"/>
          </a:xfrm>
          <a:prstGeom prst="rect">
            <a:avLst/>
          </a:prstGeom>
        </p:spPr>
        <p:txBody>
          <a:bodyPr wrap="none" lIns="0" tIns="0" rIns="0" bIns="0"/>
          <a:p>
            <a:pPr algn="l">
              <a:lnSpc>
                <a:spcPct val="100000"/>
              </a:lnSpc>
            </a:pPr>
            <a:r>
              <a:rPr lang="zh-CN" sz="1425" b="1">
                <a:solidFill>
                  <a:srgbClr val="01A5B1"/>
                </a:solidFill>
                <a:latin typeface="微软雅黑" panose="020B0503020204020204" charset="-122"/>
                <a:ea typeface="微软雅黑" panose="020B0503020204020204" charset="-122"/>
              </a:rPr>
              <a:t>冗余因子（不</a:t>
            </a:r>
            <a:r>
              <a:rPr lang="zh-CN" sz="1425" b="1">
                <a:solidFill>
                  <a:srgbClr val="01A5B1"/>
                </a:solidFill>
                <a:latin typeface="微软雅黑" panose="020B0503020204020204" charset="-122"/>
                <a:ea typeface="微软雅黑" panose="020B0503020204020204" charset="-122"/>
              </a:rPr>
              <a:t>显著）</a:t>
            </a:r>
            <a:endParaRPr lang="zh-CN" sz="1425" b="1">
              <a:solidFill>
                <a:srgbClr val="01A5B1"/>
              </a:solidFill>
              <a:latin typeface="微软雅黑" panose="020B0503020204020204" charset="-122"/>
              <a:ea typeface="微软雅黑" panose="020B0503020204020204" charset="-122"/>
            </a:endParaRPr>
          </a:p>
        </p:txBody>
      </p:sp>
      <p:sp>
        <p:nvSpPr>
          <p:cNvPr id="658" name="Rectangle 657"/>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Rectangle 658"/>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TextBox 659"/>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661" name="TextBox 660"/>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662" name="TextBox 661"/>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663" name="TextBox 662"/>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664" name="Rectangle 663"/>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TextBox 664"/>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666" name="TextBox 665"/>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667" name="TextBox 666"/>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668" name="TextBox 667"/>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327" name="" descr="&lt;Slide style={{ width: 1280, height: 720, background: '#FFFFFF', padding: 0, flexDirection: 'column' }}&gt;&#10;    &lt;Image src=&quot;assets/bg_pattern.png&quot; style={{ position: 'absolute', top: 0, left: 0, width: 1280, height: 720 }} /&gt;&#10;    &lt;Box style={{ position: 'relative', width: 1280, height: 720, padding: '20px 80px', flexDirection: 'column' }}&gt;&#10;        &lt;Box style={{ height: 96, flexDirection: 'row', alignItems: 'center', gap: 16 }}&gt;&#10;            &lt;Box style={{ width: 6, height: 36, background: '#01A5B1' }} /&gt;&#10;            &lt;Text style={{ fontSize: 34, fontWeight: 'bold', color: '#01A5B1' }}&gt;方法论建议与自我设限&lt;/Text&gt;&#10;        &lt;/Box&gt;&#10;&#10;        &lt;Box style={{ height: 544, flexDirection: 'row', gap: 32 }}&gt;&#10;            &lt;Box style={{ width: 613, height: 544, flexDirection: 'column' }}&gt;&#10;                &lt;Box style={{ width: 613, height: 500, background: '#FFFFFF', border: '1px solid #EAEAEA', boxShadow: '0 2px 12px rgba(0,0,0,0.08)', padding: 16, flexDirection: 'column' }}&gt;&#10;                    &lt;Text style={{ fontSize: 16, fontWeight: 'bold', color: '#01A5B1', marginBottom: 8 }}&gt;方法论建议 · 原文 p.204&lt;/Text&gt;&#10;                    &lt;Image src=&quot;assets/method.png&quot; style={{ width: 581, height: 122, objectFit: 'contain' }} /&gt;&#10;                    &lt;Box style={{ width: 581, height: 1, background: '#EAEAEA', marginTop: 14, marginBottom: 14 }} /&gt;&#10;                    &lt;Text style={{ fontSize: 16, fontWeight: 'bold', color: '#E8503A', marginBottom: 8 }}&gt;自我设限 · 原文 p.205 结论段&lt;/Text&gt;&#10;                    &lt;Image src=&quot;assets/handoff.png&quot; style={{ width: 581, height: 186, objectFit: 'contain' }} /&gt;&#10;                &lt;/Box&gt;&#10;                &lt;Text style={{ width: 613, fontSize: 15, color: '#8A8A8A', marginTop: 8, lineHeight: 1.5 }}&gt;&#10;                    原文 P204 / P205：一句把实证升格为操作建议，一句把接力棒递出去&#10;                &lt;/Text&gt;&#10;            &lt;/Box&gt;&#10;&#10;            &lt;Box style={{ width: 475, height: 544, flexDirection: 'column' }}&gt;&#10;                &lt;Box style={{ width: 475, height: 250, background: 'rgba(1,165,177,0.10)', flexDirection: 'row' }}&gt;&#10;                    &lt;Box style={{ width: 4, height: 250, background: '#01A5B1' }} /&gt;&#10;                    &lt;Box style={{ width: 471, padding: 16, flexDirection: 'column' }}&gt;&#10;                        &lt;Text style={{ fontSize: 19, fontWeight: 'bold', color: '#01A5B1', marginBottom: 10 }}&gt;方法论建议为什么好用&lt;/Text&gt;&#10;                        &lt;Text style={{ width: 439, fontSize: 16.5, color: '#1F1F1F', lineHeight: 1.62 }}&gt;&#10;                            「由于中国市场早期具有『股权分置』的特殊性，研究国外成熟市场的模型在中国市场的表现时应主要以股改后样本来进行研究。」&lt;br /&gt;&lt;br /&gt;&#10;                            因为它&lt;span style={{ fontWeight: 'bold' }}&gt;可以被反驳&lt;/span&gt;——如果股改不是唯一的制度断点，「以股改后为主」就会把注册制之后的数据一起混进来。&#10;                        &lt;/Text&gt;&#10;                    &lt;/Box&gt;&#10;                &lt;/Box&gt;&#10;&#10;                &lt;Box style={{ width: 475, height: 274, background: 'rgba(232,80,58,0.10)', flexDirection: 'row', marginTop: 20 }}&gt;&#10;                    &lt;Box style={{ width: 4, height: 274, background: '#E8503A' }} /&gt;&#10;                    &lt;Box style={{ width: 471, padding: 16, flexDirection: 'column' }}&gt;&#10;                        &lt;Text style={{ fontSize: 19, fontWeight: 'bold', color: '#E8503A', marginBottom: 10 }}&gt;自我设限 = 作者交出的接力棒&lt;/Text&gt;&#10;                        &lt;Text style={{ width: 439, fontSize: 16.5, color: '#1F1F1F', lineHeight: 1.62 }}&gt;&#10;                            作者只说了「某些股票组合分组方式下仍然无法通过 GRS 检验」，&lt;span style={{ fontWeight: 'bold' }}&gt;没说哪几个分组、为什么失败&lt;/span&gt;。&lt;br /&gt;&lt;br /&gt;&#10;                            这就是一张空白的任务单：定位失败切片 → 反推缺失因子的经济学属性 → 造新因子做样本外验证。&#10;                        &lt;/Text&gt;&#10;                    &lt;/Box&gt;&#10;                &lt;/Box&gt;&#10;            &lt;/Box&gt;&#10;        &lt;/Box&gt;&#10;&#10;        &lt;Box style={{ height: 40, flexDirection: 'row', justifyContent: 'space-between', alignItems: 'center' }}&gt;&#10;            &lt;Text style={{ fontSize: 14, color: '#8A8A8A' }}&gt;三维结构法 · FF5 中国实证拆解&lt;/Text&gt;&#10;            &lt;Text style={{ fontSize: 14, color: '#8A8A8A' }}&gt;21 / 37&lt;/Text&gt;&#10;        &lt;/Box&gt;&#10;    &lt;/Box&gt;&#10;&lt;/Slide&gt;"/>
        <p:cNvGrpSpPr/>
        <p:nvPr/>
      </p:nvGrpSpPr>
      <p:grpSpPr>
        <a:xfrm>
          <a:off x="0" y="0"/>
          <a:ext cx="0" cy="0"/>
          <a:chOff x="0" y="0"/>
          <a:chExt cx="0" cy="0"/>
        </a:xfrm>
      </p:grpSpPr>
      <p:sp>
        <p:nvSpPr>
          <p:cNvPr id="328" name="矩形 327"/>
          <p:cNvSpPr/>
          <p:nvPr/>
        </p:nvSpPr>
        <p:spPr>
          <a:xfrm>
            <a:off x="0" y="0"/>
            <a:ext cx="12192000" cy="6858000"/>
          </a:xfrm>
          <a:prstGeom prst="rect">
            <a:avLst/>
          </a:prstGeom>
          <a:solidFill>
            <a:srgbClr val="FFFFFF"/>
          </a:solidFill>
        </p:spPr>
        <p:txBody>
          <a:bodyPr/>
          <a:p/>
        </p:txBody>
      </p:sp>
      <p:pic>
        <p:nvPicPr>
          <p:cNvPr id="329" name="图片 328"/>
          <p:cNvPicPr>
            <a:picLocks noChangeAspect="1"/>
          </p:cNvPicPr>
          <p:nvPr/>
        </p:nvPicPr>
        <p:blipFill>
          <a:blip r:embed="rId1"/>
          <a:stretch>
            <a:fillRect/>
          </a:stretch>
        </p:blipFill>
        <p:spPr>
          <a:xfrm>
            <a:off x="0" y="0"/>
            <a:ext cx="12192000" cy="6858000"/>
          </a:xfrm>
          <a:prstGeom prst="rect">
            <a:avLst/>
          </a:prstGeom>
        </p:spPr>
      </p:pic>
      <p:sp>
        <p:nvSpPr>
          <p:cNvPr id="330" name="矩形 329"/>
          <p:cNvSpPr/>
          <p:nvPr/>
        </p:nvSpPr>
        <p:spPr>
          <a:xfrm>
            <a:off x="986790" y="14858"/>
            <a:ext cx="57150" cy="342900"/>
          </a:xfrm>
          <a:prstGeom prst="rect">
            <a:avLst/>
          </a:prstGeom>
          <a:solidFill>
            <a:srgbClr val="01A5B1"/>
          </a:solidFill>
        </p:spPr>
        <p:txBody>
          <a:bodyPr/>
          <a:p/>
        </p:txBody>
      </p:sp>
      <p:sp>
        <p:nvSpPr>
          <p:cNvPr id="331" name="文本框 330" descr="{&quot;isTemplate&quot;:true,&quot;type&quot;:&quot;text&quot;}"/>
          <p:cNvSpPr txBox="1"/>
          <p:nvPr/>
        </p:nvSpPr>
        <p:spPr>
          <a:xfrm>
            <a:off x="530352" y="256032"/>
            <a:ext cx="10607040" cy="548640"/>
          </a:xfrm>
          <a:prstGeom prst="rect">
            <a:avLst/>
          </a:prstGeom>
        </p:spPr>
        <p:txBody>
          <a:bodyPr wrap="square" lIns="0" tIns="0" rIns="0" bIns="0"/>
          <a:p>
            <a:pPr algn="l">
              <a:lnSpc>
                <a:spcPct val="100000"/>
              </a:lnSpc>
            </a:pPr>
            <a:r>
              <a:rPr lang="zh-CN" sz="2200" b="1">
                <a:solidFill>
                  <a:srgbClr val="1F1F1F"/>
                </a:solidFill>
                <a:latin typeface="微软雅黑" panose="020B0503020204020204" charset="-122"/>
                <a:ea typeface="微软雅黑" panose="020B0503020204020204" charset="-122"/>
                <a:sym typeface="+mn-ea"/>
              </a:rPr>
              <a:t>冗余检验主要结论与因子定价能力变化原因</a:t>
            </a:r>
            <a:endParaRPr lang="zh-CN" sz="2550" b="1">
              <a:solidFill>
                <a:srgbClr val="01A5B1"/>
              </a:solidFill>
              <a:latin typeface="微软雅黑" panose="020B0503020204020204" charset="-122"/>
              <a:ea typeface="微软雅黑" panose="020B0503020204020204" charset="-122"/>
              <a:sym typeface="+mn-ea"/>
            </a:endParaRPr>
          </a:p>
        </p:txBody>
      </p:sp>
      <p:sp>
        <p:nvSpPr>
          <p:cNvPr id="335" name="矩形 334"/>
          <p:cNvSpPr/>
          <p:nvPr/>
        </p:nvSpPr>
        <p:spPr>
          <a:xfrm>
            <a:off x="914400" y="2691384"/>
            <a:ext cx="5534025" cy="9525"/>
          </a:xfrm>
          <a:prstGeom prst="rect">
            <a:avLst/>
          </a:prstGeom>
          <a:solidFill>
            <a:srgbClr val="EAEAEA"/>
          </a:solidFill>
        </p:spPr>
        <p:txBody>
          <a:bodyPr/>
          <a:p/>
        </p:txBody>
      </p:sp>
      <p:sp>
        <p:nvSpPr>
          <p:cNvPr id="338" name="文本框 337" descr="{&quot;isTemplate&quot;:true,&quot;type&quot;:&quot;text&quot;}"/>
          <p:cNvSpPr txBox="1"/>
          <p:nvPr/>
        </p:nvSpPr>
        <p:spPr>
          <a:xfrm>
            <a:off x="762000" y="5815584"/>
            <a:ext cx="5838825" cy="257175"/>
          </a:xfrm>
          <a:prstGeom prst="rect">
            <a:avLst/>
          </a:prstGeom>
        </p:spPr>
        <p:txBody>
          <a:bodyPr wrap="none" lIns="0" tIns="0" rIns="0" bIns="0"/>
          <a:p>
            <a:pPr>
              <a:lnSpc>
                <a:spcPct val="150000"/>
              </a:lnSpc>
            </a:pPr>
            <a:r>
              <a:rPr lang="zh-CN" sz="1125">
                <a:solidFill>
                  <a:srgbClr val="8A8A8A"/>
                </a:solidFill>
                <a:latin typeface="微软雅黑" panose="020B0503020204020204" charset="-122"/>
                <a:ea typeface="微软雅黑" panose="020B0503020204020204" charset="-122"/>
              </a:rPr>
              <a:t>原文</a:t>
            </a:r>
            <a:r>
              <a:rPr lang="en-US" sz="1125">
                <a:solidFill>
                  <a:srgbClr val="8A8A8A"/>
                </a:solidFill>
                <a:latin typeface="微软雅黑" panose="020B0503020204020204" charset="-122"/>
                <a:ea typeface="微软雅黑" panose="020B0503020204020204" charset="-122"/>
              </a:rPr>
              <a:t> P204 / P205</a:t>
            </a:r>
            <a:r>
              <a:rPr lang="zh-CN" sz="1125">
                <a:solidFill>
                  <a:srgbClr val="8A8A8A"/>
                </a:solidFill>
                <a:latin typeface="微软雅黑" panose="020B0503020204020204" charset="-122"/>
                <a:ea typeface="微软雅黑" panose="020B0503020204020204" charset="-122"/>
              </a:rPr>
              <a:t>：一句把实证升格为操作建议，一句把接力棒递出去</a:t>
            </a:r>
            <a:endParaRPr lang="zh-CN" sz="1125">
              <a:solidFill>
                <a:srgbClr val="8A8A8A"/>
              </a:solidFill>
              <a:latin typeface="微软雅黑" panose="020B0503020204020204" charset="-122"/>
              <a:ea typeface="微软雅黑" panose="020B0503020204020204" charset="-122"/>
            </a:endParaRPr>
          </a:p>
        </p:txBody>
      </p:sp>
      <p:sp>
        <p:nvSpPr>
          <p:cNvPr id="339" name="矩形 338"/>
          <p:cNvSpPr/>
          <p:nvPr/>
        </p:nvSpPr>
        <p:spPr>
          <a:xfrm>
            <a:off x="6077585" y="548259"/>
            <a:ext cx="5842000" cy="2809875"/>
          </a:xfrm>
          <a:prstGeom prst="rect">
            <a:avLst/>
          </a:prstGeom>
          <a:solidFill>
            <a:srgbClr val="01A5B1">
              <a:alpha val="10000"/>
            </a:srgbClr>
          </a:solidFill>
        </p:spPr>
        <p:txBody>
          <a:bodyPr/>
          <a:p/>
        </p:txBody>
      </p:sp>
      <p:sp>
        <p:nvSpPr>
          <p:cNvPr id="340" name="矩形 339"/>
          <p:cNvSpPr/>
          <p:nvPr/>
        </p:nvSpPr>
        <p:spPr>
          <a:xfrm>
            <a:off x="6001385" y="548259"/>
            <a:ext cx="76200" cy="2733675"/>
          </a:xfrm>
          <a:prstGeom prst="rect">
            <a:avLst/>
          </a:prstGeom>
          <a:solidFill>
            <a:srgbClr val="01A5B1"/>
          </a:solidFill>
        </p:spPr>
        <p:txBody>
          <a:bodyPr/>
          <a:p/>
        </p:txBody>
      </p:sp>
      <p:sp>
        <p:nvSpPr>
          <p:cNvPr id="341" name="文本框 340" descr="{&quot;isTemplate&quot;:true,&quot;type&quot;:&quot;text&quot;}"/>
          <p:cNvSpPr txBox="1"/>
          <p:nvPr/>
        </p:nvSpPr>
        <p:spPr>
          <a:xfrm>
            <a:off x="6155690" y="590169"/>
            <a:ext cx="4181475" cy="219075"/>
          </a:xfrm>
          <a:prstGeom prst="rect">
            <a:avLst/>
          </a:prstGeom>
        </p:spPr>
        <p:txBody>
          <a:bodyPr wrap="none" lIns="0" tIns="0" rIns="0" bIns="0"/>
          <a:p>
            <a:pPr algn="l">
              <a:lnSpc>
                <a:spcPct val="100000"/>
              </a:lnSpc>
            </a:pPr>
            <a:r>
              <a:rPr lang="zh-CN" sz="1425" b="1">
                <a:solidFill>
                  <a:srgbClr val="01A5B1"/>
                </a:solidFill>
                <a:latin typeface="微软雅黑" panose="020B0503020204020204" charset="-122"/>
                <a:ea typeface="微软雅黑" panose="020B0503020204020204" charset="-122"/>
                <a:sym typeface="+mn-ea"/>
              </a:rPr>
              <a:t>一、分时期冗余检验主要结论（表7）</a:t>
            </a:r>
            <a:endParaRPr lang="zh-CN" sz="1425" b="1">
              <a:solidFill>
                <a:srgbClr val="01A5B1"/>
              </a:solidFill>
              <a:latin typeface="微软雅黑" panose="020B0503020204020204" charset="-122"/>
              <a:ea typeface="微软雅黑" panose="020B0503020204020204" charset="-122"/>
            </a:endParaRPr>
          </a:p>
        </p:txBody>
      </p:sp>
      <p:sp>
        <p:nvSpPr>
          <p:cNvPr id="343" name="矩形 342"/>
          <p:cNvSpPr/>
          <p:nvPr/>
        </p:nvSpPr>
        <p:spPr>
          <a:xfrm>
            <a:off x="6001385" y="3548634"/>
            <a:ext cx="5917565" cy="2952750"/>
          </a:xfrm>
          <a:prstGeom prst="rect">
            <a:avLst/>
          </a:prstGeom>
          <a:solidFill>
            <a:srgbClr val="E8503A">
              <a:alpha val="10000"/>
            </a:srgbClr>
          </a:solidFill>
        </p:spPr>
        <p:txBody>
          <a:bodyPr/>
          <a:p/>
        </p:txBody>
      </p:sp>
      <p:sp>
        <p:nvSpPr>
          <p:cNvPr id="344" name="矩形 343"/>
          <p:cNvSpPr/>
          <p:nvPr/>
        </p:nvSpPr>
        <p:spPr>
          <a:xfrm>
            <a:off x="5963285" y="3548634"/>
            <a:ext cx="38100" cy="2609850"/>
          </a:xfrm>
          <a:prstGeom prst="rect">
            <a:avLst/>
          </a:prstGeom>
          <a:solidFill>
            <a:srgbClr val="E8503A"/>
          </a:solidFill>
        </p:spPr>
        <p:txBody>
          <a:bodyPr/>
          <a:p/>
        </p:txBody>
      </p:sp>
      <p:sp>
        <p:nvSpPr>
          <p:cNvPr id="345" name="文本框 344" descr="{&quot;isTemplate&quot;:true,&quot;type&quot;:&quot;text&quot;}"/>
          <p:cNvSpPr txBox="1"/>
          <p:nvPr/>
        </p:nvSpPr>
        <p:spPr>
          <a:xfrm>
            <a:off x="6155690" y="3680079"/>
            <a:ext cx="4181475" cy="219075"/>
          </a:xfrm>
          <a:prstGeom prst="rect">
            <a:avLst/>
          </a:prstGeom>
        </p:spPr>
        <p:txBody>
          <a:bodyPr wrap="none" lIns="0" tIns="0" rIns="0" bIns="0"/>
          <a:p>
            <a:pPr algn="l">
              <a:lnSpc>
                <a:spcPct val="100000"/>
              </a:lnSpc>
            </a:pPr>
            <a:r>
              <a:rPr lang="zh-CN" sz="1425" b="1">
                <a:solidFill>
                  <a:srgbClr val="E8503A"/>
                </a:solidFill>
                <a:latin typeface="微软雅黑" panose="020B0503020204020204" charset="-122"/>
                <a:ea typeface="微软雅黑" panose="020B0503020204020204" charset="-122"/>
                <a:sym typeface="+mn-ea"/>
              </a:rPr>
              <a:t>二、为什么股改后盈利、投资因子才变得有效？</a:t>
            </a:r>
            <a:endParaRPr lang="zh-CN" sz="1425" b="1">
              <a:solidFill>
                <a:srgbClr val="E8503A"/>
              </a:solidFill>
              <a:latin typeface="微软雅黑" panose="020B0503020204020204" charset="-122"/>
              <a:ea typeface="微软雅黑" panose="020B0503020204020204" charset="-122"/>
            </a:endParaRPr>
          </a:p>
        </p:txBody>
      </p:sp>
      <p:pic>
        <p:nvPicPr>
          <p:cNvPr id="4" name="图片 3" descr="屏幕截图 2026-09-16 214552"/>
          <p:cNvPicPr>
            <a:picLocks noChangeAspect="1"/>
          </p:cNvPicPr>
          <p:nvPr/>
        </p:nvPicPr>
        <p:blipFill>
          <a:blip r:embed="rId2"/>
          <a:stretch>
            <a:fillRect/>
          </a:stretch>
        </p:blipFill>
        <p:spPr>
          <a:xfrm>
            <a:off x="762635" y="809244"/>
            <a:ext cx="4867275" cy="5692140"/>
          </a:xfrm>
          <a:prstGeom prst="rect">
            <a:avLst/>
          </a:prstGeom>
        </p:spPr>
      </p:pic>
      <p:sp>
        <p:nvSpPr>
          <p:cNvPr id="2" name="文本框 1"/>
          <p:cNvSpPr txBox="1"/>
          <p:nvPr/>
        </p:nvSpPr>
        <p:spPr>
          <a:xfrm>
            <a:off x="6155690" y="809244"/>
            <a:ext cx="5840730" cy="2553335"/>
          </a:xfrm>
          <a:prstGeom prst="rect">
            <a:avLst/>
          </a:prstGeom>
          <a:noFill/>
        </p:spPr>
        <p:txBody>
          <a:bodyPr wrap="square" rtlCol="0">
            <a:spAutoFit/>
          </a:bodyPr>
          <a:p>
            <a:r>
              <a:rPr lang="zh-CN" altLang="en-US" sz="1600"/>
              <a:t>1. 市场风险溢价：股改前显著；股改后可以被其他因子解释，不再独立提供风险溢价。</a:t>
            </a:r>
            <a:endParaRPr lang="zh-CN" altLang="en-US" sz="1600"/>
          </a:p>
          <a:p>
            <a:r>
              <a:rPr lang="zh-CN" altLang="en-US" sz="1600"/>
              <a:t>2. 规模、账面市值比（价值因子）：股改前后均显著，这两个因子在A股一直有解释力。</a:t>
            </a:r>
            <a:endParaRPr lang="zh-CN" altLang="en-US" sz="1600"/>
          </a:p>
          <a:p>
            <a:r>
              <a:rPr lang="zh-CN" altLang="en-US" sz="1600"/>
              <a:t>3. 盈利能力、投资风格、动量因子</a:t>
            </a:r>
            <a:endParaRPr lang="zh-CN" altLang="en-US" sz="1600"/>
          </a:p>
          <a:p>
            <a:r>
              <a:rPr lang="zh-CN" altLang="en-US" sz="1600"/>
              <a:t>股改前：风险溢价不显著，可以被其他因子解释（因子冗余）；</a:t>
            </a:r>
            <a:endParaRPr lang="zh-CN" altLang="en-US" sz="1600"/>
          </a:p>
          <a:p>
            <a:r>
              <a:rPr lang="zh-CN" altLang="en-US" sz="1600"/>
              <a:t>股改后：三者风险溢价变得显著；A股出现和美股相似的盈利效应、投资风格效应。</a:t>
            </a:r>
            <a:endParaRPr lang="zh-CN" altLang="en-US" sz="1600"/>
          </a:p>
          <a:p>
            <a:r>
              <a:rPr lang="zh-CN" altLang="en-US" sz="1600"/>
              <a:t>4. 动量因子特殊点：股改后动量因子截距显著为负，说明A股股改后存在显著反转效应，该效应无法被五因子模型解释。</a:t>
            </a:r>
            <a:endParaRPr lang="zh-CN" altLang="en-US" sz="1600"/>
          </a:p>
        </p:txBody>
      </p:sp>
      <p:sp>
        <p:nvSpPr>
          <p:cNvPr id="3" name="文本框 2"/>
          <p:cNvSpPr txBox="1"/>
          <p:nvPr/>
        </p:nvSpPr>
        <p:spPr>
          <a:xfrm>
            <a:off x="6077585" y="3920744"/>
            <a:ext cx="5841365" cy="2491740"/>
          </a:xfrm>
          <a:prstGeom prst="rect">
            <a:avLst/>
          </a:prstGeom>
          <a:noFill/>
        </p:spPr>
        <p:txBody>
          <a:bodyPr wrap="square" rtlCol="0">
            <a:spAutoFit/>
          </a:bodyPr>
          <a:p>
            <a:r>
              <a:rPr lang="zh-CN" altLang="en-US" sz="1200"/>
              <a:t>股改前的问题</a:t>
            </a:r>
            <a:endParaRPr lang="zh-CN" altLang="en-US" sz="1200"/>
          </a:p>
          <a:p>
            <a:r>
              <a:rPr lang="zh-CN" altLang="en-US" sz="1200"/>
              <a:t>1. 国有上市公司投资效率低，过度投资、资金滥用；</a:t>
            </a:r>
            <a:endParaRPr lang="zh-CN" altLang="en-US" sz="1200"/>
          </a:p>
          <a:p>
            <a:r>
              <a:rPr lang="zh-CN" altLang="en-US" sz="1200"/>
              <a:t>2. 非流通股股东一股独大，隧道行为（关联交易侵占上市公司资产、损害中小股东）严重，公司治理失效；</a:t>
            </a:r>
            <a:endParaRPr lang="zh-CN" altLang="en-US" sz="1200"/>
          </a:p>
          <a:p>
            <a:r>
              <a:rPr lang="zh-CN" altLang="en-US" sz="1200"/>
              <a:t>3. 委托代理冲突突出，企业经营绩效差。</a:t>
            </a:r>
            <a:endParaRPr lang="zh-CN" altLang="en-US" sz="1200"/>
          </a:p>
          <a:p>
            <a:r>
              <a:rPr lang="zh-CN" altLang="en-US" sz="1200"/>
              <a:t>→ 市场投资者并不关心企业真实盈利和投资行为，盈利能力、投资风格因子没有独立风险溢价。</a:t>
            </a:r>
            <a:endParaRPr lang="zh-CN" altLang="en-US" sz="1200"/>
          </a:p>
          <a:p>
            <a:r>
              <a:rPr lang="zh-CN" altLang="en-US" sz="1200"/>
              <a:t>股改带来的改变</a:t>
            </a:r>
            <a:endParaRPr lang="zh-CN" altLang="en-US" sz="1200"/>
          </a:p>
          <a:p>
            <a:r>
              <a:rPr lang="zh-CN" altLang="en-US" sz="1200"/>
              <a:t>1. 股权分置改革实现股份全流通，全体股东利益趋同；</a:t>
            </a:r>
            <a:endParaRPr lang="zh-CN" altLang="en-US" sz="1200"/>
          </a:p>
          <a:p>
            <a:r>
              <a:rPr lang="zh-CN" altLang="en-US" sz="1200"/>
              <a:t>2. 公司治理改善，委托代理矛盾缓解，对管理层监督加强，企业投资效率提升；</a:t>
            </a:r>
            <a:endParaRPr lang="zh-CN" altLang="en-US" sz="1200"/>
          </a:p>
          <a:p>
            <a:r>
              <a:rPr lang="zh-CN" altLang="en-US" sz="1200"/>
              <a:t>3. 股价更贴合企业内在价值，市场价格发现功能变强。</a:t>
            </a:r>
            <a:endParaRPr lang="zh-CN" altLang="en-US" sz="1200"/>
          </a:p>
          <a:p>
            <a:r>
              <a:rPr lang="zh-CN" altLang="en-US" sz="1200"/>
              <a:t> → 企业之间的盈利水平、投资策略差异会反映到股票收益上，盈利、投资因子开始具备显著风险溢价。</a:t>
            </a:r>
            <a:endParaRPr lang="zh-CN" altLang="en-US" sz="1200"/>
          </a:p>
        </p:txBody>
      </p:sp>
      <p:sp>
        <p:nvSpPr>
          <p:cNvPr id="346" name="Rectangle 345"/>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TextBox 347"/>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349" name="TextBox 348"/>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350" name="TextBox 349"/>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351" name="TextBox 350"/>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352" name="Rectangle 351"/>
          <p:cNvSpPr/>
          <p:nvPr/>
        </p:nvSpPr>
        <p:spPr>
          <a:xfrm>
            <a:off x="6096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TextBox 352"/>
          <p:cNvSpPr txBox="1"/>
          <p:nvPr/>
        </p:nvSpPr>
        <p:spPr>
          <a:xfrm>
            <a:off x="6141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分时期检验</a:t>
            </a:r>
          </a:p>
        </p:txBody>
      </p:sp>
      <p:sp>
        <p:nvSpPr>
          <p:cNvPr id="354" name="TextBox 353"/>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355" name="TextBox 354"/>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356" name="TextBox 355"/>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background: '#FFFFFF', fontFamily: &quot;'微软雅黑','Microsoft YaHei',sans-serif&quot;, padding: 0, flexDirection: 'column', overflow: 'hidden' }}&gt;&#10;    &lt;Image src=&quot;assets/deco_teal.png&quot; style={{ position: 'absolute', top: 0, left: 0, width: 1280, height: 720 }} /&gt;&#10;    &lt;Box style={{ position: 'absolute', top: 236, left: 116, width: 208, height: 208, border: '4px solid #FFFFFF', alignItems: 'center', justifyContent: 'center' }}&gt;&#10;        &lt;Text style={{ fontSize: 72, fontWeight: 'bold', color: '#FFFFFF', lineHeight: 1 }}&gt;06&lt;/Text&gt;&#10;    &lt;/Box&gt;&#10;    &lt;Text style={{ position: 'absolute', top: 290, left: 432, width: 790, fontSize: 52, fontWeight: 'bold', color: '#1F1F1F', lineHeight: 1.25 }}&gt;动量因子在中国A股市场的表现&lt;/Text&gt;&#10;    &lt;Box style={{ position: 'absolute', top: 386, left: 432, width: 88, height: 6, background: '#01A5B1' }} /&gt;&#10;    &lt;Box style={{ position: 'absolute', top: 432, left: 432, width: 760, flexDirection: 'row', alignItems: 'flex-start', gap: 16 }}&gt;&#10;        &lt;Text style={{ fontSize: 22, fontWeight: 'bold', color: '#01A5B1', lineHeight: 1.3 }}&gt;01&lt;/Text&gt;&#10;        &lt;Box style={{ flexDirection: 'column' }}&gt;&#10;            &lt;Text style={{ fontSize: 17, fontWeight: 'bold', color: '#111111' }}&gt;动量效应的研究背景&lt;/Text&gt;&#10;            &lt;Text style={{ fontSize: 13, color: '#8A8A8A', marginTop: 4 }}&gt;FF(2016) 美国市场动量证据 · 股权分置改革后的A股情境 · 本部分的检验任务&lt;/Text&gt;&#10;        &lt;/Box&gt;&#10;    &lt;/Box&gt;&#10;    &lt;Box style={{ position: 'absolute', top: 512, left: 432, width: 760, flexDirection: 'row', alignItems: 'flex-start', gap: 16 }}&gt;&#10;        &lt;Text style={{ fontSize: 22, fontWeight: 'bold', color: '#01A5B1', lineHeight: 1.3 }}&gt;02&lt;/Text&gt;&#10;        &lt;Box style={{ flexDirection: 'column' }}&gt;&#10;            &lt;Text style={{ fontSize: 17, fontWeight: 'bold', color: '#111111' }}&gt;检验设计与表8冗余检验&lt;/Text&gt;&#10;            &lt;Text style={{ fontSize: 13, color: '#8A8A8A', marginTop: 4 }}&gt;size-prior 2–12 分组 · 全样本与分时期 GRS 及截距项四指标对比&lt;/Text&gt;&#10;        &lt;/Box&gt;&#10;    &lt;/Box&gt;&#10;    &lt;Box style={{ position: 'absolute', top: 592, left: 432, width: 760, flexDirection: 'row', alignItems: 'flex-start', gap: 16 }}&gt;&#10;        &lt;Text style={{ fontSize: 22, fontWeight: 'bold', color: '#01A5B1', lineHeight: 1.3 }}&gt;03&lt;/Text&gt;&#10;        &lt;Box style={{ flexDirection: 'column' }}&gt;&#10;            &lt;Text style={{ fontSize: 17, fontWeight: 'bold', color: '#111111' }}&gt;反转效应解读与研究结论&lt;/Text&gt;&#10;            &lt;Text style={{ fontSize: 13, color: '#8A8A8A', marginTop: 4 }}&gt;股改后反转效应凸显的经济学解释 · 五大核心结论 · 未来研究方向&lt;/Text&gt;&#10;        &lt;/Box&gt;&#10;    &lt;/Box&gt;&#10;    &lt;Text style={{ position: 'absolute', top: 668, left: 1140, width: 90, fontSize: 14, color: '#B0B0B0', textAlign: 'right' }}&gt;01 / 07&lt;/Text&gt;&#10;&lt;/Slide&gt;"/>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FFFFFF"/>
          </a:solidFill>
        </p:spPr>
        <p:txBody>
          <a:bodyPr/>
          <a:p/>
        </p:txBody>
      </p:sp>
      <p:pic>
        <p:nvPicPr>
          <p:cNvPr id="3" name="图片 2"/>
          <p:cNvPicPr>
            <a:picLocks noChangeAspect="1"/>
          </p:cNvPicPr>
          <p:nvPr/>
        </p:nvPicPr>
        <p:blipFill>
          <a:blip r:embed="rId1"/>
          <a:stretch>
            <a:fillRect/>
          </a:stretch>
        </p:blipFill>
        <p:spPr>
          <a:xfrm>
            <a:off x="0" y="0"/>
            <a:ext cx="12192000" cy="6858000"/>
          </a:xfrm>
          <a:prstGeom prst="rect">
            <a:avLst/>
          </a:prstGeom>
        </p:spPr>
      </p:pic>
      <p:sp>
        <p:nvSpPr>
          <p:cNvPr id="4" name="矩形 3"/>
          <p:cNvSpPr/>
          <p:nvPr/>
        </p:nvSpPr>
        <p:spPr>
          <a:xfrm>
            <a:off x="1104900" y="2247900"/>
            <a:ext cx="1981200" cy="1981200"/>
          </a:xfrm>
          <a:prstGeom prst="rect">
            <a:avLst/>
          </a:prstGeom>
          <a:ln w="50800">
            <a:solidFill>
              <a:srgbClr val="FFFFFF"/>
            </a:solidFill>
            <a:prstDash val="solid"/>
          </a:ln>
        </p:spPr>
        <p:txBody>
          <a:bodyPr/>
          <a:p/>
        </p:txBody>
      </p:sp>
      <p:sp>
        <p:nvSpPr>
          <p:cNvPr id="5" name="文本框 4" descr="{&quot;isTemplate&quot;:true,&quot;type&quot;:&quot;text&quot;}"/>
          <p:cNvSpPr txBox="1"/>
          <p:nvPr/>
        </p:nvSpPr>
        <p:spPr>
          <a:xfrm>
            <a:off x="1676400" y="2828925"/>
            <a:ext cx="847725" cy="828675"/>
          </a:xfrm>
          <a:prstGeom prst="rect">
            <a:avLst/>
          </a:prstGeom>
        </p:spPr>
        <p:txBody>
          <a:bodyPr wrap="none" lIns="0" tIns="0" rIns="0" bIns="0"/>
          <a:p>
            <a:pPr>
              <a:lnSpc>
                <a:spcPct val="100000"/>
              </a:lnSpc>
            </a:pPr>
            <a:r>
              <a:rPr lang="en-US" sz="5400" b="1">
                <a:solidFill>
                  <a:srgbClr val="FFFFFF"/>
                </a:solidFill>
                <a:latin typeface="微软雅黑" panose="020B0503020204020204" charset="-122"/>
                <a:ea typeface="微软雅黑" panose="020B0503020204020204" charset="-122"/>
              </a:rPr>
              <a:t>06</a:t>
            </a:r>
            <a:endParaRPr lang="en-US" sz="5400" b="1">
              <a:solidFill>
                <a:srgbClr val="FFFFFF"/>
              </a:solidFill>
              <a:latin typeface="微软雅黑" panose="020B0503020204020204" charset="-122"/>
              <a:ea typeface="微软雅黑" panose="020B0503020204020204" charset="-122"/>
            </a:endParaRPr>
          </a:p>
        </p:txBody>
      </p:sp>
      <p:sp>
        <p:nvSpPr>
          <p:cNvPr id="6" name="文本框 5" descr="{&quot;isTemplate&quot;:true,&quot;type&quot;:&quot;text&quot;}"/>
          <p:cNvSpPr txBox="1"/>
          <p:nvPr/>
        </p:nvSpPr>
        <p:spPr>
          <a:xfrm>
            <a:off x="4114800" y="2762250"/>
            <a:ext cx="7524750" cy="742950"/>
          </a:xfrm>
          <a:prstGeom prst="rect">
            <a:avLst/>
          </a:prstGeom>
        </p:spPr>
        <p:txBody>
          <a:bodyPr wrap="none" lIns="0" tIns="0" rIns="0" bIns="0"/>
          <a:p>
            <a:pPr>
              <a:lnSpc>
                <a:spcPct val="125000"/>
              </a:lnSpc>
            </a:pPr>
            <a:r>
              <a:rPr lang="zh-CN" sz="3900" b="1">
                <a:solidFill>
                  <a:srgbClr val="1F1F1F"/>
                </a:solidFill>
                <a:latin typeface="微软雅黑" panose="020B0503020204020204" charset="-122"/>
                <a:ea typeface="微软雅黑" panose="020B0503020204020204" charset="-122"/>
              </a:rPr>
              <a:t>动量因子在中国</a:t>
            </a:r>
            <a:r>
              <a:rPr lang="en-US" sz="3900" b="1">
                <a:solidFill>
                  <a:srgbClr val="1F1F1F"/>
                </a:solidFill>
                <a:latin typeface="微软雅黑" panose="020B0503020204020204" charset="-122"/>
                <a:ea typeface="微软雅黑" panose="020B0503020204020204" charset="-122"/>
              </a:rPr>
              <a:t>A</a:t>
            </a:r>
            <a:r>
              <a:rPr lang="zh-CN" sz="3900" b="1">
                <a:solidFill>
                  <a:srgbClr val="1F1F1F"/>
                </a:solidFill>
                <a:latin typeface="微软雅黑" panose="020B0503020204020204" charset="-122"/>
                <a:ea typeface="微软雅黑" panose="020B0503020204020204" charset="-122"/>
              </a:rPr>
              <a:t>股市场的表现</a:t>
            </a:r>
            <a:endParaRPr lang="zh-CN" sz="3900" b="1">
              <a:solidFill>
                <a:srgbClr val="1F1F1F"/>
              </a:solidFill>
              <a:latin typeface="微软雅黑" panose="020B0503020204020204" charset="-122"/>
              <a:ea typeface="微软雅黑" panose="020B0503020204020204" charset="-122"/>
            </a:endParaRPr>
          </a:p>
        </p:txBody>
      </p:sp>
      <p:sp>
        <p:nvSpPr>
          <p:cNvPr id="7" name="矩形 6"/>
          <p:cNvSpPr/>
          <p:nvPr/>
        </p:nvSpPr>
        <p:spPr>
          <a:xfrm>
            <a:off x="4114800" y="3676650"/>
            <a:ext cx="838200" cy="57150"/>
          </a:xfrm>
          <a:prstGeom prst="rect">
            <a:avLst/>
          </a:prstGeom>
          <a:solidFill>
            <a:srgbClr val="01A5B1"/>
          </a:solidFill>
        </p:spPr>
        <p:txBody>
          <a:bodyPr/>
          <a:p/>
        </p:txBody>
      </p:sp>
      <p:sp>
        <p:nvSpPr>
          <p:cNvPr id="8" name="文本框 7" descr="{&quot;isTemplate&quot;:true,&quot;type&quot;:&quot;text&quot;}"/>
          <p:cNvSpPr txBox="1"/>
          <p:nvPr/>
        </p:nvSpPr>
        <p:spPr>
          <a:xfrm>
            <a:off x="4114800" y="4114800"/>
            <a:ext cx="266700" cy="333375"/>
          </a:xfrm>
          <a:prstGeom prst="rect">
            <a:avLst/>
          </a:prstGeom>
        </p:spPr>
        <p:txBody>
          <a:bodyPr wrap="none" lIns="0" tIns="0" rIns="0" bIns="0"/>
          <a:p>
            <a:pPr>
              <a:lnSpc>
                <a:spcPct val="130000"/>
              </a:lnSpc>
            </a:pPr>
            <a:r>
              <a:rPr lang="en-US" sz="1650" b="1">
                <a:solidFill>
                  <a:srgbClr val="01A5B1"/>
                </a:solidFill>
                <a:latin typeface="微软雅黑" panose="020B0503020204020204" charset="-122"/>
                <a:ea typeface="微软雅黑" panose="020B0503020204020204" charset="-122"/>
              </a:rPr>
              <a:t>01</a:t>
            </a:r>
            <a:endParaRPr lang="en-US" sz="1650" b="1">
              <a:solidFill>
                <a:srgbClr val="01A5B1"/>
              </a:solidFill>
              <a:latin typeface="微软雅黑" panose="020B0503020204020204" charset="-122"/>
              <a:ea typeface="微软雅黑" panose="020B0503020204020204" charset="-122"/>
            </a:endParaRPr>
          </a:p>
        </p:txBody>
      </p:sp>
      <p:sp>
        <p:nvSpPr>
          <p:cNvPr id="9" name="文本框 8" descr="{&quot;isTemplate&quot;:true,&quot;type&quot;:&quot;text&quot;}"/>
          <p:cNvSpPr txBox="1"/>
          <p:nvPr/>
        </p:nvSpPr>
        <p:spPr>
          <a:xfrm>
            <a:off x="4533900" y="4114800"/>
            <a:ext cx="4181475" cy="200025"/>
          </a:xfrm>
          <a:prstGeom prst="rect">
            <a:avLst/>
          </a:prstGeom>
        </p:spPr>
        <p:txBody>
          <a:bodyPr wrap="none" lIns="0" tIns="0" rIns="0" bIns="0"/>
          <a:p>
            <a:pPr>
              <a:lnSpc>
                <a:spcPct val="100000"/>
              </a:lnSpc>
            </a:pPr>
            <a:r>
              <a:rPr lang="zh-CN" sz="1275" b="1">
                <a:solidFill>
                  <a:srgbClr val="111111"/>
                </a:solidFill>
                <a:latin typeface="微软雅黑" panose="020B0503020204020204" charset="-122"/>
                <a:ea typeface="微软雅黑" panose="020B0503020204020204" charset="-122"/>
              </a:rPr>
              <a:t>动量效应的研究背景</a:t>
            </a:r>
            <a:endParaRPr lang="zh-CN" sz="1275" b="1">
              <a:solidFill>
                <a:srgbClr val="111111"/>
              </a:solidFill>
              <a:latin typeface="微软雅黑" panose="020B0503020204020204" charset="-122"/>
              <a:ea typeface="微软雅黑" panose="020B0503020204020204" charset="-122"/>
            </a:endParaRPr>
          </a:p>
        </p:txBody>
      </p:sp>
      <p:sp>
        <p:nvSpPr>
          <p:cNvPr id="10" name="文本框 9" descr="{&quot;isTemplate&quot;:true,&quot;type&quot;:&quot;text&quot;}"/>
          <p:cNvSpPr txBox="1"/>
          <p:nvPr/>
        </p:nvSpPr>
        <p:spPr>
          <a:xfrm>
            <a:off x="4533900" y="4352925"/>
            <a:ext cx="4181475" cy="152400"/>
          </a:xfrm>
          <a:prstGeom prst="rect">
            <a:avLst/>
          </a:prstGeom>
        </p:spPr>
        <p:txBody>
          <a:bodyPr wrap="none" lIns="0" tIns="0" rIns="0" bIns="0"/>
          <a:p>
            <a:pPr>
              <a:lnSpc>
                <a:spcPct val="100000"/>
              </a:lnSpc>
            </a:pPr>
            <a:r>
              <a:rPr lang="en-US" sz="975">
                <a:solidFill>
                  <a:srgbClr val="8A8A8A"/>
                </a:solidFill>
                <a:latin typeface="微软雅黑" panose="020B0503020204020204" charset="-122"/>
                <a:ea typeface="微软雅黑" panose="020B0503020204020204" charset="-122"/>
              </a:rPr>
              <a:t>FF(2016) </a:t>
            </a:r>
            <a:r>
              <a:rPr lang="zh-CN" sz="975">
                <a:solidFill>
                  <a:srgbClr val="8A8A8A"/>
                </a:solidFill>
                <a:latin typeface="微软雅黑" panose="020B0503020204020204" charset="-122"/>
                <a:ea typeface="微软雅黑" panose="020B0503020204020204" charset="-122"/>
              </a:rPr>
              <a:t>美国市场动量证据</a:t>
            </a:r>
            <a:r>
              <a:rPr lang="en-US" sz="975">
                <a:solidFill>
                  <a:srgbClr val="8A8A8A"/>
                </a:solidFill>
                <a:latin typeface="微软雅黑" panose="020B0503020204020204" charset="-122"/>
                <a:ea typeface="微软雅黑" panose="020B0503020204020204" charset="-122"/>
              </a:rPr>
              <a:t> · </a:t>
            </a:r>
            <a:r>
              <a:rPr lang="zh-CN" sz="975">
                <a:solidFill>
                  <a:srgbClr val="8A8A8A"/>
                </a:solidFill>
                <a:latin typeface="微软雅黑" panose="020B0503020204020204" charset="-122"/>
                <a:ea typeface="微软雅黑" panose="020B0503020204020204" charset="-122"/>
              </a:rPr>
              <a:t>股权分置改革后的</a:t>
            </a:r>
            <a:r>
              <a:rPr lang="en-US" sz="975">
                <a:solidFill>
                  <a:srgbClr val="8A8A8A"/>
                </a:solidFill>
                <a:latin typeface="微软雅黑" panose="020B0503020204020204" charset="-122"/>
                <a:ea typeface="微软雅黑" panose="020B0503020204020204" charset="-122"/>
              </a:rPr>
              <a:t>A</a:t>
            </a:r>
            <a:r>
              <a:rPr lang="zh-CN" sz="975">
                <a:solidFill>
                  <a:srgbClr val="8A8A8A"/>
                </a:solidFill>
                <a:latin typeface="微软雅黑" panose="020B0503020204020204" charset="-122"/>
                <a:ea typeface="微软雅黑" panose="020B0503020204020204" charset="-122"/>
              </a:rPr>
              <a:t>股情境</a:t>
            </a:r>
            <a:r>
              <a:rPr lang="en-US" sz="975">
                <a:solidFill>
                  <a:srgbClr val="8A8A8A"/>
                </a:solidFill>
                <a:latin typeface="微软雅黑" panose="020B0503020204020204" charset="-122"/>
                <a:ea typeface="微软雅黑" panose="020B0503020204020204" charset="-122"/>
              </a:rPr>
              <a:t> · </a:t>
            </a:r>
            <a:r>
              <a:rPr lang="zh-CN" sz="975">
                <a:solidFill>
                  <a:srgbClr val="8A8A8A"/>
                </a:solidFill>
                <a:latin typeface="微软雅黑" panose="020B0503020204020204" charset="-122"/>
                <a:ea typeface="微软雅黑" panose="020B0503020204020204" charset="-122"/>
              </a:rPr>
              <a:t>本部分的检验任务</a:t>
            </a:r>
            <a:endParaRPr lang="zh-CN" sz="975">
              <a:solidFill>
                <a:srgbClr val="8A8A8A"/>
              </a:solidFill>
              <a:latin typeface="微软雅黑" panose="020B0503020204020204" charset="-122"/>
              <a:ea typeface="微软雅黑" panose="020B0503020204020204" charset="-122"/>
            </a:endParaRPr>
          </a:p>
        </p:txBody>
      </p:sp>
      <p:sp>
        <p:nvSpPr>
          <p:cNvPr id="11" name="文本框 10" descr="{&quot;isTemplate&quot;:true,&quot;type&quot;:&quot;text&quot;}"/>
          <p:cNvSpPr txBox="1"/>
          <p:nvPr/>
        </p:nvSpPr>
        <p:spPr>
          <a:xfrm>
            <a:off x="4114800" y="4876800"/>
            <a:ext cx="266700" cy="333375"/>
          </a:xfrm>
          <a:prstGeom prst="rect">
            <a:avLst/>
          </a:prstGeom>
        </p:spPr>
        <p:txBody>
          <a:bodyPr wrap="none" lIns="0" tIns="0" rIns="0" bIns="0"/>
          <a:p>
            <a:pPr>
              <a:lnSpc>
                <a:spcPct val="130000"/>
              </a:lnSpc>
            </a:pPr>
            <a:r>
              <a:rPr lang="en-US" sz="1650" b="1">
                <a:solidFill>
                  <a:srgbClr val="01A5B1"/>
                </a:solidFill>
                <a:latin typeface="微软雅黑" panose="020B0503020204020204" charset="-122"/>
                <a:ea typeface="微软雅黑" panose="020B0503020204020204" charset="-122"/>
              </a:rPr>
              <a:t>02</a:t>
            </a:r>
            <a:endParaRPr lang="en-US" sz="1650" b="1">
              <a:solidFill>
                <a:srgbClr val="01A5B1"/>
              </a:solidFill>
              <a:latin typeface="微软雅黑" panose="020B0503020204020204" charset="-122"/>
              <a:ea typeface="微软雅黑" panose="020B0503020204020204" charset="-122"/>
            </a:endParaRPr>
          </a:p>
        </p:txBody>
      </p:sp>
      <p:sp>
        <p:nvSpPr>
          <p:cNvPr id="12" name="文本框 11" descr="{&quot;isTemplate&quot;:true,&quot;type&quot;:&quot;text&quot;}"/>
          <p:cNvSpPr txBox="1"/>
          <p:nvPr/>
        </p:nvSpPr>
        <p:spPr>
          <a:xfrm>
            <a:off x="4533900" y="4876800"/>
            <a:ext cx="3571875" cy="200025"/>
          </a:xfrm>
          <a:prstGeom prst="rect">
            <a:avLst/>
          </a:prstGeom>
        </p:spPr>
        <p:txBody>
          <a:bodyPr wrap="none" lIns="0" tIns="0" rIns="0" bIns="0"/>
          <a:p>
            <a:pPr>
              <a:lnSpc>
                <a:spcPct val="100000"/>
              </a:lnSpc>
            </a:pPr>
            <a:r>
              <a:rPr lang="zh-CN" sz="1275" b="1">
                <a:solidFill>
                  <a:srgbClr val="111111"/>
                </a:solidFill>
                <a:latin typeface="微软雅黑" panose="020B0503020204020204" charset="-122"/>
                <a:ea typeface="微软雅黑" panose="020B0503020204020204" charset="-122"/>
              </a:rPr>
              <a:t>检验设计与表</a:t>
            </a:r>
            <a:r>
              <a:rPr lang="en-US" sz="1275" b="1">
                <a:solidFill>
                  <a:srgbClr val="111111"/>
                </a:solidFill>
                <a:latin typeface="微软雅黑" panose="020B0503020204020204" charset="-122"/>
                <a:ea typeface="微软雅黑" panose="020B0503020204020204" charset="-122"/>
              </a:rPr>
              <a:t>8</a:t>
            </a:r>
            <a:r>
              <a:rPr lang="zh-CN" sz="1275" b="1">
                <a:solidFill>
                  <a:srgbClr val="111111"/>
                </a:solidFill>
                <a:latin typeface="微软雅黑" panose="020B0503020204020204" charset="-122"/>
                <a:ea typeface="微软雅黑" panose="020B0503020204020204" charset="-122"/>
              </a:rPr>
              <a:t>冗余检验</a:t>
            </a:r>
            <a:endParaRPr lang="zh-CN" sz="1275" b="1">
              <a:solidFill>
                <a:srgbClr val="111111"/>
              </a:solidFill>
              <a:latin typeface="微软雅黑" panose="020B0503020204020204" charset="-122"/>
              <a:ea typeface="微软雅黑" panose="020B0503020204020204" charset="-122"/>
            </a:endParaRPr>
          </a:p>
        </p:txBody>
      </p:sp>
      <p:sp>
        <p:nvSpPr>
          <p:cNvPr id="13" name="文本框 12" descr="{&quot;isTemplate&quot;:true,&quot;type&quot;:&quot;text&quot;}"/>
          <p:cNvSpPr txBox="1"/>
          <p:nvPr/>
        </p:nvSpPr>
        <p:spPr>
          <a:xfrm>
            <a:off x="4533900" y="5114925"/>
            <a:ext cx="3571875" cy="152400"/>
          </a:xfrm>
          <a:prstGeom prst="rect">
            <a:avLst/>
          </a:prstGeom>
        </p:spPr>
        <p:txBody>
          <a:bodyPr wrap="none" lIns="0" tIns="0" rIns="0" bIns="0"/>
          <a:p>
            <a:pPr>
              <a:lnSpc>
                <a:spcPct val="100000"/>
              </a:lnSpc>
            </a:pPr>
            <a:r>
              <a:rPr lang="en-US" sz="975">
                <a:solidFill>
                  <a:srgbClr val="8A8A8A"/>
                </a:solidFill>
                <a:latin typeface="微软雅黑" panose="020B0503020204020204" charset="-122"/>
                <a:ea typeface="微软雅黑" panose="020B0503020204020204" charset="-122"/>
              </a:rPr>
              <a:t>size-prior 2–12 </a:t>
            </a:r>
            <a:r>
              <a:rPr lang="zh-CN" sz="975">
                <a:solidFill>
                  <a:srgbClr val="8A8A8A"/>
                </a:solidFill>
                <a:latin typeface="微软雅黑" panose="020B0503020204020204" charset="-122"/>
                <a:ea typeface="微软雅黑" panose="020B0503020204020204" charset="-122"/>
              </a:rPr>
              <a:t>分组</a:t>
            </a:r>
            <a:r>
              <a:rPr lang="en-US" sz="975">
                <a:solidFill>
                  <a:srgbClr val="8A8A8A"/>
                </a:solidFill>
                <a:latin typeface="微软雅黑" panose="020B0503020204020204" charset="-122"/>
                <a:ea typeface="微软雅黑" panose="020B0503020204020204" charset="-122"/>
              </a:rPr>
              <a:t> · </a:t>
            </a:r>
            <a:r>
              <a:rPr lang="zh-CN" sz="975">
                <a:solidFill>
                  <a:srgbClr val="8A8A8A"/>
                </a:solidFill>
                <a:latin typeface="微软雅黑" panose="020B0503020204020204" charset="-122"/>
                <a:ea typeface="微软雅黑" panose="020B0503020204020204" charset="-122"/>
              </a:rPr>
              <a:t>全样本与分时期</a:t>
            </a:r>
            <a:r>
              <a:rPr lang="en-US" sz="975">
                <a:solidFill>
                  <a:srgbClr val="8A8A8A"/>
                </a:solidFill>
                <a:latin typeface="微软雅黑" panose="020B0503020204020204" charset="-122"/>
                <a:ea typeface="微软雅黑" panose="020B0503020204020204" charset="-122"/>
              </a:rPr>
              <a:t> GRS </a:t>
            </a:r>
            <a:r>
              <a:rPr lang="zh-CN" sz="975">
                <a:solidFill>
                  <a:srgbClr val="8A8A8A"/>
                </a:solidFill>
                <a:latin typeface="微软雅黑" panose="020B0503020204020204" charset="-122"/>
                <a:ea typeface="微软雅黑" panose="020B0503020204020204" charset="-122"/>
              </a:rPr>
              <a:t>及截距项四指标对比</a:t>
            </a:r>
            <a:endParaRPr lang="zh-CN" sz="975">
              <a:solidFill>
                <a:srgbClr val="8A8A8A"/>
              </a:solidFill>
              <a:latin typeface="微软雅黑" panose="020B0503020204020204" charset="-122"/>
              <a:ea typeface="微软雅黑" panose="020B0503020204020204" charset="-122"/>
            </a:endParaRPr>
          </a:p>
        </p:txBody>
      </p:sp>
      <p:sp>
        <p:nvSpPr>
          <p:cNvPr id="14" name="文本框 13" descr="{&quot;isTemplate&quot;:true,&quot;type&quot;:&quot;text&quot;}"/>
          <p:cNvSpPr txBox="1"/>
          <p:nvPr/>
        </p:nvSpPr>
        <p:spPr>
          <a:xfrm>
            <a:off x="4114800" y="5638800"/>
            <a:ext cx="266700" cy="333375"/>
          </a:xfrm>
          <a:prstGeom prst="rect">
            <a:avLst/>
          </a:prstGeom>
        </p:spPr>
        <p:txBody>
          <a:bodyPr wrap="none" lIns="0" tIns="0" rIns="0" bIns="0"/>
          <a:p>
            <a:pPr>
              <a:lnSpc>
                <a:spcPct val="130000"/>
              </a:lnSpc>
            </a:pPr>
            <a:r>
              <a:rPr lang="en-US" sz="1650" b="1">
                <a:solidFill>
                  <a:srgbClr val="01A5B1"/>
                </a:solidFill>
                <a:latin typeface="微软雅黑" panose="020B0503020204020204" charset="-122"/>
                <a:ea typeface="微软雅黑" panose="020B0503020204020204" charset="-122"/>
              </a:rPr>
              <a:t>03</a:t>
            </a:r>
            <a:endParaRPr lang="en-US" sz="1650" b="1">
              <a:solidFill>
                <a:srgbClr val="01A5B1"/>
              </a:solidFill>
              <a:latin typeface="微软雅黑" panose="020B0503020204020204" charset="-122"/>
              <a:ea typeface="微软雅黑" panose="020B0503020204020204" charset="-122"/>
            </a:endParaRPr>
          </a:p>
        </p:txBody>
      </p:sp>
      <p:sp>
        <p:nvSpPr>
          <p:cNvPr id="15" name="文本框 14" descr="{&quot;isTemplate&quot;:true,&quot;type&quot;:&quot;text&quot;}"/>
          <p:cNvSpPr txBox="1"/>
          <p:nvPr/>
        </p:nvSpPr>
        <p:spPr>
          <a:xfrm>
            <a:off x="4533900" y="5638800"/>
            <a:ext cx="3552825" cy="200025"/>
          </a:xfrm>
          <a:prstGeom prst="rect">
            <a:avLst/>
          </a:prstGeom>
        </p:spPr>
        <p:txBody>
          <a:bodyPr wrap="none" lIns="0" tIns="0" rIns="0" bIns="0"/>
          <a:p>
            <a:pPr>
              <a:lnSpc>
                <a:spcPct val="100000"/>
              </a:lnSpc>
            </a:pPr>
            <a:r>
              <a:rPr lang="zh-CN" sz="1275" b="1">
                <a:solidFill>
                  <a:srgbClr val="111111"/>
                </a:solidFill>
                <a:latin typeface="微软雅黑" panose="020B0503020204020204" charset="-122"/>
                <a:ea typeface="微软雅黑" panose="020B0503020204020204" charset="-122"/>
              </a:rPr>
              <a:t>反转效应解读与研究结论</a:t>
            </a:r>
            <a:endParaRPr lang="zh-CN" sz="1275" b="1">
              <a:solidFill>
                <a:srgbClr val="111111"/>
              </a:solidFill>
              <a:latin typeface="微软雅黑" panose="020B0503020204020204" charset="-122"/>
              <a:ea typeface="微软雅黑" panose="020B0503020204020204" charset="-122"/>
            </a:endParaRPr>
          </a:p>
        </p:txBody>
      </p:sp>
      <p:sp>
        <p:nvSpPr>
          <p:cNvPr id="16" name="文本框 15" descr="{&quot;isTemplate&quot;:true,&quot;type&quot;:&quot;text&quot;}"/>
          <p:cNvSpPr txBox="1"/>
          <p:nvPr/>
        </p:nvSpPr>
        <p:spPr>
          <a:xfrm>
            <a:off x="4533900" y="5876925"/>
            <a:ext cx="3552825" cy="152400"/>
          </a:xfrm>
          <a:prstGeom prst="rect">
            <a:avLst/>
          </a:prstGeom>
        </p:spPr>
        <p:txBody>
          <a:bodyPr wrap="none" lIns="0" tIns="0" rIns="0" bIns="0"/>
          <a:p>
            <a:pPr>
              <a:lnSpc>
                <a:spcPct val="100000"/>
              </a:lnSpc>
            </a:pPr>
            <a:r>
              <a:rPr lang="zh-CN" sz="975">
                <a:solidFill>
                  <a:srgbClr val="8A8A8A"/>
                </a:solidFill>
                <a:latin typeface="微软雅黑" panose="020B0503020204020204" charset="-122"/>
                <a:ea typeface="微软雅黑" panose="020B0503020204020204" charset="-122"/>
              </a:rPr>
              <a:t>股改后反转效应凸显的经济学解释</a:t>
            </a:r>
            <a:r>
              <a:rPr lang="en-US" sz="975">
                <a:solidFill>
                  <a:srgbClr val="8A8A8A"/>
                </a:solidFill>
                <a:latin typeface="微软雅黑" panose="020B0503020204020204" charset="-122"/>
                <a:ea typeface="微软雅黑" panose="020B0503020204020204" charset="-122"/>
              </a:rPr>
              <a:t> · </a:t>
            </a:r>
            <a:r>
              <a:rPr lang="zh-CN" sz="975">
                <a:solidFill>
                  <a:srgbClr val="8A8A8A"/>
                </a:solidFill>
                <a:latin typeface="微软雅黑" panose="020B0503020204020204" charset="-122"/>
                <a:ea typeface="微软雅黑" panose="020B0503020204020204" charset="-122"/>
              </a:rPr>
              <a:t>五大核心结论</a:t>
            </a:r>
            <a:r>
              <a:rPr lang="en-US" sz="975">
                <a:solidFill>
                  <a:srgbClr val="8A8A8A"/>
                </a:solidFill>
                <a:latin typeface="微软雅黑" panose="020B0503020204020204" charset="-122"/>
                <a:ea typeface="微软雅黑" panose="020B0503020204020204" charset="-122"/>
              </a:rPr>
              <a:t> · </a:t>
            </a:r>
            <a:r>
              <a:rPr lang="zh-CN" sz="975">
                <a:solidFill>
                  <a:srgbClr val="8A8A8A"/>
                </a:solidFill>
                <a:latin typeface="微软雅黑" panose="020B0503020204020204" charset="-122"/>
                <a:ea typeface="微软雅黑" panose="020B0503020204020204" charset="-122"/>
              </a:rPr>
              <a:t>未来研究方向</a:t>
            </a:r>
            <a:endParaRPr lang="zh-CN" sz="975">
              <a:solidFill>
                <a:srgbClr val="8A8A8A"/>
              </a:solidFill>
              <a:latin typeface="微软雅黑" panose="020B0503020204020204" charset="-122"/>
              <a:ea typeface="微软雅黑" panose="020B0503020204020204" charset="-122"/>
            </a:endParaRPr>
          </a:p>
        </p:txBody>
      </p:sp>
      <p:sp>
        <p:nvSpPr>
          <p:cNvPr id="17" name="Rectangle 16"/>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20" name="TextBox 19"/>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21" name="TextBox 20"/>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22" name="TextBox 2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23" name="TextBox 22"/>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24" name="Rectangle 23"/>
          <p:cNvSpPr/>
          <p:nvPr/>
        </p:nvSpPr>
        <p:spPr>
          <a:xfrm>
            <a:off x="7620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65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动量因子</a:t>
            </a:r>
          </a:p>
        </p:txBody>
      </p:sp>
      <p:sp>
        <p:nvSpPr>
          <p:cNvPr id="26" name="TextBox 25"/>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27" name="TextBox 26"/>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8"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研究背景：A股是否存在显著的动量效应？&lt;/Text&gt;&#10;        &lt;/Box&gt;&#10;        &lt;Box style={{ flex: 1, flexDirection: 'row', gap: 24, alignItems: 'center' }}&gt;&#10;            &lt;Box style={{ width: 470, flexDirection: 'column', gap: 16 }}&gt;&#10;                &lt;Box style={{ background: 'rgba(1,165,177,0.10)', borderRadius: 10, padding: '15px 18px', borderLeft: '4px solid #01A5B1' }}&gt;&#10;                    &lt;Box style={{ flexDirection: 'row', alignItems: 'center', gap: 8, marginBottom: 6 }}&gt;&#10;                        &lt;Box style={{ width: 22, height: 22, background: '#01A5B1', borderRadius: 11, alignItems: 'center', justifyContent: 'center' }}&gt;&#10;                            &lt;Text style={{ fontSize: 12, color: '#FFFFFF', fontWeight: 'bold' }}&gt;1&lt;/Text&gt;&#10;                        &lt;/Box&gt;&#10;                        &lt;Text style={{ fontSize: 14.5, fontWeight: 'bold', color: '#01A5B1' }}&gt;国际动量证据（Fama and French, 2016）&lt;/Text&gt;&#10;                    &lt;/Box&gt;&#10;                    &lt;Text style={{ fontSize: 12.5, color: '#1F1F1F', lineHeight: 1.6 }}&gt;美国股市存在&lt;span style={{ fontWeight: 'bold' }}&gt;显著动量效应&lt;/span&gt;：过去 2–12 个月累计历史收益率越高，未来股票收益率也越高；五因子模型并不能很好地解释动量效应，加入动量因子后可显著提高模型表现。&lt;/Text&gt;&#10;                &lt;/Box&gt;&#10;                &lt;Box style={{ background: 'rgba(1,165,177,0.10)', borderRadius: 10, padding: '15px 18px', borderLeft: '4px solid #01A5B1' }}&gt;&#10;                    &lt;Box style={{ flexDirection: 'row', alignItems: 'center', gap: 8, marginBottom: 6 }}&gt;&#10;                        &lt;Box style={{ width: 22, height: 22, background: '#01A5B1', borderRadius: 11, alignItems: 'center', justifyContent: 'center' }}&gt;&#10;                            &lt;Text style={{ fontSize: 12, color: '#FFFFFF', fontWeight: 'bold' }}&gt;2&lt;/Text&gt;&#10;                        &lt;/Box&gt;&#10;                        &lt;Text style={{ fontSize: 14.5, fontWeight: 'bold', color: '#01A5B1' }}&gt;A股特殊背景：股权分置改革&lt;/Text&gt;&#10;                    &lt;/Box&gt;&#10;                    &lt;Text style={{ fontSize: 12.5, color: '#1F1F1F', lineHeight: 1.6 }}&gt;股改完成后，上市公司股价与公司内在价值的相关性显著提高（杨善林等, 2006），股价和收益率趋于理性（吴晓求, 2006）→ &lt;span style={{ color: '#E8503A', fontWeight: 'bold' }}&gt;股改前后动量因子表现可能发生变化&lt;/span&gt;，需对比分析。&lt;/Text&gt;&#10;                &lt;/Box&gt;&#10;                &lt;Box style={{ background: 'rgba(1,165,177,0.10)', borderRadius: 10, padding: '15px 18px', borderLeft: '4px solid #E8503A' }}&gt;&#10;                    &lt;Box style={{ flexDirection: 'row', alignItems: 'center', gap: 8, marginBottom: 6 }}&gt;&#10;                        &lt;Box style={{ width: 22, height: 22, background: '#E8503A', borderRadius: 11, alignItems: 'center', justifyContent: 'center' }}&gt;&#10;                            &lt;Text style={{ fontSize: 12, color: '#FFFFFF', fontWeight: 'bold' }}&gt;3&lt;/Text&gt;&#10;                        &lt;/Box&gt;&#10;                        &lt;Text style={{ fontSize: 14.5, fontWeight: 'bold', color: '#E8503A' }}&gt;本部分任务&lt;/Text&gt;&#10;                    &lt;/Box&gt;&#10;                    &lt;Text style={{ fontSize: 12.5, color: '#1F1F1F', lineHeight: 1.6 }}&gt;为避免其他因子的干扰，以&lt;span style={{ fontWeight: 'bold' }}&gt;全样本 + 分时期&lt;/span&gt;下&quot;动量因子相对五因子模型的&lt;span style={{ fontWeight: 'bold' }}&gt;冗余检验&lt;/span&gt;&quot;结果，判断 A 股市场动量或反转效应的存在性。&lt;/Text&gt;&#10;                &lt;/Box&gt;&#10;            &lt;/Box&gt;&#10;            &lt;Box style={{ flex: 1, flexDirection: 'column', alignItems: 'center', gap: 8 }}&gt;&#10;                &lt;Image src=&quot;assets/sec6_intro.png&quot; style={{ width: 620, height: 267, border: '1px solid #E0E0E0', borderRadius: 4, boxShadow: '0 2px 10px rgba(0,0,0,0.08)' }} /&gt;&#10;                &lt;Text style={{ fontSize: 10.5, color: '#8A8A8A' }}&gt;原论文截图 · 第六部分开篇：动量效应的研究背景与任务设定&lt;/Text&gt;&#10;            &lt;/Box&gt;&#10;        &lt;/Box&gt;&#10;        &lt;Box style={{ height: 40, flexDirection: 'row', alignItems: 'center', justifyContent: 'space-between' }}&gt;&#10;            &lt;Text style={{ fontSize: 12, color: '#8A8A8A' }}&gt;三维结构法 · FF5 中国实证拆解&lt;/Text&gt;&#10;            &lt;Text style={{ fontSize: 12, color: '#8A8A8A' }}&gt;02 / 07&lt;/Text&gt;&#10;        &lt;/Box&gt;&#10;    &lt;/Box&gt;&#10;&lt;/Slide&gt;"/>
        <p:cNvGrpSpPr/>
        <p:nvPr/>
      </p:nvGrpSpPr>
      <p:grpSpPr>
        <a:xfrm>
          <a:off x="0" y="0"/>
          <a:ext cx="0" cy="0"/>
          <a:chOff x="0" y="0"/>
          <a:chExt cx="0" cy="0"/>
        </a:xfrm>
      </p:grpSpPr>
      <p:sp>
        <p:nvSpPr>
          <p:cNvPr id="19" name="矩形 18"/>
          <p:cNvSpPr/>
          <p:nvPr/>
        </p:nvSpPr>
        <p:spPr>
          <a:xfrm>
            <a:off x="0" y="0"/>
            <a:ext cx="12192000" cy="6858000"/>
          </a:xfrm>
          <a:prstGeom prst="rect">
            <a:avLst/>
          </a:prstGeom>
          <a:solidFill>
            <a:srgbClr val="FFFFFF"/>
          </a:solidFill>
        </p:spPr>
        <p:txBody>
          <a:bodyPr/>
          <a:p/>
        </p:txBody>
      </p:sp>
      <p:pic>
        <p:nvPicPr>
          <p:cNvPr id="20" name="图片 19"/>
          <p:cNvPicPr>
            <a:picLocks noChangeAspect="1"/>
          </p:cNvPicPr>
          <p:nvPr/>
        </p:nvPicPr>
        <p:blipFill>
          <a:blip r:embed="rId1"/>
          <a:stretch>
            <a:fillRect/>
          </a:stretch>
        </p:blipFill>
        <p:spPr>
          <a:xfrm>
            <a:off x="0" y="0"/>
            <a:ext cx="12192000" cy="6858000"/>
          </a:xfrm>
          <a:prstGeom prst="rect">
            <a:avLst/>
          </a:prstGeom>
        </p:spPr>
      </p:pic>
      <p:sp>
        <p:nvSpPr>
          <p:cNvPr id="21" name="矩形 20"/>
          <p:cNvSpPr/>
          <p:nvPr/>
        </p:nvSpPr>
        <p:spPr>
          <a:xfrm>
            <a:off x="762000" y="304800"/>
            <a:ext cx="57150" cy="342900"/>
          </a:xfrm>
          <a:prstGeom prst="rect">
            <a:avLst/>
          </a:prstGeom>
          <a:solidFill>
            <a:srgbClr val="01A5B1"/>
          </a:solidFill>
        </p:spPr>
        <p:txBody>
          <a:bodyPr/>
          <a:p/>
        </p:txBody>
      </p:sp>
      <p:sp>
        <p:nvSpPr>
          <p:cNvPr id="22" name="文本框 21"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研究背景：</a:t>
            </a:r>
            <a:r>
              <a:rPr lang="en-US" sz="2200" b="1">
                <a:solidFill>
                  <a:srgbClr val="1F1F1F"/>
                </a:solidFill>
                <a:latin typeface="微软雅黑" panose="020B0503020204020204" charset="-122"/>
                <a:ea typeface="微软雅黑" panose="020B0503020204020204" charset="-122"/>
              </a:rPr>
              <a:t>A</a:t>
            </a:r>
            <a:r>
              <a:rPr lang="zh-CN" sz="2200" b="1">
                <a:solidFill>
                  <a:srgbClr val="1F1F1F"/>
                </a:solidFill>
                <a:latin typeface="微软雅黑" panose="020B0503020204020204" charset="-122"/>
                <a:ea typeface="微软雅黑" panose="020B0503020204020204" charset="-122"/>
              </a:rPr>
              <a:t>股是否存在显著的动量效应？</a:t>
            </a:r>
            <a:endParaRPr lang="zh-CN" sz="2550" b="1">
              <a:solidFill>
                <a:srgbClr val="01A5B1"/>
              </a:solidFill>
              <a:latin typeface="微软雅黑" panose="020B0503020204020204" charset="-122"/>
              <a:ea typeface="微软雅黑" panose="020B0503020204020204" charset="-122"/>
            </a:endParaRPr>
          </a:p>
        </p:txBody>
      </p:sp>
      <p:sp>
        <p:nvSpPr>
          <p:cNvPr id="23" name="圆角矩形 22"/>
          <p:cNvSpPr/>
          <p:nvPr/>
        </p:nvSpPr>
        <p:spPr>
          <a:xfrm>
            <a:off x="800100" y="1771650"/>
            <a:ext cx="4476750" cy="1238250"/>
          </a:xfrm>
          <a:prstGeom prst="roundRect">
            <a:avLst>
              <a:gd name="adj" fmla="val 7692"/>
            </a:avLst>
          </a:prstGeom>
          <a:solidFill>
            <a:srgbClr val="01A5B1">
              <a:alpha val="10000"/>
            </a:srgbClr>
          </a:solidFill>
        </p:spPr>
        <p:txBody>
          <a:bodyPr/>
          <a:p/>
        </p:txBody>
      </p:sp>
      <p:sp>
        <p:nvSpPr>
          <p:cNvPr id="24" name="任意多边形 23"/>
          <p:cNvSpPr/>
          <p:nvPr/>
        </p:nvSpPr>
        <p:spPr>
          <a:xfrm>
            <a:off x="800100" y="1771650"/>
            <a:ext cx="4476750" cy="1238250"/>
          </a:xfrm>
          <a:custGeom>
            <a:avLst/>
            <a:gdLst/>
            <a:ahLst/>
            <a:cxnLst/>
            <a:pathLst>
              <a:path w="470" h="130">
                <a:moveTo>
                  <a:pt x="9" y="0"/>
                </a:moveTo>
                <a:cubicBezTo>
                  <a:pt x="6" y="0"/>
                  <a:pt x="4" y="3"/>
                  <a:pt x="4" y="6"/>
                </a:cubicBezTo>
                <a:lnTo>
                  <a:pt x="4" y="124"/>
                </a:lnTo>
                <a:cubicBezTo>
                  <a:pt x="4" y="127"/>
                  <a:pt x="6" y="129"/>
                  <a:pt x="9" y="130"/>
                </a:cubicBezTo>
                <a:cubicBezTo>
                  <a:pt x="4" y="129"/>
                  <a:pt x="0" y="125"/>
                  <a:pt x="0" y="120"/>
                </a:cubicBezTo>
                <a:lnTo>
                  <a:pt x="0" y="10"/>
                </a:lnTo>
                <a:cubicBezTo>
                  <a:pt x="0" y="5"/>
                  <a:pt x="4" y="0"/>
                  <a:pt x="10" y="0"/>
                </a:cubicBezTo>
                <a:close/>
              </a:path>
            </a:pathLst>
          </a:custGeom>
          <a:solidFill>
            <a:srgbClr val="01A5B1"/>
          </a:solidFill>
        </p:spPr>
        <p:txBody>
          <a:bodyPr/>
          <a:p/>
        </p:txBody>
      </p:sp>
      <p:sp>
        <p:nvSpPr>
          <p:cNvPr id="25" name="圆角矩形 24"/>
          <p:cNvSpPr/>
          <p:nvPr/>
        </p:nvSpPr>
        <p:spPr>
          <a:xfrm>
            <a:off x="971550" y="1914525"/>
            <a:ext cx="209550" cy="209550"/>
          </a:xfrm>
          <a:prstGeom prst="roundRect">
            <a:avLst>
              <a:gd name="adj" fmla="val 50000"/>
            </a:avLst>
          </a:prstGeom>
          <a:solidFill>
            <a:srgbClr val="01A5B1"/>
          </a:solidFill>
        </p:spPr>
        <p:txBody>
          <a:bodyPr/>
          <a:p/>
        </p:txBody>
      </p:sp>
      <p:sp>
        <p:nvSpPr>
          <p:cNvPr id="26" name="文本框 25" descr="{&quot;isTemplate&quot;:true,&quot;type&quot;:&quot;text&quot;}"/>
          <p:cNvSpPr txBox="1"/>
          <p:nvPr/>
        </p:nvSpPr>
        <p:spPr>
          <a:xfrm>
            <a:off x="1038225" y="195262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1</a:t>
            </a:r>
            <a:endParaRPr lang="en-US" sz="900" b="1">
              <a:solidFill>
                <a:srgbClr val="FFFFFF"/>
              </a:solidFill>
              <a:latin typeface="微软雅黑" panose="020B0503020204020204" charset="-122"/>
              <a:ea typeface="微软雅黑" panose="020B0503020204020204" charset="-122"/>
            </a:endParaRPr>
          </a:p>
        </p:txBody>
      </p:sp>
      <p:sp>
        <p:nvSpPr>
          <p:cNvPr id="27" name="文本框 26" descr="{&quot;isTemplate&quot;:true,&quot;type&quot;:&quot;text&quot;}"/>
          <p:cNvSpPr txBox="1"/>
          <p:nvPr/>
        </p:nvSpPr>
        <p:spPr>
          <a:xfrm>
            <a:off x="1257300" y="1933575"/>
            <a:ext cx="2705100" cy="171450"/>
          </a:xfrm>
          <a:prstGeom prst="rect">
            <a:avLst/>
          </a:prstGeom>
        </p:spPr>
        <p:txBody>
          <a:bodyPr wrap="none" lIns="0" tIns="0" rIns="0" bIns="0"/>
          <a:p>
            <a:pPr>
              <a:lnSpc>
                <a:spcPct val="100000"/>
              </a:lnSpc>
            </a:pPr>
            <a:r>
              <a:rPr lang="zh-CN" sz="1090" b="1">
                <a:solidFill>
                  <a:srgbClr val="01A5B1"/>
                </a:solidFill>
                <a:latin typeface="微软雅黑" panose="020B0503020204020204" charset="-122"/>
                <a:ea typeface="微软雅黑" panose="020B0503020204020204" charset="-122"/>
              </a:rPr>
              <a:t>国际动量证据（</a:t>
            </a:r>
            <a:r>
              <a:rPr lang="en-US" sz="1090" b="1">
                <a:solidFill>
                  <a:srgbClr val="01A5B1"/>
                </a:solidFill>
                <a:latin typeface="微软雅黑" panose="020B0503020204020204" charset="-122"/>
                <a:ea typeface="微软雅黑" panose="020B0503020204020204" charset="-122"/>
              </a:rPr>
              <a:t>Fama and French, 2016</a:t>
            </a:r>
            <a:r>
              <a:rPr lang="zh-CN" sz="1090" b="1">
                <a:solidFill>
                  <a:srgbClr val="01A5B1"/>
                </a:solidFill>
                <a:latin typeface="微软雅黑" panose="020B0503020204020204" charset="-122"/>
                <a:ea typeface="微软雅黑" panose="020B0503020204020204" charset="-122"/>
              </a:rPr>
              <a:t>）</a:t>
            </a:r>
            <a:endParaRPr lang="zh-CN" sz="1090" b="1">
              <a:solidFill>
                <a:srgbClr val="01A5B1"/>
              </a:solidFill>
              <a:latin typeface="微软雅黑" panose="020B0503020204020204" charset="-122"/>
              <a:ea typeface="微软雅黑" panose="020B0503020204020204" charset="-122"/>
            </a:endParaRPr>
          </a:p>
        </p:txBody>
      </p:sp>
      <p:sp>
        <p:nvSpPr>
          <p:cNvPr id="28" name="文本框 27" descr="{&quot;isTemplate&quot;:true,&quot;type&quot;:&quot;text&quot;}"/>
          <p:cNvSpPr txBox="1"/>
          <p:nvPr/>
        </p:nvSpPr>
        <p:spPr>
          <a:xfrm>
            <a:off x="971550" y="2181225"/>
            <a:ext cx="4095750" cy="6858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美国股市存在</a:t>
            </a:r>
            <a:r>
              <a:rPr lang="zh-CN" sz="940" b="1">
                <a:solidFill>
                  <a:srgbClr val="1F1F1F"/>
                </a:solidFill>
                <a:latin typeface="微软雅黑" panose="020B0503020204020204" charset="-122"/>
                <a:ea typeface="微软雅黑" panose="020B0503020204020204" charset="-122"/>
              </a:rPr>
              <a:t>显著动量效应</a:t>
            </a:r>
            <a:r>
              <a:rPr lang="zh-CN" sz="940">
                <a:solidFill>
                  <a:srgbClr val="1F1F1F"/>
                </a:solidFill>
                <a:latin typeface="微软雅黑" panose="020B0503020204020204" charset="-122"/>
                <a:ea typeface="微软雅黑" panose="020B0503020204020204" charset="-122"/>
              </a:rPr>
              <a:t>：过去</a:t>
            </a:r>
            <a:r>
              <a:rPr lang="en-US" sz="940">
                <a:solidFill>
                  <a:srgbClr val="1F1F1F"/>
                </a:solidFill>
                <a:latin typeface="微软雅黑" panose="020B0503020204020204" charset="-122"/>
                <a:ea typeface="微软雅黑" panose="020B0503020204020204" charset="-122"/>
              </a:rPr>
              <a:t> 2–12 </a:t>
            </a:r>
            <a:r>
              <a:rPr lang="zh-CN" sz="940">
                <a:solidFill>
                  <a:srgbClr val="1F1F1F"/>
                </a:solidFill>
                <a:latin typeface="微软雅黑" panose="020B0503020204020204" charset="-122"/>
                <a:ea typeface="微软雅黑" panose="020B0503020204020204" charset="-122"/>
              </a:rPr>
              <a:t>个月累计历史收益率越高，未来股票收益率也越高；五因子模型并不能很好地解释动量效应，加入动量因子后可显著提高模型表现。</a:t>
            </a:r>
            <a:endParaRPr lang="zh-CN" sz="940">
              <a:solidFill>
                <a:srgbClr val="1F1F1F"/>
              </a:solidFill>
              <a:latin typeface="微软雅黑" panose="020B0503020204020204" charset="-122"/>
              <a:ea typeface="微软雅黑" panose="020B0503020204020204" charset="-122"/>
            </a:endParaRPr>
          </a:p>
        </p:txBody>
      </p:sp>
      <p:sp>
        <p:nvSpPr>
          <p:cNvPr id="29" name="圆角矩形 28"/>
          <p:cNvSpPr/>
          <p:nvPr/>
        </p:nvSpPr>
        <p:spPr>
          <a:xfrm>
            <a:off x="800100" y="3162300"/>
            <a:ext cx="4476750" cy="1238250"/>
          </a:xfrm>
          <a:prstGeom prst="roundRect">
            <a:avLst>
              <a:gd name="adj" fmla="val 7692"/>
            </a:avLst>
          </a:prstGeom>
          <a:solidFill>
            <a:srgbClr val="01A5B1">
              <a:alpha val="10000"/>
            </a:srgbClr>
          </a:solidFill>
        </p:spPr>
        <p:txBody>
          <a:bodyPr/>
          <a:p/>
        </p:txBody>
      </p:sp>
      <p:sp>
        <p:nvSpPr>
          <p:cNvPr id="30" name="任意多边形 29"/>
          <p:cNvSpPr/>
          <p:nvPr/>
        </p:nvSpPr>
        <p:spPr>
          <a:xfrm>
            <a:off x="800100" y="3162300"/>
            <a:ext cx="4476750" cy="1238250"/>
          </a:xfrm>
          <a:custGeom>
            <a:avLst/>
            <a:gdLst/>
            <a:ahLst/>
            <a:cxnLst/>
            <a:pathLst>
              <a:path w="470" h="130">
                <a:moveTo>
                  <a:pt x="9" y="0"/>
                </a:moveTo>
                <a:cubicBezTo>
                  <a:pt x="6" y="0"/>
                  <a:pt x="4" y="3"/>
                  <a:pt x="4" y="6"/>
                </a:cubicBezTo>
                <a:lnTo>
                  <a:pt x="4" y="124"/>
                </a:lnTo>
                <a:cubicBezTo>
                  <a:pt x="4" y="127"/>
                  <a:pt x="6" y="129"/>
                  <a:pt x="9" y="130"/>
                </a:cubicBezTo>
                <a:cubicBezTo>
                  <a:pt x="4" y="129"/>
                  <a:pt x="0" y="125"/>
                  <a:pt x="0" y="120"/>
                </a:cubicBezTo>
                <a:lnTo>
                  <a:pt x="0" y="10"/>
                </a:lnTo>
                <a:cubicBezTo>
                  <a:pt x="0" y="5"/>
                  <a:pt x="4" y="0"/>
                  <a:pt x="10" y="0"/>
                </a:cubicBezTo>
                <a:close/>
              </a:path>
            </a:pathLst>
          </a:custGeom>
          <a:solidFill>
            <a:srgbClr val="01A5B1"/>
          </a:solidFill>
        </p:spPr>
        <p:txBody>
          <a:bodyPr/>
          <a:p/>
        </p:txBody>
      </p:sp>
      <p:sp>
        <p:nvSpPr>
          <p:cNvPr id="31" name="圆角矩形 30"/>
          <p:cNvSpPr/>
          <p:nvPr/>
        </p:nvSpPr>
        <p:spPr>
          <a:xfrm>
            <a:off x="971550" y="3305175"/>
            <a:ext cx="209550" cy="209550"/>
          </a:xfrm>
          <a:prstGeom prst="roundRect">
            <a:avLst>
              <a:gd name="adj" fmla="val 50000"/>
            </a:avLst>
          </a:prstGeom>
          <a:solidFill>
            <a:srgbClr val="01A5B1"/>
          </a:solidFill>
        </p:spPr>
        <p:txBody>
          <a:bodyPr/>
          <a:p/>
        </p:txBody>
      </p:sp>
      <p:sp>
        <p:nvSpPr>
          <p:cNvPr id="32" name="文本框 31" descr="{&quot;isTemplate&quot;:true,&quot;type&quot;:&quot;text&quot;}"/>
          <p:cNvSpPr txBox="1"/>
          <p:nvPr/>
        </p:nvSpPr>
        <p:spPr>
          <a:xfrm>
            <a:off x="1038225" y="334327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2</a:t>
            </a:r>
            <a:endParaRPr lang="en-US" sz="900" b="1">
              <a:solidFill>
                <a:srgbClr val="FFFFFF"/>
              </a:solidFill>
              <a:latin typeface="微软雅黑" panose="020B0503020204020204" charset="-122"/>
              <a:ea typeface="微软雅黑" panose="020B0503020204020204" charset="-122"/>
            </a:endParaRPr>
          </a:p>
        </p:txBody>
      </p:sp>
      <p:sp>
        <p:nvSpPr>
          <p:cNvPr id="33" name="文本框 32" descr="{&quot;isTemplate&quot;:true,&quot;type&quot;:&quot;text&quot;}"/>
          <p:cNvSpPr txBox="1"/>
          <p:nvPr/>
        </p:nvSpPr>
        <p:spPr>
          <a:xfrm>
            <a:off x="1257300" y="3324225"/>
            <a:ext cx="1762125" cy="171450"/>
          </a:xfrm>
          <a:prstGeom prst="rect">
            <a:avLst/>
          </a:prstGeom>
        </p:spPr>
        <p:txBody>
          <a:bodyPr wrap="none" lIns="0" tIns="0" rIns="0" bIns="0"/>
          <a:p>
            <a:pPr>
              <a:lnSpc>
                <a:spcPct val="100000"/>
              </a:lnSpc>
            </a:pPr>
            <a:r>
              <a:rPr lang="en-US" sz="1090" b="1">
                <a:solidFill>
                  <a:srgbClr val="01A5B1"/>
                </a:solidFill>
                <a:latin typeface="微软雅黑" panose="020B0503020204020204" charset="-122"/>
                <a:ea typeface="微软雅黑" panose="020B0503020204020204" charset="-122"/>
              </a:rPr>
              <a:t>A</a:t>
            </a:r>
            <a:r>
              <a:rPr lang="zh-CN" sz="1090" b="1">
                <a:solidFill>
                  <a:srgbClr val="01A5B1"/>
                </a:solidFill>
                <a:latin typeface="微软雅黑" panose="020B0503020204020204" charset="-122"/>
                <a:ea typeface="微软雅黑" panose="020B0503020204020204" charset="-122"/>
              </a:rPr>
              <a:t>股特殊背景：股权分置改革</a:t>
            </a:r>
            <a:endParaRPr lang="zh-CN" sz="1090" b="1">
              <a:solidFill>
                <a:srgbClr val="01A5B1"/>
              </a:solidFill>
              <a:latin typeface="微软雅黑" panose="020B0503020204020204" charset="-122"/>
              <a:ea typeface="微软雅黑" panose="020B0503020204020204" charset="-122"/>
            </a:endParaRPr>
          </a:p>
        </p:txBody>
      </p:sp>
      <p:sp>
        <p:nvSpPr>
          <p:cNvPr id="34" name="文本框 33" descr="{&quot;isTemplate&quot;:true,&quot;type&quot;:&quot;text&quot;}"/>
          <p:cNvSpPr txBox="1"/>
          <p:nvPr/>
        </p:nvSpPr>
        <p:spPr>
          <a:xfrm>
            <a:off x="971550" y="3571875"/>
            <a:ext cx="4095750" cy="6858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股改完成后，上市公司股价与公司内在价值的相关性显著提高（杨善林等</a:t>
            </a:r>
            <a:r>
              <a:rPr lang="en-US" sz="940">
                <a:solidFill>
                  <a:srgbClr val="1F1F1F"/>
                </a:solidFill>
                <a:latin typeface="微软雅黑" panose="020B0503020204020204" charset="-122"/>
                <a:ea typeface="微软雅黑" panose="020B0503020204020204" charset="-122"/>
              </a:rPr>
              <a:t>, 2006</a:t>
            </a:r>
            <a:r>
              <a:rPr lang="zh-CN" sz="940">
                <a:solidFill>
                  <a:srgbClr val="1F1F1F"/>
                </a:solidFill>
                <a:latin typeface="微软雅黑" panose="020B0503020204020204" charset="-122"/>
                <a:ea typeface="微软雅黑" panose="020B0503020204020204" charset="-122"/>
              </a:rPr>
              <a:t>），股价和收益率趋于理性（吴晓求</a:t>
            </a:r>
            <a:r>
              <a:rPr lang="en-US" sz="940">
                <a:solidFill>
                  <a:srgbClr val="1F1F1F"/>
                </a:solidFill>
                <a:latin typeface="微软雅黑" panose="020B0503020204020204" charset="-122"/>
                <a:ea typeface="微软雅黑" panose="020B0503020204020204" charset="-122"/>
              </a:rPr>
              <a:t>, 2006</a:t>
            </a:r>
            <a:r>
              <a:rPr lang="zh-CN" sz="940">
                <a:solidFill>
                  <a:srgbClr val="1F1F1F"/>
                </a:solidFill>
                <a:latin typeface="微软雅黑" panose="020B0503020204020204" charset="-122"/>
                <a:ea typeface="微软雅黑" panose="020B0503020204020204" charset="-122"/>
              </a:rPr>
              <a:t>）→</a:t>
            </a:r>
            <a:r>
              <a:rPr lang="en-US" sz="940">
                <a:solidFill>
                  <a:srgbClr val="1F1F1F"/>
                </a:solidFill>
                <a:latin typeface="微软雅黑" panose="020B0503020204020204" charset="-122"/>
                <a:ea typeface="微软雅黑" panose="020B0503020204020204" charset="-122"/>
              </a:rPr>
              <a:t> </a:t>
            </a:r>
            <a:r>
              <a:rPr lang="zh-CN" sz="940" b="1">
                <a:solidFill>
                  <a:srgbClr val="E8503A"/>
                </a:solidFill>
                <a:latin typeface="微软雅黑" panose="020B0503020204020204" charset="-122"/>
                <a:ea typeface="微软雅黑" panose="020B0503020204020204" charset="-122"/>
              </a:rPr>
              <a:t>股改前后动量因子表现可能发生变化</a:t>
            </a:r>
            <a:r>
              <a:rPr lang="zh-CN" sz="940">
                <a:solidFill>
                  <a:srgbClr val="1F1F1F"/>
                </a:solidFill>
                <a:latin typeface="微软雅黑" panose="020B0503020204020204" charset="-122"/>
                <a:ea typeface="微软雅黑" panose="020B0503020204020204" charset="-122"/>
              </a:rPr>
              <a:t>，需对比分析。</a:t>
            </a:r>
            <a:endParaRPr lang="zh-CN" sz="940">
              <a:solidFill>
                <a:srgbClr val="1F1F1F"/>
              </a:solidFill>
              <a:latin typeface="微软雅黑" panose="020B0503020204020204" charset="-122"/>
              <a:ea typeface="微软雅黑" panose="020B0503020204020204" charset="-122"/>
            </a:endParaRPr>
          </a:p>
        </p:txBody>
      </p:sp>
      <p:sp>
        <p:nvSpPr>
          <p:cNvPr id="35" name="圆角矩形 34"/>
          <p:cNvSpPr/>
          <p:nvPr/>
        </p:nvSpPr>
        <p:spPr>
          <a:xfrm>
            <a:off x="800100" y="4552950"/>
            <a:ext cx="4476750" cy="1009650"/>
          </a:xfrm>
          <a:prstGeom prst="roundRect">
            <a:avLst>
              <a:gd name="adj" fmla="val 9434"/>
            </a:avLst>
          </a:prstGeom>
          <a:solidFill>
            <a:srgbClr val="01A5B1">
              <a:alpha val="10000"/>
            </a:srgbClr>
          </a:solidFill>
        </p:spPr>
        <p:txBody>
          <a:bodyPr/>
          <a:p/>
        </p:txBody>
      </p:sp>
      <p:sp>
        <p:nvSpPr>
          <p:cNvPr id="36" name="任意多边形 35"/>
          <p:cNvSpPr/>
          <p:nvPr/>
        </p:nvSpPr>
        <p:spPr>
          <a:xfrm>
            <a:off x="800100" y="4552950"/>
            <a:ext cx="4476750" cy="1009650"/>
          </a:xfrm>
          <a:custGeom>
            <a:avLst/>
            <a:gdLst/>
            <a:ahLst/>
            <a:cxnLst/>
            <a:pathLst>
              <a:path w="470" h="106">
                <a:moveTo>
                  <a:pt x="9" y="0"/>
                </a:moveTo>
                <a:cubicBezTo>
                  <a:pt x="6" y="0"/>
                  <a:pt x="4" y="3"/>
                  <a:pt x="4" y="6"/>
                </a:cubicBezTo>
                <a:lnTo>
                  <a:pt x="4" y="100"/>
                </a:lnTo>
                <a:cubicBezTo>
                  <a:pt x="4" y="103"/>
                  <a:pt x="6" y="105"/>
                  <a:pt x="9" y="106"/>
                </a:cubicBezTo>
                <a:cubicBezTo>
                  <a:pt x="4" y="105"/>
                  <a:pt x="0" y="101"/>
                  <a:pt x="0" y="96"/>
                </a:cubicBezTo>
                <a:lnTo>
                  <a:pt x="0" y="10"/>
                </a:lnTo>
                <a:cubicBezTo>
                  <a:pt x="0" y="5"/>
                  <a:pt x="4" y="0"/>
                  <a:pt x="10" y="0"/>
                </a:cubicBezTo>
                <a:close/>
              </a:path>
            </a:pathLst>
          </a:custGeom>
          <a:solidFill>
            <a:srgbClr val="E8503A"/>
          </a:solidFill>
        </p:spPr>
        <p:txBody>
          <a:bodyPr/>
          <a:p/>
        </p:txBody>
      </p:sp>
      <p:sp>
        <p:nvSpPr>
          <p:cNvPr id="37" name="圆角矩形 36"/>
          <p:cNvSpPr/>
          <p:nvPr/>
        </p:nvSpPr>
        <p:spPr>
          <a:xfrm>
            <a:off x="971550" y="4695825"/>
            <a:ext cx="209550" cy="209550"/>
          </a:xfrm>
          <a:prstGeom prst="roundRect">
            <a:avLst>
              <a:gd name="adj" fmla="val 50000"/>
            </a:avLst>
          </a:prstGeom>
          <a:solidFill>
            <a:srgbClr val="E8503A"/>
          </a:solidFill>
        </p:spPr>
        <p:txBody>
          <a:bodyPr/>
          <a:p/>
        </p:txBody>
      </p:sp>
      <p:sp>
        <p:nvSpPr>
          <p:cNvPr id="38" name="文本框 37" descr="{&quot;isTemplate&quot;:true,&quot;type&quot;:&quot;text&quot;}"/>
          <p:cNvSpPr txBox="1"/>
          <p:nvPr/>
        </p:nvSpPr>
        <p:spPr>
          <a:xfrm>
            <a:off x="1038225" y="473392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3</a:t>
            </a:r>
            <a:endParaRPr lang="en-US" sz="900" b="1">
              <a:solidFill>
                <a:srgbClr val="FFFFFF"/>
              </a:solidFill>
              <a:latin typeface="微软雅黑" panose="020B0503020204020204" charset="-122"/>
              <a:ea typeface="微软雅黑" panose="020B0503020204020204" charset="-122"/>
            </a:endParaRPr>
          </a:p>
        </p:txBody>
      </p:sp>
      <p:sp>
        <p:nvSpPr>
          <p:cNvPr id="39" name="文本框 38" descr="{&quot;isTemplate&quot;:true,&quot;type&quot;:&quot;text&quot;}"/>
          <p:cNvSpPr txBox="1"/>
          <p:nvPr/>
        </p:nvSpPr>
        <p:spPr>
          <a:xfrm>
            <a:off x="1257300" y="4714875"/>
            <a:ext cx="695325" cy="171450"/>
          </a:xfrm>
          <a:prstGeom prst="rect">
            <a:avLst/>
          </a:prstGeom>
        </p:spPr>
        <p:txBody>
          <a:bodyPr wrap="none" lIns="0" tIns="0" rIns="0" bIns="0"/>
          <a:p>
            <a:pPr>
              <a:lnSpc>
                <a:spcPct val="100000"/>
              </a:lnSpc>
            </a:pPr>
            <a:r>
              <a:rPr lang="zh-CN" sz="1090" b="1">
                <a:solidFill>
                  <a:srgbClr val="E8503A"/>
                </a:solidFill>
                <a:latin typeface="微软雅黑" panose="020B0503020204020204" charset="-122"/>
                <a:ea typeface="微软雅黑" panose="020B0503020204020204" charset="-122"/>
              </a:rPr>
              <a:t>本部分任务</a:t>
            </a:r>
            <a:endParaRPr lang="zh-CN" sz="1090" b="1">
              <a:solidFill>
                <a:srgbClr val="E8503A"/>
              </a:solidFill>
              <a:latin typeface="微软雅黑" panose="020B0503020204020204" charset="-122"/>
              <a:ea typeface="微软雅黑" panose="020B0503020204020204" charset="-122"/>
            </a:endParaRPr>
          </a:p>
        </p:txBody>
      </p:sp>
      <p:sp>
        <p:nvSpPr>
          <p:cNvPr id="40" name="文本框 39" descr="{&quot;isTemplate&quot;:true,&quot;type&quot;:&quot;text&quot;}"/>
          <p:cNvSpPr txBox="1"/>
          <p:nvPr/>
        </p:nvSpPr>
        <p:spPr>
          <a:xfrm>
            <a:off x="971550" y="4962525"/>
            <a:ext cx="4095750" cy="4572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为避免其他因子的干扰，以</a:t>
            </a:r>
            <a:r>
              <a:rPr lang="zh-CN" sz="940" b="1">
                <a:solidFill>
                  <a:srgbClr val="1F1F1F"/>
                </a:solidFill>
                <a:latin typeface="微软雅黑" panose="020B0503020204020204" charset="-122"/>
                <a:ea typeface="微软雅黑" panose="020B0503020204020204" charset="-122"/>
              </a:rPr>
              <a:t>全样本</a:t>
            </a:r>
            <a:r>
              <a:rPr lang="en-US" sz="940" b="1">
                <a:solidFill>
                  <a:srgbClr val="1F1F1F"/>
                </a:solidFill>
                <a:latin typeface="微软雅黑" panose="020B0503020204020204" charset="-122"/>
                <a:ea typeface="微软雅黑" panose="020B0503020204020204" charset="-122"/>
              </a:rPr>
              <a:t> + </a:t>
            </a:r>
            <a:r>
              <a:rPr lang="zh-CN" sz="940" b="1">
                <a:solidFill>
                  <a:srgbClr val="1F1F1F"/>
                </a:solidFill>
                <a:latin typeface="微软雅黑" panose="020B0503020204020204" charset="-122"/>
                <a:ea typeface="微软雅黑" panose="020B0503020204020204" charset="-122"/>
              </a:rPr>
              <a:t>分时期</a:t>
            </a:r>
            <a:r>
              <a:rPr lang="zh-CN" sz="940">
                <a:solidFill>
                  <a:srgbClr val="1F1F1F"/>
                </a:solidFill>
                <a:latin typeface="微软雅黑" panose="020B0503020204020204" charset="-122"/>
                <a:ea typeface="微软雅黑" panose="020B0503020204020204" charset="-122"/>
              </a:rPr>
              <a:t>下</a:t>
            </a:r>
            <a:r>
              <a:rPr lang="en-US" sz="940">
                <a:solidFill>
                  <a:srgbClr val="1F1F1F"/>
                </a:solidFill>
                <a:latin typeface="微软雅黑" panose="020B0503020204020204" charset="-122"/>
                <a:ea typeface="微软雅黑" panose="020B0503020204020204" charset="-122"/>
              </a:rPr>
              <a:t>"</a:t>
            </a:r>
            <a:r>
              <a:rPr lang="zh-CN" sz="940">
                <a:solidFill>
                  <a:srgbClr val="1F1F1F"/>
                </a:solidFill>
                <a:latin typeface="微软雅黑" panose="020B0503020204020204" charset="-122"/>
                <a:ea typeface="微软雅黑" panose="020B0503020204020204" charset="-122"/>
              </a:rPr>
              <a:t>动量因子相对五因子模型的</a:t>
            </a:r>
            <a:r>
              <a:rPr lang="zh-CN" sz="940" b="1">
                <a:solidFill>
                  <a:srgbClr val="1F1F1F"/>
                </a:solidFill>
                <a:latin typeface="微软雅黑" panose="020B0503020204020204" charset="-122"/>
                <a:ea typeface="微软雅黑" panose="020B0503020204020204" charset="-122"/>
              </a:rPr>
              <a:t>冗余检验</a:t>
            </a:r>
            <a:r>
              <a:rPr lang="en-US" sz="940">
                <a:solidFill>
                  <a:srgbClr val="1F1F1F"/>
                </a:solidFill>
                <a:latin typeface="微软雅黑" panose="020B0503020204020204" charset="-122"/>
                <a:ea typeface="微软雅黑" panose="020B0503020204020204" charset="-122"/>
              </a:rPr>
              <a:t>"</a:t>
            </a:r>
            <a:r>
              <a:rPr lang="zh-CN" sz="940">
                <a:solidFill>
                  <a:srgbClr val="1F1F1F"/>
                </a:solidFill>
                <a:latin typeface="微软雅黑" panose="020B0503020204020204" charset="-122"/>
                <a:ea typeface="微软雅黑" panose="020B0503020204020204" charset="-122"/>
              </a:rPr>
              <a:t>结果，判断</a:t>
            </a:r>
            <a:r>
              <a:rPr lang="en-US" sz="940">
                <a:solidFill>
                  <a:srgbClr val="1F1F1F"/>
                </a:solidFill>
                <a:latin typeface="微软雅黑" panose="020B0503020204020204" charset="-122"/>
                <a:ea typeface="微软雅黑" panose="020B0503020204020204" charset="-122"/>
              </a:rPr>
              <a:t> A </a:t>
            </a:r>
            <a:r>
              <a:rPr lang="zh-CN" sz="940">
                <a:solidFill>
                  <a:srgbClr val="1F1F1F"/>
                </a:solidFill>
                <a:latin typeface="微软雅黑" panose="020B0503020204020204" charset="-122"/>
                <a:ea typeface="微软雅黑" panose="020B0503020204020204" charset="-122"/>
              </a:rPr>
              <a:t>股市场动量或反转效应的存在性。</a:t>
            </a:r>
            <a:endParaRPr lang="zh-CN" sz="940">
              <a:solidFill>
                <a:srgbClr val="1F1F1F"/>
              </a:solidFill>
              <a:latin typeface="微软雅黑" panose="020B0503020204020204" charset="-122"/>
              <a:ea typeface="微软雅黑" panose="020B0503020204020204" charset="-122"/>
            </a:endParaRPr>
          </a:p>
        </p:txBody>
      </p:sp>
      <p:sp>
        <p:nvSpPr>
          <p:cNvPr id="41" name="矩形 40"/>
          <p:cNvSpPr/>
          <p:nvPr/>
        </p:nvSpPr>
        <p:spPr>
          <a:xfrm>
            <a:off x="5495925" y="2295525"/>
            <a:ext cx="5905500" cy="2543175"/>
          </a:xfrm>
          <a:prstGeom prst="rect">
            <a:avLst/>
          </a:prstGeom>
          <a:ln w="12700">
            <a:solidFill>
              <a:srgbClr val="E0E0E0"/>
            </a:solidFill>
            <a:prstDash val="solid"/>
          </a:ln>
        </p:spPr>
        <p:txBody>
          <a:bodyPr/>
          <a:p/>
        </p:txBody>
      </p:sp>
      <p:pic>
        <p:nvPicPr>
          <p:cNvPr id="42" name="图片 41"/>
          <p:cNvPicPr>
            <a:picLocks noChangeAspect="1"/>
          </p:cNvPicPr>
          <p:nvPr/>
        </p:nvPicPr>
        <p:blipFill>
          <a:blip r:embed="rId2"/>
          <a:srcRect t="84" b="84"/>
          <a:stretch>
            <a:fillRect/>
          </a:stretch>
        </p:blipFill>
        <p:spPr>
          <a:xfrm>
            <a:off x="5495925" y="2295525"/>
            <a:ext cx="5905500" cy="2543175"/>
          </a:xfrm>
          <a:prstGeom prst="roundRect">
            <a:avLst>
              <a:gd name="adj" fmla="val 1498"/>
            </a:avLst>
          </a:prstGeom>
          <a:effectLst>
            <a:outerShdw blurRad="95250" dist="19050" dir="5400000">
              <a:srgbClr val="000000">
                <a:alpha val="8000"/>
              </a:srgbClr>
            </a:outerShdw>
          </a:effectLst>
        </p:spPr>
      </p:pic>
      <p:sp>
        <p:nvSpPr>
          <p:cNvPr id="43" name="文本框 42" descr="{&quot;isTemplate&quot;:true,&quot;type&quot;:&quot;text&quot;}"/>
          <p:cNvSpPr txBox="1"/>
          <p:nvPr/>
        </p:nvSpPr>
        <p:spPr>
          <a:xfrm>
            <a:off x="7105650" y="4914900"/>
            <a:ext cx="2686050"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第六部分开篇：动量效应的研究背景与任务设定</a:t>
            </a:r>
            <a:endParaRPr lang="zh-CN" sz="790">
              <a:solidFill>
                <a:srgbClr val="8A8A8A"/>
              </a:solidFill>
              <a:latin typeface="微软雅黑" panose="020B0503020204020204" charset="-122"/>
              <a:ea typeface="微软雅黑" panose="020B0503020204020204" charset="-122"/>
            </a:endParaRPr>
          </a:p>
        </p:txBody>
      </p:sp>
      <p:sp>
        <p:nvSpPr>
          <p:cNvPr id="44" name="Rectangle 43"/>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47" name="TextBox 46"/>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48" name="TextBox 47"/>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49" name="TextBox 48"/>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50" name="TextBox 49"/>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51" name="Rectangle 50"/>
          <p:cNvSpPr/>
          <p:nvPr/>
        </p:nvSpPr>
        <p:spPr>
          <a:xfrm>
            <a:off x="7620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665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动量因子</a:t>
            </a:r>
          </a:p>
        </p:txBody>
      </p:sp>
      <p:sp>
        <p:nvSpPr>
          <p:cNvPr id="53" name="TextBox 52"/>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54" name="TextBox 53"/>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46"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检验设计：为什么只比较 FF5 与 FF5+MOM？&lt;/Text&gt;&#10;        &lt;/Box&gt;&#10;        &lt;Box style={{ flexDirection: 'row', gap: 12, marginBottom: 12 }}&gt;&#10;            &lt;Box style={{ flex: 1, background: 'rgba(1,165,177,0.10)', borderRadius: 10, padding: '12px 14px', borderTop: '3px solid #01A5B1' }}&gt;&#10;                &lt;Text style={{ fontSize: 13.5, fontWeight: 'bold', color: '#01A5B1', marginBottom: 4 }}&gt;① 分组方式决定加入MOM的意义&lt;/Text&gt;&#10;                &lt;Text style={{ fontSize: 11.5, color: '#1F1F1F', lineHeight: 1.55 }}&gt;FF(2016)：按&lt;span style={{ fontWeight: 'bold' }}&gt;其他变量&lt;/span&gt;分组时无法提供足够动量差异，加入 MOM 无帮助；按&lt;span style={{ fontWeight: 'bold' }}&gt;规模 × 累计历史收益&lt;/span&gt;分组时，加入动量因子才能提高模型表现。&lt;/Text&gt;&#10;            &lt;/Box&gt;&#10;            &lt;Box style={{ flex: 1, background: 'rgba(1,165,177,0.10)', borderRadius: 10, padding: '12px 14px', borderTop: '3px solid #01A5B1' }}&gt;&#10;                &lt;Text style={{ fontSize: 13.5, fontWeight: 'bold', color: '#01A5B1', marginBottom: 4 }}&gt;② 本文得到相同发现&lt;/Text&gt;&#10;                &lt;Text style={{ fontSize: 11.5, color: '#1F1F1F', lineHeight: 1.55 }}&gt;中国市场中同样只有按照&lt;span style={{ fontWeight: 'bold' }}&gt;规模与累计历史收益率（size-prior 2–12）&lt;/span&gt;分组时，加入动量因子才有意义。&lt;/Text&gt;&#10;            &lt;/Box&gt;&#10;        &lt;/Box&gt;&#10;        &lt;Box style={{ flexDirection: 'row', gap: 12, marginBottom: 12 }}&gt;&#10;            &lt;Box style={{ flex: 1, background: 'rgba(1,165,177,0.10)', borderRadius: 10, padding: '12px 14px', borderTop: '3px solid #01A5B1' }}&gt;&#10;                &lt;Text style={{ fontSize: 13.5, fontWeight: 'bold', color: '#01A5B1', marginBottom: 4 }}&gt;③ 比较范围：全样本 + 股改后&lt;/Text&gt;&#10;                &lt;Text style={{ fontSize: 11.5, color: '#1F1F1F', lineHeight: 1.55 }}&gt;股改前风险太单一，比较模型表现&lt;span style={{ fontWeight: 'bold' }}&gt;意义不大&lt;/span&gt; → 仅在 size-prior 2–12 分组下，对全样本与股改后样本比较五因子与六因子模型。&lt;/Text&gt;&#10;            &lt;/Box&gt;&#10;            &lt;Box style={{ flex: 1, background: 'rgba(1,165,177,0.10)', borderRadius: 10, padding: '12px 14px', borderTop: '3px solid #E8503A' }}&gt;&#10;                &lt;Text style={{ fontSize: 13.5, fontWeight: 'bold', color: '#E8503A', marginBottom: 4 }}&gt;④ 四种评价指标&lt;/Text&gt;&#10;                &lt;Text style={{ fontSize: 11.5, color: '#1F1F1F', lineHeight: 1.55 }}&gt;从&lt;span style={{ fontWeight: 'bold' }}&gt;全样本 GRS&lt;/span&gt; 与其余 3 个截距项指标（A|aᵢ|、A|aᵢ|/A|r̄ᵢ|、A|aᵢ²|/A|r̄ᵢ²|）看，六因子模型表现有所提升。&lt;/Text&gt;&#10;            &lt;/Box&gt;&#10;        &lt;/Box&gt;&#10;        &lt;Box style={{ flex: 1, flexDirection: 'column', alignItems: 'center', gap: 8 }}&gt;&#10;            &lt;Image src=&quot;assets/design.png&quot; style={{ width: 780, height: 316, border: '1px solid #E0E0E0', borderRadius: 4, boxShadow: '0 2px 10px rgba(0,0,0,0.08)' }} /&gt;&#10;            &lt;Text style={{ fontSize: 10.5, color: '#8A8A8A' }}&gt;原论文截图 · 检验设计：分组依据与五因子 / 六因子模型比较思路&lt;/Text&gt;&#10;        &lt;/Box&gt;&#10;        &lt;Box style={{ height: 40, flexDirection: 'row', alignItems: 'center', justifyContent: 'space-between' }}&gt;&#10;            &lt;Text style={{ fontSize: 12, color: '#8A8A8A' }}&gt;三维结构法 · FF5 中国实证拆解&lt;/Text&gt;&#10;            &lt;Text style={{ fontSize: 12, color: '#8A8A8A' }}&gt;03 / 07&lt;/Text&gt;&#10;        &lt;/Box&gt;&#10;    &lt;/Box&gt;&#10;&lt;/Slide&gt;"/>
        <p:cNvGrpSpPr/>
        <p:nvPr/>
      </p:nvGrpSpPr>
      <p:grpSpPr>
        <a:xfrm>
          <a:off x="0" y="0"/>
          <a:ext cx="0" cy="0"/>
          <a:chOff x="0" y="0"/>
          <a:chExt cx="0" cy="0"/>
        </a:xfrm>
      </p:grpSpPr>
      <p:sp>
        <p:nvSpPr>
          <p:cNvPr id="47" name="矩形 46"/>
          <p:cNvSpPr/>
          <p:nvPr/>
        </p:nvSpPr>
        <p:spPr>
          <a:xfrm>
            <a:off x="0" y="0"/>
            <a:ext cx="12192000" cy="6858000"/>
          </a:xfrm>
          <a:prstGeom prst="rect">
            <a:avLst/>
          </a:prstGeom>
          <a:solidFill>
            <a:srgbClr val="FFFFFF"/>
          </a:solidFill>
        </p:spPr>
        <p:txBody>
          <a:bodyPr/>
          <a:p/>
        </p:txBody>
      </p:sp>
      <p:pic>
        <p:nvPicPr>
          <p:cNvPr id="48" name="图片 47"/>
          <p:cNvPicPr>
            <a:picLocks noChangeAspect="1"/>
          </p:cNvPicPr>
          <p:nvPr/>
        </p:nvPicPr>
        <p:blipFill>
          <a:blip r:embed="rId1"/>
          <a:stretch>
            <a:fillRect/>
          </a:stretch>
        </p:blipFill>
        <p:spPr>
          <a:xfrm>
            <a:off x="0" y="0"/>
            <a:ext cx="12192000" cy="6858000"/>
          </a:xfrm>
          <a:prstGeom prst="rect">
            <a:avLst/>
          </a:prstGeom>
        </p:spPr>
      </p:pic>
      <p:sp>
        <p:nvSpPr>
          <p:cNvPr id="49" name="矩形 48"/>
          <p:cNvSpPr/>
          <p:nvPr/>
        </p:nvSpPr>
        <p:spPr>
          <a:xfrm>
            <a:off x="762000" y="304800"/>
            <a:ext cx="57150" cy="342900"/>
          </a:xfrm>
          <a:prstGeom prst="rect">
            <a:avLst/>
          </a:prstGeom>
          <a:solidFill>
            <a:srgbClr val="01A5B1"/>
          </a:solidFill>
        </p:spPr>
        <p:txBody>
          <a:bodyPr/>
          <a:p/>
        </p:txBody>
      </p:sp>
      <p:sp>
        <p:nvSpPr>
          <p:cNvPr id="50" name="文本框 49"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检验设计：为什么只比较</a:t>
            </a:r>
            <a:r>
              <a:rPr lang="en-US" sz="2200" b="1">
                <a:solidFill>
                  <a:srgbClr val="1F1F1F"/>
                </a:solidFill>
                <a:latin typeface="微软雅黑" panose="020B0503020204020204" charset="-122"/>
                <a:ea typeface="微软雅黑" panose="020B0503020204020204" charset="-122"/>
              </a:rPr>
              <a:t> FF5 </a:t>
            </a:r>
            <a:r>
              <a:rPr lang="zh-CN" sz="2200" b="1">
                <a:solidFill>
                  <a:srgbClr val="1F1F1F"/>
                </a:solidFill>
                <a:latin typeface="微软雅黑" panose="020B0503020204020204" charset="-122"/>
                <a:ea typeface="微软雅黑" panose="020B0503020204020204" charset="-122"/>
              </a:rPr>
              <a:t>与</a:t>
            </a:r>
            <a:r>
              <a:rPr lang="en-US" sz="2200" b="1">
                <a:solidFill>
                  <a:srgbClr val="1F1F1F"/>
                </a:solidFill>
                <a:latin typeface="微软雅黑" panose="020B0503020204020204" charset="-122"/>
                <a:ea typeface="微软雅黑" panose="020B0503020204020204" charset="-122"/>
              </a:rPr>
              <a:t> FF5+MOM</a:t>
            </a:r>
            <a:r>
              <a:rPr lang="zh-CN" sz="2200" b="1">
                <a:solidFill>
                  <a:srgbClr val="1F1F1F"/>
                </a:solidFill>
                <a:latin typeface="微软雅黑" panose="020B0503020204020204" charset="-122"/>
                <a:ea typeface="微软雅黑" panose="020B0503020204020204" charset="-122"/>
              </a:rPr>
              <a:t>？</a:t>
            </a:r>
            <a:endParaRPr lang="zh-CN" sz="2550" b="1">
              <a:solidFill>
                <a:srgbClr val="01A5B1"/>
              </a:solidFill>
              <a:latin typeface="微软雅黑" panose="020B0503020204020204" charset="-122"/>
              <a:ea typeface="微软雅黑" panose="020B0503020204020204" charset="-122"/>
            </a:endParaRPr>
          </a:p>
        </p:txBody>
      </p:sp>
      <p:sp>
        <p:nvSpPr>
          <p:cNvPr id="51" name="圆角矩形 50"/>
          <p:cNvSpPr/>
          <p:nvPr/>
        </p:nvSpPr>
        <p:spPr>
          <a:xfrm>
            <a:off x="762000" y="885825"/>
            <a:ext cx="5276850" cy="866775"/>
          </a:xfrm>
          <a:prstGeom prst="roundRect">
            <a:avLst>
              <a:gd name="adj" fmla="val 10989"/>
            </a:avLst>
          </a:prstGeom>
          <a:solidFill>
            <a:srgbClr val="01A5B1">
              <a:alpha val="10000"/>
            </a:srgbClr>
          </a:solidFill>
        </p:spPr>
        <p:txBody>
          <a:bodyPr/>
          <a:p/>
        </p:txBody>
      </p:sp>
      <p:sp>
        <p:nvSpPr>
          <p:cNvPr id="52" name="任意多边形 51"/>
          <p:cNvSpPr/>
          <p:nvPr/>
        </p:nvSpPr>
        <p:spPr>
          <a:xfrm>
            <a:off x="762000" y="885825"/>
            <a:ext cx="5276850" cy="866775"/>
          </a:xfrm>
          <a:custGeom>
            <a:avLst/>
            <a:gdLst/>
            <a:ahLst/>
            <a:cxnLst/>
            <a:pathLst>
              <a:path w="554" h="91">
                <a:moveTo>
                  <a:pt x="544" y="0"/>
                </a:moveTo>
                <a:cubicBezTo>
                  <a:pt x="549" y="0"/>
                  <a:pt x="553" y="3"/>
                  <a:pt x="554" y="8"/>
                </a:cubicBezTo>
                <a:cubicBezTo>
                  <a:pt x="553" y="5"/>
                  <a:pt x="550" y="3"/>
                  <a:pt x="547" y="3"/>
                </a:cubicBezTo>
                <a:lnTo>
                  <a:pt x="7" y="3"/>
                </a:lnTo>
                <a:cubicBezTo>
                  <a:pt x="4" y="3"/>
                  <a:pt x="1" y="5"/>
                  <a:pt x="0" y="8"/>
                </a:cubicBezTo>
                <a:cubicBezTo>
                  <a:pt x="1" y="3"/>
                  <a:pt x="5" y="0"/>
                  <a:pt x="10" y="0"/>
                </a:cubicBezTo>
                <a:lnTo>
                  <a:pt x="544" y="0"/>
                </a:lnTo>
                <a:close/>
              </a:path>
            </a:pathLst>
          </a:custGeom>
          <a:solidFill>
            <a:srgbClr val="01A5B1"/>
          </a:solidFill>
        </p:spPr>
        <p:txBody>
          <a:bodyPr/>
          <a:p/>
        </p:txBody>
      </p:sp>
      <p:sp>
        <p:nvSpPr>
          <p:cNvPr id="53" name="文本框 52" descr="{&quot;isTemplate&quot;:true,&quot;type&quot;:&quot;text&quot;}"/>
          <p:cNvSpPr txBox="1"/>
          <p:nvPr/>
        </p:nvSpPr>
        <p:spPr>
          <a:xfrm>
            <a:off x="895350" y="1000125"/>
            <a:ext cx="5010150" cy="161925"/>
          </a:xfrm>
          <a:prstGeom prst="rect">
            <a:avLst/>
          </a:prstGeom>
        </p:spPr>
        <p:txBody>
          <a:bodyPr wrap="none" lIns="0" tIns="0" rIns="0" bIns="0"/>
          <a:p>
            <a:pPr>
              <a:lnSpc>
                <a:spcPct val="100000"/>
              </a:lnSpc>
            </a:pPr>
            <a:r>
              <a:rPr lang="en-US" sz="1015" b="1">
                <a:solidFill>
                  <a:srgbClr val="01A5B1"/>
                </a:solidFill>
                <a:latin typeface="微软雅黑" panose="020B0503020204020204" charset="-122"/>
                <a:ea typeface="微软雅黑" panose="020B0503020204020204" charset="-122"/>
              </a:rPr>
              <a:t>① </a:t>
            </a:r>
            <a:r>
              <a:rPr lang="zh-CN" sz="1015" b="1">
                <a:solidFill>
                  <a:srgbClr val="01A5B1"/>
                </a:solidFill>
                <a:latin typeface="微软雅黑" panose="020B0503020204020204" charset="-122"/>
                <a:ea typeface="微软雅黑" panose="020B0503020204020204" charset="-122"/>
              </a:rPr>
              <a:t>分组方式决定加入</a:t>
            </a:r>
            <a:r>
              <a:rPr lang="en-US" sz="1015" b="1">
                <a:solidFill>
                  <a:srgbClr val="01A5B1"/>
                </a:solidFill>
                <a:latin typeface="微软雅黑" panose="020B0503020204020204" charset="-122"/>
                <a:ea typeface="微软雅黑" panose="020B0503020204020204" charset="-122"/>
              </a:rPr>
              <a:t>MOM</a:t>
            </a:r>
            <a:r>
              <a:rPr lang="zh-CN" sz="1015" b="1">
                <a:solidFill>
                  <a:srgbClr val="01A5B1"/>
                </a:solidFill>
                <a:latin typeface="微软雅黑" panose="020B0503020204020204" charset="-122"/>
                <a:ea typeface="微软雅黑" panose="020B0503020204020204" charset="-122"/>
              </a:rPr>
              <a:t>的意义</a:t>
            </a:r>
            <a:endParaRPr lang="zh-CN" sz="1015" b="1">
              <a:solidFill>
                <a:srgbClr val="01A5B1"/>
              </a:solidFill>
              <a:latin typeface="微软雅黑" panose="020B0503020204020204" charset="-122"/>
              <a:ea typeface="微软雅黑" panose="020B0503020204020204" charset="-122"/>
            </a:endParaRPr>
          </a:p>
        </p:txBody>
      </p:sp>
      <p:sp>
        <p:nvSpPr>
          <p:cNvPr id="54" name="文本框 53" descr="{&quot;isTemplate&quot;:true,&quot;type&quot;:&quot;text&quot;}"/>
          <p:cNvSpPr txBox="1"/>
          <p:nvPr/>
        </p:nvSpPr>
        <p:spPr>
          <a:xfrm>
            <a:off x="895350" y="1200150"/>
            <a:ext cx="5010150" cy="409575"/>
          </a:xfrm>
          <a:prstGeom prst="rect">
            <a:avLst/>
          </a:prstGeom>
        </p:spPr>
        <p:txBody>
          <a:bodyPr wrap="square" lIns="0" tIns="0" rIns="0" bIns="0">
            <a:normAutofit/>
          </a:bodyPr>
          <a:p>
            <a:pPr>
              <a:lnSpc>
                <a:spcPct val="155000"/>
              </a:lnSpc>
            </a:pPr>
            <a:r>
              <a:rPr lang="en-US" sz="865">
                <a:solidFill>
                  <a:srgbClr val="1F1F1F"/>
                </a:solidFill>
                <a:latin typeface="微软雅黑" panose="020B0503020204020204" charset="-122"/>
                <a:ea typeface="微软雅黑" panose="020B0503020204020204" charset="-122"/>
              </a:rPr>
              <a:t>FF(2016)</a:t>
            </a:r>
            <a:r>
              <a:rPr lang="zh-CN" sz="865">
                <a:solidFill>
                  <a:srgbClr val="1F1F1F"/>
                </a:solidFill>
                <a:latin typeface="微软雅黑" panose="020B0503020204020204" charset="-122"/>
                <a:ea typeface="微软雅黑" panose="020B0503020204020204" charset="-122"/>
              </a:rPr>
              <a:t>：按</a:t>
            </a:r>
            <a:r>
              <a:rPr lang="zh-CN" sz="865" b="1">
                <a:solidFill>
                  <a:srgbClr val="1F1F1F"/>
                </a:solidFill>
                <a:latin typeface="微软雅黑" panose="020B0503020204020204" charset="-122"/>
                <a:ea typeface="微软雅黑" panose="020B0503020204020204" charset="-122"/>
              </a:rPr>
              <a:t>其他变量</a:t>
            </a:r>
            <a:r>
              <a:rPr lang="zh-CN" sz="865">
                <a:solidFill>
                  <a:srgbClr val="1F1F1F"/>
                </a:solidFill>
                <a:latin typeface="微软雅黑" panose="020B0503020204020204" charset="-122"/>
                <a:ea typeface="微软雅黑" panose="020B0503020204020204" charset="-122"/>
              </a:rPr>
              <a:t>分组时无法提供足够动量差异，加入</a:t>
            </a:r>
            <a:r>
              <a:rPr lang="en-US" sz="865">
                <a:solidFill>
                  <a:srgbClr val="1F1F1F"/>
                </a:solidFill>
                <a:latin typeface="微软雅黑" panose="020B0503020204020204" charset="-122"/>
                <a:ea typeface="微软雅黑" panose="020B0503020204020204" charset="-122"/>
              </a:rPr>
              <a:t> MOM </a:t>
            </a:r>
            <a:r>
              <a:rPr lang="zh-CN" sz="865">
                <a:solidFill>
                  <a:srgbClr val="1F1F1F"/>
                </a:solidFill>
                <a:latin typeface="微软雅黑" panose="020B0503020204020204" charset="-122"/>
                <a:ea typeface="微软雅黑" panose="020B0503020204020204" charset="-122"/>
              </a:rPr>
              <a:t>无帮助；按</a:t>
            </a:r>
            <a:r>
              <a:rPr lang="zh-CN" sz="865" b="1">
                <a:solidFill>
                  <a:srgbClr val="1F1F1F"/>
                </a:solidFill>
                <a:latin typeface="微软雅黑" panose="020B0503020204020204" charset="-122"/>
                <a:ea typeface="微软雅黑" panose="020B0503020204020204" charset="-122"/>
              </a:rPr>
              <a:t>规模</a:t>
            </a:r>
            <a:r>
              <a:rPr lang="en-US" sz="865" b="1">
                <a:solidFill>
                  <a:srgbClr val="1F1F1F"/>
                </a:solidFill>
                <a:latin typeface="微软雅黑" panose="020B0503020204020204" charset="-122"/>
                <a:ea typeface="微软雅黑" panose="020B0503020204020204" charset="-122"/>
              </a:rPr>
              <a:t> × </a:t>
            </a:r>
            <a:r>
              <a:rPr lang="zh-CN" sz="865" b="1">
                <a:solidFill>
                  <a:srgbClr val="1F1F1F"/>
                </a:solidFill>
                <a:latin typeface="微软雅黑" panose="020B0503020204020204" charset="-122"/>
                <a:ea typeface="微软雅黑" panose="020B0503020204020204" charset="-122"/>
              </a:rPr>
              <a:t>累计历史收益</a:t>
            </a:r>
            <a:r>
              <a:rPr lang="zh-CN" sz="865">
                <a:solidFill>
                  <a:srgbClr val="1F1F1F"/>
                </a:solidFill>
                <a:latin typeface="微软雅黑" panose="020B0503020204020204" charset="-122"/>
                <a:ea typeface="微软雅黑" panose="020B0503020204020204" charset="-122"/>
              </a:rPr>
              <a:t>分组时，加入动量因子才能提高模型表现。</a:t>
            </a:r>
            <a:endParaRPr lang="zh-CN" sz="865">
              <a:solidFill>
                <a:srgbClr val="1F1F1F"/>
              </a:solidFill>
              <a:latin typeface="微软雅黑" panose="020B0503020204020204" charset="-122"/>
              <a:ea typeface="微软雅黑" panose="020B0503020204020204" charset="-122"/>
            </a:endParaRPr>
          </a:p>
        </p:txBody>
      </p:sp>
      <p:sp>
        <p:nvSpPr>
          <p:cNvPr id="55" name="圆角矩形 54"/>
          <p:cNvSpPr/>
          <p:nvPr/>
        </p:nvSpPr>
        <p:spPr>
          <a:xfrm>
            <a:off x="6153150" y="885825"/>
            <a:ext cx="5276850" cy="866775"/>
          </a:xfrm>
          <a:prstGeom prst="roundRect">
            <a:avLst>
              <a:gd name="adj" fmla="val 10989"/>
            </a:avLst>
          </a:prstGeom>
          <a:solidFill>
            <a:srgbClr val="01A5B1">
              <a:alpha val="10000"/>
            </a:srgbClr>
          </a:solidFill>
        </p:spPr>
        <p:txBody>
          <a:bodyPr/>
          <a:p/>
        </p:txBody>
      </p:sp>
      <p:sp>
        <p:nvSpPr>
          <p:cNvPr id="56" name="任意多边形 55"/>
          <p:cNvSpPr/>
          <p:nvPr/>
        </p:nvSpPr>
        <p:spPr>
          <a:xfrm>
            <a:off x="6153150" y="885825"/>
            <a:ext cx="5276850" cy="866775"/>
          </a:xfrm>
          <a:custGeom>
            <a:avLst/>
            <a:gdLst/>
            <a:ahLst/>
            <a:cxnLst/>
            <a:pathLst>
              <a:path w="554" h="91">
                <a:moveTo>
                  <a:pt x="544" y="0"/>
                </a:moveTo>
                <a:cubicBezTo>
                  <a:pt x="549" y="0"/>
                  <a:pt x="553" y="3"/>
                  <a:pt x="554" y="8"/>
                </a:cubicBezTo>
                <a:cubicBezTo>
                  <a:pt x="553" y="5"/>
                  <a:pt x="550" y="3"/>
                  <a:pt x="547" y="3"/>
                </a:cubicBezTo>
                <a:lnTo>
                  <a:pt x="7" y="3"/>
                </a:lnTo>
                <a:cubicBezTo>
                  <a:pt x="4" y="3"/>
                  <a:pt x="1" y="5"/>
                  <a:pt x="0" y="8"/>
                </a:cubicBezTo>
                <a:cubicBezTo>
                  <a:pt x="1" y="3"/>
                  <a:pt x="5" y="0"/>
                  <a:pt x="10" y="0"/>
                </a:cubicBezTo>
                <a:lnTo>
                  <a:pt x="544" y="0"/>
                </a:lnTo>
                <a:close/>
              </a:path>
            </a:pathLst>
          </a:custGeom>
          <a:solidFill>
            <a:srgbClr val="01A5B1"/>
          </a:solidFill>
        </p:spPr>
        <p:txBody>
          <a:bodyPr/>
          <a:p/>
        </p:txBody>
      </p:sp>
      <p:sp>
        <p:nvSpPr>
          <p:cNvPr id="57" name="文本框 56" descr="{&quot;isTemplate&quot;:true,&quot;type&quot;:&quot;text&quot;}"/>
          <p:cNvSpPr txBox="1"/>
          <p:nvPr/>
        </p:nvSpPr>
        <p:spPr>
          <a:xfrm>
            <a:off x="6286500" y="1000125"/>
            <a:ext cx="5010150" cy="161925"/>
          </a:xfrm>
          <a:prstGeom prst="rect">
            <a:avLst/>
          </a:prstGeom>
        </p:spPr>
        <p:txBody>
          <a:bodyPr wrap="none" lIns="0" tIns="0" rIns="0" bIns="0"/>
          <a:p>
            <a:pPr>
              <a:lnSpc>
                <a:spcPct val="100000"/>
              </a:lnSpc>
            </a:pPr>
            <a:r>
              <a:rPr lang="en-US" sz="1015" b="1">
                <a:solidFill>
                  <a:srgbClr val="01A5B1"/>
                </a:solidFill>
                <a:latin typeface="微软雅黑" panose="020B0503020204020204" charset="-122"/>
                <a:ea typeface="微软雅黑" panose="020B0503020204020204" charset="-122"/>
              </a:rPr>
              <a:t>② </a:t>
            </a:r>
            <a:r>
              <a:rPr lang="zh-CN" sz="1015" b="1">
                <a:solidFill>
                  <a:srgbClr val="01A5B1"/>
                </a:solidFill>
                <a:latin typeface="微软雅黑" panose="020B0503020204020204" charset="-122"/>
                <a:ea typeface="微软雅黑" panose="020B0503020204020204" charset="-122"/>
              </a:rPr>
              <a:t>本文得到相同发现</a:t>
            </a:r>
            <a:endParaRPr lang="zh-CN" sz="1015" b="1">
              <a:solidFill>
                <a:srgbClr val="01A5B1"/>
              </a:solidFill>
              <a:latin typeface="微软雅黑" panose="020B0503020204020204" charset="-122"/>
              <a:ea typeface="微软雅黑" panose="020B0503020204020204" charset="-122"/>
            </a:endParaRPr>
          </a:p>
        </p:txBody>
      </p:sp>
      <p:sp>
        <p:nvSpPr>
          <p:cNvPr id="58" name="文本框 57" descr="{&quot;isTemplate&quot;:true,&quot;type&quot;:&quot;text&quot;}"/>
          <p:cNvSpPr txBox="1"/>
          <p:nvPr/>
        </p:nvSpPr>
        <p:spPr>
          <a:xfrm>
            <a:off x="6286500" y="1200150"/>
            <a:ext cx="5010150" cy="209550"/>
          </a:xfrm>
          <a:prstGeom prst="rect">
            <a:avLst/>
          </a:prstGeom>
        </p:spPr>
        <p:txBody>
          <a:bodyPr wrap="none" lIns="0" tIns="0" rIns="0" bIns="0"/>
          <a:p>
            <a:pPr>
              <a:lnSpc>
                <a:spcPct val="155000"/>
              </a:lnSpc>
            </a:pPr>
            <a:r>
              <a:rPr lang="zh-CN" sz="865">
                <a:solidFill>
                  <a:srgbClr val="1F1F1F"/>
                </a:solidFill>
                <a:latin typeface="微软雅黑" panose="020B0503020204020204" charset="-122"/>
                <a:ea typeface="微软雅黑" panose="020B0503020204020204" charset="-122"/>
              </a:rPr>
              <a:t>中国市场中同样只有按照</a:t>
            </a:r>
            <a:r>
              <a:rPr lang="zh-CN" sz="865" b="1">
                <a:solidFill>
                  <a:srgbClr val="1F1F1F"/>
                </a:solidFill>
                <a:latin typeface="微软雅黑" panose="020B0503020204020204" charset="-122"/>
                <a:ea typeface="微软雅黑" panose="020B0503020204020204" charset="-122"/>
              </a:rPr>
              <a:t>规模与累计历史收益率（</a:t>
            </a:r>
            <a:r>
              <a:rPr lang="en-US" sz="865" b="1">
                <a:solidFill>
                  <a:srgbClr val="1F1F1F"/>
                </a:solidFill>
                <a:latin typeface="微软雅黑" panose="020B0503020204020204" charset="-122"/>
                <a:ea typeface="微软雅黑" panose="020B0503020204020204" charset="-122"/>
              </a:rPr>
              <a:t>size-prior 2–12</a:t>
            </a:r>
            <a:r>
              <a:rPr lang="zh-CN" sz="865" b="1">
                <a:solidFill>
                  <a:srgbClr val="1F1F1F"/>
                </a:solidFill>
                <a:latin typeface="微软雅黑" panose="020B0503020204020204" charset="-122"/>
                <a:ea typeface="微软雅黑" panose="020B0503020204020204" charset="-122"/>
              </a:rPr>
              <a:t>）</a:t>
            </a:r>
            <a:r>
              <a:rPr lang="zh-CN" sz="865">
                <a:solidFill>
                  <a:srgbClr val="1F1F1F"/>
                </a:solidFill>
                <a:latin typeface="微软雅黑" panose="020B0503020204020204" charset="-122"/>
                <a:ea typeface="微软雅黑" panose="020B0503020204020204" charset="-122"/>
              </a:rPr>
              <a:t>分组时，加入动量因子才有意义。</a:t>
            </a:r>
            <a:endParaRPr lang="zh-CN" sz="865">
              <a:solidFill>
                <a:srgbClr val="1F1F1F"/>
              </a:solidFill>
              <a:latin typeface="微软雅黑" panose="020B0503020204020204" charset="-122"/>
              <a:ea typeface="微软雅黑" panose="020B0503020204020204" charset="-122"/>
            </a:endParaRPr>
          </a:p>
        </p:txBody>
      </p:sp>
      <p:sp>
        <p:nvSpPr>
          <p:cNvPr id="59" name="圆角矩形 58"/>
          <p:cNvSpPr/>
          <p:nvPr/>
        </p:nvSpPr>
        <p:spPr>
          <a:xfrm>
            <a:off x="762000" y="1866900"/>
            <a:ext cx="5276850" cy="866775"/>
          </a:xfrm>
          <a:prstGeom prst="roundRect">
            <a:avLst>
              <a:gd name="adj" fmla="val 10989"/>
            </a:avLst>
          </a:prstGeom>
          <a:solidFill>
            <a:srgbClr val="01A5B1">
              <a:alpha val="10000"/>
            </a:srgbClr>
          </a:solidFill>
        </p:spPr>
        <p:txBody>
          <a:bodyPr/>
          <a:p/>
        </p:txBody>
      </p:sp>
      <p:sp>
        <p:nvSpPr>
          <p:cNvPr id="60" name="任意多边形 59"/>
          <p:cNvSpPr/>
          <p:nvPr/>
        </p:nvSpPr>
        <p:spPr>
          <a:xfrm>
            <a:off x="762000" y="1866900"/>
            <a:ext cx="5276850" cy="866775"/>
          </a:xfrm>
          <a:custGeom>
            <a:avLst/>
            <a:gdLst/>
            <a:ahLst/>
            <a:cxnLst/>
            <a:pathLst>
              <a:path w="554" h="91">
                <a:moveTo>
                  <a:pt x="544" y="0"/>
                </a:moveTo>
                <a:cubicBezTo>
                  <a:pt x="549" y="0"/>
                  <a:pt x="553" y="3"/>
                  <a:pt x="554" y="8"/>
                </a:cubicBezTo>
                <a:cubicBezTo>
                  <a:pt x="553" y="5"/>
                  <a:pt x="550" y="3"/>
                  <a:pt x="547" y="3"/>
                </a:cubicBezTo>
                <a:lnTo>
                  <a:pt x="7" y="3"/>
                </a:lnTo>
                <a:cubicBezTo>
                  <a:pt x="4" y="3"/>
                  <a:pt x="1" y="5"/>
                  <a:pt x="0" y="8"/>
                </a:cubicBezTo>
                <a:cubicBezTo>
                  <a:pt x="1" y="3"/>
                  <a:pt x="5" y="0"/>
                  <a:pt x="10" y="0"/>
                </a:cubicBezTo>
                <a:lnTo>
                  <a:pt x="544" y="0"/>
                </a:lnTo>
                <a:close/>
              </a:path>
            </a:pathLst>
          </a:custGeom>
          <a:solidFill>
            <a:srgbClr val="01A5B1"/>
          </a:solidFill>
        </p:spPr>
        <p:txBody>
          <a:bodyPr/>
          <a:p/>
        </p:txBody>
      </p:sp>
      <p:sp>
        <p:nvSpPr>
          <p:cNvPr id="61" name="文本框 60" descr="{&quot;isTemplate&quot;:true,&quot;type&quot;:&quot;text&quot;}"/>
          <p:cNvSpPr txBox="1"/>
          <p:nvPr/>
        </p:nvSpPr>
        <p:spPr>
          <a:xfrm>
            <a:off x="895350" y="1981200"/>
            <a:ext cx="5010150" cy="161925"/>
          </a:xfrm>
          <a:prstGeom prst="rect">
            <a:avLst/>
          </a:prstGeom>
        </p:spPr>
        <p:txBody>
          <a:bodyPr wrap="none" lIns="0" tIns="0" rIns="0" bIns="0"/>
          <a:p>
            <a:pPr>
              <a:lnSpc>
                <a:spcPct val="100000"/>
              </a:lnSpc>
            </a:pPr>
            <a:r>
              <a:rPr lang="en-US" sz="1015" b="1">
                <a:solidFill>
                  <a:srgbClr val="01A5B1"/>
                </a:solidFill>
                <a:latin typeface="微软雅黑" panose="020B0503020204020204" charset="-122"/>
                <a:ea typeface="微软雅黑" panose="020B0503020204020204" charset="-122"/>
              </a:rPr>
              <a:t>③ </a:t>
            </a:r>
            <a:r>
              <a:rPr lang="zh-CN" sz="1015" b="1">
                <a:solidFill>
                  <a:srgbClr val="01A5B1"/>
                </a:solidFill>
                <a:latin typeface="微软雅黑" panose="020B0503020204020204" charset="-122"/>
                <a:ea typeface="微软雅黑" panose="020B0503020204020204" charset="-122"/>
              </a:rPr>
              <a:t>比较范围：全样本</a:t>
            </a:r>
            <a:r>
              <a:rPr lang="en-US" sz="1015" b="1">
                <a:solidFill>
                  <a:srgbClr val="01A5B1"/>
                </a:solidFill>
                <a:latin typeface="微软雅黑" panose="020B0503020204020204" charset="-122"/>
                <a:ea typeface="微软雅黑" panose="020B0503020204020204" charset="-122"/>
              </a:rPr>
              <a:t> + </a:t>
            </a:r>
            <a:r>
              <a:rPr lang="zh-CN" sz="1015" b="1">
                <a:solidFill>
                  <a:srgbClr val="01A5B1"/>
                </a:solidFill>
                <a:latin typeface="微软雅黑" panose="020B0503020204020204" charset="-122"/>
                <a:ea typeface="微软雅黑" panose="020B0503020204020204" charset="-122"/>
              </a:rPr>
              <a:t>股改后</a:t>
            </a:r>
            <a:endParaRPr lang="zh-CN" sz="1015" b="1">
              <a:solidFill>
                <a:srgbClr val="01A5B1"/>
              </a:solidFill>
              <a:latin typeface="微软雅黑" panose="020B0503020204020204" charset="-122"/>
              <a:ea typeface="微软雅黑" panose="020B0503020204020204" charset="-122"/>
            </a:endParaRPr>
          </a:p>
        </p:txBody>
      </p:sp>
      <p:sp>
        <p:nvSpPr>
          <p:cNvPr id="62" name="文本框 61" descr="{&quot;isTemplate&quot;:true,&quot;type&quot;:&quot;text&quot;}"/>
          <p:cNvSpPr txBox="1"/>
          <p:nvPr/>
        </p:nvSpPr>
        <p:spPr>
          <a:xfrm>
            <a:off x="895350" y="2181225"/>
            <a:ext cx="5010150" cy="409575"/>
          </a:xfrm>
          <a:prstGeom prst="rect">
            <a:avLst/>
          </a:prstGeom>
        </p:spPr>
        <p:txBody>
          <a:bodyPr wrap="square" lIns="0" tIns="0" rIns="0" bIns="0">
            <a:normAutofit/>
          </a:bodyPr>
          <a:p>
            <a:pPr>
              <a:lnSpc>
                <a:spcPct val="155000"/>
              </a:lnSpc>
            </a:pPr>
            <a:r>
              <a:rPr lang="zh-CN" sz="865">
                <a:solidFill>
                  <a:srgbClr val="1F1F1F"/>
                </a:solidFill>
                <a:latin typeface="微软雅黑" panose="020B0503020204020204" charset="-122"/>
                <a:ea typeface="微软雅黑" panose="020B0503020204020204" charset="-122"/>
              </a:rPr>
              <a:t>股改前风险太单一，比较模型表现</a:t>
            </a:r>
            <a:r>
              <a:rPr lang="zh-CN" sz="865" b="1">
                <a:solidFill>
                  <a:srgbClr val="1F1F1F"/>
                </a:solidFill>
                <a:latin typeface="微软雅黑" panose="020B0503020204020204" charset="-122"/>
                <a:ea typeface="微软雅黑" panose="020B0503020204020204" charset="-122"/>
              </a:rPr>
              <a:t>意义不大</a:t>
            </a:r>
            <a:r>
              <a:rPr lang="en-US" sz="865">
                <a:solidFill>
                  <a:srgbClr val="1F1F1F"/>
                </a:solidFill>
                <a:latin typeface="微软雅黑" panose="020B0503020204020204" charset="-122"/>
                <a:ea typeface="微软雅黑" panose="020B0503020204020204" charset="-122"/>
              </a:rPr>
              <a:t> → </a:t>
            </a:r>
            <a:r>
              <a:rPr lang="zh-CN" sz="865">
                <a:solidFill>
                  <a:srgbClr val="1F1F1F"/>
                </a:solidFill>
                <a:latin typeface="微软雅黑" panose="020B0503020204020204" charset="-122"/>
                <a:ea typeface="微软雅黑" panose="020B0503020204020204" charset="-122"/>
              </a:rPr>
              <a:t>仅在</a:t>
            </a:r>
            <a:r>
              <a:rPr lang="en-US" sz="865">
                <a:solidFill>
                  <a:srgbClr val="1F1F1F"/>
                </a:solidFill>
                <a:latin typeface="微软雅黑" panose="020B0503020204020204" charset="-122"/>
                <a:ea typeface="微软雅黑" panose="020B0503020204020204" charset="-122"/>
              </a:rPr>
              <a:t> size-prior 2–12 </a:t>
            </a:r>
            <a:r>
              <a:rPr lang="zh-CN" sz="865">
                <a:solidFill>
                  <a:srgbClr val="1F1F1F"/>
                </a:solidFill>
                <a:latin typeface="微软雅黑" panose="020B0503020204020204" charset="-122"/>
                <a:ea typeface="微软雅黑" panose="020B0503020204020204" charset="-122"/>
              </a:rPr>
              <a:t>分组下，对全样本与股改后样本比较五因子与六因子模型。</a:t>
            </a:r>
            <a:endParaRPr lang="zh-CN" sz="865">
              <a:solidFill>
                <a:srgbClr val="1F1F1F"/>
              </a:solidFill>
              <a:latin typeface="微软雅黑" panose="020B0503020204020204" charset="-122"/>
              <a:ea typeface="微软雅黑" panose="020B0503020204020204" charset="-122"/>
            </a:endParaRPr>
          </a:p>
        </p:txBody>
      </p:sp>
      <p:sp>
        <p:nvSpPr>
          <p:cNvPr id="63" name="圆角矩形 62"/>
          <p:cNvSpPr/>
          <p:nvPr/>
        </p:nvSpPr>
        <p:spPr>
          <a:xfrm>
            <a:off x="6153150" y="1866900"/>
            <a:ext cx="5276850" cy="866775"/>
          </a:xfrm>
          <a:prstGeom prst="roundRect">
            <a:avLst>
              <a:gd name="adj" fmla="val 10989"/>
            </a:avLst>
          </a:prstGeom>
          <a:solidFill>
            <a:srgbClr val="01A5B1">
              <a:alpha val="10000"/>
            </a:srgbClr>
          </a:solidFill>
        </p:spPr>
        <p:txBody>
          <a:bodyPr/>
          <a:p/>
        </p:txBody>
      </p:sp>
      <p:sp>
        <p:nvSpPr>
          <p:cNvPr id="64" name="任意多边形 63"/>
          <p:cNvSpPr/>
          <p:nvPr/>
        </p:nvSpPr>
        <p:spPr>
          <a:xfrm>
            <a:off x="6153150" y="1866900"/>
            <a:ext cx="5276850" cy="866775"/>
          </a:xfrm>
          <a:custGeom>
            <a:avLst/>
            <a:gdLst/>
            <a:ahLst/>
            <a:cxnLst/>
            <a:pathLst>
              <a:path w="554" h="91">
                <a:moveTo>
                  <a:pt x="544" y="0"/>
                </a:moveTo>
                <a:cubicBezTo>
                  <a:pt x="549" y="0"/>
                  <a:pt x="553" y="3"/>
                  <a:pt x="554" y="8"/>
                </a:cubicBezTo>
                <a:cubicBezTo>
                  <a:pt x="553" y="5"/>
                  <a:pt x="550" y="3"/>
                  <a:pt x="547" y="3"/>
                </a:cubicBezTo>
                <a:lnTo>
                  <a:pt x="7" y="3"/>
                </a:lnTo>
                <a:cubicBezTo>
                  <a:pt x="4" y="3"/>
                  <a:pt x="1" y="5"/>
                  <a:pt x="0" y="8"/>
                </a:cubicBezTo>
                <a:cubicBezTo>
                  <a:pt x="1" y="3"/>
                  <a:pt x="5" y="0"/>
                  <a:pt x="10" y="0"/>
                </a:cubicBezTo>
                <a:lnTo>
                  <a:pt x="544" y="0"/>
                </a:lnTo>
                <a:close/>
              </a:path>
            </a:pathLst>
          </a:custGeom>
          <a:solidFill>
            <a:srgbClr val="E8503A"/>
          </a:solidFill>
        </p:spPr>
        <p:txBody>
          <a:bodyPr/>
          <a:p/>
        </p:txBody>
      </p:sp>
      <p:sp>
        <p:nvSpPr>
          <p:cNvPr id="65" name="文本框 64" descr="{&quot;isTemplate&quot;:true,&quot;type&quot;:&quot;text&quot;}"/>
          <p:cNvSpPr txBox="1"/>
          <p:nvPr/>
        </p:nvSpPr>
        <p:spPr>
          <a:xfrm>
            <a:off x="6286500" y="1981200"/>
            <a:ext cx="5010150" cy="161925"/>
          </a:xfrm>
          <a:prstGeom prst="rect">
            <a:avLst/>
          </a:prstGeom>
        </p:spPr>
        <p:txBody>
          <a:bodyPr wrap="none" lIns="0" tIns="0" rIns="0" bIns="0"/>
          <a:p>
            <a:pPr>
              <a:lnSpc>
                <a:spcPct val="100000"/>
              </a:lnSpc>
            </a:pPr>
            <a:r>
              <a:rPr lang="en-US" sz="1015" b="1">
                <a:solidFill>
                  <a:srgbClr val="E8503A"/>
                </a:solidFill>
                <a:latin typeface="微软雅黑" panose="020B0503020204020204" charset="-122"/>
                <a:ea typeface="微软雅黑" panose="020B0503020204020204" charset="-122"/>
              </a:rPr>
              <a:t>④ </a:t>
            </a:r>
            <a:r>
              <a:rPr lang="zh-CN" sz="1015" b="1">
                <a:solidFill>
                  <a:srgbClr val="E8503A"/>
                </a:solidFill>
                <a:latin typeface="微软雅黑" panose="020B0503020204020204" charset="-122"/>
                <a:ea typeface="微软雅黑" panose="020B0503020204020204" charset="-122"/>
              </a:rPr>
              <a:t>四种评价指标</a:t>
            </a:r>
            <a:endParaRPr lang="zh-CN" sz="1015" b="1">
              <a:solidFill>
                <a:srgbClr val="E8503A"/>
              </a:solidFill>
              <a:latin typeface="微软雅黑" panose="020B0503020204020204" charset="-122"/>
              <a:ea typeface="微软雅黑" panose="020B0503020204020204" charset="-122"/>
            </a:endParaRPr>
          </a:p>
        </p:txBody>
      </p:sp>
      <p:sp>
        <p:nvSpPr>
          <p:cNvPr id="66" name="文本框 65" descr="{&quot;isTemplate&quot;:true,&quot;type&quot;:&quot;text&quot;}"/>
          <p:cNvSpPr txBox="1"/>
          <p:nvPr/>
        </p:nvSpPr>
        <p:spPr>
          <a:xfrm>
            <a:off x="6286500" y="2181225"/>
            <a:ext cx="5010150" cy="409575"/>
          </a:xfrm>
          <a:prstGeom prst="rect">
            <a:avLst/>
          </a:prstGeom>
        </p:spPr>
        <p:txBody>
          <a:bodyPr wrap="square" lIns="0" tIns="0" rIns="0" bIns="0">
            <a:normAutofit/>
          </a:bodyPr>
          <a:p>
            <a:pPr>
              <a:lnSpc>
                <a:spcPct val="155000"/>
              </a:lnSpc>
            </a:pPr>
            <a:r>
              <a:rPr lang="zh-CN" sz="865">
                <a:solidFill>
                  <a:srgbClr val="1F1F1F"/>
                </a:solidFill>
                <a:latin typeface="微软雅黑" panose="020B0503020204020204" charset="-122"/>
                <a:ea typeface="微软雅黑" panose="020B0503020204020204" charset="-122"/>
              </a:rPr>
              <a:t>从</a:t>
            </a:r>
            <a:r>
              <a:rPr lang="zh-CN" sz="865" b="1">
                <a:solidFill>
                  <a:srgbClr val="1F1F1F"/>
                </a:solidFill>
                <a:latin typeface="微软雅黑" panose="020B0503020204020204" charset="-122"/>
                <a:ea typeface="微软雅黑" panose="020B0503020204020204" charset="-122"/>
              </a:rPr>
              <a:t>全样本</a:t>
            </a:r>
            <a:r>
              <a:rPr lang="en-US" sz="865" b="1">
                <a:solidFill>
                  <a:srgbClr val="1F1F1F"/>
                </a:solidFill>
                <a:latin typeface="微软雅黑" panose="020B0503020204020204" charset="-122"/>
                <a:ea typeface="微软雅黑" panose="020B0503020204020204" charset="-122"/>
              </a:rPr>
              <a:t> GRS</a:t>
            </a:r>
            <a:r>
              <a:rPr lang="en-US" sz="865">
                <a:solidFill>
                  <a:srgbClr val="1F1F1F"/>
                </a:solidFill>
                <a:latin typeface="微软雅黑" panose="020B0503020204020204" charset="-122"/>
                <a:ea typeface="微软雅黑" panose="020B0503020204020204" charset="-122"/>
              </a:rPr>
              <a:t> </a:t>
            </a:r>
            <a:r>
              <a:rPr lang="zh-CN" sz="865">
                <a:solidFill>
                  <a:srgbClr val="1F1F1F"/>
                </a:solidFill>
                <a:latin typeface="微软雅黑" panose="020B0503020204020204" charset="-122"/>
                <a:ea typeface="微软雅黑" panose="020B0503020204020204" charset="-122"/>
              </a:rPr>
              <a:t>与其余</a:t>
            </a:r>
            <a:r>
              <a:rPr lang="en-US" sz="865">
                <a:solidFill>
                  <a:srgbClr val="1F1F1F"/>
                </a:solidFill>
                <a:latin typeface="微软雅黑" panose="020B0503020204020204" charset="-122"/>
                <a:ea typeface="微软雅黑" panose="020B0503020204020204" charset="-122"/>
              </a:rPr>
              <a:t> 3 </a:t>
            </a:r>
            <a:r>
              <a:rPr lang="zh-CN" sz="865">
                <a:solidFill>
                  <a:srgbClr val="1F1F1F"/>
                </a:solidFill>
                <a:latin typeface="微软雅黑" panose="020B0503020204020204" charset="-122"/>
                <a:ea typeface="微软雅黑" panose="020B0503020204020204" charset="-122"/>
              </a:rPr>
              <a:t>个截距项指标（</a:t>
            </a:r>
            <a:r>
              <a:rPr lang="en-US" sz="865">
                <a:solidFill>
                  <a:srgbClr val="1F1F1F"/>
                </a:solidFill>
                <a:latin typeface="微软雅黑" panose="020B0503020204020204" charset="-122"/>
                <a:ea typeface="微软雅黑" panose="020B0503020204020204" charset="-122"/>
              </a:rPr>
              <a:t>A|aᵢ|</a:t>
            </a:r>
            <a:r>
              <a:rPr lang="zh-CN" sz="865">
                <a:solidFill>
                  <a:srgbClr val="1F1F1F"/>
                </a:solidFill>
                <a:latin typeface="微软雅黑" panose="020B0503020204020204" charset="-122"/>
                <a:ea typeface="微软雅黑" panose="020B0503020204020204" charset="-122"/>
              </a:rPr>
              <a:t>、</a:t>
            </a:r>
            <a:r>
              <a:rPr lang="en-US" sz="865">
                <a:solidFill>
                  <a:srgbClr val="1F1F1F"/>
                </a:solidFill>
                <a:latin typeface="微软雅黑" panose="020B0503020204020204" charset="-122"/>
                <a:ea typeface="微软雅黑" panose="020B0503020204020204" charset="-122"/>
              </a:rPr>
              <a:t>A|aᵢ|/A|r̄ᵢ|</a:t>
            </a:r>
            <a:r>
              <a:rPr lang="zh-CN" sz="865">
                <a:solidFill>
                  <a:srgbClr val="1F1F1F"/>
                </a:solidFill>
                <a:latin typeface="微软雅黑" panose="020B0503020204020204" charset="-122"/>
                <a:ea typeface="微软雅黑" panose="020B0503020204020204" charset="-122"/>
              </a:rPr>
              <a:t>、</a:t>
            </a:r>
            <a:r>
              <a:rPr lang="en-US" sz="865">
                <a:solidFill>
                  <a:srgbClr val="1F1F1F"/>
                </a:solidFill>
                <a:latin typeface="微软雅黑" panose="020B0503020204020204" charset="-122"/>
                <a:ea typeface="微软雅黑" panose="020B0503020204020204" charset="-122"/>
              </a:rPr>
              <a:t>A|aᵢ²|/A|r̄ᵢ²|</a:t>
            </a:r>
            <a:r>
              <a:rPr lang="zh-CN" sz="865">
                <a:solidFill>
                  <a:srgbClr val="1F1F1F"/>
                </a:solidFill>
                <a:latin typeface="微软雅黑" panose="020B0503020204020204" charset="-122"/>
                <a:ea typeface="微软雅黑" panose="020B0503020204020204" charset="-122"/>
              </a:rPr>
              <a:t>）看，六因子模型表现有所提升。</a:t>
            </a:r>
            <a:endParaRPr lang="zh-CN" sz="865">
              <a:solidFill>
                <a:srgbClr val="1F1F1F"/>
              </a:solidFill>
              <a:latin typeface="微软雅黑" panose="020B0503020204020204" charset="-122"/>
              <a:ea typeface="微软雅黑" panose="020B0503020204020204" charset="-122"/>
            </a:endParaRPr>
          </a:p>
        </p:txBody>
      </p:sp>
      <p:sp>
        <p:nvSpPr>
          <p:cNvPr id="67" name="矩形 66"/>
          <p:cNvSpPr/>
          <p:nvPr/>
        </p:nvSpPr>
        <p:spPr>
          <a:xfrm>
            <a:off x="2381250" y="2819400"/>
            <a:ext cx="7429500" cy="3009900"/>
          </a:xfrm>
          <a:prstGeom prst="rect">
            <a:avLst/>
          </a:prstGeom>
          <a:ln w="12700">
            <a:solidFill>
              <a:srgbClr val="E0E0E0"/>
            </a:solidFill>
            <a:prstDash val="solid"/>
          </a:ln>
        </p:spPr>
        <p:txBody>
          <a:bodyPr/>
          <a:p/>
        </p:txBody>
      </p:sp>
      <p:pic>
        <p:nvPicPr>
          <p:cNvPr id="68" name="图片 67"/>
          <p:cNvPicPr>
            <a:picLocks noChangeAspect="1"/>
          </p:cNvPicPr>
          <p:nvPr/>
        </p:nvPicPr>
        <p:blipFill>
          <a:blip r:embed="rId2"/>
          <a:srcRect l="30" r="30"/>
          <a:stretch>
            <a:fillRect/>
          </a:stretch>
        </p:blipFill>
        <p:spPr>
          <a:xfrm>
            <a:off x="2381250" y="2819400"/>
            <a:ext cx="7429500" cy="3009900"/>
          </a:xfrm>
          <a:prstGeom prst="roundRect">
            <a:avLst>
              <a:gd name="adj" fmla="val 1266"/>
            </a:avLst>
          </a:prstGeom>
          <a:effectLst>
            <a:outerShdw blurRad="95250" dist="19050" dir="5400000">
              <a:srgbClr val="000000">
                <a:alpha val="8000"/>
              </a:srgbClr>
            </a:outerShdw>
          </a:effectLst>
        </p:spPr>
      </p:pic>
      <p:sp>
        <p:nvSpPr>
          <p:cNvPr id="69" name="文本框 68" descr="{&quot;isTemplate&quot;:true,&quot;type&quot;:&quot;text&quot;}"/>
          <p:cNvSpPr txBox="1"/>
          <p:nvPr/>
        </p:nvSpPr>
        <p:spPr>
          <a:xfrm>
            <a:off x="4657725" y="5905500"/>
            <a:ext cx="2886075"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检验设计：分组依据与五因子</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六因子模型比较思路</a:t>
            </a:r>
            <a:endParaRPr lang="zh-CN" sz="790">
              <a:solidFill>
                <a:srgbClr val="8A8A8A"/>
              </a:solidFill>
              <a:latin typeface="微软雅黑" panose="020B0503020204020204" charset="-122"/>
              <a:ea typeface="微软雅黑" panose="020B0503020204020204" charset="-122"/>
            </a:endParaRPr>
          </a:p>
        </p:txBody>
      </p:sp>
      <p:sp>
        <p:nvSpPr>
          <p:cNvPr id="70" name="Rectangle 69"/>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73" name="TextBox 72"/>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74" name="TextBox 73"/>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75" name="TextBox 74"/>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76" name="TextBox 75"/>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77" name="Rectangle 76"/>
          <p:cNvSpPr/>
          <p:nvPr/>
        </p:nvSpPr>
        <p:spPr>
          <a:xfrm>
            <a:off x="7620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665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动量因子</a:t>
            </a:r>
          </a:p>
        </p:txBody>
      </p:sp>
      <p:sp>
        <p:nvSpPr>
          <p:cNvPr id="79" name="TextBox 78"/>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80" name="TextBox 79"/>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72"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表8 核心结果：反转效应只出现在股改之后&lt;/Text&gt;&#10;        &lt;/Box&gt;&#10;        &lt;Box style={{ flex: 1, flexDirection: 'row', gap: 22, alignItems: 'center' }}&gt;&#10;            &lt;Box style={{ width: 420, flexDirection: 'column', gap: 15 }}&gt;&#10;                &lt;Box style={{ background: 'rgba(1,165,177,0.10)', borderRadius: 10, padding: '14px 16px', borderLeft: '4px solid #01A5B1' }}&gt;&#10;                    &lt;Text style={{ fontSize: 14, fontWeight: 'bold', color: '#01A5B1', marginBottom: 4 }}&gt;分时期检验：全样本无动量溢价&lt;/Text&gt;&#10;                    &lt;Text style={{ fontSize: 12, color: '#1F1F1F', lineHeight: 1.6 }}&gt;三种构建方式下动量因子截距均为负且不显著（t 值 -0.06 ~ -0.53）→ &lt;span style={{ fontWeight: 'bold' }}&gt;全样本下 A 股不存在风险调整后的动量或反转效应&lt;/span&gt;。&lt;/Text&gt;&#10;                &lt;/Box&gt;&#10;                &lt;Box style={{ background: 'rgba(1,165,177,0.10)', borderRadius: 10, padding: '14px 16px', borderLeft: '4px solid #E8503A' }}&gt;&#10;                    &lt;Text style={{ fontSize: 14, fontWeight: 'bold', color: '#E8503A', marginBottom: 4 }}&gt;股改后：截距显著为负 → 反转效应&lt;/Text&gt;&#10;                    &lt;Text style={{ fontSize: 12, color: '#1F1F1F', lineHeight: 1.6 }}&gt;200707–201508 期间截距 &lt;span style={{ color: '#E8503A', fontWeight: 'bold' }}&gt;-0.63** / -0.76** / -0.68**&lt;/span&gt;（t 值 -2.04 ~ -2.51）→ 存在的是&lt;span style={{ fontWeight: 'bold' }}&gt;反转效应&lt;/span&gt;，且无法被五因子模型解释。&lt;/Text&gt;&#10;                &lt;/Box&gt;&#10;                &lt;Box style={{ background: 'rgba(1,165,177,0.10)', borderRadius: 10, padding: '14px 16px', borderLeft: '4px solid #01A5B1' }}&gt;&#10;                    &lt;Text style={{ fontSize: 14, fontWeight: 'bold', color: '#01A5B1', marginBottom: 4 }}&gt;FF5 vs FF5+MOM：股改后加MOM才有效&lt;/Text&gt;&#10;                    &lt;Text style={{ fontSize: 12, color: '#1F1F1F', lineHeight: 1.6 }}&gt;全样本 GRS 由 2.83 降至 2.81，几乎无改善；股改后 GRS &lt;span style={{ fontWeight: 'bold' }}&gt;2.24 → 2.00&lt;/span&gt;，截距比率 &lt;span style={{ fontWeight: 'bold' }}&gt;0.53→0.50、0.33→0.26&lt;/span&gt;，4 项指标全面改善。&lt;/Text&gt;&#10;                &lt;/Box&gt;&#10;            &lt;/Box&gt;&#10;            &lt;Box style={{ flex: 1, flexDirection: 'column', alignItems: 'center', gap: 8 }}&gt;&#10;                &lt;Box style={{ position: 'relative', width: 654, height: 400 }}&gt;&#10;                    &lt;Image src=&quot;assets/tab8.png&quot; style={{ width: 654, height: 400, border: '1px solid #E0E0E0', borderRadius: 4, boxShadow: '0 2px 10px rgba(0,0,0,0.08)' }} /&gt;&#10;                    &lt;Box style={{ position: 'absolute', left: 9, top: 218, width: 291, height: 44, border: '2.5px solid #E8503A', borderRadius: 6 }} /&gt;&#10;                    &lt;Box style={{ position: 'absolute', left: 399, top: 84, width: 88, height: 196, border: '2.5px solid #E8503A', borderRadius: 6 }} /&gt;&#10;                    &lt;Box style={{ position: 'absolute', left: 549, top: 84, width: 88, height: 196, border: '2.5px solid #E8503A', borderRadius: 6 }} /&gt;&#10;                &lt;/Box&gt;&#10;                &lt;Text style={{ fontSize: 10.5, color: '#8A8A8A' }}&gt;原论文截图 · 表8 动量因子的相关检验（红框：股改后显著负截距、GRS 对比、截距比率对比）&lt;/Text&gt;&#10;            &lt;/Box&gt;&#10;        &lt;/Box&gt;&#10;        &lt;Box style={{ height: 40, flexDirection: 'row', alignItems: 'center', justifyContent: 'space-between' }}&gt;&#10;            &lt;Text style={{ fontSize: 12, color: '#8A8A8A' }}&gt;三维结构法 · FF5 中国实证拆解&lt;/Text&gt;&#10;            &lt;Text style={{ fontSize: 12, color: '#8A8A8A' }}&gt;04 / 07&lt;/Text&gt;&#10;        &lt;/Box&gt;&#10;    &lt;/Box&gt;&#10;&lt;/Slide&gt;"/>
        <p:cNvGrpSpPr/>
        <p:nvPr/>
      </p:nvGrpSpPr>
      <p:grpSpPr>
        <a:xfrm>
          <a:off x="0" y="0"/>
          <a:ext cx="0" cy="0"/>
          <a:chOff x="0" y="0"/>
          <a:chExt cx="0" cy="0"/>
        </a:xfrm>
      </p:grpSpPr>
      <p:sp>
        <p:nvSpPr>
          <p:cNvPr id="73" name="矩形 72"/>
          <p:cNvSpPr/>
          <p:nvPr/>
        </p:nvSpPr>
        <p:spPr>
          <a:xfrm>
            <a:off x="0" y="0"/>
            <a:ext cx="12192000" cy="6858000"/>
          </a:xfrm>
          <a:prstGeom prst="rect">
            <a:avLst/>
          </a:prstGeom>
          <a:solidFill>
            <a:srgbClr val="FFFFFF"/>
          </a:solidFill>
        </p:spPr>
        <p:txBody>
          <a:bodyPr/>
          <a:p/>
        </p:txBody>
      </p:sp>
      <p:pic>
        <p:nvPicPr>
          <p:cNvPr id="74" name="图片 73"/>
          <p:cNvPicPr>
            <a:picLocks noChangeAspect="1"/>
          </p:cNvPicPr>
          <p:nvPr/>
        </p:nvPicPr>
        <p:blipFill>
          <a:blip r:embed="rId1"/>
          <a:stretch>
            <a:fillRect/>
          </a:stretch>
        </p:blipFill>
        <p:spPr>
          <a:xfrm>
            <a:off x="0" y="0"/>
            <a:ext cx="12192000" cy="6858000"/>
          </a:xfrm>
          <a:prstGeom prst="rect">
            <a:avLst/>
          </a:prstGeom>
        </p:spPr>
      </p:pic>
      <p:sp>
        <p:nvSpPr>
          <p:cNvPr id="75" name="矩形 74"/>
          <p:cNvSpPr/>
          <p:nvPr/>
        </p:nvSpPr>
        <p:spPr>
          <a:xfrm>
            <a:off x="762000" y="304800"/>
            <a:ext cx="57150" cy="342900"/>
          </a:xfrm>
          <a:prstGeom prst="rect">
            <a:avLst/>
          </a:prstGeom>
          <a:solidFill>
            <a:srgbClr val="01A5B1"/>
          </a:solidFill>
        </p:spPr>
        <p:txBody>
          <a:bodyPr/>
          <a:p/>
        </p:txBody>
      </p:sp>
      <p:sp>
        <p:nvSpPr>
          <p:cNvPr id="76" name="文本框 75"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表</a:t>
            </a:r>
            <a:r>
              <a:rPr lang="en-US" sz="2200" b="1">
                <a:solidFill>
                  <a:srgbClr val="1F1F1F"/>
                </a:solidFill>
                <a:latin typeface="微软雅黑" panose="020B0503020204020204" charset="-122"/>
                <a:ea typeface="微软雅黑" panose="020B0503020204020204" charset="-122"/>
              </a:rPr>
              <a:t>8 </a:t>
            </a:r>
            <a:r>
              <a:rPr lang="zh-CN" sz="2200" b="1">
                <a:solidFill>
                  <a:srgbClr val="1F1F1F"/>
                </a:solidFill>
                <a:latin typeface="微软雅黑" panose="020B0503020204020204" charset="-122"/>
                <a:ea typeface="微软雅黑" panose="020B0503020204020204" charset="-122"/>
              </a:rPr>
              <a:t>核心结果：反转效应只出现在股改之后</a:t>
            </a:r>
            <a:endParaRPr lang="zh-CN" sz="2550" b="1">
              <a:solidFill>
                <a:srgbClr val="01A5B1"/>
              </a:solidFill>
              <a:latin typeface="微软雅黑" panose="020B0503020204020204" charset="-122"/>
              <a:ea typeface="微软雅黑" panose="020B0503020204020204" charset="-122"/>
            </a:endParaRPr>
          </a:p>
        </p:txBody>
      </p:sp>
      <p:sp>
        <p:nvSpPr>
          <p:cNvPr id="77" name="圆角矩形 76"/>
          <p:cNvSpPr/>
          <p:nvPr/>
        </p:nvSpPr>
        <p:spPr>
          <a:xfrm>
            <a:off x="800100" y="2152650"/>
            <a:ext cx="4000500" cy="914400"/>
          </a:xfrm>
          <a:prstGeom prst="roundRect">
            <a:avLst>
              <a:gd name="adj" fmla="val 10417"/>
            </a:avLst>
          </a:prstGeom>
          <a:solidFill>
            <a:srgbClr val="01A5B1">
              <a:alpha val="10000"/>
            </a:srgbClr>
          </a:solidFill>
        </p:spPr>
        <p:txBody>
          <a:bodyPr/>
          <a:p/>
        </p:txBody>
      </p:sp>
      <p:sp>
        <p:nvSpPr>
          <p:cNvPr id="78" name="任意多边形 77"/>
          <p:cNvSpPr/>
          <p:nvPr/>
        </p:nvSpPr>
        <p:spPr>
          <a:xfrm>
            <a:off x="800100" y="2152650"/>
            <a:ext cx="4000500" cy="914400"/>
          </a:xfrm>
          <a:custGeom>
            <a:avLst/>
            <a:gdLst/>
            <a:ahLst/>
            <a:cxnLst/>
            <a:pathLst>
              <a:path w="420" h="96">
                <a:moveTo>
                  <a:pt x="9" y="0"/>
                </a:moveTo>
                <a:cubicBezTo>
                  <a:pt x="6" y="0"/>
                  <a:pt x="4" y="3"/>
                  <a:pt x="4" y="6"/>
                </a:cubicBezTo>
                <a:lnTo>
                  <a:pt x="4" y="90"/>
                </a:lnTo>
                <a:cubicBezTo>
                  <a:pt x="4" y="93"/>
                  <a:pt x="6" y="95"/>
                  <a:pt x="9" y="96"/>
                </a:cubicBezTo>
                <a:cubicBezTo>
                  <a:pt x="4" y="95"/>
                  <a:pt x="0" y="91"/>
                  <a:pt x="0" y="86"/>
                </a:cubicBezTo>
                <a:lnTo>
                  <a:pt x="0" y="10"/>
                </a:lnTo>
                <a:cubicBezTo>
                  <a:pt x="0" y="5"/>
                  <a:pt x="4" y="0"/>
                  <a:pt x="10" y="0"/>
                </a:cubicBezTo>
                <a:close/>
              </a:path>
            </a:pathLst>
          </a:custGeom>
          <a:solidFill>
            <a:srgbClr val="01A5B1"/>
          </a:solidFill>
        </p:spPr>
        <p:txBody>
          <a:bodyPr/>
          <a:p/>
        </p:txBody>
      </p:sp>
      <p:sp>
        <p:nvSpPr>
          <p:cNvPr id="79" name="文本框 78" descr="{&quot;isTemplate&quot;:true,&quot;type&quot;:&quot;text&quot;}"/>
          <p:cNvSpPr txBox="1"/>
          <p:nvPr/>
        </p:nvSpPr>
        <p:spPr>
          <a:xfrm>
            <a:off x="952500" y="2286000"/>
            <a:ext cx="3657600" cy="161925"/>
          </a:xfrm>
          <a:prstGeom prst="rect">
            <a:avLst/>
          </a:prstGeom>
        </p:spPr>
        <p:txBody>
          <a:bodyPr wrap="none" lIns="0" tIns="0" rIns="0" bIns="0"/>
          <a:p>
            <a:pPr>
              <a:lnSpc>
                <a:spcPct val="100000"/>
              </a:lnSpc>
            </a:pPr>
            <a:r>
              <a:rPr lang="zh-CN" sz="1050" b="1">
                <a:solidFill>
                  <a:srgbClr val="01A5B1"/>
                </a:solidFill>
                <a:latin typeface="微软雅黑" panose="020B0503020204020204" charset="-122"/>
                <a:ea typeface="微软雅黑" panose="020B0503020204020204" charset="-122"/>
              </a:rPr>
              <a:t>分时期检验：全样本无动量溢价</a:t>
            </a:r>
            <a:endParaRPr lang="zh-CN" sz="1050" b="1">
              <a:solidFill>
                <a:srgbClr val="01A5B1"/>
              </a:solidFill>
              <a:latin typeface="微软雅黑" panose="020B0503020204020204" charset="-122"/>
              <a:ea typeface="微软雅黑" panose="020B0503020204020204" charset="-122"/>
            </a:endParaRPr>
          </a:p>
        </p:txBody>
      </p:sp>
      <p:sp>
        <p:nvSpPr>
          <p:cNvPr id="80" name="文本框 79" descr="{&quot;isTemplate&quot;:true,&quot;type&quot;:&quot;text&quot;}"/>
          <p:cNvSpPr txBox="1"/>
          <p:nvPr/>
        </p:nvSpPr>
        <p:spPr>
          <a:xfrm>
            <a:off x="952500" y="2486025"/>
            <a:ext cx="3657600" cy="447675"/>
          </a:xfrm>
          <a:prstGeom prst="rect">
            <a:avLst/>
          </a:prstGeom>
        </p:spPr>
        <p:txBody>
          <a:bodyPr wrap="square" lIns="0" tIns="0" rIns="0" bIns="0">
            <a:normAutofit/>
          </a:bodyPr>
          <a:p>
            <a:pPr>
              <a:lnSpc>
                <a:spcPct val="160000"/>
              </a:lnSpc>
            </a:pPr>
            <a:r>
              <a:rPr lang="zh-CN" sz="900">
                <a:solidFill>
                  <a:srgbClr val="1F1F1F"/>
                </a:solidFill>
                <a:latin typeface="微软雅黑" panose="020B0503020204020204" charset="-122"/>
                <a:ea typeface="微软雅黑" panose="020B0503020204020204" charset="-122"/>
              </a:rPr>
              <a:t>三种构建方式下动量因子截距均为负且不显著（</a:t>
            </a:r>
            <a:r>
              <a:rPr lang="en-US" sz="900">
                <a:solidFill>
                  <a:srgbClr val="1F1F1F"/>
                </a:solidFill>
                <a:latin typeface="微软雅黑" panose="020B0503020204020204" charset="-122"/>
                <a:ea typeface="微软雅黑" panose="020B0503020204020204" charset="-122"/>
              </a:rPr>
              <a:t>t </a:t>
            </a:r>
            <a:r>
              <a:rPr lang="zh-CN" sz="900">
                <a:solidFill>
                  <a:srgbClr val="1F1F1F"/>
                </a:solidFill>
                <a:latin typeface="微软雅黑" panose="020B0503020204020204" charset="-122"/>
                <a:ea typeface="微软雅黑" panose="020B0503020204020204" charset="-122"/>
              </a:rPr>
              <a:t>值</a:t>
            </a:r>
            <a:r>
              <a:rPr lang="en-US" sz="900">
                <a:solidFill>
                  <a:srgbClr val="1F1F1F"/>
                </a:solidFill>
                <a:latin typeface="微软雅黑" panose="020B0503020204020204" charset="-122"/>
                <a:ea typeface="微软雅黑" panose="020B0503020204020204" charset="-122"/>
              </a:rPr>
              <a:t> -0.06 ~ -0.53</a:t>
            </a:r>
            <a:r>
              <a:rPr lang="zh-CN" sz="900">
                <a:solidFill>
                  <a:srgbClr val="1F1F1F"/>
                </a:solidFill>
                <a:latin typeface="微软雅黑" panose="020B0503020204020204" charset="-122"/>
                <a:ea typeface="微软雅黑" panose="020B0503020204020204" charset="-122"/>
              </a:rPr>
              <a:t>）→</a:t>
            </a:r>
            <a:r>
              <a:rPr lang="en-US" sz="900">
                <a:solidFill>
                  <a:srgbClr val="1F1F1F"/>
                </a:solidFill>
                <a:latin typeface="微软雅黑" panose="020B0503020204020204" charset="-122"/>
                <a:ea typeface="微软雅黑" panose="020B0503020204020204" charset="-122"/>
              </a:rPr>
              <a:t> </a:t>
            </a:r>
            <a:r>
              <a:rPr lang="zh-CN" sz="900" b="1">
                <a:solidFill>
                  <a:srgbClr val="1F1F1F"/>
                </a:solidFill>
                <a:latin typeface="微软雅黑" panose="020B0503020204020204" charset="-122"/>
                <a:ea typeface="微软雅黑" panose="020B0503020204020204" charset="-122"/>
              </a:rPr>
              <a:t>全样本下</a:t>
            </a:r>
            <a:r>
              <a:rPr lang="en-US" sz="900" b="1">
                <a:solidFill>
                  <a:srgbClr val="1F1F1F"/>
                </a:solidFill>
                <a:latin typeface="微软雅黑" panose="020B0503020204020204" charset="-122"/>
                <a:ea typeface="微软雅黑" panose="020B0503020204020204" charset="-122"/>
              </a:rPr>
              <a:t> A </a:t>
            </a:r>
            <a:r>
              <a:rPr lang="zh-CN" sz="900" b="1">
                <a:solidFill>
                  <a:srgbClr val="1F1F1F"/>
                </a:solidFill>
                <a:latin typeface="微软雅黑" panose="020B0503020204020204" charset="-122"/>
                <a:ea typeface="微软雅黑" panose="020B0503020204020204" charset="-122"/>
              </a:rPr>
              <a:t>股不存在风险调整后的动量或反转效应</a:t>
            </a:r>
            <a:r>
              <a:rPr lang="zh-CN" sz="900">
                <a:solidFill>
                  <a:srgbClr val="1F1F1F"/>
                </a:solidFill>
                <a:latin typeface="微软雅黑" panose="020B0503020204020204" charset="-122"/>
                <a:ea typeface="微软雅黑" panose="020B0503020204020204" charset="-122"/>
              </a:rPr>
              <a:t>。</a:t>
            </a:r>
            <a:endParaRPr lang="zh-CN" sz="900">
              <a:solidFill>
                <a:srgbClr val="1F1F1F"/>
              </a:solidFill>
              <a:latin typeface="微软雅黑" panose="020B0503020204020204" charset="-122"/>
              <a:ea typeface="微软雅黑" panose="020B0503020204020204" charset="-122"/>
            </a:endParaRPr>
          </a:p>
        </p:txBody>
      </p:sp>
      <p:sp>
        <p:nvSpPr>
          <p:cNvPr id="81" name="圆角矩形 80"/>
          <p:cNvSpPr/>
          <p:nvPr/>
        </p:nvSpPr>
        <p:spPr>
          <a:xfrm>
            <a:off x="800100" y="3209925"/>
            <a:ext cx="4000500" cy="914400"/>
          </a:xfrm>
          <a:prstGeom prst="roundRect">
            <a:avLst>
              <a:gd name="adj" fmla="val 10417"/>
            </a:avLst>
          </a:prstGeom>
          <a:solidFill>
            <a:srgbClr val="01A5B1">
              <a:alpha val="10000"/>
            </a:srgbClr>
          </a:solidFill>
        </p:spPr>
        <p:txBody>
          <a:bodyPr/>
          <a:p/>
        </p:txBody>
      </p:sp>
      <p:sp>
        <p:nvSpPr>
          <p:cNvPr id="82" name="任意多边形 81"/>
          <p:cNvSpPr/>
          <p:nvPr/>
        </p:nvSpPr>
        <p:spPr>
          <a:xfrm>
            <a:off x="800100" y="3209925"/>
            <a:ext cx="4000500" cy="914400"/>
          </a:xfrm>
          <a:custGeom>
            <a:avLst/>
            <a:gdLst/>
            <a:ahLst/>
            <a:cxnLst/>
            <a:pathLst>
              <a:path w="420" h="96">
                <a:moveTo>
                  <a:pt x="9" y="0"/>
                </a:moveTo>
                <a:cubicBezTo>
                  <a:pt x="6" y="0"/>
                  <a:pt x="4" y="3"/>
                  <a:pt x="4" y="6"/>
                </a:cubicBezTo>
                <a:lnTo>
                  <a:pt x="4" y="90"/>
                </a:lnTo>
                <a:cubicBezTo>
                  <a:pt x="4" y="93"/>
                  <a:pt x="6" y="95"/>
                  <a:pt x="9" y="96"/>
                </a:cubicBezTo>
                <a:cubicBezTo>
                  <a:pt x="4" y="95"/>
                  <a:pt x="0" y="91"/>
                  <a:pt x="0" y="86"/>
                </a:cubicBezTo>
                <a:lnTo>
                  <a:pt x="0" y="10"/>
                </a:lnTo>
                <a:cubicBezTo>
                  <a:pt x="0" y="5"/>
                  <a:pt x="4" y="0"/>
                  <a:pt x="10" y="0"/>
                </a:cubicBezTo>
                <a:close/>
              </a:path>
            </a:pathLst>
          </a:custGeom>
          <a:solidFill>
            <a:srgbClr val="E8503A"/>
          </a:solidFill>
        </p:spPr>
        <p:txBody>
          <a:bodyPr/>
          <a:p/>
        </p:txBody>
      </p:sp>
      <p:sp>
        <p:nvSpPr>
          <p:cNvPr id="83" name="文本框 82" descr="{&quot;isTemplate&quot;:true,&quot;type&quot;:&quot;text&quot;}"/>
          <p:cNvSpPr txBox="1"/>
          <p:nvPr/>
        </p:nvSpPr>
        <p:spPr>
          <a:xfrm>
            <a:off x="952500" y="3343275"/>
            <a:ext cx="3657600" cy="161925"/>
          </a:xfrm>
          <a:prstGeom prst="rect">
            <a:avLst/>
          </a:prstGeom>
        </p:spPr>
        <p:txBody>
          <a:bodyPr wrap="none" lIns="0" tIns="0" rIns="0" bIns="0"/>
          <a:p>
            <a:pPr>
              <a:lnSpc>
                <a:spcPct val="100000"/>
              </a:lnSpc>
            </a:pPr>
            <a:r>
              <a:rPr lang="zh-CN" sz="1050" b="1">
                <a:solidFill>
                  <a:srgbClr val="E8503A"/>
                </a:solidFill>
                <a:latin typeface="微软雅黑" panose="020B0503020204020204" charset="-122"/>
                <a:ea typeface="微软雅黑" panose="020B0503020204020204" charset="-122"/>
              </a:rPr>
              <a:t>股改后：截距显著为负</a:t>
            </a:r>
            <a:r>
              <a:rPr lang="en-US" sz="1050" b="1">
                <a:solidFill>
                  <a:srgbClr val="E8503A"/>
                </a:solidFill>
                <a:latin typeface="微软雅黑" panose="020B0503020204020204" charset="-122"/>
                <a:ea typeface="微软雅黑" panose="020B0503020204020204" charset="-122"/>
              </a:rPr>
              <a:t> → </a:t>
            </a:r>
            <a:r>
              <a:rPr lang="zh-CN" sz="1050" b="1">
                <a:solidFill>
                  <a:srgbClr val="E8503A"/>
                </a:solidFill>
                <a:latin typeface="微软雅黑" panose="020B0503020204020204" charset="-122"/>
                <a:ea typeface="微软雅黑" panose="020B0503020204020204" charset="-122"/>
              </a:rPr>
              <a:t>反转效应</a:t>
            </a:r>
            <a:endParaRPr lang="zh-CN" sz="1050" b="1">
              <a:solidFill>
                <a:srgbClr val="E8503A"/>
              </a:solidFill>
              <a:latin typeface="微软雅黑" panose="020B0503020204020204" charset="-122"/>
              <a:ea typeface="微软雅黑" panose="020B0503020204020204" charset="-122"/>
            </a:endParaRPr>
          </a:p>
        </p:txBody>
      </p:sp>
      <p:sp>
        <p:nvSpPr>
          <p:cNvPr id="84" name="文本框 83" descr="{&quot;isTemplate&quot;:true,&quot;type&quot;:&quot;text&quot;}"/>
          <p:cNvSpPr txBox="1"/>
          <p:nvPr/>
        </p:nvSpPr>
        <p:spPr>
          <a:xfrm>
            <a:off x="952500" y="3543300"/>
            <a:ext cx="3657600" cy="447675"/>
          </a:xfrm>
          <a:prstGeom prst="rect">
            <a:avLst/>
          </a:prstGeom>
        </p:spPr>
        <p:txBody>
          <a:bodyPr wrap="square" lIns="0" tIns="0" rIns="0" bIns="0">
            <a:normAutofit/>
          </a:bodyPr>
          <a:p>
            <a:pPr>
              <a:lnSpc>
                <a:spcPct val="160000"/>
              </a:lnSpc>
            </a:pPr>
            <a:r>
              <a:rPr lang="en-US" sz="900">
                <a:solidFill>
                  <a:srgbClr val="1F1F1F"/>
                </a:solidFill>
                <a:latin typeface="微软雅黑" panose="020B0503020204020204" charset="-122"/>
                <a:ea typeface="微软雅黑" panose="020B0503020204020204" charset="-122"/>
              </a:rPr>
              <a:t>200707–201508 </a:t>
            </a:r>
            <a:r>
              <a:rPr lang="zh-CN" sz="900">
                <a:solidFill>
                  <a:srgbClr val="1F1F1F"/>
                </a:solidFill>
                <a:latin typeface="微软雅黑" panose="020B0503020204020204" charset="-122"/>
                <a:ea typeface="微软雅黑" panose="020B0503020204020204" charset="-122"/>
              </a:rPr>
              <a:t>期间截距</a:t>
            </a:r>
            <a:r>
              <a:rPr lang="en-US" sz="900">
                <a:solidFill>
                  <a:srgbClr val="1F1F1F"/>
                </a:solidFill>
                <a:latin typeface="微软雅黑" panose="020B0503020204020204" charset="-122"/>
                <a:ea typeface="微软雅黑" panose="020B0503020204020204" charset="-122"/>
              </a:rPr>
              <a:t> </a:t>
            </a:r>
            <a:r>
              <a:rPr lang="en-US" sz="900" b="1">
                <a:solidFill>
                  <a:srgbClr val="E8503A"/>
                </a:solidFill>
                <a:latin typeface="微软雅黑" panose="020B0503020204020204" charset="-122"/>
                <a:ea typeface="微软雅黑" panose="020B0503020204020204" charset="-122"/>
              </a:rPr>
              <a:t>-0.63** / -0.76** / -0.68**</a:t>
            </a:r>
            <a:r>
              <a:rPr lang="zh-CN" sz="900">
                <a:solidFill>
                  <a:srgbClr val="1F1F1F"/>
                </a:solidFill>
                <a:latin typeface="微软雅黑" panose="020B0503020204020204" charset="-122"/>
                <a:ea typeface="微软雅黑" panose="020B0503020204020204" charset="-122"/>
              </a:rPr>
              <a:t>（</a:t>
            </a:r>
            <a:r>
              <a:rPr lang="en-US" sz="900">
                <a:solidFill>
                  <a:srgbClr val="1F1F1F"/>
                </a:solidFill>
                <a:latin typeface="微软雅黑" panose="020B0503020204020204" charset="-122"/>
                <a:ea typeface="微软雅黑" panose="020B0503020204020204" charset="-122"/>
              </a:rPr>
              <a:t>t </a:t>
            </a:r>
            <a:r>
              <a:rPr lang="zh-CN" sz="900">
                <a:solidFill>
                  <a:srgbClr val="1F1F1F"/>
                </a:solidFill>
                <a:latin typeface="微软雅黑" panose="020B0503020204020204" charset="-122"/>
                <a:ea typeface="微软雅黑" panose="020B0503020204020204" charset="-122"/>
              </a:rPr>
              <a:t>值</a:t>
            </a:r>
            <a:r>
              <a:rPr lang="en-US" sz="900">
                <a:solidFill>
                  <a:srgbClr val="1F1F1F"/>
                </a:solidFill>
                <a:latin typeface="微软雅黑" panose="020B0503020204020204" charset="-122"/>
                <a:ea typeface="微软雅黑" panose="020B0503020204020204" charset="-122"/>
              </a:rPr>
              <a:t> -2.04 ~ -2.51</a:t>
            </a:r>
            <a:r>
              <a:rPr lang="zh-CN" sz="900">
                <a:solidFill>
                  <a:srgbClr val="1F1F1F"/>
                </a:solidFill>
                <a:latin typeface="微软雅黑" panose="020B0503020204020204" charset="-122"/>
                <a:ea typeface="微软雅黑" panose="020B0503020204020204" charset="-122"/>
              </a:rPr>
              <a:t>）→</a:t>
            </a:r>
            <a:r>
              <a:rPr lang="en-US" sz="900">
                <a:solidFill>
                  <a:srgbClr val="1F1F1F"/>
                </a:solidFill>
                <a:latin typeface="微软雅黑" panose="020B0503020204020204" charset="-122"/>
                <a:ea typeface="微软雅黑" panose="020B0503020204020204" charset="-122"/>
              </a:rPr>
              <a:t> </a:t>
            </a:r>
            <a:r>
              <a:rPr lang="zh-CN" sz="900">
                <a:solidFill>
                  <a:srgbClr val="1F1F1F"/>
                </a:solidFill>
                <a:latin typeface="微软雅黑" panose="020B0503020204020204" charset="-122"/>
                <a:ea typeface="微软雅黑" panose="020B0503020204020204" charset="-122"/>
              </a:rPr>
              <a:t>存在的是</a:t>
            </a:r>
            <a:r>
              <a:rPr lang="zh-CN" sz="900" b="1">
                <a:solidFill>
                  <a:srgbClr val="1F1F1F"/>
                </a:solidFill>
                <a:latin typeface="微软雅黑" panose="020B0503020204020204" charset="-122"/>
                <a:ea typeface="微软雅黑" panose="020B0503020204020204" charset="-122"/>
              </a:rPr>
              <a:t>反转效应</a:t>
            </a:r>
            <a:r>
              <a:rPr lang="zh-CN" sz="900">
                <a:solidFill>
                  <a:srgbClr val="1F1F1F"/>
                </a:solidFill>
                <a:latin typeface="微软雅黑" panose="020B0503020204020204" charset="-122"/>
                <a:ea typeface="微软雅黑" panose="020B0503020204020204" charset="-122"/>
              </a:rPr>
              <a:t>，且无法被五因子模型解释。</a:t>
            </a:r>
            <a:endParaRPr lang="zh-CN" sz="900">
              <a:solidFill>
                <a:srgbClr val="1F1F1F"/>
              </a:solidFill>
              <a:latin typeface="微软雅黑" panose="020B0503020204020204" charset="-122"/>
              <a:ea typeface="微软雅黑" panose="020B0503020204020204" charset="-122"/>
            </a:endParaRPr>
          </a:p>
        </p:txBody>
      </p:sp>
      <p:sp>
        <p:nvSpPr>
          <p:cNvPr id="85" name="圆角矩形 84"/>
          <p:cNvSpPr/>
          <p:nvPr/>
        </p:nvSpPr>
        <p:spPr>
          <a:xfrm>
            <a:off x="800100" y="4267200"/>
            <a:ext cx="4000500" cy="914400"/>
          </a:xfrm>
          <a:prstGeom prst="roundRect">
            <a:avLst>
              <a:gd name="adj" fmla="val 10417"/>
            </a:avLst>
          </a:prstGeom>
          <a:solidFill>
            <a:srgbClr val="01A5B1">
              <a:alpha val="10000"/>
            </a:srgbClr>
          </a:solidFill>
        </p:spPr>
        <p:txBody>
          <a:bodyPr/>
          <a:p/>
        </p:txBody>
      </p:sp>
      <p:sp>
        <p:nvSpPr>
          <p:cNvPr id="86" name="任意多边形 85"/>
          <p:cNvSpPr/>
          <p:nvPr/>
        </p:nvSpPr>
        <p:spPr>
          <a:xfrm>
            <a:off x="800100" y="4267200"/>
            <a:ext cx="4000500" cy="914400"/>
          </a:xfrm>
          <a:custGeom>
            <a:avLst/>
            <a:gdLst/>
            <a:ahLst/>
            <a:cxnLst/>
            <a:pathLst>
              <a:path w="420" h="96">
                <a:moveTo>
                  <a:pt x="9" y="0"/>
                </a:moveTo>
                <a:cubicBezTo>
                  <a:pt x="6" y="0"/>
                  <a:pt x="4" y="3"/>
                  <a:pt x="4" y="6"/>
                </a:cubicBezTo>
                <a:lnTo>
                  <a:pt x="4" y="90"/>
                </a:lnTo>
                <a:cubicBezTo>
                  <a:pt x="4" y="93"/>
                  <a:pt x="6" y="95"/>
                  <a:pt x="9" y="96"/>
                </a:cubicBezTo>
                <a:cubicBezTo>
                  <a:pt x="4" y="95"/>
                  <a:pt x="0" y="91"/>
                  <a:pt x="0" y="86"/>
                </a:cubicBezTo>
                <a:lnTo>
                  <a:pt x="0" y="10"/>
                </a:lnTo>
                <a:cubicBezTo>
                  <a:pt x="0" y="5"/>
                  <a:pt x="4" y="0"/>
                  <a:pt x="10" y="0"/>
                </a:cubicBezTo>
                <a:close/>
              </a:path>
            </a:pathLst>
          </a:custGeom>
          <a:solidFill>
            <a:srgbClr val="01A5B1"/>
          </a:solidFill>
        </p:spPr>
        <p:txBody>
          <a:bodyPr/>
          <a:p/>
        </p:txBody>
      </p:sp>
      <p:sp>
        <p:nvSpPr>
          <p:cNvPr id="87" name="文本框 86" descr="{&quot;isTemplate&quot;:true,&quot;type&quot;:&quot;text&quot;}"/>
          <p:cNvSpPr txBox="1"/>
          <p:nvPr/>
        </p:nvSpPr>
        <p:spPr>
          <a:xfrm>
            <a:off x="952500" y="4400550"/>
            <a:ext cx="3657600" cy="161925"/>
          </a:xfrm>
          <a:prstGeom prst="rect">
            <a:avLst/>
          </a:prstGeom>
        </p:spPr>
        <p:txBody>
          <a:bodyPr wrap="none" lIns="0" tIns="0" rIns="0" bIns="0"/>
          <a:p>
            <a:pPr>
              <a:lnSpc>
                <a:spcPct val="100000"/>
              </a:lnSpc>
            </a:pPr>
            <a:r>
              <a:rPr lang="en-US" sz="1050" b="1">
                <a:solidFill>
                  <a:srgbClr val="01A5B1"/>
                </a:solidFill>
                <a:latin typeface="微软雅黑" panose="020B0503020204020204" charset="-122"/>
                <a:ea typeface="微软雅黑" panose="020B0503020204020204" charset="-122"/>
              </a:rPr>
              <a:t>FF5 vs FF5+MOM</a:t>
            </a:r>
            <a:r>
              <a:rPr lang="zh-CN" sz="1050" b="1">
                <a:solidFill>
                  <a:srgbClr val="01A5B1"/>
                </a:solidFill>
                <a:latin typeface="微软雅黑" panose="020B0503020204020204" charset="-122"/>
                <a:ea typeface="微软雅黑" panose="020B0503020204020204" charset="-122"/>
              </a:rPr>
              <a:t>：股改后加</a:t>
            </a:r>
            <a:r>
              <a:rPr lang="en-US" sz="1050" b="1">
                <a:solidFill>
                  <a:srgbClr val="01A5B1"/>
                </a:solidFill>
                <a:latin typeface="微软雅黑" panose="020B0503020204020204" charset="-122"/>
                <a:ea typeface="微软雅黑" panose="020B0503020204020204" charset="-122"/>
              </a:rPr>
              <a:t>MOM</a:t>
            </a:r>
            <a:r>
              <a:rPr lang="zh-CN" sz="1050" b="1">
                <a:solidFill>
                  <a:srgbClr val="01A5B1"/>
                </a:solidFill>
                <a:latin typeface="微软雅黑" panose="020B0503020204020204" charset="-122"/>
                <a:ea typeface="微软雅黑" panose="020B0503020204020204" charset="-122"/>
              </a:rPr>
              <a:t>才有效</a:t>
            </a:r>
            <a:endParaRPr lang="zh-CN" sz="1050" b="1">
              <a:solidFill>
                <a:srgbClr val="01A5B1"/>
              </a:solidFill>
              <a:latin typeface="微软雅黑" panose="020B0503020204020204" charset="-122"/>
              <a:ea typeface="微软雅黑" panose="020B0503020204020204" charset="-122"/>
            </a:endParaRPr>
          </a:p>
        </p:txBody>
      </p:sp>
      <p:sp>
        <p:nvSpPr>
          <p:cNvPr id="88" name="文本框 87" descr="{&quot;isTemplate&quot;:true,&quot;type&quot;:&quot;text&quot;}"/>
          <p:cNvSpPr txBox="1"/>
          <p:nvPr/>
        </p:nvSpPr>
        <p:spPr>
          <a:xfrm>
            <a:off x="952500" y="4600575"/>
            <a:ext cx="3657600" cy="447675"/>
          </a:xfrm>
          <a:prstGeom prst="rect">
            <a:avLst/>
          </a:prstGeom>
        </p:spPr>
        <p:txBody>
          <a:bodyPr wrap="square" lIns="0" tIns="0" rIns="0" bIns="0">
            <a:normAutofit/>
          </a:bodyPr>
          <a:p>
            <a:pPr>
              <a:lnSpc>
                <a:spcPct val="160000"/>
              </a:lnSpc>
            </a:pPr>
            <a:r>
              <a:rPr lang="zh-CN" sz="900">
                <a:solidFill>
                  <a:srgbClr val="1F1F1F"/>
                </a:solidFill>
                <a:latin typeface="微软雅黑" panose="020B0503020204020204" charset="-122"/>
                <a:ea typeface="微软雅黑" panose="020B0503020204020204" charset="-122"/>
              </a:rPr>
              <a:t>全样本</a:t>
            </a:r>
            <a:r>
              <a:rPr lang="en-US" sz="900">
                <a:solidFill>
                  <a:srgbClr val="1F1F1F"/>
                </a:solidFill>
                <a:latin typeface="微软雅黑" panose="020B0503020204020204" charset="-122"/>
                <a:ea typeface="微软雅黑" panose="020B0503020204020204" charset="-122"/>
              </a:rPr>
              <a:t> GRS </a:t>
            </a:r>
            <a:r>
              <a:rPr lang="zh-CN" sz="900">
                <a:solidFill>
                  <a:srgbClr val="1F1F1F"/>
                </a:solidFill>
                <a:latin typeface="微软雅黑" panose="020B0503020204020204" charset="-122"/>
                <a:ea typeface="微软雅黑" panose="020B0503020204020204" charset="-122"/>
              </a:rPr>
              <a:t>由</a:t>
            </a:r>
            <a:r>
              <a:rPr lang="en-US" sz="900">
                <a:solidFill>
                  <a:srgbClr val="1F1F1F"/>
                </a:solidFill>
                <a:latin typeface="微软雅黑" panose="020B0503020204020204" charset="-122"/>
                <a:ea typeface="微软雅黑" panose="020B0503020204020204" charset="-122"/>
              </a:rPr>
              <a:t> 2.83 </a:t>
            </a:r>
            <a:r>
              <a:rPr lang="zh-CN" sz="900">
                <a:solidFill>
                  <a:srgbClr val="1F1F1F"/>
                </a:solidFill>
                <a:latin typeface="微软雅黑" panose="020B0503020204020204" charset="-122"/>
                <a:ea typeface="微软雅黑" panose="020B0503020204020204" charset="-122"/>
              </a:rPr>
              <a:t>降至</a:t>
            </a:r>
            <a:r>
              <a:rPr lang="en-US" sz="900">
                <a:solidFill>
                  <a:srgbClr val="1F1F1F"/>
                </a:solidFill>
                <a:latin typeface="微软雅黑" panose="020B0503020204020204" charset="-122"/>
                <a:ea typeface="微软雅黑" panose="020B0503020204020204" charset="-122"/>
              </a:rPr>
              <a:t> 2.81</a:t>
            </a:r>
            <a:r>
              <a:rPr lang="zh-CN" sz="900">
                <a:solidFill>
                  <a:srgbClr val="1F1F1F"/>
                </a:solidFill>
                <a:latin typeface="微软雅黑" panose="020B0503020204020204" charset="-122"/>
                <a:ea typeface="微软雅黑" panose="020B0503020204020204" charset="-122"/>
              </a:rPr>
              <a:t>，几乎无改善；股改后</a:t>
            </a:r>
            <a:r>
              <a:rPr lang="en-US" sz="900">
                <a:solidFill>
                  <a:srgbClr val="1F1F1F"/>
                </a:solidFill>
                <a:latin typeface="微软雅黑" panose="020B0503020204020204" charset="-122"/>
                <a:ea typeface="微软雅黑" panose="020B0503020204020204" charset="-122"/>
              </a:rPr>
              <a:t> GRS </a:t>
            </a:r>
            <a:r>
              <a:rPr lang="en-US" sz="900" b="1">
                <a:solidFill>
                  <a:srgbClr val="1F1F1F"/>
                </a:solidFill>
                <a:latin typeface="微软雅黑" panose="020B0503020204020204" charset="-122"/>
                <a:ea typeface="微软雅黑" panose="020B0503020204020204" charset="-122"/>
              </a:rPr>
              <a:t>2.24 → 2.00</a:t>
            </a:r>
            <a:r>
              <a:rPr lang="zh-CN" sz="900">
                <a:solidFill>
                  <a:srgbClr val="1F1F1F"/>
                </a:solidFill>
                <a:latin typeface="微软雅黑" panose="020B0503020204020204" charset="-122"/>
                <a:ea typeface="微软雅黑" panose="020B0503020204020204" charset="-122"/>
              </a:rPr>
              <a:t>，截距比率</a:t>
            </a:r>
            <a:r>
              <a:rPr lang="en-US" sz="900">
                <a:solidFill>
                  <a:srgbClr val="1F1F1F"/>
                </a:solidFill>
                <a:latin typeface="微软雅黑" panose="020B0503020204020204" charset="-122"/>
                <a:ea typeface="微软雅黑" panose="020B0503020204020204" charset="-122"/>
              </a:rPr>
              <a:t> </a:t>
            </a:r>
            <a:r>
              <a:rPr lang="en-US" sz="900" b="1">
                <a:solidFill>
                  <a:srgbClr val="1F1F1F"/>
                </a:solidFill>
                <a:latin typeface="微软雅黑" panose="020B0503020204020204" charset="-122"/>
                <a:ea typeface="微软雅黑" panose="020B0503020204020204" charset="-122"/>
              </a:rPr>
              <a:t>0.53→0.50</a:t>
            </a:r>
            <a:r>
              <a:rPr lang="zh-CN" sz="900" b="1">
                <a:solidFill>
                  <a:srgbClr val="1F1F1F"/>
                </a:solidFill>
                <a:latin typeface="微软雅黑" panose="020B0503020204020204" charset="-122"/>
                <a:ea typeface="微软雅黑" panose="020B0503020204020204" charset="-122"/>
              </a:rPr>
              <a:t>、</a:t>
            </a:r>
            <a:r>
              <a:rPr lang="en-US" sz="900" b="1">
                <a:solidFill>
                  <a:srgbClr val="1F1F1F"/>
                </a:solidFill>
                <a:latin typeface="微软雅黑" panose="020B0503020204020204" charset="-122"/>
                <a:ea typeface="微软雅黑" panose="020B0503020204020204" charset="-122"/>
              </a:rPr>
              <a:t>0.33→0.26</a:t>
            </a:r>
            <a:r>
              <a:rPr lang="zh-CN" sz="900">
                <a:solidFill>
                  <a:srgbClr val="1F1F1F"/>
                </a:solidFill>
                <a:latin typeface="微软雅黑" panose="020B0503020204020204" charset="-122"/>
                <a:ea typeface="微软雅黑" panose="020B0503020204020204" charset="-122"/>
              </a:rPr>
              <a:t>，</a:t>
            </a:r>
            <a:r>
              <a:rPr lang="en-US" sz="900">
                <a:solidFill>
                  <a:srgbClr val="1F1F1F"/>
                </a:solidFill>
                <a:latin typeface="微软雅黑" panose="020B0503020204020204" charset="-122"/>
                <a:ea typeface="微软雅黑" panose="020B0503020204020204" charset="-122"/>
              </a:rPr>
              <a:t>4 </a:t>
            </a:r>
            <a:r>
              <a:rPr lang="zh-CN" sz="900">
                <a:solidFill>
                  <a:srgbClr val="1F1F1F"/>
                </a:solidFill>
                <a:latin typeface="微软雅黑" panose="020B0503020204020204" charset="-122"/>
                <a:ea typeface="微软雅黑" panose="020B0503020204020204" charset="-122"/>
              </a:rPr>
              <a:t>项指标全面改善。</a:t>
            </a:r>
            <a:endParaRPr lang="zh-CN" sz="900">
              <a:solidFill>
                <a:srgbClr val="1F1F1F"/>
              </a:solidFill>
              <a:latin typeface="微软雅黑" panose="020B0503020204020204" charset="-122"/>
              <a:ea typeface="微软雅黑" panose="020B0503020204020204" charset="-122"/>
            </a:endParaRPr>
          </a:p>
        </p:txBody>
      </p:sp>
      <p:sp>
        <p:nvSpPr>
          <p:cNvPr id="89" name="文本框 88" descr="{&quot;isTemplate&quot;:true,&quot;type&quot;:&quot;text&quot;}"/>
          <p:cNvSpPr txBox="1"/>
          <p:nvPr/>
        </p:nvSpPr>
        <p:spPr>
          <a:xfrm>
            <a:off x="6105525" y="5553075"/>
            <a:ext cx="4200525"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表</a:t>
            </a:r>
            <a:r>
              <a:rPr lang="en-US" sz="790">
                <a:solidFill>
                  <a:srgbClr val="8A8A8A"/>
                </a:solidFill>
                <a:latin typeface="微软雅黑" panose="020B0503020204020204" charset="-122"/>
                <a:ea typeface="微软雅黑" panose="020B0503020204020204" charset="-122"/>
              </a:rPr>
              <a:t>8 </a:t>
            </a:r>
            <a:r>
              <a:rPr lang="zh-CN" sz="790">
                <a:solidFill>
                  <a:srgbClr val="8A8A8A"/>
                </a:solidFill>
                <a:latin typeface="微软雅黑" panose="020B0503020204020204" charset="-122"/>
                <a:ea typeface="微软雅黑" panose="020B0503020204020204" charset="-122"/>
              </a:rPr>
              <a:t>动量因子的相关检验（红框：股改后显著负截距、</a:t>
            </a:r>
            <a:r>
              <a:rPr lang="en-US" sz="790">
                <a:solidFill>
                  <a:srgbClr val="8A8A8A"/>
                </a:solidFill>
                <a:latin typeface="微软雅黑" panose="020B0503020204020204" charset="-122"/>
                <a:ea typeface="微软雅黑" panose="020B0503020204020204" charset="-122"/>
              </a:rPr>
              <a:t>GRS </a:t>
            </a:r>
            <a:r>
              <a:rPr lang="zh-CN" sz="790">
                <a:solidFill>
                  <a:srgbClr val="8A8A8A"/>
                </a:solidFill>
                <a:latin typeface="微软雅黑" panose="020B0503020204020204" charset="-122"/>
                <a:ea typeface="微软雅黑" panose="020B0503020204020204" charset="-122"/>
              </a:rPr>
              <a:t>对比、截距比率对比）</a:t>
            </a:r>
            <a:endParaRPr lang="zh-CN" sz="790">
              <a:solidFill>
                <a:srgbClr val="8A8A8A"/>
              </a:solidFill>
              <a:latin typeface="微软雅黑" panose="020B0503020204020204" charset="-122"/>
              <a:ea typeface="微软雅黑" panose="020B0503020204020204" charset="-122"/>
            </a:endParaRPr>
          </a:p>
        </p:txBody>
      </p:sp>
      <p:sp>
        <p:nvSpPr>
          <p:cNvPr id="92" name="矩形 91"/>
          <p:cNvSpPr/>
          <p:nvPr/>
        </p:nvSpPr>
        <p:spPr>
          <a:xfrm>
            <a:off x="5086350" y="1666875"/>
            <a:ext cx="6229350" cy="3810000"/>
          </a:xfrm>
          <a:prstGeom prst="rect">
            <a:avLst/>
          </a:prstGeom>
          <a:ln w="12700">
            <a:solidFill>
              <a:srgbClr val="E0E0E0"/>
            </a:solidFill>
            <a:prstDash val="solid"/>
          </a:ln>
        </p:spPr>
        <p:txBody>
          <a:bodyPr/>
          <a:p/>
        </p:txBody>
      </p:sp>
      <p:pic>
        <p:nvPicPr>
          <p:cNvPr id="93" name="图片 92"/>
          <p:cNvPicPr>
            <a:picLocks noChangeAspect="1"/>
          </p:cNvPicPr>
          <p:nvPr/>
        </p:nvPicPr>
        <p:blipFill>
          <a:blip r:embed="rId2"/>
          <a:srcRect t="15" b="15"/>
          <a:stretch>
            <a:fillRect/>
          </a:stretch>
        </p:blipFill>
        <p:spPr>
          <a:xfrm>
            <a:off x="5086350" y="1666875"/>
            <a:ext cx="6229350" cy="3810000"/>
          </a:xfrm>
          <a:prstGeom prst="roundRect">
            <a:avLst>
              <a:gd name="adj" fmla="val 1000"/>
            </a:avLst>
          </a:prstGeom>
          <a:effectLst>
            <a:outerShdw blurRad="95250" dist="19050" dir="5400000">
              <a:srgbClr val="000000">
                <a:alpha val="8000"/>
              </a:srgbClr>
            </a:outerShdw>
          </a:effectLst>
        </p:spPr>
      </p:pic>
      <p:sp>
        <p:nvSpPr>
          <p:cNvPr id="94" name="圆角矩形 93"/>
          <p:cNvSpPr/>
          <p:nvPr/>
        </p:nvSpPr>
        <p:spPr>
          <a:xfrm>
            <a:off x="5172075" y="3743325"/>
            <a:ext cx="2771775" cy="419100"/>
          </a:xfrm>
          <a:prstGeom prst="roundRect">
            <a:avLst>
              <a:gd name="adj" fmla="val 13636"/>
            </a:avLst>
          </a:prstGeom>
          <a:ln w="31750">
            <a:solidFill>
              <a:srgbClr val="E8503A"/>
            </a:solidFill>
            <a:prstDash val="solid"/>
          </a:ln>
        </p:spPr>
        <p:txBody>
          <a:bodyPr/>
          <a:p/>
        </p:txBody>
      </p:sp>
      <p:sp>
        <p:nvSpPr>
          <p:cNvPr id="95" name="圆角矩形 94"/>
          <p:cNvSpPr/>
          <p:nvPr/>
        </p:nvSpPr>
        <p:spPr>
          <a:xfrm>
            <a:off x="8886825" y="2466975"/>
            <a:ext cx="838200" cy="1866900"/>
          </a:xfrm>
          <a:prstGeom prst="roundRect">
            <a:avLst>
              <a:gd name="adj" fmla="val 6818"/>
            </a:avLst>
          </a:prstGeom>
          <a:ln w="31750">
            <a:solidFill>
              <a:srgbClr val="E8503A"/>
            </a:solidFill>
            <a:prstDash val="solid"/>
          </a:ln>
        </p:spPr>
        <p:txBody>
          <a:bodyPr/>
          <a:p/>
        </p:txBody>
      </p:sp>
      <p:sp>
        <p:nvSpPr>
          <p:cNvPr id="96" name="圆角矩形 95"/>
          <p:cNvSpPr/>
          <p:nvPr/>
        </p:nvSpPr>
        <p:spPr>
          <a:xfrm>
            <a:off x="10315575" y="2466975"/>
            <a:ext cx="838200" cy="1866900"/>
          </a:xfrm>
          <a:prstGeom prst="roundRect">
            <a:avLst>
              <a:gd name="adj" fmla="val 6818"/>
            </a:avLst>
          </a:prstGeom>
          <a:ln w="31750">
            <a:solidFill>
              <a:srgbClr val="E8503A"/>
            </a:solidFill>
            <a:prstDash val="solid"/>
          </a:ln>
        </p:spPr>
        <p:txBody>
          <a:bodyPr/>
          <a:p/>
        </p:txBody>
      </p:sp>
      <p:sp>
        <p:nvSpPr>
          <p:cNvPr id="97" name="Rectangle 96"/>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00" name="TextBox 99"/>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101" name="TextBox 100"/>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02" name="TextBox 101"/>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03" name="TextBox 102"/>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04" name="Rectangle 103"/>
          <p:cNvSpPr/>
          <p:nvPr/>
        </p:nvSpPr>
        <p:spPr>
          <a:xfrm>
            <a:off x="7620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7665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动量因子</a:t>
            </a:r>
          </a:p>
        </p:txBody>
      </p:sp>
      <p:sp>
        <p:nvSpPr>
          <p:cNvPr id="106" name="TextBox 105"/>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07" name="TextBox 106"/>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97"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结果解读：反转效应为何在股改后凸显？&lt;/Text&gt;&#10;        &lt;/Box&gt;&#10;        &lt;Box style={{ flex: 1, flexDirection: 'row', gap: 24, alignItems: 'center' }}&gt;&#10;            &lt;Box style={{ flex: 1, flexDirection: 'column', gap: 16 }}&gt;&#10;                &lt;Box style={{ background: 'rgba(1,165,177,0.10)', borderRadius: 10, padding: '15px 18px', borderLeft: '4px solid #01A5B1' }}&gt;&#10;                    &lt;Box style={{ flexDirection: 'row', alignItems: 'center', gap: 8, marginBottom: 6 }}&gt;&#10;                        &lt;Box style={{ width: 22, height: 22, background: '#01A5B1', borderRadius: 11, alignItems: 'center', justifyContent: 'center' }}&gt;&#10;                            &lt;Text style={{ fontSize: 12, color: '#FFFFFF', fontWeight: 'bold' }}&gt;1&lt;/Text&gt;&#10;                        &lt;/Box&gt;&#10;                        &lt;Text style={{ fontSize: 14.5, fontWeight: 'bold', color: '#01A5B1' }}&gt;为 A 股动量效应检验提供最新证据&lt;/Text&gt;&#10;                    &lt;/Box&gt;&#10;                    &lt;Text style={{ fontSize: 12.5, color: '#1F1F1F', lineHeight: 1.6 }}&gt;表3 说明全样本下动量因子相对&lt;span style={{ fontWeight: 'bold' }}&gt;三因子模型&lt;/span&gt;没有风险溢价，表8 说明相对&lt;span style={{ fontWeight: 'bold' }}&gt;五因子模型&lt;/span&gt;也没有风险溢价 → A 股整体不存在风险调整后的动量效应。&lt;/Text&gt;&#10;                &lt;/Box&gt;&#10;                &lt;Box style={{ background: 'rgba(1,165,177,0.10)', borderRadius: 10, padding: '15px 18px', borderLeft: '4px solid #E8503A' }}&gt;&#10;                    &lt;Box style={{ flexDirection: 'row', alignItems: 'center', gap: 8, marginBottom: 6 }}&gt;&#10;                        &lt;Box style={{ width: 22, height: 22, background: '#E8503A', borderRadius: 11, alignItems: 'center', justifyContent: 'center' }}&gt;&#10;                            &lt;Text style={{ fontSize: 12, color: '#FFFFFF', fontWeight: 'bold' }}&gt;2&lt;/Text&gt;&#10;                        &lt;/Box&gt;&#10;                        &lt;Text style={{ fontSize: 14.5, fontWeight: 'bold', color: '#E8503A' }}&gt;经济解释：股改后市场更理性&lt;/Text&gt;&#10;                    &lt;/Box&gt;&#10;                    &lt;Text style={{ fontSize: 12.5, color: '#1F1F1F', lineHeight: 1.6 }}&gt;分时期检验发现 A 股在&lt;span style={{ color: '#E8503A', fontWeight: 'bold' }}&gt;股改后样本期内反转效应变得更加显著&lt;/span&gt;——这与股改后价值发现功能显著提高（杨善林等, 2006）、投资者趋于理性、股价更能反映真实经济情况有关；理性、真实的收益率更能体现动量因子的风险溢价。（脚注11：沿用文献惯例，仍将 MOM 称为动量因子）&lt;/Text&gt;&#10;                &lt;/Box&gt;&#10;                &lt;Box style={{ background: 'rgba(1,165,177,0.10)', borderRadius: 10, padding: '15px 18px', borderLeft: '4px solid #01A5B1' }}&gt;&#10;                    &lt;Box style={{ flexDirection: 'row', alignItems: 'center', gap: 8, marginBottom: 6 }}&gt;&#10;                        &lt;Box style={{ width: 22, height: 22, background: '#01A5B1', borderRadius: 11, alignItems: 'center', justifyContent: 'center' }}&gt;&#10;                            &lt;Text style={{ fontSize: 12, color: '#FFFFFF', fontWeight: 'bold' }}&gt;3&lt;/Text&gt;&#10;                        &lt;/Box&gt;&#10;                        &lt;Text style={{ fontSize: 14.5, fontWeight: 'bold', color: '#01A5B1' }}&gt;方法论启示：以股改后样本为准&lt;/Text&gt;&#10;                    &lt;/Box&gt;&#10;                    &lt;Text style={{ fontSize: 12.5, color: '#1F1F1F', lineHeight: 1.6 }}&gt;中国市场早期具有&quot;&lt;span style={{ fontWeight: 'bold' }}&gt;股权分置&lt;/span&gt;&quot;特殊性 → 研究国外成熟模型在 A 股的表现时，&lt;span style={{ fontWeight: 'bold' }}&gt;应以股改后样本为主&lt;/span&gt;；全样本受股改前干扰较大，也是早期文献结论不一致的一个可能原因。&lt;/Text&gt;&#10;                &lt;/Box&gt;&#10;            &lt;/Box&gt;&#10;            &lt;Box style={{ width: 430, flexDirection: 'column', alignItems: 'center', gap: 8 }}&gt;&#10;                &lt;Image src=&quot;assets/evidence.png&quot; style={{ width: 415, height: 489, border: '1px solid #E0E0E0', borderRadius: 4, boxShadow: '0 2px 10px rgba(0,0,0,0.08)' }} /&gt;&#10;                &lt;Text style={{ fontSize: 10.5, color: '#8A8A8A' }}&gt;原论文截图 · 结果解读与脚注11（第203–204页）&lt;/Text&gt;&#10;            &lt;/Box&gt;&#10;        &lt;/Box&gt;&#10;        &lt;Box style={{ height: 40, flexDirection: 'row', alignItems: 'center', justifyContent: 'space-between' }}&gt;&#10;            &lt;Text style={{ fontSize: 12, color: '#8A8A8A' }}&gt;三维结构法 · FF5 中国实证拆解&lt;/Text&gt;&#10;            &lt;Text style={{ fontSize: 12, color: '#8A8A8A' }}&gt;05 / 07&lt;/Text&gt;&#10;        &lt;/Box&gt;&#10;    &lt;/Box&gt;&#10;&lt;/Slide&gt;"/>
        <p:cNvGrpSpPr/>
        <p:nvPr/>
      </p:nvGrpSpPr>
      <p:grpSpPr>
        <a:xfrm>
          <a:off x="0" y="0"/>
          <a:ext cx="0" cy="0"/>
          <a:chOff x="0" y="0"/>
          <a:chExt cx="0" cy="0"/>
        </a:xfrm>
      </p:grpSpPr>
      <p:sp>
        <p:nvSpPr>
          <p:cNvPr id="98" name="矩形 97"/>
          <p:cNvSpPr/>
          <p:nvPr/>
        </p:nvSpPr>
        <p:spPr>
          <a:xfrm>
            <a:off x="0" y="0"/>
            <a:ext cx="12192000" cy="6858000"/>
          </a:xfrm>
          <a:prstGeom prst="rect">
            <a:avLst/>
          </a:prstGeom>
          <a:solidFill>
            <a:srgbClr val="FFFFFF"/>
          </a:solidFill>
        </p:spPr>
        <p:txBody>
          <a:bodyPr/>
          <a:p/>
        </p:txBody>
      </p:sp>
      <p:pic>
        <p:nvPicPr>
          <p:cNvPr id="99" name="图片 98"/>
          <p:cNvPicPr>
            <a:picLocks noChangeAspect="1"/>
          </p:cNvPicPr>
          <p:nvPr/>
        </p:nvPicPr>
        <p:blipFill>
          <a:blip r:embed="rId1"/>
          <a:stretch>
            <a:fillRect/>
          </a:stretch>
        </p:blipFill>
        <p:spPr>
          <a:xfrm>
            <a:off x="0" y="0"/>
            <a:ext cx="12192000" cy="6858000"/>
          </a:xfrm>
          <a:prstGeom prst="rect">
            <a:avLst/>
          </a:prstGeom>
        </p:spPr>
      </p:pic>
      <p:sp>
        <p:nvSpPr>
          <p:cNvPr id="100" name="矩形 99"/>
          <p:cNvSpPr/>
          <p:nvPr/>
        </p:nvSpPr>
        <p:spPr>
          <a:xfrm>
            <a:off x="762000" y="304800"/>
            <a:ext cx="57150" cy="342900"/>
          </a:xfrm>
          <a:prstGeom prst="rect">
            <a:avLst/>
          </a:prstGeom>
          <a:solidFill>
            <a:srgbClr val="01A5B1"/>
          </a:solidFill>
        </p:spPr>
        <p:txBody>
          <a:bodyPr/>
          <a:p/>
        </p:txBody>
      </p:sp>
      <p:sp>
        <p:nvSpPr>
          <p:cNvPr id="101" name="文本框 100"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结果解读：反转效应为何在股改后凸显？</a:t>
            </a:r>
            <a:endParaRPr lang="zh-CN" sz="2550" b="1">
              <a:solidFill>
                <a:srgbClr val="01A5B1"/>
              </a:solidFill>
              <a:latin typeface="微软雅黑" panose="020B0503020204020204" charset="-122"/>
              <a:ea typeface="微软雅黑" panose="020B0503020204020204" charset="-122"/>
            </a:endParaRPr>
          </a:p>
        </p:txBody>
      </p:sp>
      <p:sp>
        <p:nvSpPr>
          <p:cNvPr id="102" name="圆角矩形 101"/>
          <p:cNvSpPr/>
          <p:nvPr/>
        </p:nvSpPr>
        <p:spPr>
          <a:xfrm>
            <a:off x="800100" y="1885950"/>
            <a:ext cx="6343650" cy="1009650"/>
          </a:xfrm>
          <a:prstGeom prst="roundRect">
            <a:avLst>
              <a:gd name="adj" fmla="val 9434"/>
            </a:avLst>
          </a:prstGeom>
          <a:solidFill>
            <a:srgbClr val="01A5B1">
              <a:alpha val="10000"/>
            </a:srgbClr>
          </a:solidFill>
        </p:spPr>
        <p:txBody>
          <a:bodyPr/>
          <a:p/>
        </p:txBody>
      </p:sp>
      <p:sp>
        <p:nvSpPr>
          <p:cNvPr id="103" name="任意多边形 102"/>
          <p:cNvSpPr/>
          <p:nvPr/>
        </p:nvSpPr>
        <p:spPr>
          <a:xfrm>
            <a:off x="800100" y="1885950"/>
            <a:ext cx="6343650" cy="1009650"/>
          </a:xfrm>
          <a:custGeom>
            <a:avLst/>
            <a:gdLst/>
            <a:ahLst/>
            <a:cxnLst/>
            <a:pathLst>
              <a:path w="666" h="106">
                <a:moveTo>
                  <a:pt x="9" y="0"/>
                </a:moveTo>
                <a:cubicBezTo>
                  <a:pt x="6" y="0"/>
                  <a:pt x="4" y="3"/>
                  <a:pt x="4" y="6"/>
                </a:cubicBezTo>
                <a:lnTo>
                  <a:pt x="4" y="100"/>
                </a:lnTo>
                <a:cubicBezTo>
                  <a:pt x="4" y="103"/>
                  <a:pt x="6" y="105"/>
                  <a:pt x="9" y="106"/>
                </a:cubicBezTo>
                <a:cubicBezTo>
                  <a:pt x="4" y="105"/>
                  <a:pt x="0" y="101"/>
                  <a:pt x="0" y="96"/>
                </a:cubicBezTo>
                <a:lnTo>
                  <a:pt x="0" y="10"/>
                </a:lnTo>
                <a:cubicBezTo>
                  <a:pt x="0" y="5"/>
                  <a:pt x="4" y="0"/>
                  <a:pt x="10" y="0"/>
                </a:cubicBezTo>
                <a:close/>
              </a:path>
            </a:pathLst>
          </a:custGeom>
          <a:solidFill>
            <a:srgbClr val="01A5B1"/>
          </a:solidFill>
        </p:spPr>
        <p:txBody>
          <a:bodyPr/>
          <a:p/>
        </p:txBody>
      </p:sp>
      <p:sp>
        <p:nvSpPr>
          <p:cNvPr id="104" name="圆角矩形 103"/>
          <p:cNvSpPr/>
          <p:nvPr/>
        </p:nvSpPr>
        <p:spPr>
          <a:xfrm>
            <a:off x="971550" y="2028825"/>
            <a:ext cx="209550" cy="209550"/>
          </a:xfrm>
          <a:prstGeom prst="roundRect">
            <a:avLst>
              <a:gd name="adj" fmla="val 50000"/>
            </a:avLst>
          </a:prstGeom>
          <a:solidFill>
            <a:srgbClr val="01A5B1"/>
          </a:solidFill>
        </p:spPr>
        <p:txBody>
          <a:bodyPr/>
          <a:p/>
        </p:txBody>
      </p:sp>
      <p:sp>
        <p:nvSpPr>
          <p:cNvPr id="105" name="文本框 104" descr="{&quot;isTemplate&quot;:true,&quot;type&quot;:&quot;text&quot;}"/>
          <p:cNvSpPr txBox="1"/>
          <p:nvPr/>
        </p:nvSpPr>
        <p:spPr>
          <a:xfrm>
            <a:off x="1038225" y="206692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1</a:t>
            </a:r>
            <a:endParaRPr lang="en-US" sz="900" b="1">
              <a:solidFill>
                <a:srgbClr val="FFFFFF"/>
              </a:solidFill>
              <a:latin typeface="微软雅黑" panose="020B0503020204020204" charset="-122"/>
              <a:ea typeface="微软雅黑" panose="020B0503020204020204" charset="-122"/>
            </a:endParaRPr>
          </a:p>
        </p:txBody>
      </p:sp>
      <p:sp>
        <p:nvSpPr>
          <p:cNvPr id="106" name="文本框 105" descr="{&quot;isTemplate&quot;:true,&quot;type&quot;:&quot;text&quot;}"/>
          <p:cNvSpPr txBox="1"/>
          <p:nvPr/>
        </p:nvSpPr>
        <p:spPr>
          <a:xfrm>
            <a:off x="1257300" y="2047875"/>
            <a:ext cx="2124075" cy="171450"/>
          </a:xfrm>
          <a:prstGeom prst="rect">
            <a:avLst/>
          </a:prstGeom>
        </p:spPr>
        <p:txBody>
          <a:bodyPr wrap="none" lIns="0" tIns="0" rIns="0" bIns="0"/>
          <a:p>
            <a:pPr>
              <a:lnSpc>
                <a:spcPct val="100000"/>
              </a:lnSpc>
            </a:pPr>
            <a:r>
              <a:rPr lang="zh-CN" sz="1090" b="1">
                <a:solidFill>
                  <a:srgbClr val="01A5B1"/>
                </a:solidFill>
                <a:latin typeface="微软雅黑" panose="020B0503020204020204" charset="-122"/>
                <a:ea typeface="微软雅黑" panose="020B0503020204020204" charset="-122"/>
              </a:rPr>
              <a:t>为</a:t>
            </a:r>
            <a:r>
              <a:rPr lang="en-US" sz="1090" b="1">
                <a:solidFill>
                  <a:srgbClr val="01A5B1"/>
                </a:solidFill>
                <a:latin typeface="微软雅黑" panose="020B0503020204020204" charset="-122"/>
                <a:ea typeface="微软雅黑" panose="020B0503020204020204" charset="-122"/>
              </a:rPr>
              <a:t> A </a:t>
            </a:r>
            <a:r>
              <a:rPr lang="zh-CN" sz="1090" b="1">
                <a:solidFill>
                  <a:srgbClr val="01A5B1"/>
                </a:solidFill>
                <a:latin typeface="微软雅黑" panose="020B0503020204020204" charset="-122"/>
                <a:ea typeface="微软雅黑" panose="020B0503020204020204" charset="-122"/>
              </a:rPr>
              <a:t>股动量效应检验提供最新证据</a:t>
            </a:r>
            <a:endParaRPr lang="zh-CN" sz="1090" b="1">
              <a:solidFill>
                <a:srgbClr val="01A5B1"/>
              </a:solidFill>
              <a:latin typeface="微软雅黑" panose="020B0503020204020204" charset="-122"/>
              <a:ea typeface="微软雅黑" panose="020B0503020204020204" charset="-122"/>
            </a:endParaRPr>
          </a:p>
        </p:txBody>
      </p:sp>
      <p:sp>
        <p:nvSpPr>
          <p:cNvPr id="107" name="文本框 106" descr="{&quot;isTemplate&quot;:true,&quot;type&quot;:&quot;text&quot;}"/>
          <p:cNvSpPr txBox="1"/>
          <p:nvPr/>
        </p:nvSpPr>
        <p:spPr>
          <a:xfrm>
            <a:off x="971550" y="2295525"/>
            <a:ext cx="5962650" cy="4572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表</a:t>
            </a:r>
            <a:r>
              <a:rPr lang="en-US" sz="940">
                <a:solidFill>
                  <a:srgbClr val="1F1F1F"/>
                </a:solidFill>
                <a:latin typeface="微软雅黑" panose="020B0503020204020204" charset="-122"/>
                <a:ea typeface="微软雅黑" panose="020B0503020204020204" charset="-122"/>
              </a:rPr>
              <a:t>3 </a:t>
            </a:r>
            <a:r>
              <a:rPr lang="zh-CN" sz="940">
                <a:solidFill>
                  <a:srgbClr val="1F1F1F"/>
                </a:solidFill>
                <a:latin typeface="微软雅黑" panose="020B0503020204020204" charset="-122"/>
                <a:ea typeface="微软雅黑" panose="020B0503020204020204" charset="-122"/>
              </a:rPr>
              <a:t>说明全样本下动量因子相对</a:t>
            </a:r>
            <a:r>
              <a:rPr lang="zh-CN" sz="940" b="1">
                <a:solidFill>
                  <a:srgbClr val="1F1F1F"/>
                </a:solidFill>
                <a:latin typeface="微软雅黑" panose="020B0503020204020204" charset="-122"/>
                <a:ea typeface="微软雅黑" panose="020B0503020204020204" charset="-122"/>
              </a:rPr>
              <a:t>三因子模型</a:t>
            </a:r>
            <a:r>
              <a:rPr lang="zh-CN" sz="940">
                <a:solidFill>
                  <a:srgbClr val="1F1F1F"/>
                </a:solidFill>
                <a:latin typeface="微软雅黑" panose="020B0503020204020204" charset="-122"/>
                <a:ea typeface="微软雅黑" panose="020B0503020204020204" charset="-122"/>
              </a:rPr>
              <a:t>没有风险溢价，表</a:t>
            </a:r>
            <a:r>
              <a:rPr lang="en-US" sz="940">
                <a:solidFill>
                  <a:srgbClr val="1F1F1F"/>
                </a:solidFill>
                <a:latin typeface="微软雅黑" panose="020B0503020204020204" charset="-122"/>
                <a:ea typeface="微软雅黑" panose="020B0503020204020204" charset="-122"/>
              </a:rPr>
              <a:t>8 </a:t>
            </a:r>
            <a:r>
              <a:rPr lang="zh-CN" sz="940">
                <a:solidFill>
                  <a:srgbClr val="1F1F1F"/>
                </a:solidFill>
                <a:latin typeface="微软雅黑" panose="020B0503020204020204" charset="-122"/>
                <a:ea typeface="微软雅黑" panose="020B0503020204020204" charset="-122"/>
              </a:rPr>
              <a:t>说明相对</a:t>
            </a:r>
            <a:r>
              <a:rPr lang="zh-CN" sz="940" b="1">
                <a:solidFill>
                  <a:srgbClr val="1F1F1F"/>
                </a:solidFill>
                <a:latin typeface="微软雅黑" panose="020B0503020204020204" charset="-122"/>
                <a:ea typeface="微软雅黑" panose="020B0503020204020204" charset="-122"/>
              </a:rPr>
              <a:t>五因子模型</a:t>
            </a:r>
            <a:r>
              <a:rPr lang="zh-CN" sz="940">
                <a:solidFill>
                  <a:srgbClr val="1F1F1F"/>
                </a:solidFill>
                <a:latin typeface="微软雅黑" panose="020B0503020204020204" charset="-122"/>
                <a:ea typeface="微软雅黑" panose="020B0503020204020204" charset="-122"/>
              </a:rPr>
              <a:t>也没有风险溢价</a:t>
            </a:r>
            <a:r>
              <a:rPr lang="en-US" sz="940">
                <a:solidFill>
                  <a:srgbClr val="1F1F1F"/>
                </a:solidFill>
                <a:latin typeface="微软雅黑" panose="020B0503020204020204" charset="-122"/>
                <a:ea typeface="微软雅黑" panose="020B0503020204020204" charset="-122"/>
              </a:rPr>
              <a:t> → A </a:t>
            </a:r>
            <a:r>
              <a:rPr lang="zh-CN" sz="940">
                <a:solidFill>
                  <a:srgbClr val="1F1F1F"/>
                </a:solidFill>
                <a:latin typeface="微软雅黑" panose="020B0503020204020204" charset="-122"/>
                <a:ea typeface="微软雅黑" panose="020B0503020204020204" charset="-122"/>
              </a:rPr>
              <a:t>股整体不存在风险调整后的动量效应。</a:t>
            </a:r>
            <a:endParaRPr lang="zh-CN" sz="940">
              <a:solidFill>
                <a:srgbClr val="1F1F1F"/>
              </a:solidFill>
              <a:latin typeface="微软雅黑" panose="020B0503020204020204" charset="-122"/>
              <a:ea typeface="微软雅黑" panose="020B0503020204020204" charset="-122"/>
            </a:endParaRPr>
          </a:p>
        </p:txBody>
      </p:sp>
      <p:sp>
        <p:nvSpPr>
          <p:cNvPr id="108" name="圆角矩形 107"/>
          <p:cNvSpPr/>
          <p:nvPr/>
        </p:nvSpPr>
        <p:spPr>
          <a:xfrm>
            <a:off x="800100" y="3048000"/>
            <a:ext cx="6343650" cy="1238250"/>
          </a:xfrm>
          <a:prstGeom prst="roundRect">
            <a:avLst>
              <a:gd name="adj" fmla="val 7692"/>
            </a:avLst>
          </a:prstGeom>
          <a:solidFill>
            <a:srgbClr val="01A5B1">
              <a:alpha val="10000"/>
            </a:srgbClr>
          </a:solidFill>
        </p:spPr>
        <p:txBody>
          <a:bodyPr/>
          <a:p/>
        </p:txBody>
      </p:sp>
      <p:sp>
        <p:nvSpPr>
          <p:cNvPr id="109" name="任意多边形 108"/>
          <p:cNvSpPr/>
          <p:nvPr/>
        </p:nvSpPr>
        <p:spPr>
          <a:xfrm>
            <a:off x="800100" y="3048000"/>
            <a:ext cx="6343650" cy="1238250"/>
          </a:xfrm>
          <a:custGeom>
            <a:avLst/>
            <a:gdLst/>
            <a:ahLst/>
            <a:cxnLst/>
            <a:pathLst>
              <a:path w="666" h="130">
                <a:moveTo>
                  <a:pt x="9" y="0"/>
                </a:moveTo>
                <a:cubicBezTo>
                  <a:pt x="6" y="0"/>
                  <a:pt x="4" y="3"/>
                  <a:pt x="4" y="6"/>
                </a:cubicBezTo>
                <a:lnTo>
                  <a:pt x="4" y="124"/>
                </a:lnTo>
                <a:cubicBezTo>
                  <a:pt x="4" y="127"/>
                  <a:pt x="6" y="129"/>
                  <a:pt x="9" y="130"/>
                </a:cubicBezTo>
                <a:cubicBezTo>
                  <a:pt x="4" y="129"/>
                  <a:pt x="0" y="125"/>
                  <a:pt x="0" y="120"/>
                </a:cubicBezTo>
                <a:lnTo>
                  <a:pt x="0" y="10"/>
                </a:lnTo>
                <a:cubicBezTo>
                  <a:pt x="0" y="5"/>
                  <a:pt x="4" y="0"/>
                  <a:pt x="10" y="0"/>
                </a:cubicBezTo>
                <a:close/>
              </a:path>
            </a:pathLst>
          </a:custGeom>
          <a:solidFill>
            <a:srgbClr val="E8503A"/>
          </a:solidFill>
        </p:spPr>
        <p:txBody>
          <a:bodyPr/>
          <a:p/>
        </p:txBody>
      </p:sp>
      <p:sp>
        <p:nvSpPr>
          <p:cNvPr id="110" name="圆角矩形 109"/>
          <p:cNvSpPr/>
          <p:nvPr/>
        </p:nvSpPr>
        <p:spPr>
          <a:xfrm>
            <a:off x="971550" y="3190875"/>
            <a:ext cx="209550" cy="209550"/>
          </a:xfrm>
          <a:prstGeom prst="roundRect">
            <a:avLst>
              <a:gd name="adj" fmla="val 50000"/>
            </a:avLst>
          </a:prstGeom>
          <a:solidFill>
            <a:srgbClr val="E8503A"/>
          </a:solidFill>
        </p:spPr>
        <p:txBody>
          <a:bodyPr/>
          <a:p/>
        </p:txBody>
      </p:sp>
      <p:sp>
        <p:nvSpPr>
          <p:cNvPr id="111" name="文本框 110" descr="{&quot;isTemplate&quot;:true,&quot;type&quot;:&quot;text&quot;}"/>
          <p:cNvSpPr txBox="1"/>
          <p:nvPr/>
        </p:nvSpPr>
        <p:spPr>
          <a:xfrm>
            <a:off x="1038225" y="322897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2</a:t>
            </a:r>
            <a:endParaRPr lang="en-US" sz="900" b="1">
              <a:solidFill>
                <a:srgbClr val="FFFFFF"/>
              </a:solidFill>
              <a:latin typeface="微软雅黑" panose="020B0503020204020204" charset="-122"/>
              <a:ea typeface="微软雅黑" panose="020B0503020204020204" charset="-122"/>
            </a:endParaRPr>
          </a:p>
        </p:txBody>
      </p:sp>
      <p:sp>
        <p:nvSpPr>
          <p:cNvPr id="112" name="文本框 111" descr="{&quot;isTemplate&quot;:true,&quot;type&quot;:&quot;text&quot;}"/>
          <p:cNvSpPr txBox="1"/>
          <p:nvPr/>
        </p:nvSpPr>
        <p:spPr>
          <a:xfrm>
            <a:off x="1257300" y="3209925"/>
            <a:ext cx="1800225" cy="171450"/>
          </a:xfrm>
          <a:prstGeom prst="rect">
            <a:avLst/>
          </a:prstGeom>
        </p:spPr>
        <p:txBody>
          <a:bodyPr wrap="none" lIns="0" tIns="0" rIns="0" bIns="0"/>
          <a:p>
            <a:pPr>
              <a:lnSpc>
                <a:spcPct val="100000"/>
              </a:lnSpc>
            </a:pPr>
            <a:r>
              <a:rPr lang="zh-CN" sz="1090" b="1">
                <a:solidFill>
                  <a:srgbClr val="E8503A"/>
                </a:solidFill>
                <a:latin typeface="微软雅黑" panose="020B0503020204020204" charset="-122"/>
                <a:ea typeface="微软雅黑" panose="020B0503020204020204" charset="-122"/>
              </a:rPr>
              <a:t>经济解释：股改后市场更理性</a:t>
            </a:r>
            <a:endParaRPr lang="zh-CN" sz="1090" b="1">
              <a:solidFill>
                <a:srgbClr val="E8503A"/>
              </a:solidFill>
              <a:latin typeface="微软雅黑" panose="020B0503020204020204" charset="-122"/>
              <a:ea typeface="微软雅黑" panose="020B0503020204020204" charset="-122"/>
            </a:endParaRPr>
          </a:p>
        </p:txBody>
      </p:sp>
      <p:sp>
        <p:nvSpPr>
          <p:cNvPr id="113" name="文本框 112" descr="{&quot;isTemplate&quot;:true,&quot;type&quot;:&quot;text&quot;}"/>
          <p:cNvSpPr txBox="1"/>
          <p:nvPr/>
        </p:nvSpPr>
        <p:spPr>
          <a:xfrm>
            <a:off x="971550" y="3457575"/>
            <a:ext cx="5962650" cy="6858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分时期检验发现</a:t>
            </a:r>
            <a:r>
              <a:rPr lang="en-US" sz="940">
                <a:solidFill>
                  <a:srgbClr val="1F1F1F"/>
                </a:solidFill>
                <a:latin typeface="微软雅黑" panose="020B0503020204020204" charset="-122"/>
                <a:ea typeface="微软雅黑" panose="020B0503020204020204" charset="-122"/>
              </a:rPr>
              <a:t> A </a:t>
            </a:r>
            <a:r>
              <a:rPr lang="zh-CN" sz="940">
                <a:solidFill>
                  <a:srgbClr val="1F1F1F"/>
                </a:solidFill>
                <a:latin typeface="微软雅黑" panose="020B0503020204020204" charset="-122"/>
                <a:ea typeface="微软雅黑" panose="020B0503020204020204" charset="-122"/>
              </a:rPr>
              <a:t>股在</a:t>
            </a:r>
            <a:r>
              <a:rPr lang="zh-CN" sz="940" b="1">
                <a:solidFill>
                  <a:srgbClr val="E8503A"/>
                </a:solidFill>
                <a:latin typeface="微软雅黑" panose="020B0503020204020204" charset="-122"/>
                <a:ea typeface="微软雅黑" panose="020B0503020204020204" charset="-122"/>
              </a:rPr>
              <a:t>股改后样本期内反转效应变得更加显著</a:t>
            </a:r>
            <a:r>
              <a:rPr lang="zh-CN" sz="940">
                <a:solidFill>
                  <a:srgbClr val="1F1F1F"/>
                </a:solidFill>
                <a:latin typeface="微软雅黑" panose="020B0503020204020204" charset="-122"/>
                <a:ea typeface="微软雅黑" panose="020B0503020204020204" charset="-122"/>
              </a:rPr>
              <a:t>——这与股改后价值发现功能显著提高（杨善林等</a:t>
            </a:r>
            <a:r>
              <a:rPr lang="en-US" sz="940">
                <a:solidFill>
                  <a:srgbClr val="1F1F1F"/>
                </a:solidFill>
                <a:latin typeface="微软雅黑" panose="020B0503020204020204" charset="-122"/>
                <a:ea typeface="微软雅黑" panose="020B0503020204020204" charset="-122"/>
              </a:rPr>
              <a:t>, 2006</a:t>
            </a:r>
            <a:r>
              <a:rPr lang="zh-CN" sz="940">
                <a:solidFill>
                  <a:srgbClr val="1F1F1F"/>
                </a:solidFill>
                <a:latin typeface="微软雅黑" panose="020B0503020204020204" charset="-122"/>
                <a:ea typeface="微软雅黑" panose="020B0503020204020204" charset="-122"/>
              </a:rPr>
              <a:t>）、投资者趋于理性、股价更能反映真实经济情况有关；理性、真实的收益率更能体现动量因子的风险溢价。（脚注</a:t>
            </a:r>
            <a:r>
              <a:rPr lang="en-US" sz="940">
                <a:solidFill>
                  <a:srgbClr val="1F1F1F"/>
                </a:solidFill>
                <a:latin typeface="微软雅黑" panose="020B0503020204020204" charset="-122"/>
                <a:ea typeface="微软雅黑" panose="020B0503020204020204" charset="-122"/>
              </a:rPr>
              <a:t>11</a:t>
            </a:r>
            <a:r>
              <a:rPr lang="zh-CN" sz="940">
                <a:solidFill>
                  <a:srgbClr val="1F1F1F"/>
                </a:solidFill>
                <a:latin typeface="微软雅黑" panose="020B0503020204020204" charset="-122"/>
                <a:ea typeface="微软雅黑" panose="020B0503020204020204" charset="-122"/>
              </a:rPr>
              <a:t>：沿用文献惯例，仍将</a:t>
            </a:r>
            <a:r>
              <a:rPr lang="en-US" sz="940">
                <a:solidFill>
                  <a:srgbClr val="1F1F1F"/>
                </a:solidFill>
                <a:latin typeface="微软雅黑" panose="020B0503020204020204" charset="-122"/>
                <a:ea typeface="微软雅黑" panose="020B0503020204020204" charset="-122"/>
              </a:rPr>
              <a:t> MOM </a:t>
            </a:r>
            <a:r>
              <a:rPr lang="zh-CN" sz="940">
                <a:solidFill>
                  <a:srgbClr val="1F1F1F"/>
                </a:solidFill>
                <a:latin typeface="微软雅黑" panose="020B0503020204020204" charset="-122"/>
                <a:ea typeface="微软雅黑" panose="020B0503020204020204" charset="-122"/>
              </a:rPr>
              <a:t>称为动量因子）</a:t>
            </a:r>
            <a:endParaRPr lang="zh-CN" sz="940">
              <a:solidFill>
                <a:srgbClr val="1F1F1F"/>
              </a:solidFill>
              <a:latin typeface="微软雅黑" panose="020B0503020204020204" charset="-122"/>
              <a:ea typeface="微软雅黑" panose="020B0503020204020204" charset="-122"/>
            </a:endParaRPr>
          </a:p>
        </p:txBody>
      </p:sp>
      <p:sp>
        <p:nvSpPr>
          <p:cNvPr id="114" name="圆角矩形 113"/>
          <p:cNvSpPr/>
          <p:nvPr/>
        </p:nvSpPr>
        <p:spPr>
          <a:xfrm>
            <a:off x="800100" y="4438650"/>
            <a:ext cx="6343650" cy="1009650"/>
          </a:xfrm>
          <a:prstGeom prst="roundRect">
            <a:avLst>
              <a:gd name="adj" fmla="val 9434"/>
            </a:avLst>
          </a:prstGeom>
          <a:solidFill>
            <a:srgbClr val="01A5B1">
              <a:alpha val="10000"/>
            </a:srgbClr>
          </a:solidFill>
        </p:spPr>
        <p:txBody>
          <a:bodyPr/>
          <a:p/>
        </p:txBody>
      </p:sp>
      <p:sp>
        <p:nvSpPr>
          <p:cNvPr id="115" name="任意多边形 114"/>
          <p:cNvSpPr/>
          <p:nvPr/>
        </p:nvSpPr>
        <p:spPr>
          <a:xfrm>
            <a:off x="800100" y="4438650"/>
            <a:ext cx="6343650" cy="1009650"/>
          </a:xfrm>
          <a:custGeom>
            <a:avLst/>
            <a:gdLst/>
            <a:ahLst/>
            <a:cxnLst/>
            <a:pathLst>
              <a:path w="666" h="106">
                <a:moveTo>
                  <a:pt x="9" y="0"/>
                </a:moveTo>
                <a:cubicBezTo>
                  <a:pt x="6" y="0"/>
                  <a:pt x="4" y="3"/>
                  <a:pt x="4" y="6"/>
                </a:cubicBezTo>
                <a:lnTo>
                  <a:pt x="4" y="100"/>
                </a:lnTo>
                <a:cubicBezTo>
                  <a:pt x="4" y="103"/>
                  <a:pt x="6" y="105"/>
                  <a:pt x="9" y="106"/>
                </a:cubicBezTo>
                <a:cubicBezTo>
                  <a:pt x="4" y="105"/>
                  <a:pt x="0" y="101"/>
                  <a:pt x="0" y="96"/>
                </a:cubicBezTo>
                <a:lnTo>
                  <a:pt x="0" y="10"/>
                </a:lnTo>
                <a:cubicBezTo>
                  <a:pt x="0" y="5"/>
                  <a:pt x="4" y="0"/>
                  <a:pt x="10" y="0"/>
                </a:cubicBezTo>
                <a:close/>
              </a:path>
            </a:pathLst>
          </a:custGeom>
          <a:solidFill>
            <a:srgbClr val="01A5B1"/>
          </a:solidFill>
        </p:spPr>
        <p:txBody>
          <a:bodyPr/>
          <a:p/>
        </p:txBody>
      </p:sp>
      <p:sp>
        <p:nvSpPr>
          <p:cNvPr id="116" name="圆角矩形 115"/>
          <p:cNvSpPr/>
          <p:nvPr/>
        </p:nvSpPr>
        <p:spPr>
          <a:xfrm>
            <a:off x="971550" y="4581525"/>
            <a:ext cx="209550" cy="209550"/>
          </a:xfrm>
          <a:prstGeom prst="roundRect">
            <a:avLst>
              <a:gd name="adj" fmla="val 50000"/>
            </a:avLst>
          </a:prstGeom>
          <a:solidFill>
            <a:srgbClr val="01A5B1"/>
          </a:solidFill>
        </p:spPr>
        <p:txBody>
          <a:bodyPr/>
          <a:p/>
        </p:txBody>
      </p:sp>
      <p:sp>
        <p:nvSpPr>
          <p:cNvPr id="117" name="文本框 116" descr="{&quot;isTemplate&quot;:true,&quot;type&quot;:&quot;text&quot;}"/>
          <p:cNvSpPr txBox="1"/>
          <p:nvPr/>
        </p:nvSpPr>
        <p:spPr>
          <a:xfrm>
            <a:off x="1038225" y="4619625"/>
            <a:ext cx="76200" cy="142875"/>
          </a:xfrm>
          <a:prstGeom prst="rect">
            <a:avLst/>
          </a:prstGeom>
        </p:spPr>
        <p:txBody>
          <a:bodyPr wrap="none" lIns="0" tIns="0" rIns="0" bIns="0"/>
          <a:p>
            <a:pPr>
              <a:lnSpc>
                <a:spcPct val="100000"/>
              </a:lnSpc>
            </a:pPr>
            <a:r>
              <a:rPr lang="en-US" sz="900" b="1">
                <a:solidFill>
                  <a:srgbClr val="FFFFFF"/>
                </a:solidFill>
                <a:latin typeface="微软雅黑" panose="020B0503020204020204" charset="-122"/>
                <a:ea typeface="微软雅黑" panose="020B0503020204020204" charset="-122"/>
              </a:rPr>
              <a:t>3</a:t>
            </a:r>
            <a:endParaRPr lang="en-US" sz="900" b="1">
              <a:solidFill>
                <a:srgbClr val="FFFFFF"/>
              </a:solidFill>
              <a:latin typeface="微软雅黑" panose="020B0503020204020204" charset="-122"/>
              <a:ea typeface="微软雅黑" panose="020B0503020204020204" charset="-122"/>
            </a:endParaRPr>
          </a:p>
        </p:txBody>
      </p:sp>
      <p:sp>
        <p:nvSpPr>
          <p:cNvPr id="118" name="文本框 117" descr="{&quot;isTemplate&quot;:true,&quot;type&quot;:&quot;text&quot;}"/>
          <p:cNvSpPr txBox="1"/>
          <p:nvPr/>
        </p:nvSpPr>
        <p:spPr>
          <a:xfrm>
            <a:off x="1257300" y="4600575"/>
            <a:ext cx="1933575" cy="171450"/>
          </a:xfrm>
          <a:prstGeom prst="rect">
            <a:avLst/>
          </a:prstGeom>
        </p:spPr>
        <p:txBody>
          <a:bodyPr wrap="none" lIns="0" tIns="0" rIns="0" bIns="0"/>
          <a:p>
            <a:pPr>
              <a:lnSpc>
                <a:spcPct val="100000"/>
              </a:lnSpc>
            </a:pPr>
            <a:r>
              <a:rPr lang="zh-CN" sz="1090" b="1">
                <a:solidFill>
                  <a:srgbClr val="01A5B1"/>
                </a:solidFill>
                <a:latin typeface="微软雅黑" panose="020B0503020204020204" charset="-122"/>
                <a:ea typeface="微软雅黑" panose="020B0503020204020204" charset="-122"/>
              </a:rPr>
              <a:t>方法论启示：以股改后样本为准</a:t>
            </a:r>
            <a:endParaRPr lang="zh-CN" sz="1090" b="1">
              <a:solidFill>
                <a:srgbClr val="01A5B1"/>
              </a:solidFill>
              <a:latin typeface="微软雅黑" panose="020B0503020204020204" charset="-122"/>
              <a:ea typeface="微软雅黑" panose="020B0503020204020204" charset="-122"/>
            </a:endParaRPr>
          </a:p>
        </p:txBody>
      </p:sp>
      <p:sp>
        <p:nvSpPr>
          <p:cNvPr id="119" name="文本框 118" descr="{&quot;isTemplate&quot;:true,&quot;type&quot;:&quot;text&quot;}"/>
          <p:cNvSpPr txBox="1"/>
          <p:nvPr/>
        </p:nvSpPr>
        <p:spPr>
          <a:xfrm>
            <a:off x="971550" y="4848225"/>
            <a:ext cx="5962650" cy="457200"/>
          </a:xfrm>
          <a:prstGeom prst="rect">
            <a:avLst/>
          </a:prstGeom>
        </p:spPr>
        <p:txBody>
          <a:bodyPr wrap="square" lIns="0" tIns="0" rIns="0" bIns="0">
            <a:normAutofit/>
          </a:bodyPr>
          <a:p>
            <a:pPr>
              <a:lnSpc>
                <a:spcPct val="160000"/>
              </a:lnSpc>
            </a:pPr>
            <a:r>
              <a:rPr lang="zh-CN" sz="940">
                <a:solidFill>
                  <a:srgbClr val="1F1F1F"/>
                </a:solidFill>
                <a:latin typeface="微软雅黑" panose="020B0503020204020204" charset="-122"/>
                <a:ea typeface="微软雅黑" panose="020B0503020204020204" charset="-122"/>
              </a:rPr>
              <a:t>中国市场早期具有</a:t>
            </a:r>
            <a:r>
              <a:rPr lang="en-US" sz="940">
                <a:solidFill>
                  <a:srgbClr val="1F1F1F"/>
                </a:solidFill>
                <a:latin typeface="微软雅黑" panose="020B0503020204020204" charset="-122"/>
                <a:ea typeface="微软雅黑" panose="020B0503020204020204" charset="-122"/>
              </a:rPr>
              <a:t>"</a:t>
            </a:r>
            <a:r>
              <a:rPr lang="zh-CN" sz="940" b="1">
                <a:solidFill>
                  <a:srgbClr val="1F1F1F"/>
                </a:solidFill>
                <a:latin typeface="微软雅黑" panose="020B0503020204020204" charset="-122"/>
                <a:ea typeface="微软雅黑" panose="020B0503020204020204" charset="-122"/>
              </a:rPr>
              <a:t>股权分置</a:t>
            </a:r>
            <a:r>
              <a:rPr lang="en-US" sz="940">
                <a:solidFill>
                  <a:srgbClr val="1F1F1F"/>
                </a:solidFill>
                <a:latin typeface="微软雅黑" panose="020B0503020204020204" charset="-122"/>
                <a:ea typeface="微软雅黑" panose="020B0503020204020204" charset="-122"/>
              </a:rPr>
              <a:t>"</a:t>
            </a:r>
            <a:r>
              <a:rPr lang="zh-CN" sz="940">
                <a:solidFill>
                  <a:srgbClr val="1F1F1F"/>
                </a:solidFill>
                <a:latin typeface="微软雅黑" panose="020B0503020204020204" charset="-122"/>
                <a:ea typeface="微软雅黑" panose="020B0503020204020204" charset="-122"/>
              </a:rPr>
              <a:t>特殊性</a:t>
            </a:r>
            <a:r>
              <a:rPr lang="en-US" sz="940">
                <a:solidFill>
                  <a:srgbClr val="1F1F1F"/>
                </a:solidFill>
                <a:latin typeface="微软雅黑" panose="020B0503020204020204" charset="-122"/>
                <a:ea typeface="微软雅黑" panose="020B0503020204020204" charset="-122"/>
              </a:rPr>
              <a:t> → </a:t>
            </a:r>
            <a:r>
              <a:rPr lang="zh-CN" sz="940">
                <a:solidFill>
                  <a:srgbClr val="1F1F1F"/>
                </a:solidFill>
                <a:latin typeface="微软雅黑" panose="020B0503020204020204" charset="-122"/>
                <a:ea typeface="微软雅黑" panose="020B0503020204020204" charset="-122"/>
              </a:rPr>
              <a:t>研究国外成熟模型在</a:t>
            </a:r>
            <a:r>
              <a:rPr lang="en-US" sz="940">
                <a:solidFill>
                  <a:srgbClr val="1F1F1F"/>
                </a:solidFill>
                <a:latin typeface="微软雅黑" panose="020B0503020204020204" charset="-122"/>
                <a:ea typeface="微软雅黑" panose="020B0503020204020204" charset="-122"/>
              </a:rPr>
              <a:t> A </a:t>
            </a:r>
            <a:r>
              <a:rPr lang="zh-CN" sz="940">
                <a:solidFill>
                  <a:srgbClr val="1F1F1F"/>
                </a:solidFill>
                <a:latin typeface="微软雅黑" panose="020B0503020204020204" charset="-122"/>
                <a:ea typeface="微软雅黑" panose="020B0503020204020204" charset="-122"/>
              </a:rPr>
              <a:t>股的表现时，</a:t>
            </a:r>
            <a:r>
              <a:rPr lang="zh-CN" sz="940" b="1">
                <a:solidFill>
                  <a:srgbClr val="1F1F1F"/>
                </a:solidFill>
                <a:latin typeface="微软雅黑" panose="020B0503020204020204" charset="-122"/>
                <a:ea typeface="微软雅黑" panose="020B0503020204020204" charset="-122"/>
              </a:rPr>
              <a:t>应以股改后样本为主</a:t>
            </a:r>
            <a:r>
              <a:rPr lang="zh-CN" sz="940">
                <a:solidFill>
                  <a:srgbClr val="1F1F1F"/>
                </a:solidFill>
                <a:latin typeface="微软雅黑" panose="020B0503020204020204" charset="-122"/>
                <a:ea typeface="微软雅黑" panose="020B0503020204020204" charset="-122"/>
              </a:rPr>
              <a:t>；全样本受股改前干扰较大，也是早期文献结论不一致的一个可能原因。</a:t>
            </a:r>
            <a:endParaRPr lang="zh-CN" sz="940">
              <a:solidFill>
                <a:srgbClr val="1F1F1F"/>
              </a:solidFill>
              <a:latin typeface="微软雅黑" panose="020B0503020204020204" charset="-122"/>
              <a:ea typeface="微软雅黑" panose="020B0503020204020204" charset="-122"/>
            </a:endParaRPr>
          </a:p>
        </p:txBody>
      </p:sp>
      <p:sp>
        <p:nvSpPr>
          <p:cNvPr id="120" name="矩形 119"/>
          <p:cNvSpPr/>
          <p:nvPr/>
        </p:nvSpPr>
        <p:spPr>
          <a:xfrm>
            <a:off x="7410450" y="1238250"/>
            <a:ext cx="3952875" cy="4657725"/>
          </a:xfrm>
          <a:prstGeom prst="rect">
            <a:avLst/>
          </a:prstGeom>
          <a:ln w="12700">
            <a:solidFill>
              <a:srgbClr val="E0E0E0"/>
            </a:solidFill>
            <a:prstDash val="solid"/>
          </a:ln>
        </p:spPr>
        <p:txBody>
          <a:bodyPr/>
          <a:p/>
        </p:txBody>
      </p:sp>
      <p:pic>
        <p:nvPicPr>
          <p:cNvPr id="121" name="图片 120"/>
          <p:cNvPicPr>
            <a:picLocks noChangeAspect="1"/>
          </p:cNvPicPr>
          <p:nvPr/>
        </p:nvPicPr>
        <p:blipFill>
          <a:blip r:embed="rId2"/>
          <a:srcRect t="25" b="25"/>
          <a:stretch>
            <a:fillRect/>
          </a:stretch>
        </p:blipFill>
        <p:spPr>
          <a:xfrm>
            <a:off x="7410450" y="1238250"/>
            <a:ext cx="3952875" cy="4657725"/>
          </a:xfrm>
          <a:prstGeom prst="roundRect">
            <a:avLst>
              <a:gd name="adj" fmla="val 964"/>
            </a:avLst>
          </a:prstGeom>
          <a:effectLst>
            <a:outerShdw blurRad="95250" dist="19050" dir="5400000">
              <a:srgbClr val="000000">
                <a:alpha val="8000"/>
              </a:srgbClr>
            </a:outerShdw>
          </a:effectLst>
        </p:spPr>
      </p:pic>
      <p:sp>
        <p:nvSpPr>
          <p:cNvPr id="122" name="文本框 121" descr="{&quot;isTemplate&quot;:true,&quot;type&quot;:&quot;text&quot;}"/>
          <p:cNvSpPr txBox="1"/>
          <p:nvPr/>
        </p:nvSpPr>
        <p:spPr>
          <a:xfrm>
            <a:off x="8277225" y="5972175"/>
            <a:ext cx="2209800"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结果解读与脚注</a:t>
            </a:r>
            <a:r>
              <a:rPr lang="en-US" sz="790">
                <a:solidFill>
                  <a:srgbClr val="8A8A8A"/>
                </a:solidFill>
                <a:latin typeface="微软雅黑" panose="020B0503020204020204" charset="-122"/>
                <a:ea typeface="微软雅黑" panose="020B0503020204020204" charset="-122"/>
              </a:rPr>
              <a:t>11</a:t>
            </a:r>
            <a:r>
              <a:rPr lang="zh-CN" sz="790">
                <a:solidFill>
                  <a:srgbClr val="8A8A8A"/>
                </a:solidFill>
                <a:latin typeface="微软雅黑" panose="020B0503020204020204" charset="-122"/>
                <a:ea typeface="微软雅黑" panose="020B0503020204020204" charset="-122"/>
              </a:rPr>
              <a:t>（第</a:t>
            </a:r>
            <a:r>
              <a:rPr lang="en-US" sz="790">
                <a:solidFill>
                  <a:srgbClr val="8A8A8A"/>
                </a:solidFill>
                <a:latin typeface="微软雅黑" panose="020B0503020204020204" charset="-122"/>
                <a:ea typeface="微软雅黑" panose="020B0503020204020204" charset="-122"/>
              </a:rPr>
              <a:t>203–204</a:t>
            </a:r>
            <a:r>
              <a:rPr lang="zh-CN" sz="790">
                <a:solidFill>
                  <a:srgbClr val="8A8A8A"/>
                </a:solidFill>
                <a:latin typeface="微软雅黑" panose="020B0503020204020204" charset="-122"/>
                <a:ea typeface="微软雅黑" panose="020B0503020204020204" charset="-122"/>
              </a:rPr>
              <a:t>页）</a:t>
            </a:r>
            <a:endParaRPr lang="zh-CN" sz="790">
              <a:solidFill>
                <a:srgbClr val="8A8A8A"/>
              </a:solidFill>
              <a:latin typeface="微软雅黑" panose="020B0503020204020204" charset="-122"/>
              <a:ea typeface="微软雅黑" panose="020B0503020204020204" charset="-122"/>
            </a:endParaRPr>
          </a:p>
        </p:txBody>
      </p:sp>
      <p:sp>
        <p:nvSpPr>
          <p:cNvPr id="123" name="Rectangle 122"/>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26" name="TextBox 125"/>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127" name="TextBox 126"/>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28" name="TextBox 127"/>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29" name="TextBox 128"/>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30" name="Rectangle 129"/>
          <p:cNvSpPr/>
          <p:nvPr/>
        </p:nvSpPr>
        <p:spPr>
          <a:xfrm>
            <a:off x="7620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7665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动量因子</a:t>
            </a:r>
          </a:p>
        </p:txBody>
      </p:sp>
      <p:sp>
        <p:nvSpPr>
          <p:cNvPr id="132" name="TextBox 131"/>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33" name="TextBox 132"/>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25"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研究结论：五大核心发现&lt;/Text&gt;&#10;        &lt;/Box&gt;&#10;        &lt;Box style={{ flex: 1, flexDirection: 'row', gap: 24, alignItems: 'center' }}&gt;&#10;            &lt;Box style={{ flex: 1, flexDirection: 'column', gap: 12 }}&gt;&#10;                &lt;Box style={{ flexDirection: 'row', gap: 10, alignItems: 'flex-start', background: 'rgba(1,165,177,0.10)', borderRadius: 8, padding: '10px 12px' }}&gt;&#10;                    &lt;Box style={{ width: 24, height: 24, background: '#01A5B1', borderRadius: 4, alignItems: 'center', justifyContent: 'center' }}&gt;&lt;Text style={{ fontSize: 12.5, color: '#FFFFFF', fontWeight: 'bold' }}&gt;一&lt;/Text&gt;&lt;/Box&gt;&#10;                    &lt;Text style={{ fontSize: 12.5, color: '#1F1F1F', lineHeight: 1.55, flex: 1 }}&gt;全样本下 A 股&lt;span style={{ fontWeight: 'bold' }}&gt;规模效应及账面市值比效应显著&lt;/span&gt;；经三因子模型调整后仍存在显著的盈利能力及投资风格效应，但&lt;span style={{ fontWeight: 'bold' }}&gt;不存在显著的动量或反转效应&lt;/span&gt;。&lt;/Text&gt;&#10;                &lt;/Box&gt;&#10;                &lt;Box style={{ flexDirection: 'row', gap: 10, alignItems: 'flex-start', background: 'rgba(1,165,177,0.10)', borderRadius: 8, padding: '10px 12px' }}&gt;&#10;                    &lt;Box style={{ width: 24, height: 24, background: '#01A5B1', borderRadius: 4, alignItems: 'center', justifyContent: 'center' }}&gt;&lt;Text style={{ fontSize: 12.5, color: '#FFFFFF', fontWeight: 'bold' }}&gt;二&lt;/Text&gt;&lt;/Box&gt;&#10;                    &lt;Text style={{ fontSize: 12.5, color: '#1F1F1F', lineHeight: 1.55, flex: 1 }}&gt;与国际市场检验结果一致，&lt;span style={{ fontWeight: 'bold' }}&gt;五因子模型解释能力非常强&lt;/span&gt;，比 CAPM、三因子模型、Carhart 四因子模型表现更好。&lt;/Text&gt;&#10;                &lt;/Box&gt;&#10;                &lt;Box style={{ flexDirection: 'row', gap: 10, alignItems: 'flex-start', background: 'rgba(1,165,177,0.10)', borderRadius: 8, padding: '10px 12px' }}&gt;&#10;                    &lt;Box style={{ width: 24, height: 24, background: '#01A5B1', borderRadius: 4, alignItems: 'center', justifyContent: 'center' }}&gt;&lt;Text style={{ fontSize: 12.5, color: '#FFFFFF', fontWeight: 'bold' }}&gt;三&lt;/Text&gt;&lt;/Box&gt;&#10;                    &lt;Text style={{ fontSize: 12.5, color: '#1F1F1F', lineHeight: 1.55, flex: 1 }}&gt;股改前盈利能力、投资风格及动量因子&quot;&lt;span style={{ fontWeight: 'bold' }}&gt;冗余&lt;/span&gt;&quot;（可能与股改前市场风险占据主导有关）；&lt;span style={{ color: '#E8503A', fontWeight: 'bold' }}&gt;股改后这三个因子具有显著的风险溢价&lt;/span&gt;。&lt;/Text&gt;&#10;                &lt;/Box&gt;&#10;                &lt;Box style={{ flexDirection: 'row', gap: 10, alignItems: 'flex-start', background: 'rgba(1,165,177,0.10)', borderRadius: 8, padding: '10px 12px' }}&gt;&#10;                    &lt;Box style={{ width: 24, height: 24, background: '#E8503A', borderRadius: 4, alignItems: 'center', justifyContent: 'center' }}&gt;&lt;Text style={{ fontSize: 12.5, color: '#FFFFFF', fontWeight: 'bold' }}&gt;四&lt;/Text&gt;&lt;/Box&gt;&#10;                    &lt;Text style={{ fontSize: 12.5, color: '#1F1F1F', lineHeight: 1.55, flex: 1 }}&gt;股改后存在经五因子模型调整后&lt;span style={{ color: '#E8503A', fontWeight: 'bold' }}&gt;仍然显著的反转效应&lt;/span&gt;。&lt;/Text&gt;&#10;                &lt;/Box&gt;&#10;                &lt;Box style={{ flexDirection: 'row', gap: 10, alignItems: 'flex-start', background: 'rgba(1,165,177,0.10)', borderRadius: 8, padding: '10px 12px' }}&gt;&#10;                    &lt;Box style={{ width: 24, height: 24, background: '#01A5B1', borderRadius: 4, alignItems: 'center', justifyContent: 'center' }}&gt;&lt;Text style={{ fontSize: 12.5, color: '#FFFFFF', fontWeight: 'bold' }}&gt;五&lt;/Text&gt;&lt;/Box&gt;&#10;                    &lt;Text style={{ fontSize: 12.5, color: '#1F1F1F', lineHeight: 1.55, flex: 1 }}&gt;以五因子模型作为实证检验的理论依据，股改后&lt;span style={{ fontWeight: 'bold' }}&gt;实际收益率与预期收益率的差异更加接近于 0，市场趋于&quot;有效&quot;&lt;/span&gt;。&lt;/Text&gt;&#10;                &lt;/Box&gt;&#10;            &lt;/Box&gt;&#10;            &lt;Box style={{ width: 640, flexDirection: 'column', alignItems: 'center', gap: 8 }}&gt;&#10;                &lt;Image src=&quot;assets/concl1.png&quot; style={{ width: 640, height: 310, border: '1px solid #E0E0E0', borderRadius: 4, boxShadow: '0 2px 10px rgba(0,0,0,0.08)' }} /&gt;&#10;                &lt;Text style={{ fontSize: 10.5, color: '#8A8A8A' }}&gt;原论文截图 · 七、结论：样本与方法概述及五点研究结论（第205页）&lt;/Text&gt;&#10;            &lt;/Box&gt;&#10;        &lt;/Box&gt;&#10;        &lt;Box style={{ height: 40, flexDirection: 'row', alignItems: 'center', justifyContent: 'space-between' }}&gt;&#10;            &lt;Text style={{ fontSize: 12, color: '#8A8A8A' }}&gt;三维结构法 · FF5 中国实证拆解&lt;/Text&gt;&#10;            &lt;Text style={{ fontSize: 12, color: '#8A8A8A' }}&gt;06 / 07&lt;/Text&gt;&#10;        &lt;/Box&gt;&#10;    &lt;/Box&gt;&#10;&lt;/Slide&gt;"/>
        <p:cNvGrpSpPr/>
        <p:nvPr/>
      </p:nvGrpSpPr>
      <p:grpSpPr>
        <a:xfrm>
          <a:off x="0" y="0"/>
          <a:ext cx="0" cy="0"/>
          <a:chOff x="0" y="0"/>
          <a:chExt cx="0" cy="0"/>
        </a:xfrm>
      </p:grpSpPr>
      <p:sp>
        <p:nvSpPr>
          <p:cNvPr id="126" name="矩形 125"/>
          <p:cNvSpPr/>
          <p:nvPr/>
        </p:nvSpPr>
        <p:spPr>
          <a:xfrm>
            <a:off x="0" y="0"/>
            <a:ext cx="12192000" cy="6858000"/>
          </a:xfrm>
          <a:prstGeom prst="rect">
            <a:avLst/>
          </a:prstGeom>
          <a:solidFill>
            <a:srgbClr val="FFFFFF"/>
          </a:solidFill>
        </p:spPr>
        <p:txBody>
          <a:bodyPr/>
          <a:p/>
        </p:txBody>
      </p:sp>
      <p:pic>
        <p:nvPicPr>
          <p:cNvPr id="127" name="图片 126"/>
          <p:cNvPicPr>
            <a:picLocks noChangeAspect="1"/>
          </p:cNvPicPr>
          <p:nvPr/>
        </p:nvPicPr>
        <p:blipFill>
          <a:blip r:embed="rId1"/>
          <a:stretch>
            <a:fillRect/>
          </a:stretch>
        </p:blipFill>
        <p:spPr>
          <a:xfrm>
            <a:off x="0" y="0"/>
            <a:ext cx="12192000" cy="6858000"/>
          </a:xfrm>
          <a:prstGeom prst="rect">
            <a:avLst/>
          </a:prstGeom>
        </p:spPr>
      </p:pic>
      <p:sp>
        <p:nvSpPr>
          <p:cNvPr id="128" name="矩形 127"/>
          <p:cNvSpPr/>
          <p:nvPr/>
        </p:nvSpPr>
        <p:spPr>
          <a:xfrm>
            <a:off x="762000" y="304800"/>
            <a:ext cx="57150" cy="342900"/>
          </a:xfrm>
          <a:prstGeom prst="rect">
            <a:avLst/>
          </a:prstGeom>
          <a:solidFill>
            <a:srgbClr val="01A5B1"/>
          </a:solidFill>
        </p:spPr>
        <p:txBody>
          <a:bodyPr/>
          <a:p/>
        </p:txBody>
      </p:sp>
      <p:sp>
        <p:nvSpPr>
          <p:cNvPr id="129" name="文本框 128"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研究结论：五大核心发现</a:t>
            </a:r>
            <a:endParaRPr lang="zh-CN" sz="2550" b="1">
              <a:solidFill>
                <a:srgbClr val="01A5B1"/>
              </a:solidFill>
              <a:latin typeface="微软雅黑" panose="020B0503020204020204" charset="-122"/>
              <a:ea typeface="微软雅黑" panose="020B0503020204020204" charset="-122"/>
            </a:endParaRPr>
          </a:p>
        </p:txBody>
      </p:sp>
      <p:sp>
        <p:nvSpPr>
          <p:cNvPr id="130" name="圆角矩形 129"/>
          <p:cNvSpPr/>
          <p:nvPr/>
        </p:nvSpPr>
        <p:spPr>
          <a:xfrm>
            <a:off x="762000" y="1847850"/>
            <a:ext cx="4343400" cy="857250"/>
          </a:xfrm>
          <a:prstGeom prst="roundRect">
            <a:avLst>
              <a:gd name="adj" fmla="val 8889"/>
            </a:avLst>
          </a:prstGeom>
          <a:solidFill>
            <a:srgbClr val="01A5B1">
              <a:alpha val="10000"/>
            </a:srgbClr>
          </a:solidFill>
        </p:spPr>
        <p:txBody>
          <a:bodyPr/>
          <a:p/>
        </p:txBody>
      </p:sp>
      <p:sp>
        <p:nvSpPr>
          <p:cNvPr id="131" name="圆角矩形 130"/>
          <p:cNvSpPr/>
          <p:nvPr/>
        </p:nvSpPr>
        <p:spPr>
          <a:xfrm>
            <a:off x="876300" y="1943100"/>
            <a:ext cx="228600" cy="228600"/>
          </a:xfrm>
          <a:prstGeom prst="roundRect">
            <a:avLst>
              <a:gd name="adj" fmla="val 16667"/>
            </a:avLst>
          </a:prstGeom>
          <a:solidFill>
            <a:srgbClr val="01A5B1"/>
          </a:solidFill>
        </p:spPr>
        <p:txBody>
          <a:bodyPr/>
          <a:p/>
        </p:txBody>
      </p:sp>
      <p:sp>
        <p:nvSpPr>
          <p:cNvPr id="132" name="文本框 131" descr="{&quot;isTemplate&quot;:true,&quot;type&quot;:&quot;text&quot;}"/>
          <p:cNvSpPr txBox="1"/>
          <p:nvPr/>
        </p:nvSpPr>
        <p:spPr>
          <a:xfrm>
            <a:off x="933450" y="1990725"/>
            <a:ext cx="123825" cy="142875"/>
          </a:xfrm>
          <a:prstGeom prst="rect">
            <a:avLst/>
          </a:prstGeom>
        </p:spPr>
        <p:txBody>
          <a:bodyPr wrap="none" lIns="0" tIns="0" rIns="0" bIns="0"/>
          <a:p>
            <a:pPr>
              <a:lnSpc>
                <a:spcPct val="100000"/>
              </a:lnSpc>
            </a:pPr>
            <a:r>
              <a:rPr lang="zh-CN" sz="940" b="1">
                <a:solidFill>
                  <a:srgbClr val="FFFFFF"/>
                </a:solidFill>
                <a:latin typeface="微软雅黑" panose="020B0503020204020204" charset="-122"/>
                <a:ea typeface="微软雅黑" panose="020B0503020204020204" charset="-122"/>
              </a:rPr>
              <a:t>一</a:t>
            </a:r>
            <a:endParaRPr lang="zh-CN" sz="940" b="1">
              <a:solidFill>
                <a:srgbClr val="FFFFFF"/>
              </a:solidFill>
              <a:latin typeface="微软雅黑" panose="020B0503020204020204" charset="-122"/>
              <a:ea typeface="微软雅黑" panose="020B0503020204020204" charset="-122"/>
            </a:endParaRPr>
          </a:p>
        </p:txBody>
      </p:sp>
      <p:sp>
        <p:nvSpPr>
          <p:cNvPr id="133" name="文本框 132" descr="{&quot;isTemplate&quot;:true,&quot;type&quot;:&quot;text&quot;}"/>
          <p:cNvSpPr txBox="1"/>
          <p:nvPr/>
        </p:nvSpPr>
        <p:spPr>
          <a:xfrm>
            <a:off x="1200150" y="1943100"/>
            <a:ext cx="3790950" cy="666750"/>
          </a:xfrm>
          <a:prstGeom prst="rect">
            <a:avLst/>
          </a:prstGeom>
        </p:spPr>
        <p:txBody>
          <a:bodyPr wrap="square" lIns="0" tIns="0" rIns="0" bIns="0">
            <a:normAutofit/>
          </a:bodyPr>
          <a:p>
            <a:pPr>
              <a:lnSpc>
                <a:spcPct val="155000"/>
              </a:lnSpc>
            </a:pPr>
            <a:r>
              <a:rPr lang="zh-CN" sz="940">
                <a:solidFill>
                  <a:srgbClr val="1F1F1F"/>
                </a:solidFill>
                <a:latin typeface="微软雅黑" panose="020B0503020204020204" charset="-122"/>
                <a:ea typeface="微软雅黑" panose="020B0503020204020204" charset="-122"/>
              </a:rPr>
              <a:t>全样本下</a:t>
            </a:r>
            <a:r>
              <a:rPr lang="en-US" sz="940">
                <a:solidFill>
                  <a:srgbClr val="1F1F1F"/>
                </a:solidFill>
                <a:latin typeface="微软雅黑" panose="020B0503020204020204" charset="-122"/>
                <a:ea typeface="微软雅黑" panose="020B0503020204020204" charset="-122"/>
              </a:rPr>
              <a:t> A </a:t>
            </a:r>
            <a:r>
              <a:rPr lang="zh-CN" sz="940">
                <a:solidFill>
                  <a:srgbClr val="1F1F1F"/>
                </a:solidFill>
                <a:latin typeface="微软雅黑" panose="020B0503020204020204" charset="-122"/>
                <a:ea typeface="微软雅黑" panose="020B0503020204020204" charset="-122"/>
              </a:rPr>
              <a:t>股</a:t>
            </a:r>
            <a:r>
              <a:rPr lang="zh-CN" sz="940" b="1">
                <a:solidFill>
                  <a:srgbClr val="1F1F1F"/>
                </a:solidFill>
                <a:latin typeface="微软雅黑" panose="020B0503020204020204" charset="-122"/>
                <a:ea typeface="微软雅黑" panose="020B0503020204020204" charset="-122"/>
              </a:rPr>
              <a:t>规模效应及账面市值比效应显著</a:t>
            </a:r>
            <a:r>
              <a:rPr lang="zh-CN" sz="940">
                <a:solidFill>
                  <a:srgbClr val="1F1F1F"/>
                </a:solidFill>
                <a:latin typeface="微软雅黑" panose="020B0503020204020204" charset="-122"/>
                <a:ea typeface="微软雅黑" panose="020B0503020204020204" charset="-122"/>
              </a:rPr>
              <a:t>；经三因子模型调整后仍存在显著的盈利能力及投资风格效应，但</a:t>
            </a:r>
            <a:r>
              <a:rPr lang="zh-CN" sz="940" b="1">
                <a:solidFill>
                  <a:srgbClr val="1F1F1F"/>
                </a:solidFill>
                <a:latin typeface="微软雅黑" panose="020B0503020204020204" charset="-122"/>
                <a:ea typeface="微软雅黑" panose="020B0503020204020204" charset="-122"/>
              </a:rPr>
              <a:t>不存在显著的动量或反转效应</a:t>
            </a:r>
            <a:r>
              <a:rPr lang="zh-CN" sz="940">
                <a:solidFill>
                  <a:srgbClr val="1F1F1F"/>
                </a:solidFill>
                <a:latin typeface="微软雅黑" panose="020B0503020204020204" charset="-122"/>
                <a:ea typeface="微软雅黑" panose="020B0503020204020204" charset="-122"/>
              </a:rPr>
              <a:t>。</a:t>
            </a:r>
            <a:endParaRPr lang="zh-CN" sz="940">
              <a:solidFill>
                <a:srgbClr val="1F1F1F"/>
              </a:solidFill>
              <a:latin typeface="微软雅黑" panose="020B0503020204020204" charset="-122"/>
              <a:ea typeface="微软雅黑" panose="020B0503020204020204" charset="-122"/>
            </a:endParaRPr>
          </a:p>
        </p:txBody>
      </p:sp>
      <p:sp>
        <p:nvSpPr>
          <p:cNvPr id="134" name="圆角矩形 133"/>
          <p:cNvSpPr/>
          <p:nvPr/>
        </p:nvSpPr>
        <p:spPr>
          <a:xfrm>
            <a:off x="762000" y="2819400"/>
            <a:ext cx="4343400" cy="638175"/>
          </a:xfrm>
          <a:prstGeom prst="roundRect">
            <a:avLst>
              <a:gd name="adj" fmla="val 11940"/>
            </a:avLst>
          </a:prstGeom>
          <a:solidFill>
            <a:srgbClr val="01A5B1">
              <a:alpha val="10000"/>
            </a:srgbClr>
          </a:solidFill>
        </p:spPr>
        <p:txBody>
          <a:bodyPr/>
          <a:p/>
        </p:txBody>
      </p:sp>
      <p:sp>
        <p:nvSpPr>
          <p:cNvPr id="135" name="圆角矩形 134"/>
          <p:cNvSpPr/>
          <p:nvPr/>
        </p:nvSpPr>
        <p:spPr>
          <a:xfrm>
            <a:off x="876300" y="2914650"/>
            <a:ext cx="228600" cy="228600"/>
          </a:xfrm>
          <a:prstGeom prst="roundRect">
            <a:avLst>
              <a:gd name="adj" fmla="val 16667"/>
            </a:avLst>
          </a:prstGeom>
          <a:solidFill>
            <a:srgbClr val="01A5B1"/>
          </a:solidFill>
        </p:spPr>
        <p:txBody>
          <a:bodyPr/>
          <a:p/>
        </p:txBody>
      </p:sp>
      <p:sp>
        <p:nvSpPr>
          <p:cNvPr id="136" name="文本框 135" descr="{&quot;isTemplate&quot;:true,&quot;type&quot;:&quot;text&quot;}"/>
          <p:cNvSpPr txBox="1"/>
          <p:nvPr/>
        </p:nvSpPr>
        <p:spPr>
          <a:xfrm>
            <a:off x="933450" y="2962275"/>
            <a:ext cx="123825" cy="142875"/>
          </a:xfrm>
          <a:prstGeom prst="rect">
            <a:avLst/>
          </a:prstGeom>
        </p:spPr>
        <p:txBody>
          <a:bodyPr wrap="none" lIns="0" tIns="0" rIns="0" bIns="0"/>
          <a:p>
            <a:pPr>
              <a:lnSpc>
                <a:spcPct val="100000"/>
              </a:lnSpc>
            </a:pPr>
            <a:r>
              <a:rPr lang="zh-CN" sz="940" b="1">
                <a:solidFill>
                  <a:srgbClr val="FFFFFF"/>
                </a:solidFill>
                <a:latin typeface="微软雅黑" panose="020B0503020204020204" charset="-122"/>
                <a:ea typeface="微软雅黑" panose="020B0503020204020204" charset="-122"/>
              </a:rPr>
              <a:t>二</a:t>
            </a:r>
            <a:endParaRPr lang="zh-CN" sz="940" b="1">
              <a:solidFill>
                <a:srgbClr val="FFFFFF"/>
              </a:solidFill>
              <a:latin typeface="微软雅黑" panose="020B0503020204020204" charset="-122"/>
              <a:ea typeface="微软雅黑" panose="020B0503020204020204" charset="-122"/>
            </a:endParaRPr>
          </a:p>
        </p:txBody>
      </p:sp>
      <p:sp>
        <p:nvSpPr>
          <p:cNvPr id="137" name="文本框 136" descr="{&quot;isTemplate&quot;:true,&quot;type&quot;:&quot;text&quot;}"/>
          <p:cNvSpPr txBox="1"/>
          <p:nvPr/>
        </p:nvSpPr>
        <p:spPr>
          <a:xfrm>
            <a:off x="1200150" y="2914650"/>
            <a:ext cx="3790950" cy="447675"/>
          </a:xfrm>
          <a:prstGeom prst="rect">
            <a:avLst/>
          </a:prstGeom>
        </p:spPr>
        <p:txBody>
          <a:bodyPr wrap="square" lIns="0" tIns="0" rIns="0" bIns="0">
            <a:normAutofit/>
          </a:bodyPr>
          <a:p>
            <a:pPr>
              <a:lnSpc>
                <a:spcPct val="155000"/>
              </a:lnSpc>
            </a:pPr>
            <a:r>
              <a:rPr lang="zh-CN" sz="940">
                <a:solidFill>
                  <a:srgbClr val="1F1F1F"/>
                </a:solidFill>
                <a:latin typeface="微软雅黑" panose="020B0503020204020204" charset="-122"/>
                <a:ea typeface="微软雅黑" panose="020B0503020204020204" charset="-122"/>
              </a:rPr>
              <a:t>与国际市场检验结果一致，</a:t>
            </a:r>
            <a:r>
              <a:rPr lang="zh-CN" sz="940" b="1">
                <a:solidFill>
                  <a:srgbClr val="1F1F1F"/>
                </a:solidFill>
                <a:latin typeface="微软雅黑" panose="020B0503020204020204" charset="-122"/>
                <a:ea typeface="微软雅黑" panose="020B0503020204020204" charset="-122"/>
              </a:rPr>
              <a:t>五因子模型解释能力非常强</a:t>
            </a:r>
            <a:r>
              <a:rPr lang="zh-CN" sz="940">
                <a:solidFill>
                  <a:srgbClr val="1F1F1F"/>
                </a:solidFill>
                <a:latin typeface="微软雅黑" panose="020B0503020204020204" charset="-122"/>
                <a:ea typeface="微软雅黑" panose="020B0503020204020204" charset="-122"/>
              </a:rPr>
              <a:t>，比</a:t>
            </a:r>
            <a:r>
              <a:rPr lang="en-US" sz="940">
                <a:solidFill>
                  <a:srgbClr val="1F1F1F"/>
                </a:solidFill>
                <a:latin typeface="微软雅黑" panose="020B0503020204020204" charset="-122"/>
                <a:ea typeface="微软雅黑" panose="020B0503020204020204" charset="-122"/>
              </a:rPr>
              <a:t> CAPM</a:t>
            </a:r>
            <a:r>
              <a:rPr lang="zh-CN" sz="940">
                <a:solidFill>
                  <a:srgbClr val="1F1F1F"/>
                </a:solidFill>
                <a:latin typeface="微软雅黑" panose="020B0503020204020204" charset="-122"/>
                <a:ea typeface="微软雅黑" panose="020B0503020204020204" charset="-122"/>
              </a:rPr>
              <a:t>、三因子模型、</a:t>
            </a:r>
            <a:r>
              <a:rPr lang="en-US" sz="940">
                <a:solidFill>
                  <a:srgbClr val="1F1F1F"/>
                </a:solidFill>
                <a:latin typeface="微软雅黑" panose="020B0503020204020204" charset="-122"/>
                <a:ea typeface="微软雅黑" panose="020B0503020204020204" charset="-122"/>
              </a:rPr>
              <a:t>Carhart </a:t>
            </a:r>
            <a:r>
              <a:rPr lang="zh-CN" sz="940">
                <a:solidFill>
                  <a:srgbClr val="1F1F1F"/>
                </a:solidFill>
                <a:latin typeface="微软雅黑" panose="020B0503020204020204" charset="-122"/>
                <a:ea typeface="微软雅黑" panose="020B0503020204020204" charset="-122"/>
              </a:rPr>
              <a:t>四因子模型表现更好。</a:t>
            </a:r>
            <a:endParaRPr lang="zh-CN" sz="940">
              <a:solidFill>
                <a:srgbClr val="1F1F1F"/>
              </a:solidFill>
              <a:latin typeface="微软雅黑" panose="020B0503020204020204" charset="-122"/>
              <a:ea typeface="微软雅黑" panose="020B0503020204020204" charset="-122"/>
            </a:endParaRPr>
          </a:p>
        </p:txBody>
      </p:sp>
      <p:sp>
        <p:nvSpPr>
          <p:cNvPr id="138" name="圆角矩形 137"/>
          <p:cNvSpPr/>
          <p:nvPr/>
        </p:nvSpPr>
        <p:spPr>
          <a:xfrm>
            <a:off x="762000" y="3571875"/>
            <a:ext cx="4343400" cy="638175"/>
          </a:xfrm>
          <a:prstGeom prst="roundRect">
            <a:avLst>
              <a:gd name="adj" fmla="val 11940"/>
            </a:avLst>
          </a:prstGeom>
          <a:solidFill>
            <a:srgbClr val="01A5B1">
              <a:alpha val="10000"/>
            </a:srgbClr>
          </a:solidFill>
        </p:spPr>
        <p:txBody>
          <a:bodyPr/>
          <a:p/>
        </p:txBody>
      </p:sp>
      <p:sp>
        <p:nvSpPr>
          <p:cNvPr id="139" name="圆角矩形 138"/>
          <p:cNvSpPr/>
          <p:nvPr/>
        </p:nvSpPr>
        <p:spPr>
          <a:xfrm>
            <a:off x="876300" y="3667125"/>
            <a:ext cx="228600" cy="228600"/>
          </a:xfrm>
          <a:prstGeom prst="roundRect">
            <a:avLst>
              <a:gd name="adj" fmla="val 16667"/>
            </a:avLst>
          </a:prstGeom>
          <a:solidFill>
            <a:srgbClr val="01A5B1"/>
          </a:solidFill>
        </p:spPr>
        <p:txBody>
          <a:bodyPr/>
          <a:p/>
        </p:txBody>
      </p:sp>
      <p:sp>
        <p:nvSpPr>
          <p:cNvPr id="140" name="文本框 139" descr="{&quot;isTemplate&quot;:true,&quot;type&quot;:&quot;text&quot;}"/>
          <p:cNvSpPr txBox="1"/>
          <p:nvPr/>
        </p:nvSpPr>
        <p:spPr>
          <a:xfrm>
            <a:off x="933450" y="3714750"/>
            <a:ext cx="123825" cy="142875"/>
          </a:xfrm>
          <a:prstGeom prst="rect">
            <a:avLst/>
          </a:prstGeom>
        </p:spPr>
        <p:txBody>
          <a:bodyPr wrap="none" lIns="0" tIns="0" rIns="0" bIns="0"/>
          <a:p>
            <a:pPr>
              <a:lnSpc>
                <a:spcPct val="100000"/>
              </a:lnSpc>
            </a:pPr>
            <a:r>
              <a:rPr lang="zh-CN" sz="940" b="1">
                <a:solidFill>
                  <a:srgbClr val="FFFFFF"/>
                </a:solidFill>
                <a:latin typeface="微软雅黑" panose="020B0503020204020204" charset="-122"/>
                <a:ea typeface="微软雅黑" panose="020B0503020204020204" charset="-122"/>
              </a:rPr>
              <a:t>三</a:t>
            </a:r>
            <a:endParaRPr lang="zh-CN" sz="940" b="1">
              <a:solidFill>
                <a:srgbClr val="FFFFFF"/>
              </a:solidFill>
              <a:latin typeface="微软雅黑" panose="020B0503020204020204" charset="-122"/>
              <a:ea typeface="微软雅黑" panose="020B0503020204020204" charset="-122"/>
            </a:endParaRPr>
          </a:p>
        </p:txBody>
      </p:sp>
      <p:sp>
        <p:nvSpPr>
          <p:cNvPr id="141" name="文本框 140" descr="{&quot;isTemplate&quot;:true,&quot;type&quot;:&quot;text&quot;}"/>
          <p:cNvSpPr txBox="1"/>
          <p:nvPr/>
        </p:nvSpPr>
        <p:spPr>
          <a:xfrm>
            <a:off x="1200150" y="3667125"/>
            <a:ext cx="3790950" cy="447675"/>
          </a:xfrm>
          <a:prstGeom prst="rect">
            <a:avLst/>
          </a:prstGeom>
        </p:spPr>
        <p:txBody>
          <a:bodyPr wrap="square" lIns="0" tIns="0" rIns="0" bIns="0">
            <a:normAutofit/>
          </a:bodyPr>
          <a:p>
            <a:pPr>
              <a:lnSpc>
                <a:spcPct val="155000"/>
              </a:lnSpc>
            </a:pPr>
            <a:r>
              <a:rPr lang="zh-CN" sz="940">
                <a:solidFill>
                  <a:srgbClr val="1F1F1F"/>
                </a:solidFill>
                <a:latin typeface="微软雅黑" panose="020B0503020204020204" charset="-122"/>
                <a:ea typeface="微软雅黑" panose="020B0503020204020204" charset="-122"/>
              </a:rPr>
              <a:t>股改前盈利能力、投资风格及动量因子</a:t>
            </a:r>
            <a:r>
              <a:rPr lang="en-US" sz="940">
                <a:solidFill>
                  <a:srgbClr val="1F1F1F"/>
                </a:solidFill>
                <a:latin typeface="微软雅黑" panose="020B0503020204020204" charset="-122"/>
                <a:ea typeface="微软雅黑" panose="020B0503020204020204" charset="-122"/>
              </a:rPr>
              <a:t>"</a:t>
            </a:r>
            <a:r>
              <a:rPr lang="zh-CN" sz="940" b="1">
                <a:solidFill>
                  <a:srgbClr val="1F1F1F"/>
                </a:solidFill>
                <a:latin typeface="微软雅黑" panose="020B0503020204020204" charset="-122"/>
                <a:ea typeface="微软雅黑" panose="020B0503020204020204" charset="-122"/>
              </a:rPr>
              <a:t>冗余</a:t>
            </a:r>
            <a:r>
              <a:rPr lang="en-US" sz="940">
                <a:solidFill>
                  <a:srgbClr val="1F1F1F"/>
                </a:solidFill>
                <a:latin typeface="微软雅黑" panose="020B0503020204020204" charset="-122"/>
                <a:ea typeface="微软雅黑" panose="020B0503020204020204" charset="-122"/>
              </a:rPr>
              <a:t>"</a:t>
            </a:r>
            <a:r>
              <a:rPr lang="zh-CN" sz="940">
                <a:solidFill>
                  <a:srgbClr val="1F1F1F"/>
                </a:solidFill>
                <a:latin typeface="微软雅黑" panose="020B0503020204020204" charset="-122"/>
                <a:ea typeface="微软雅黑" panose="020B0503020204020204" charset="-122"/>
              </a:rPr>
              <a:t>（可能与股改前市场风险占据主导有关）；</a:t>
            </a:r>
            <a:r>
              <a:rPr lang="zh-CN" sz="940" b="1">
                <a:solidFill>
                  <a:srgbClr val="E8503A"/>
                </a:solidFill>
                <a:latin typeface="微软雅黑" panose="020B0503020204020204" charset="-122"/>
                <a:ea typeface="微软雅黑" panose="020B0503020204020204" charset="-122"/>
              </a:rPr>
              <a:t>股改后这三个因子具有显著的风险溢价</a:t>
            </a:r>
            <a:r>
              <a:rPr lang="zh-CN" sz="940">
                <a:solidFill>
                  <a:srgbClr val="1F1F1F"/>
                </a:solidFill>
                <a:latin typeface="微软雅黑" panose="020B0503020204020204" charset="-122"/>
                <a:ea typeface="微软雅黑" panose="020B0503020204020204" charset="-122"/>
              </a:rPr>
              <a:t>。</a:t>
            </a:r>
            <a:endParaRPr lang="zh-CN" sz="940">
              <a:solidFill>
                <a:srgbClr val="1F1F1F"/>
              </a:solidFill>
              <a:latin typeface="微软雅黑" panose="020B0503020204020204" charset="-122"/>
              <a:ea typeface="微软雅黑" panose="020B0503020204020204" charset="-122"/>
            </a:endParaRPr>
          </a:p>
        </p:txBody>
      </p:sp>
      <p:sp>
        <p:nvSpPr>
          <p:cNvPr id="142" name="圆角矩形 141"/>
          <p:cNvSpPr/>
          <p:nvPr/>
        </p:nvSpPr>
        <p:spPr>
          <a:xfrm>
            <a:off x="762000" y="4324350"/>
            <a:ext cx="4343400" cy="419100"/>
          </a:xfrm>
          <a:prstGeom prst="roundRect">
            <a:avLst>
              <a:gd name="adj" fmla="val 18182"/>
            </a:avLst>
          </a:prstGeom>
          <a:solidFill>
            <a:srgbClr val="01A5B1">
              <a:alpha val="10000"/>
            </a:srgbClr>
          </a:solidFill>
        </p:spPr>
        <p:txBody>
          <a:bodyPr/>
          <a:p/>
        </p:txBody>
      </p:sp>
      <p:sp>
        <p:nvSpPr>
          <p:cNvPr id="143" name="圆角矩形 142"/>
          <p:cNvSpPr/>
          <p:nvPr/>
        </p:nvSpPr>
        <p:spPr>
          <a:xfrm>
            <a:off x="876300" y="4419600"/>
            <a:ext cx="228600" cy="228600"/>
          </a:xfrm>
          <a:prstGeom prst="roundRect">
            <a:avLst>
              <a:gd name="adj" fmla="val 16667"/>
            </a:avLst>
          </a:prstGeom>
          <a:solidFill>
            <a:srgbClr val="E8503A"/>
          </a:solidFill>
        </p:spPr>
        <p:txBody>
          <a:bodyPr/>
          <a:p/>
        </p:txBody>
      </p:sp>
      <p:sp>
        <p:nvSpPr>
          <p:cNvPr id="144" name="文本框 143" descr="{&quot;isTemplate&quot;:true,&quot;type&quot;:&quot;text&quot;}"/>
          <p:cNvSpPr txBox="1"/>
          <p:nvPr/>
        </p:nvSpPr>
        <p:spPr>
          <a:xfrm>
            <a:off x="933450" y="4467225"/>
            <a:ext cx="123825" cy="142875"/>
          </a:xfrm>
          <a:prstGeom prst="rect">
            <a:avLst/>
          </a:prstGeom>
        </p:spPr>
        <p:txBody>
          <a:bodyPr wrap="none" lIns="0" tIns="0" rIns="0" bIns="0"/>
          <a:p>
            <a:pPr>
              <a:lnSpc>
                <a:spcPct val="100000"/>
              </a:lnSpc>
            </a:pPr>
            <a:r>
              <a:rPr lang="zh-CN" sz="940" b="1">
                <a:solidFill>
                  <a:srgbClr val="FFFFFF"/>
                </a:solidFill>
                <a:latin typeface="微软雅黑" panose="020B0503020204020204" charset="-122"/>
                <a:ea typeface="微软雅黑" panose="020B0503020204020204" charset="-122"/>
              </a:rPr>
              <a:t>四</a:t>
            </a:r>
            <a:endParaRPr lang="zh-CN" sz="940" b="1">
              <a:solidFill>
                <a:srgbClr val="FFFFFF"/>
              </a:solidFill>
              <a:latin typeface="微软雅黑" panose="020B0503020204020204" charset="-122"/>
              <a:ea typeface="微软雅黑" panose="020B0503020204020204" charset="-122"/>
            </a:endParaRPr>
          </a:p>
        </p:txBody>
      </p:sp>
      <p:sp>
        <p:nvSpPr>
          <p:cNvPr id="145" name="文本框 144" descr="{&quot;isTemplate&quot;:true,&quot;type&quot;:&quot;text&quot;}"/>
          <p:cNvSpPr txBox="1"/>
          <p:nvPr/>
        </p:nvSpPr>
        <p:spPr>
          <a:xfrm>
            <a:off x="1200150" y="4419600"/>
            <a:ext cx="3790950" cy="228600"/>
          </a:xfrm>
          <a:prstGeom prst="rect">
            <a:avLst/>
          </a:prstGeom>
        </p:spPr>
        <p:txBody>
          <a:bodyPr wrap="none" lIns="0" tIns="0" rIns="0" bIns="0"/>
          <a:p>
            <a:pPr>
              <a:lnSpc>
                <a:spcPct val="155000"/>
              </a:lnSpc>
            </a:pPr>
            <a:r>
              <a:rPr lang="zh-CN" sz="940">
                <a:solidFill>
                  <a:srgbClr val="1F1F1F"/>
                </a:solidFill>
                <a:latin typeface="微软雅黑" panose="020B0503020204020204" charset="-122"/>
                <a:ea typeface="微软雅黑" panose="020B0503020204020204" charset="-122"/>
              </a:rPr>
              <a:t>股改后存在经五因子模型调整后</a:t>
            </a:r>
            <a:r>
              <a:rPr lang="zh-CN" sz="940" b="1">
                <a:solidFill>
                  <a:srgbClr val="E8503A"/>
                </a:solidFill>
                <a:latin typeface="微软雅黑" panose="020B0503020204020204" charset="-122"/>
                <a:ea typeface="微软雅黑" panose="020B0503020204020204" charset="-122"/>
              </a:rPr>
              <a:t>仍然显著的反转效应</a:t>
            </a:r>
            <a:r>
              <a:rPr lang="zh-CN" sz="940">
                <a:solidFill>
                  <a:srgbClr val="1F1F1F"/>
                </a:solidFill>
                <a:latin typeface="微软雅黑" panose="020B0503020204020204" charset="-122"/>
                <a:ea typeface="微软雅黑" panose="020B0503020204020204" charset="-122"/>
              </a:rPr>
              <a:t>。</a:t>
            </a:r>
            <a:endParaRPr lang="zh-CN" sz="940">
              <a:solidFill>
                <a:srgbClr val="1F1F1F"/>
              </a:solidFill>
              <a:latin typeface="微软雅黑" panose="020B0503020204020204" charset="-122"/>
              <a:ea typeface="微软雅黑" panose="020B0503020204020204" charset="-122"/>
            </a:endParaRPr>
          </a:p>
        </p:txBody>
      </p:sp>
      <p:sp>
        <p:nvSpPr>
          <p:cNvPr id="146" name="圆角矩形 145"/>
          <p:cNvSpPr/>
          <p:nvPr/>
        </p:nvSpPr>
        <p:spPr>
          <a:xfrm>
            <a:off x="762000" y="4857750"/>
            <a:ext cx="4343400" cy="638175"/>
          </a:xfrm>
          <a:prstGeom prst="roundRect">
            <a:avLst>
              <a:gd name="adj" fmla="val 11940"/>
            </a:avLst>
          </a:prstGeom>
          <a:solidFill>
            <a:srgbClr val="01A5B1">
              <a:alpha val="10000"/>
            </a:srgbClr>
          </a:solidFill>
        </p:spPr>
        <p:txBody>
          <a:bodyPr/>
          <a:p/>
        </p:txBody>
      </p:sp>
      <p:sp>
        <p:nvSpPr>
          <p:cNvPr id="147" name="圆角矩形 146"/>
          <p:cNvSpPr/>
          <p:nvPr/>
        </p:nvSpPr>
        <p:spPr>
          <a:xfrm>
            <a:off x="876300" y="4953000"/>
            <a:ext cx="228600" cy="228600"/>
          </a:xfrm>
          <a:prstGeom prst="roundRect">
            <a:avLst>
              <a:gd name="adj" fmla="val 16667"/>
            </a:avLst>
          </a:prstGeom>
          <a:solidFill>
            <a:srgbClr val="01A5B1"/>
          </a:solidFill>
        </p:spPr>
        <p:txBody>
          <a:bodyPr/>
          <a:p/>
        </p:txBody>
      </p:sp>
      <p:sp>
        <p:nvSpPr>
          <p:cNvPr id="148" name="文本框 147" descr="{&quot;isTemplate&quot;:true,&quot;type&quot;:&quot;text&quot;}"/>
          <p:cNvSpPr txBox="1"/>
          <p:nvPr/>
        </p:nvSpPr>
        <p:spPr>
          <a:xfrm>
            <a:off x="933450" y="5000625"/>
            <a:ext cx="123825" cy="142875"/>
          </a:xfrm>
          <a:prstGeom prst="rect">
            <a:avLst/>
          </a:prstGeom>
        </p:spPr>
        <p:txBody>
          <a:bodyPr wrap="none" lIns="0" tIns="0" rIns="0" bIns="0"/>
          <a:p>
            <a:pPr>
              <a:lnSpc>
                <a:spcPct val="100000"/>
              </a:lnSpc>
            </a:pPr>
            <a:r>
              <a:rPr lang="zh-CN" sz="940" b="1">
                <a:solidFill>
                  <a:srgbClr val="FFFFFF"/>
                </a:solidFill>
                <a:latin typeface="微软雅黑" panose="020B0503020204020204" charset="-122"/>
                <a:ea typeface="微软雅黑" panose="020B0503020204020204" charset="-122"/>
              </a:rPr>
              <a:t>五</a:t>
            </a:r>
            <a:endParaRPr lang="zh-CN" sz="940" b="1">
              <a:solidFill>
                <a:srgbClr val="FFFFFF"/>
              </a:solidFill>
              <a:latin typeface="微软雅黑" panose="020B0503020204020204" charset="-122"/>
              <a:ea typeface="微软雅黑" panose="020B0503020204020204" charset="-122"/>
            </a:endParaRPr>
          </a:p>
        </p:txBody>
      </p:sp>
      <p:sp>
        <p:nvSpPr>
          <p:cNvPr id="149" name="文本框 148" descr="{&quot;isTemplate&quot;:true,&quot;type&quot;:&quot;text&quot;}"/>
          <p:cNvSpPr txBox="1"/>
          <p:nvPr/>
        </p:nvSpPr>
        <p:spPr>
          <a:xfrm>
            <a:off x="1200150" y="4953000"/>
            <a:ext cx="3790950" cy="447675"/>
          </a:xfrm>
          <a:prstGeom prst="rect">
            <a:avLst/>
          </a:prstGeom>
        </p:spPr>
        <p:txBody>
          <a:bodyPr wrap="square" lIns="0" tIns="0" rIns="0" bIns="0">
            <a:normAutofit/>
          </a:bodyPr>
          <a:p>
            <a:pPr>
              <a:lnSpc>
                <a:spcPct val="155000"/>
              </a:lnSpc>
            </a:pPr>
            <a:r>
              <a:rPr lang="zh-CN" sz="940">
                <a:solidFill>
                  <a:srgbClr val="1F1F1F"/>
                </a:solidFill>
                <a:latin typeface="微软雅黑" panose="020B0503020204020204" charset="-122"/>
                <a:ea typeface="微软雅黑" panose="020B0503020204020204" charset="-122"/>
              </a:rPr>
              <a:t>以五因子模型作为实证检验的理论依据，股改后</a:t>
            </a:r>
            <a:r>
              <a:rPr lang="zh-CN" sz="940" b="1">
                <a:solidFill>
                  <a:srgbClr val="1F1F1F"/>
                </a:solidFill>
                <a:latin typeface="微软雅黑" panose="020B0503020204020204" charset="-122"/>
                <a:ea typeface="微软雅黑" panose="020B0503020204020204" charset="-122"/>
              </a:rPr>
              <a:t>实际收益率与预期收益率的差异更加接近于</a:t>
            </a:r>
            <a:r>
              <a:rPr lang="en-US" sz="940" b="1">
                <a:solidFill>
                  <a:srgbClr val="1F1F1F"/>
                </a:solidFill>
                <a:latin typeface="微软雅黑" panose="020B0503020204020204" charset="-122"/>
                <a:ea typeface="微软雅黑" panose="020B0503020204020204" charset="-122"/>
              </a:rPr>
              <a:t> 0</a:t>
            </a:r>
            <a:r>
              <a:rPr lang="zh-CN" sz="940" b="1">
                <a:solidFill>
                  <a:srgbClr val="1F1F1F"/>
                </a:solidFill>
                <a:latin typeface="微软雅黑" panose="020B0503020204020204" charset="-122"/>
                <a:ea typeface="微软雅黑" panose="020B0503020204020204" charset="-122"/>
              </a:rPr>
              <a:t>，市场趋于</a:t>
            </a:r>
            <a:r>
              <a:rPr lang="en-US" sz="940" b="1">
                <a:solidFill>
                  <a:srgbClr val="1F1F1F"/>
                </a:solidFill>
                <a:latin typeface="微软雅黑" panose="020B0503020204020204" charset="-122"/>
                <a:ea typeface="微软雅黑" panose="020B0503020204020204" charset="-122"/>
              </a:rPr>
              <a:t>"</a:t>
            </a:r>
            <a:r>
              <a:rPr lang="zh-CN" sz="940" b="1">
                <a:solidFill>
                  <a:srgbClr val="1F1F1F"/>
                </a:solidFill>
                <a:latin typeface="微软雅黑" panose="020B0503020204020204" charset="-122"/>
                <a:ea typeface="微软雅黑" panose="020B0503020204020204" charset="-122"/>
              </a:rPr>
              <a:t>有效</a:t>
            </a:r>
            <a:r>
              <a:rPr lang="en-US" sz="940" b="1">
                <a:solidFill>
                  <a:srgbClr val="1F1F1F"/>
                </a:solidFill>
                <a:latin typeface="微软雅黑" panose="020B0503020204020204" charset="-122"/>
                <a:ea typeface="微软雅黑" panose="020B0503020204020204" charset="-122"/>
              </a:rPr>
              <a:t>"</a:t>
            </a:r>
            <a:r>
              <a:rPr lang="zh-CN" sz="940">
                <a:solidFill>
                  <a:srgbClr val="1F1F1F"/>
                </a:solidFill>
                <a:latin typeface="微软雅黑" panose="020B0503020204020204" charset="-122"/>
                <a:ea typeface="微软雅黑" panose="020B0503020204020204" charset="-122"/>
              </a:rPr>
              <a:t>。</a:t>
            </a:r>
            <a:endParaRPr lang="zh-CN" sz="940">
              <a:solidFill>
                <a:srgbClr val="1F1F1F"/>
              </a:solidFill>
              <a:latin typeface="微软雅黑" panose="020B0503020204020204" charset="-122"/>
              <a:ea typeface="微软雅黑" panose="020B0503020204020204" charset="-122"/>
            </a:endParaRPr>
          </a:p>
        </p:txBody>
      </p:sp>
      <p:sp>
        <p:nvSpPr>
          <p:cNvPr id="150" name="矩形 149"/>
          <p:cNvSpPr/>
          <p:nvPr/>
        </p:nvSpPr>
        <p:spPr>
          <a:xfrm>
            <a:off x="5334000" y="2095500"/>
            <a:ext cx="6096000" cy="2952750"/>
          </a:xfrm>
          <a:prstGeom prst="rect">
            <a:avLst/>
          </a:prstGeom>
          <a:ln w="12700">
            <a:solidFill>
              <a:srgbClr val="E0E0E0"/>
            </a:solidFill>
            <a:prstDash val="solid"/>
          </a:ln>
        </p:spPr>
        <p:txBody>
          <a:bodyPr/>
          <a:p/>
        </p:txBody>
      </p:sp>
      <p:pic>
        <p:nvPicPr>
          <p:cNvPr id="151" name="图片 150"/>
          <p:cNvPicPr>
            <a:picLocks noChangeAspect="1"/>
          </p:cNvPicPr>
          <p:nvPr/>
        </p:nvPicPr>
        <p:blipFill>
          <a:blip r:embed="rId2"/>
          <a:srcRect t="34" b="34"/>
          <a:stretch>
            <a:fillRect/>
          </a:stretch>
        </p:blipFill>
        <p:spPr>
          <a:xfrm>
            <a:off x="5334000" y="2095500"/>
            <a:ext cx="6096000" cy="2952750"/>
          </a:xfrm>
          <a:prstGeom prst="roundRect">
            <a:avLst>
              <a:gd name="adj" fmla="val 1290"/>
            </a:avLst>
          </a:prstGeom>
          <a:effectLst>
            <a:outerShdw blurRad="95250" dist="19050" dir="5400000">
              <a:srgbClr val="000000">
                <a:alpha val="8000"/>
              </a:srgbClr>
            </a:outerShdw>
          </a:effectLst>
        </p:spPr>
      </p:pic>
      <p:sp>
        <p:nvSpPr>
          <p:cNvPr id="152" name="文本框 151" descr="{&quot;isTemplate&quot;:true,&quot;type&quot;:&quot;text&quot;}"/>
          <p:cNvSpPr txBox="1"/>
          <p:nvPr/>
        </p:nvSpPr>
        <p:spPr>
          <a:xfrm>
            <a:off x="6848475" y="5124450"/>
            <a:ext cx="3067050"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七、结论：样本与方法概述及五点研究结论（第</a:t>
            </a:r>
            <a:r>
              <a:rPr lang="en-US" sz="790">
                <a:solidFill>
                  <a:srgbClr val="8A8A8A"/>
                </a:solidFill>
                <a:latin typeface="微软雅黑" panose="020B0503020204020204" charset="-122"/>
                <a:ea typeface="微软雅黑" panose="020B0503020204020204" charset="-122"/>
              </a:rPr>
              <a:t>205</a:t>
            </a:r>
            <a:r>
              <a:rPr lang="zh-CN" sz="790">
                <a:solidFill>
                  <a:srgbClr val="8A8A8A"/>
                </a:solidFill>
                <a:latin typeface="微软雅黑" panose="020B0503020204020204" charset="-122"/>
                <a:ea typeface="微软雅黑" panose="020B0503020204020204" charset="-122"/>
              </a:rPr>
              <a:t>页）</a:t>
            </a:r>
            <a:endParaRPr lang="zh-CN" sz="790">
              <a:solidFill>
                <a:srgbClr val="8A8A8A"/>
              </a:solidFill>
              <a:latin typeface="微软雅黑" panose="020B0503020204020204" charset="-122"/>
              <a:ea typeface="微软雅黑" panose="020B0503020204020204" charset="-122"/>
            </a:endParaRPr>
          </a:p>
        </p:txBody>
      </p:sp>
      <p:sp>
        <p:nvSpPr>
          <p:cNvPr id="153" name="Rectangle 152"/>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56" name="TextBox 155"/>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157" name="TextBox 156"/>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58" name="TextBox 157"/>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59" name="TextBox 158"/>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60" name="TextBox 159"/>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61" name="Rectangle 160"/>
          <p:cNvSpPr/>
          <p:nvPr/>
        </p:nvSpPr>
        <p:spPr>
          <a:xfrm>
            <a:off x="914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918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结论与反思</a:t>
            </a:r>
          </a:p>
        </p:txBody>
      </p:sp>
      <p:sp>
        <p:nvSpPr>
          <p:cNvPr id="163" name="TextBox 162"/>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55" name="" descr="&lt;Slide style={{ width: 1280, height: 720, background: '#FFFFFF', fontFamily: &quot;'微软雅黑','Microsoft YaHei',sans-serif&quot;, padding: 0, flexDirection: 'column', overflow: 'hidden' }}&gt;&#10;    &lt;Image src=&quot;assets/bg_pattern.png&quot; style={{ position: 'absolute', top: 0, left: 0, width: 1280, height: 720 }} /&gt;&#10;    &lt;Box style={{ position: 'relative', width: 1280, height: 720, padding: '20px 80px 0 80px', flexDirection: 'column' }}&gt;&#10;        &lt;Box style={{ height: 60, flexDirection: 'row', alignItems: 'center', gap: 16, marginBottom: 10 }}&gt;&#10;            &lt;Box style={{ width: 6, height: 36, background: '#01A5B1' }} /&gt;&#10;            &lt;Text style={{ fontSize: 34, fontWeight: 'bold', color: '#01A5B1' }}&gt;结论（续）：方法论启示与未来研究方向&lt;/Text&gt;&#10;        &lt;/Box&gt;&#10;        &lt;Box style={{ flex: 1, flexDirection: 'row', gap: 24, alignItems: 'center' }}&gt;&#10;            &lt;Box style={{ flex: 1, flexDirection: 'column', gap: 14 }}&gt;&#10;                &lt;Box style={{ background: 'rgba(1,165,177,0.10)', borderRadius: 10, padding: '13px 16px', borderLeft: '4px solid #01A5B1' }}&gt;&#10;                    &lt;Text style={{ fontSize: 14, fontWeight: 'bold', color: '#01A5B1', marginBottom: 4 }}&gt;数据结构之变：不同时期适合的模型可能不同&lt;/Text&gt;&#10;                    &lt;Text style={{ fontSize: 12, color: '#1F1F1F', lineHeight: 1.6 }}&gt;股改前后样本内中国股市的数据结构发生了变化，丰富了五因子模型有效性讨论的经验证据；&lt;span style={{ fontWeight: 'bold' }}&gt;不同时期最适合中国市场的因子模型可能不断变化&lt;/span&gt;，尤其股改前样本对全样本结果的影响可能更大。&lt;/Text&gt;&#10;                &lt;/Box&gt;&#10;                &lt;Box style={{ background: 'rgba(1,165,177,0.10)', borderRadius: 10, padding: '13px 16px', borderLeft: '4px solid #01A5B1' }}&gt;&#10;                    &lt;Text style={{ fontSize: 14, fontWeight: 'bold', color: '#01A5B1', marginBottom: 4 }}&gt;测算口径：股改后样本更合理&lt;/Text&gt;&#10;                    &lt;Text style={{ fontSize: 12, color: '#1F1F1F', lineHeight: 1.6 }}&gt;由于中国股市早期具有&quot;股权分置&quot;的特殊性，研究国外成熟市场模型在 A 股的应用时，&lt;span style={{ fontWeight: 'bold' }}&gt;采用股改后样本进行测算会更加合理&lt;/span&gt;。&lt;/Text&gt;&#10;                &lt;/Box&gt;&#10;                &lt;Box style={{ background: 'rgba(1,165,177,0.10)', borderRadius: 10, padding: '13px 16px', borderLeft: '4px solid #E8503A' }}&gt;&#10;                    &lt;Text style={{ fontSize: 14, fontWeight: 'bold', color: '#E8503A', marginBottom: 4 }}&gt;模型局限：六因子仍未完全解释 A 股&lt;/Text&gt;&#10;                    &lt;Text style={{ fontSize: 12, color: '#1F1F1F', lineHeight: 1.6 }}&gt;无论五因子还是加入动量因子的六因子模型，在&lt;span style={{ fontWeight: 'bold' }}&gt;某些分组方式下仍无法通过 GRS 检验&lt;/span&gt;（股改后样本尤为突出）→ 这六个因子仍不能完全解释中国股市组合平均收益率的变动，与 FF(2016) 对美国市场的结论一致。&lt;/Text&gt;&#10;                &lt;/Box&gt;&#10;                &lt;Box style={{ background: '#01A5B1', borderRadius: 10, padding: '13px 16px', flexDirection: 'row', alignItems: 'center', gap: 10 }}&gt;&#10;                    &lt;Box style={{ width: 30, height: 30, background: 'rgba(255,255,255,0.25)', borderRadius: 15, alignItems: 'center', justifyContent: 'center' }}&gt;&#10;                        &lt;Text style={{ fontSize: 16, color: '#FFFFFF', fontWeight: 'bold' }}&gt;→&lt;/Text&gt;&#10;                    &lt;/Box&gt;&#10;                    &lt;Text style={{ fontSize: 12.5, color: '#FFFFFF', lineHeight: 1.55, flex: 1 }}&gt;&lt;span style={{ fontWeight: 'bold' }}&gt;未来方向：&lt;/span&gt;探索其他适合中国股市的定价因子与风险因子，构建更精确、更适用于 A 股市场的资产定价模型——对理解中国市场、提供监管依据、辅助投资实践均有重要意义。&lt;/Text&gt;&#10;                &lt;/Box&gt;&#10;            &lt;/Box&gt;&#10;            &lt;Box style={{ width: 410, flexDirection: 'column', alignItems: 'center', gap: 8 }}&gt;&#10;                &lt;Image src=&quot;assets/concl2.png&quot; style={{ width: 396, height: 494, border: '1px solid #E0E0E0', borderRadius: 4, boxShadow: '0 2px 10px rgba(0,0,0,0.08)' }} /&gt;&#10;                &lt;Text style={{ fontSize: 10.5, color: '#8A8A8A' }}&gt;原论文截图 · 结论续页与脚注12（第204–205页）&lt;/Text&gt;&#10;            &lt;/Box&gt;&#10;        &lt;/Box&gt;&#10;        &lt;Box style={{ height: 40, flexDirection: 'row', alignItems: 'center', justifyContent: 'space-between' }}&gt;&#10;            &lt;Text style={{ fontSize: 12, color: '#8A8A8A' }}&gt;三维结构法 · FF5 中国实证拆解&lt;/Text&gt;&#10;            &lt;Text style={{ fontSize: 12, color: '#8A8A8A' }}&gt;07 / 07&lt;/Text&gt;&#10;        &lt;/Box&gt;&#10;    &lt;/Box&gt;&#10;&lt;/Slide&gt;"/>
        <p:cNvGrpSpPr/>
        <p:nvPr/>
      </p:nvGrpSpPr>
      <p:grpSpPr>
        <a:xfrm>
          <a:off x="0" y="0"/>
          <a:ext cx="0" cy="0"/>
          <a:chOff x="0" y="0"/>
          <a:chExt cx="0" cy="0"/>
        </a:xfrm>
      </p:grpSpPr>
      <p:sp>
        <p:nvSpPr>
          <p:cNvPr id="156" name="矩形 155"/>
          <p:cNvSpPr/>
          <p:nvPr/>
        </p:nvSpPr>
        <p:spPr>
          <a:xfrm>
            <a:off x="0" y="0"/>
            <a:ext cx="12192000" cy="6858000"/>
          </a:xfrm>
          <a:prstGeom prst="rect">
            <a:avLst/>
          </a:prstGeom>
          <a:solidFill>
            <a:srgbClr val="FFFFFF"/>
          </a:solidFill>
        </p:spPr>
        <p:txBody>
          <a:bodyPr/>
          <a:p/>
        </p:txBody>
      </p:sp>
      <p:pic>
        <p:nvPicPr>
          <p:cNvPr id="157" name="图片 156"/>
          <p:cNvPicPr>
            <a:picLocks noChangeAspect="1"/>
          </p:cNvPicPr>
          <p:nvPr/>
        </p:nvPicPr>
        <p:blipFill>
          <a:blip r:embed="rId1"/>
          <a:stretch>
            <a:fillRect/>
          </a:stretch>
        </p:blipFill>
        <p:spPr>
          <a:xfrm>
            <a:off x="0" y="0"/>
            <a:ext cx="12192000" cy="6858000"/>
          </a:xfrm>
          <a:prstGeom prst="rect">
            <a:avLst/>
          </a:prstGeom>
        </p:spPr>
      </p:pic>
      <p:sp>
        <p:nvSpPr>
          <p:cNvPr id="158" name="矩形 157"/>
          <p:cNvSpPr/>
          <p:nvPr/>
        </p:nvSpPr>
        <p:spPr>
          <a:xfrm>
            <a:off x="762000" y="304800"/>
            <a:ext cx="57150" cy="342900"/>
          </a:xfrm>
          <a:prstGeom prst="rect">
            <a:avLst/>
          </a:prstGeom>
          <a:solidFill>
            <a:srgbClr val="01A5B1"/>
          </a:solidFill>
        </p:spPr>
        <p:txBody>
          <a:bodyPr/>
          <a:p/>
        </p:txBody>
      </p:sp>
      <p:sp>
        <p:nvSpPr>
          <p:cNvPr id="159" name="文本框 158" descr="{&quot;isTemplate&quot;:true,&quot;type&quot;:&quot;text&quot;}"/>
          <p:cNvSpPr txBox="1"/>
          <p:nvPr/>
        </p:nvSpPr>
        <p:spPr>
          <a:xfrm>
            <a:off x="530352" y="256032"/>
            <a:ext cx="10607040" cy="548640"/>
          </a:xfrm>
          <a:prstGeom prst="rect">
            <a:avLst/>
          </a:prstGeom>
        </p:spPr>
        <p:txBody>
          <a:bodyPr wrap="square" lIns="0" tIns="0" rIns="0" bIns="0"/>
          <a:p>
            <a:pPr>
              <a:lnSpc>
                <a:spcPct val="100000"/>
              </a:lnSpc>
            </a:pPr>
            <a:r>
              <a:rPr lang="zh-CN" sz="2200" b="1">
                <a:solidFill>
                  <a:srgbClr val="1F1F1F"/>
                </a:solidFill>
                <a:latin typeface="微软雅黑" panose="020B0503020204020204" charset="-122"/>
                <a:ea typeface="微软雅黑" panose="020B0503020204020204" charset="-122"/>
              </a:rPr>
              <a:t>结论（续）：方法论启示与未来研究方向</a:t>
            </a:r>
            <a:endParaRPr lang="zh-CN" sz="2550" b="1">
              <a:solidFill>
                <a:srgbClr val="01A5B1"/>
              </a:solidFill>
              <a:latin typeface="微软雅黑" panose="020B0503020204020204" charset="-122"/>
              <a:ea typeface="微软雅黑" panose="020B0503020204020204" charset="-122"/>
            </a:endParaRPr>
          </a:p>
        </p:txBody>
      </p:sp>
      <p:sp>
        <p:nvSpPr>
          <p:cNvPr id="160" name="圆角矩形 159"/>
          <p:cNvSpPr/>
          <p:nvPr/>
        </p:nvSpPr>
        <p:spPr>
          <a:xfrm>
            <a:off x="800100" y="1781175"/>
            <a:ext cx="6534150" cy="895350"/>
          </a:xfrm>
          <a:prstGeom prst="roundRect">
            <a:avLst>
              <a:gd name="adj" fmla="val 10638"/>
            </a:avLst>
          </a:prstGeom>
          <a:solidFill>
            <a:srgbClr val="01A5B1">
              <a:alpha val="10000"/>
            </a:srgbClr>
          </a:solidFill>
        </p:spPr>
        <p:txBody>
          <a:bodyPr/>
          <a:p/>
        </p:txBody>
      </p:sp>
      <p:sp>
        <p:nvSpPr>
          <p:cNvPr id="161" name="任意多边形 160"/>
          <p:cNvSpPr/>
          <p:nvPr/>
        </p:nvSpPr>
        <p:spPr>
          <a:xfrm>
            <a:off x="800100" y="1781175"/>
            <a:ext cx="6534150" cy="895350"/>
          </a:xfrm>
          <a:custGeom>
            <a:avLst/>
            <a:gdLst/>
            <a:ahLst/>
            <a:cxnLst/>
            <a:pathLst>
              <a:path w="686" h="94">
                <a:moveTo>
                  <a:pt x="9" y="0"/>
                </a:moveTo>
                <a:cubicBezTo>
                  <a:pt x="6" y="0"/>
                  <a:pt x="4" y="3"/>
                  <a:pt x="4" y="6"/>
                </a:cubicBezTo>
                <a:lnTo>
                  <a:pt x="4" y="88"/>
                </a:lnTo>
                <a:cubicBezTo>
                  <a:pt x="4" y="91"/>
                  <a:pt x="6" y="93"/>
                  <a:pt x="9" y="94"/>
                </a:cubicBezTo>
                <a:cubicBezTo>
                  <a:pt x="4" y="93"/>
                  <a:pt x="0" y="89"/>
                  <a:pt x="0" y="84"/>
                </a:cubicBezTo>
                <a:lnTo>
                  <a:pt x="0" y="10"/>
                </a:lnTo>
                <a:cubicBezTo>
                  <a:pt x="0" y="5"/>
                  <a:pt x="4" y="0"/>
                  <a:pt x="10" y="0"/>
                </a:cubicBezTo>
                <a:close/>
              </a:path>
            </a:pathLst>
          </a:custGeom>
          <a:solidFill>
            <a:srgbClr val="01A5B1"/>
          </a:solidFill>
        </p:spPr>
        <p:txBody>
          <a:bodyPr/>
          <a:p/>
        </p:txBody>
      </p:sp>
      <p:sp>
        <p:nvSpPr>
          <p:cNvPr id="162" name="文本框 161" descr="{&quot;isTemplate&quot;:true,&quot;type&quot;:&quot;text&quot;}"/>
          <p:cNvSpPr txBox="1"/>
          <p:nvPr/>
        </p:nvSpPr>
        <p:spPr>
          <a:xfrm>
            <a:off x="952500" y="1905000"/>
            <a:ext cx="6191250" cy="161925"/>
          </a:xfrm>
          <a:prstGeom prst="rect">
            <a:avLst/>
          </a:prstGeom>
        </p:spPr>
        <p:txBody>
          <a:bodyPr wrap="none" lIns="0" tIns="0" rIns="0" bIns="0"/>
          <a:p>
            <a:pPr>
              <a:lnSpc>
                <a:spcPct val="100000"/>
              </a:lnSpc>
            </a:pPr>
            <a:r>
              <a:rPr lang="zh-CN" sz="1050" b="1">
                <a:solidFill>
                  <a:srgbClr val="01A5B1"/>
                </a:solidFill>
                <a:latin typeface="微软雅黑" panose="020B0503020204020204" charset="-122"/>
                <a:ea typeface="微软雅黑" panose="020B0503020204020204" charset="-122"/>
              </a:rPr>
              <a:t>数据结构之变：不同时期适合的模型可能不同</a:t>
            </a:r>
            <a:endParaRPr lang="zh-CN" sz="1050" b="1">
              <a:solidFill>
                <a:srgbClr val="01A5B1"/>
              </a:solidFill>
              <a:latin typeface="微软雅黑" panose="020B0503020204020204" charset="-122"/>
              <a:ea typeface="微软雅黑" panose="020B0503020204020204" charset="-122"/>
            </a:endParaRPr>
          </a:p>
        </p:txBody>
      </p:sp>
      <p:sp>
        <p:nvSpPr>
          <p:cNvPr id="163" name="文本框 162" descr="{&quot;isTemplate&quot;:true,&quot;type&quot;:&quot;text&quot;}"/>
          <p:cNvSpPr txBox="1"/>
          <p:nvPr/>
        </p:nvSpPr>
        <p:spPr>
          <a:xfrm>
            <a:off x="952500" y="2105025"/>
            <a:ext cx="6191250" cy="447675"/>
          </a:xfrm>
          <a:prstGeom prst="rect">
            <a:avLst/>
          </a:prstGeom>
        </p:spPr>
        <p:txBody>
          <a:bodyPr wrap="square" lIns="0" tIns="0" rIns="0" bIns="0">
            <a:normAutofit/>
          </a:bodyPr>
          <a:p>
            <a:pPr>
              <a:lnSpc>
                <a:spcPct val="160000"/>
              </a:lnSpc>
            </a:pPr>
            <a:r>
              <a:rPr lang="zh-CN" sz="900">
                <a:solidFill>
                  <a:srgbClr val="1F1F1F"/>
                </a:solidFill>
                <a:latin typeface="微软雅黑" panose="020B0503020204020204" charset="-122"/>
                <a:ea typeface="微软雅黑" panose="020B0503020204020204" charset="-122"/>
              </a:rPr>
              <a:t>股改前后样本内中国股市的数据结构发生了变化，丰富了五因子模型有效性讨论的经验证据；</a:t>
            </a:r>
            <a:r>
              <a:rPr lang="zh-CN" sz="900" b="1">
                <a:solidFill>
                  <a:srgbClr val="1F1F1F"/>
                </a:solidFill>
                <a:latin typeface="微软雅黑" panose="020B0503020204020204" charset="-122"/>
                <a:ea typeface="微软雅黑" panose="020B0503020204020204" charset="-122"/>
              </a:rPr>
              <a:t>不同时期最适合中国市场的因子模型可能不断变化</a:t>
            </a:r>
            <a:r>
              <a:rPr lang="zh-CN" sz="900">
                <a:solidFill>
                  <a:srgbClr val="1F1F1F"/>
                </a:solidFill>
                <a:latin typeface="微软雅黑" panose="020B0503020204020204" charset="-122"/>
                <a:ea typeface="微软雅黑" panose="020B0503020204020204" charset="-122"/>
              </a:rPr>
              <a:t>，尤其股改前样本对全样本结果的影响可能更大。</a:t>
            </a:r>
            <a:endParaRPr lang="zh-CN" sz="900">
              <a:solidFill>
                <a:srgbClr val="1F1F1F"/>
              </a:solidFill>
              <a:latin typeface="微软雅黑" panose="020B0503020204020204" charset="-122"/>
              <a:ea typeface="微软雅黑" panose="020B0503020204020204" charset="-122"/>
            </a:endParaRPr>
          </a:p>
        </p:txBody>
      </p:sp>
      <p:sp>
        <p:nvSpPr>
          <p:cNvPr id="164" name="圆角矩形 163"/>
          <p:cNvSpPr/>
          <p:nvPr/>
        </p:nvSpPr>
        <p:spPr>
          <a:xfrm>
            <a:off x="800100" y="2809875"/>
            <a:ext cx="6534150" cy="895350"/>
          </a:xfrm>
          <a:prstGeom prst="roundRect">
            <a:avLst>
              <a:gd name="adj" fmla="val 10638"/>
            </a:avLst>
          </a:prstGeom>
          <a:solidFill>
            <a:srgbClr val="01A5B1">
              <a:alpha val="10000"/>
            </a:srgbClr>
          </a:solidFill>
        </p:spPr>
        <p:txBody>
          <a:bodyPr/>
          <a:p/>
        </p:txBody>
      </p:sp>
      <p:sp>
        <p:nvSpPr>
          <p:cNvPr id="165" name="任意多边形 164"/>
          <p:cNvSpPr/>
          <p:nvPr/>
        </p:nvSpPr>
        <p:spPr>
          <a:xfrm>
            <a:off x="800100" y="2809875"/>
            <a:ext cx="6534150" cy="895350"/>
          </a:xfrm>
          <a:custGeom>
            <a:avLst/>
            <a:gdLst/>
            <a:ahLst/>
            <a:cxnLst/>
            <a:pathLst>
              <a:path w="686" h="94">
                <a:moveTo>
                  <a:pt x="9" y="0"/>
                </a:moveTo>
                <a:cubicBezTo>
                  <a:pt x="6" y="0"/>
                  <a:pt x="4" y="3"/>
                  <a:pt x="4" y="6"/>
                </a:cubicBezTo>
                <a:lnTo>
                  <a:pt x="4" y="88"/>
                </a:lnTo>
                <a:cubicBezTo>
                  <a:pt x="4" y="91"/>
                  <a:pt x="6" y="93"/>
                  <a:pt x="9" y="94"/>
                </a:cubicBezTo>
                <a:cubicBezTo>
                  <a:pt x="4" y="93"/>
                  <a:pt x="0" y="89"/>
                  <a:pt x="0" y="84"/>
                </a:cubicBezTo>
                <a:lnTo>
                  <a:pt x="0" y="10"/>
                </a:lnTo>
                <a:cubicBezTo>
                  <a:pt x="0" y="5"/>
                  <a:pt x="4" y="0"/>
                  <a:pt x="10" y="0"/>
                </a:cubicBezTo>
                <a:close/>
              </a:path>
            </a:pathLst>
          </a:custGeom>
          <a:solidFill>
            <a:srgbClr val="01A5B1"/>
          </a:solidFill>
        </p:spPr>
        <p:txBody>
          <a:bodyPr/>
          <a:p/>
        </p:txBody>
      </p:sp>
      <p:sp>
        <p:nvSpPr>
          <p:cNvPr id="166" name="文本框 165" descr="{&quot;isTemplate&quot;:true,&quot;type&quot;:&quot;text&quot;}"/>
          <p:cNvSpPr txBox="1"/>
          <p:nvPr/>
        </p:nvSpPr>
        <p:spPr>
          <a:xfrm>
            <a:off x="952500" y="2933700"/>
            <a:ext cx="6191250" cy="161925"/>
          </a:xfrm>
          <a:prstGeom prst="rect">
            <a:avLst/>
          </a:prstGeom>
        </p:spPr>
        <p:txBody>
          <a:bodyPr wrap="none" lIns="0" tIns="0" rIns="0" bIns="0"/>
          <a:p>
            <a:pPr>
              <a:lnSpc>
                <a:spcPct val="100000"/>
              </a:lnSpc>
            </a:pPr>
            <a:r>
              <a:rPr lang="zh-CN" sz="1050" b="1">
                <a:solidFill>
                  <a:srgbClr val="01A5B1"/>
                </a:solidFill>
                <a:latin typeface="微软雅黑" panose="020B0503020204020204" charset="-122"/>
                <a:ea typeface="微软雅黑" panose="020B0503020204020204" charset="-122"/>
              </a:rPr>
              <a:t>测算口径：股改后样本更合理</a:t>
            </a:r>
            <a:endParaRPr lang="zh-CN" sz="1050" b="1">
              <a:solidFill>
                <a:srgbClr val="01A5B1"/>
              </a:solidFill>
              <a:latin typeface="微软雅黑" panose="020B0503020204020204" charset="-122"/>
              <a:ea typeface="微软雅黑" panose="020B0503020204020204" charset="-122"/>
            </a:endParaRPr>
          </a:p>
        </p:txBody>
      </p:sp>
      <p:sp>
        <p:nvSpPr>
          <p:cNvPr id="167" name="文本框 166" descr="{&quot;isTemplate&quot;:true,&quot;type&quot;:&quot;text&quot;}"/>
          <p:cNvSpPr txBox="1"/>
          <p:nvPr/>
        </p:nvSpPr>
        <p:spPr>
          <a:xfrm>
            <a:off x="952500" y="3133725"/>
            <a:ext cx="6191250" cy="447675"/>
          </a:xfrm>
          <a:prstGeom prst="rect">
            <a:avLst/>
          </a:prstGeom>
        </p:spPr>
        <p:txBody>
          <a:bodyPr wrap="square" lIns="0" tIns="0" rIns="0" bIns="0">
            <a:normAutofit/>
          </a:bodyPr>
          <a:p>
            <a:pPr>
              <a:lnSpc>
                <a:spcPct val="160000"/>
              </a:lnSpc>
            </a:pPr>
            <a:r>
              <a:rPr lang="zh-CN" sz="900">
                <a:solidFill>
                  <a:srgbClr val="1F1F1F"/>
                </a:solidFill>
                <a:latin typeface="微软雅黑" panose="020B0503020204020204" charset="-122"/>
                <a:ea typeface="微软雅黑" panose="020B0503020204020204" charset="-122"/>
              </a:rPr>
              <a:t>由于中国股市早期具有</a:t>
            </a:r>
            <a:r>
              <a:rPr lang="en-US" sz="900">
                <a:solidFill>
                  <a:srgbClr val="1F1F1F"/>
                </a:solidFill>
                <a:latin typeface="微软雅黑" panose="020B0503020204020204" charset="-122"/>
                <a:ea typeface="微软雅黑" panose="020B0503020204020204" charset="-122"/>
              </a:rPr>
              <a:t>"</a:t>
            </a:r>
            <a:r>
              <a:rPr lang="zh-CN" sz="900">
                <a:solidFill>
                  <a:srgbClr val="1F1F1F"/>
                </a:solidFill>
                <a:latin typeface="微软雅黑" panose="020B0503020204020204" charset="-122"/>
                <a:ea typeface="微软雅黑" panose="020B0503020204020204" charset="-122"/>
              </a:rPr>
              <a:t>股权分置</a:t>
            </a:r>
            <a:r>
              <a:rPr lang="en-US" sz="900">
                <a:solidFill>
                  <a:srgbClr val="1F1F1F"/>
                </a:solidFill>
                <a:latin typeface="微软雅黑" panose="020B0503020204020204" charset="-122"/>
                <a:ea typeface="微软雅黑" panose="020B0503020204020204" charset="-122"/>
              </a:rPr>
              <a:t>"</a:t>
            </a:r>
            <a:r>
              <a:rPr lang="zh-CN" sz="900">
                <a:solidFill>
                  <a:srgbClr val="1F1F1F"/>
                </a:solidFill>
                <a:latin typeface="微软雅黑" panose="020B0503020204020204" charset="-122"/>
                <a:ea typeface="微软雅黑" panose="020B0503020204020204" charset="-122"/>
              </a:rPr>
              <a:t>的特殊性，研究国外成熟市场模型在</a:t>
            </a:r>
            <a:r>
              <a:rPr lang="en-US" sz="900">
                <a:solidFill>
                  <a:srgbClr val="1F1F1F"/>
                </a:solidFill>
                <a:latin typeface="微软雅黑" panose="020B0503020204020204" charset="-122"/>
                <a:ea typeface="微软雅黑" panose="020B0503020204020204" charset="-122"/>
              </a:rPr>
              <a:t> A </a:t>
            </a:r>
            <a:r>
              <a:rPr lang="zh-CN" sz="900">
                <a:solidFill>
                  <a:srgbClr val="1F1F1F"/>
                </a:solidFill>
                <a:latin typeface="微软雅黑" panose="020B0503020204020204" charset="-122"/>
                <a:ea typeface="微软雅黑" panose="020B0503020204020204" charset="-122"/>
              </a:rPr>
              <a:t>股的应用时，</a:t>
            </a:r>
            <a:r>
              <a:rPr lang="zh-CN" sz="900" b="1">
                <a:solidFill>
                  <a:srgbClr val="1F1F1F"/>
                </a:solidFill>
                <a:latin typeface="微软雅黑" panose="020B0503020204020204" charset="-122"/>
                <a:ea typeface="微软雅黑" panose="020B0503020204020204" charset="-122"/>
              </a:rPr>
              <a:t>采用股改后样本进行测算会更加合理</a:t>
            </a:r>
            <a:r>
              <a:rPr lang="zh-CN" sz="900">
                <a:solidFill>
                  <a:srgbClr val="1F1F1F"/>
                </a:solidFill>
                <a:latin typeface="微软雅黑" panose="020B0503020204020204" charset="-122"/>
                <a:ea typeface="微软雅黑" panose="020B0503020204020204" charset="-122"/>
              </a:rPr>
              <a:t>。</a:t>
            </a:r>
            <a:endParaRPr lang="zh-CN" sz="900">
              <a:solidFill>
                <a:srgbClr val="1F1F1F"/>
              </a:solidFill>
              <a:latin typeface="微软雅黑" panose="020B0503020204020204" charset="-122"/>
              <a:ea typeface="微软雅黑" panose="020B0503020204020204" charset="-122"/>
            </a:endParaRPr>
          </a:p>
        </p:txBody>
      </p:sp>
      <p:sp>
        <p:nvSpPr>
          <p:cNvPr id="168" name="圆角矩形 167"/>
          <p:cNvSpPr/>
          <p:nvPr/>
        </p:nvSpPr>
        <p:spPr>
          <a:xfrm>
            <a:off x="800100" y="3838575"/>
            <a:ext cx="6534150" cy="895350"/>
          </a:xfrm>
          <a:prstGeom prst="roundRect">
            <a:avLst>
              <a:gd name="adj" fmla="val 10638"/>
            </a:avLst>
          </a:prstGeom>
          <a:solidFill>
            <a:srgbClr val="01A5B1">
              <a:alpha val="10000"/>
            </a:srgbClr>
          </a:solidFill>
        </p:spPr>
        <p:txBody>
          <a:bodyPr/>
          <a:p/>
        </p:txBody>
      </p:sp>
      <p:sp>
        <p:nvSpPr>
          <p:cNvPr id="169" name="任意多边形 168"/>
          <p:cNvSpPr/>
          <p:nvPr/>
        </p:nvSpPr>
        <p:spPr>
          <a:xfrm>
            <a:off x="800100" y="3838575"/>
            <a:ext cx="6534150" cy="895350"/>
          </a:xfrm>
          <a:custGeom>
            <a:avLst/>
            <a:gdLst/>
            <a:ahLst/>
            <a:cxnLst/>
            <a:pathLst>
              <a:path w="686" h="94">
                <a:moveTo>
                  <a:pt x="9" y="0"/>
                </a:moveTo>
                <a:cubicBezTo>
                  <a:pt x="6" y="0"/>
                  <a:pt x="4" y="3"/>
                  <a:pt x="4" y="6"/>
                </a:cubicBezTo>
                <a:lnTo>
                  <a:pt x="4" y="88"/>
                </a:lnTo>
                <a:cubicBezTo>
                  <a:pt x="4" y="91"/>
                  <a:pt x="6" y="93"/>
                  <a:pt x="9" y="94"/>
                </a:cubicBezTo>
                <a:cubicBezTo>
                  <a:pt x="4" y="93"/>
                  <a:pt x="0" y="89"/>
                  <a:pt x="0" y="84"/>
                </a:cubicBezTo>
                <a:lnTo>
                  <a:pt x="0" y="10"/>
                </a:lnTo>
                <a:cubicBezTo>
                  <a:pt x="0" y="5"/>
                  <a:pt x="4" y="0"/>
                  <a:pt x="10" y="0"/>
                </a:cubicBezTo>
                <a:close/>
              </a:path>
            </a:pathLst>
          </a:custGeom>
          <a:solidFill>
            <a:srgbClr val="E8503A"/>
          </a:solidFill>
        </p:spPr>
        <p:txBody>
          <a:bodyPr/>
          <a:p/>
        </p:txBody>
      </p:sp>
      <p:sp>
        <p:nvSpPr>
          <p:cNvPr id="170" name="文本框 169" descr="{&quot;isTemplate&quot;:true,&quot;type&quot;:&quot;text&quot;}"/>
          <p:cNvSpPr txBox="1"/>
          <p:nvPr/>
        </p:nvSpPr>
        <p:spPr>
          <a:xfrm>
            <a:off x="952500" y="3962400"/>
            <a:ext cx="6191250" cy="161925"/>
          </a:xfrm>
          <a:prstGeom prst="rect">
            <a:avLst/>
          </a:prstGeom>
        </p:spPr>
        <p:txBody>
          <a:bodyPr wrap="none" lIns="0" tIns="0" rIns="0" bIns="0"/>
          <a:p>
            <a:pPr>
              <a:lnSpc>
                <a:spcPct val="100000"/>
              </a:lnSpc>
            </a:pPr>
            <a:r>
              <a:rPr lang="zh-CN" sz="1050" b="1">
                <a:solidFill>
                  <a:srgbClr val="E8503A"/>
                </a:solidFill>
                <a:latin typeface="微软雅黑" panose="020B0503020204020204" charset="-122"/>
                <a:ea typeface="微软雅黑" panose="020B0503020204020204" charset="-122"/>
              </a:rPr>
              <a:t>模型局限：六因子仍未完全解释</a:t>
            </a:r>
            <a:r>
              <a:rPr lang="en-US" sz="1050" b="1">
                <a:solidFill>
                  <a:srgbClr val="E8503A"/>
                </a:solidFill>
                <a:latin typeface="微软雅黑" panose="020B0503020204020204" charset="-122"/>
                <a:ea typeface="微软雅黑" panose="020B0503020204020204" charset="-122"/>
              </a:rPr>
              <a:t> A </a:t>
            </a:r>
            <a:r>
              <a:rPr lang="zh-CN" sz="1050" b="1">
                <a:solidFill>
                  <a:srgbClr val="E8503A"/>
                </a:solidFill>
                <a:latin typeface="微软雅黑" panose="020B0503020204020204" charset="-122"/>
                <a:ea typeface="微软雅黑" panose="020B0503020204020204" charset="-122"/>
              </a:rPr>
              <a:t>股</a:t>
            </a:r>
            <a:endParaRPr lang="zh-CN" sz="1050" b="1">
              <a:solidFill>
                <a:srgbClr val="E8503A"/>
              </a:solidFill>
              <a:latin typeface="微软雅黑" panose="020B0503020204020204" charset="-122"/>
              <a:ea typeface="微软雅黑" panose="020B0503020204020204" charset="-122"/>
            </a:endParaRPr>
          </a:p>
        </p:txBody>
      </p:sp>
      <p:sp>
        <p:nvSpPr>
          <p:cNvPr id="171" name="文本框 170" descr="{&quot;isTemplate&quot;:true,&quot;type&quot;:&quot;text&quot;}"/>
          <p:cNvSpPr txBox="1"/>
          <p:nvPr/>
        </p:nvSpPr>
        <p:spPr>
          <a:xfrm>
            <a:off x="952500" y="4162425"/>
            <a:ext cx="6191250" cy="447675"/>
          </a:xfrm>
          <a:prstGeom prst="rect">
            <a:avLst/>
          </a:prstGeom>
        </p:spPr>
        <p:txBody>
          <a:bodyPr wrap="square" lIns="0" tIns="0" rIns="0" bIns="0">
            <a:normAutofit/>
          </a:bodyPr>
          <a:p>
            <a:pPr>
              <a:lnSpc>
                <a:spcPct val="160000"/>
              </a:lnSpc>
            </a:pPr>
            <a:r>
              <a:rPr lang="zh-CN" sz="900">
                <a:solidFill>
                  <a:srgbClr val="1F1F1F"/>
                </a:solidFill>
                <a:latin typeface="微软雅黑" panose="020B0503020204020204" charset="-122"/>
                <a:ea typeface="微软雅黑" panose="020B0503020204020204" charset="-122"/>
              </a:rPr>
              <a:t>无论五因子还是加入动量因子的六因子模型，在</a:t>
            </a:r>
            <a:r>
              <a:rPr lang="zh-CN" sz="900" b="1">
                <a:solidFill>
                  <a:srgbClr val="1F1F1F"/>
                </a:solidFill>
                <a:latin typeface="微软雅黑" panose="020B0503020204020204" charset="-122"/>
                <a:ea typeface="微软雅黑" panose="020B0503020204020204" charset="-122"/>
              </a:rPr>
              <a:t>某些分组方式下仍无法通过</a:t>
            </a:r>
            <a:r>
              <a:rPr lang="en-US" sz="900" b="1">
                <a:solidFill>
                  <a:srgbClr val="1F1F1F"/>
                </a:solidFill>
                <a:latin typeface="微软雅黑" panose="020B0503020204020204" charset="-122"/>
                <a:ea typeface="微软雅黑" panose="020B0503020204020204" charset="-122"/>
              </a:rPr>
              <a:t> GRS </a:t>
            </a:r>
            <a:r>
              <a:rPr lang="zh-CN" sz="900" b="1">
                <a:solidFill>
                  <a:srgbClr val="1F1F1F"/>
                </a:solidFill>
                <a:latin typeface="微软雅黑" panose="020B0503020204020204" charset="-122"/>
                <a:ea typeface="微软雅黑" panose="020B0503020204020204" charset="-122"/>
              </a:rPr>
              <a:t>检验</a:t>
            </a:r>
            <a:r>
              <a:rPr lang="zh-CN" sz="900">
                <a:solidFill>
                  <a:srgbClr val="1F1F1F"/>
                </a:solidFill>
                <a:latin typeface="微软雅黑" panose="020B0503020204020204" charset="-122"/>
                <a:ea typeface="微软雅黑" panose="020B0503020204020204" charset="-122"/>
              </a:rPr>
              <a:t>（股改后样本尤为突出）→</a:t>
            </a:r>
            <a:r>
              <a:rPr lang="en-US" sz="900">
                <a:solidFill>
                  <a:srgbClr val="1F1F1F"/>
                </a:solidFill>
                <a:latin typeface="微软雅黑" panose="020B0503020204020204" charset="-122"/>
                <a:ea typeface="微软雅黑" panose="020B0503020204020204" charset="-122"/>
              </a:rPr>
              <a:t> </a:t>
            </a:r>
            <a:r>
              <a:rPr lang="zh-CN" sz="900">
                <a:solidFill>
                  <a:srgbClr val="1F1F1F"/>
                </a:solidFill>
                <a:latin typeface="微软雅黑" panose="020B0503020204020204" charset="-122"/>
                <a:ea typeface="微软雅黑" panose="020B0503020204020204" charset="-122"/>
              </a:rPr>
              <a:t>这六个因子仍不能完全解释中国股市组合平均收益率的变动，与</a:t>
            </a:r>
            <a:r>
              <a:rPr lang="en-US" sz="900">
                <a:solidFill>
                  <a:srgbClr val="1F1F1F"/>
                </a:solidFill>
                <a:latin typeface="微软雅黑" panose="020B0503020204020204" charset="-122"/>
                <a:ea typeface="微软雅黑" panose="020B0503020204020204" charset="-122"/>
              </a:rPr>
              <a:t> FF(2016) </a:t>
            </a:r>
            <a:r>
              <a:rPr lang="zh-CN" sz="900">
                <a:solidFill>
                  <a:srgbClr val="1F1F1F"/>
                </a:solidFill>
                <a:latin typeface="微软雅黑" panose="020B0503020204020204" charset="-122"/>
                <a:ea typeface="微软雅黑" panose="020B0503020204020204" charset="-122"/>
              </a:rPr>
              <a:t>对美国市场的结论一致。</a:t>
            </a:r>
            <a:endParaRPr lang="zh-CN" sz="900">
              <a:solidFill>
                <a:srgbClr val="1F1F1F"/>
              </a:solidFill>
              <a:latin typeface="微软雅黑" panose="020B0503020204020204" charset="-122"/>
              <a:ea typeface="微软雅黑" panose="020B0503020204020204" charset="-122"/>
            </a:endParaRPr>
          </a:p>
        </p:txBody>
      </p:sp>
      <p:sp>
        <p:nvSpPr>
          <p:cNvPr id="172" name="圆角矩形 171"/>
          <p:cNvSpPr/>
          <p:nvPr/>
        </p:nvSpPr>
        <p:spPr>
          <a:xfrm>
            <a:off x="762000" y="4867275"/>
            <a:ext cx="6534150" cy="695325"/>
          </a:xfrm>
          <a:prstGeom prst="roundRect">
            <a:avLst>
              <a:gd name="adj" fmla="val 13699"/>
            </a:avLst>
          </a:prstGeom>
          <a:solidFill>
            <a:srgbClr val="01A5B1"/>
          </a:solidFill>
        </p:spPr>
        <p:txBody>
          <a:bodyPr/>
          <a:p/>
        </p:txBody>
      </p:sp>
      <p:sp>
        <p:nvSpPr>
          <p:cNvPr id="173" name="圆角矩形 172"/>
          <p:cNvSpPr/>
          <p:nvPr/>
        </p:nvSpPr>
        <p:spPr>
          <a:xfrm>
            <a:off x="914400" y="5076825"/>
            <a:ext cx="285750" cy="285750"/>
          </a:xfrm>
          <a:prstGeom prst="roundRect">
            <a:avLst>
              <a:gd name="adj" fmla="val 50000"/>
            </a:avLst>
          </a:prstGeom>
          <a:solidFill>
            <a:srgbClr val="FFFFFF">
              <a:alpha val="25000"/>
            </a:srgbClr>
          </a:solidFill>
        </p:spPr>
        <p:txBody>
          <a:bodyPr/>
          <a:p/>
        </p:txBody>
      </p:sp>
      <p:sp>
        <p:nvSpPr>
          <p:cNvPr id="174" name="文本框 173" descr="{&quot;isTemplate&quot;:true,&quot;type&quot;:&quot;text&quot;}"/>
          <p:cNvSpPr txBox="1"/>
          <p:nvPr/>
        </p:nvSpPr>
        <p:spPr>
          <a:xfrm>
            <a:off x="981075" y="5124450"/>
            <a:ext cx="152400" cy="190500"/>
          </a:xfrm>
          <a:prstGeom prst="rect">
            <a:avLst/>
          </a:prstGeom>
        </p:spPr>
        <p:txBody>
          <a:bodyPr wrap="none" lIns="0" tIns="0" rIns="0" bIns="0"/>
          <a:p>
            <a:pPr>
              <a:lnSpc>
                <a:spcPct val="100000"/>
              </a:lnSpc>
            </a:pPr>
            <a:r>
              <a:rPr sz="1200" b="1">
                <a:solidFill>
                  <a:srgbClr val="FFFFFF"/>
                </a:solidFill>
                <a:latin typeface="微软雅黑" panose="020B0503020204020204" charset="-122"/>
                <a:ea typeface="微软雅黑" panose="020B0503020204020204" charset="-122"/>
              </a:rPr>
              <a:t>→</a:t>
            </a:r>
            <a:endParaRPr sz="1200" b="1">
              <a:solidFill>
                <a:srgbClr val="FFFFFF"/>
              </a:solidFill>
              <a:latin typeface="微软雅黑" panose="020B0503020204020204" charset="-122"/>
              <a:ea typeface="微软雅黑" panose="020B0503020204020204" charset="-122"/>
            </a:endParaRPr>
          </a:p>
        </p:txBody>
      </p:sp>
      <p:sp>
        <p:nvSpPr>
          <p:cNvPr id="175" name="文本框 174" descr="{&quot;isTemplate&quot;:true,&quot;type&quot;:&quot;text&quot;}"/>
          <p:cNvSpPr txBox="1"/>
          <p:nvPr/>
        </p:nvSpPr>
        <p:spPr>
          <a:xfrm>
            <a:off x="1295400" y="4991100"/>
            <a:ext cx="5848350" cy="447675"/>
          </a:xfrm>
          <a:prstGeom prst="rect">
            <a:avLst/>
          </a:prstGeom>
        </p:spPr>
        <p:txBody>
          <a:bodyPr wrap="square" lIns="0" tIns="0" rIns="0" bIns="0">
            <a:normAutofit/>
          </a:bodyPr>
          <a:p>
            <a:pPr>
              <a:lnSpc>
                <a:spcPct val="155000"/>
              </a:lnSpc>
            </a:pPr>
            <a:r>
              <a:rPr lang="zh-CN" sz="940" b="1">
                <a:solidFill>
                  <a:srgbClr val="FFFFFF"/>
                </a:solidFill>
                <a:latin typeface="微软雅黑" panose="020B0503020204020204" charset="-122"/>
                <a:ea typeface="微软雅黑" panose="020B0503020204020204" charset="-122"/>
              </a:rPr>
              <a:t>未来方向：</a:t>
            </a:r>
            <a:r>
              <a:rPr lang="zh-CN" sz="940">
                <a:solidFill>
                  <a:srgbClr val="FFFFFF"/>
                </a:solidFill>
                <a:latin typeface="微软雅黑" panose="020B0503020204020204" charset="-122"/>
                <a:ea typeface="微软雅黑" panose="020B0503020204020204" charset="-122"/>
              </a:rPr>
              <a:t>探索其他适合中国股市的定价因子与风险因子，构建更精确、更适用于</a:t>
            </a:r>
            <a:r>
              <a:rPr lang="en-US" sz="940">
                <a:solidFill>
                  <a:srgbClr val="FFFFFF"/>
                </a:solidFill>
                <a:latin typeface="微软雅黑" panose="020B0503020204020204" charset="-122"/>
                <a:ea typeface="微软雅黑" panose="020B0503020204020204" charset="-122"/>
              </a:rPr>
              <a:t> A </a:t>
            </a:r>
            <a:r>
              <a:rPr lang="zh-CN" sz="940">
                <a:solidFill>
                  <a:srgbClr val="FFFFFF"/>
                </a:solidFill>
                <a:latin typeface="微软雅黑" panose="020B0503020204020204" charset="-122"/>
                <a:ea typeface="微软雅黑" panose="020B0503020204020204" charset="-122"/>
              </a:rPr>
              <a:t>股市场的资产定价模型——对理解中国市场、提供监管依据、辅助投资实践均有重要意义。</a:t>
            </a:r>
            <a:endParaRPr lang="zh-CN" sz="940">
              <a:solidFill>
                <a:srgbClr val="FFFFFF"/>
              </a:solidFill>
              <a:latin typeface="微软雅黑" panose="020B0503020204020204" charset="-122"/>
              <a:ea typeface="微软雅黑" panose="020B0503020204020204" charset="-122"/>
            </a:endParaRPr>
          </a:p>
        </p:txBody>
      </p:sp>
      <p:sp>
        <p:nvSpPr>
          <p:cNvPr id="176" name="矩形 175"/>
          <p:cNvSpPr/>
          <p:nvPr/>
        </p:nvSpPr>
        <p:spPr>
          <a:xfrm>
            <a:off x="7591425" y="1219200"/>
            <a:ext cx="3771900" cy="4705350"/>
          </a:xfrm>
          <a:prstGeom prst="rect">
            <a:avLst/>
          </a:prstGeom>
          <a:ln w="12700">
            <a:solidFill>
              <a:srgbClr val="E0E0E0"/>
            </a:solidFill>
            <a:prstDash val="solid"/>
          </a:ln>
        </p:spPr>
        <p:txBody>
          <a:bodyPr/>
          <a:p/>
        </p:txBody>
      </p:sp>
      <p:pic>
        <p:nvPicPr>
          <p:cNvPr id="177" name="图片 176"/>
          <p:cNvPicPr>
            <a:picLocks noChangeAspect="1"/>
          </p:cNvPicPr>
          <p:nvPr/>
        </p:nvPicPr>
        <p:blipFill>
          <a:blip r:embed="rId2"/>
          <a:srcRect l="20" r="20"/>
          <a:stretch>
            <a:fillRect/>
          </a:stretch>
        </p:blipFill>
        <p:spPr>
          <a:xfrm>
            <a:off x="7591425" y="1219200"/>
            <a:ext cx="3771900" cy="4705350"/>
          </a:xfrm>
          <a:prstGeom prst="roundRect">
            <a:avLst>
              <a:gd name="adj" fmla="val 1010"/>
            </a:avLst>
          </a:prstGeom>
          <a:effectLst>
            <a:outerShdw blurRad="95250" dist="19050" dir="5400000">
              <a:srgbClr val="000000">
                <a:alpha val="8000"/>
              </a:srgbClr>
            </a:outerShdw>
          </a:effectLst>
        </p:spPr>
      </p:pic>
      <p:sp>
        <p:nvSpPr>
          <p:cNvPr id="178" name="文本框 177" descr="{&quot;isTemplate&quot;:true,&quot;type&quot;:&quot;text&quot;}"/>
          <p:cNvSpPr txBox="1"/>
          <p:nvPr/>
        </p:nvSpPr>
        <p:spPr>
          <a:xfrm>
            <a:off x="8372475" y="6000750"/>
            <a:ext cx="2209800" cy="123825"/>
          </a:xfrm>
          <a:prstGeom prst="rect">
            <a:avLst/>
          </a:prstGeom>
        </p:spPr>
        <p:txBody>
          <a:bodyPr wrap="none" lIns="0" tIns="0" rIns="0" bIns="0"/>
          <a:p>
            <a:pPr>
              <a:lnSpc>
                <a:spcPct val="100000"/>
              </a:lnSpc>
            </a:pPr>
            <a:r>
              <a:rPr lang="zh-CN" sz="790">
                <a:solidFill>
                  <a:srgbClr val="8A8A8A"/>
                </a:solidFill>
                <a:latin typeface="微软雅黑" panose="020B0503020204020204" charset="-122"/>
                <a:ea typeface="微软雅黑" panose="020B0503020204020204" charset="-122"/>
              </a:rPr>
              <a:t>原论文截图</a:t>
            </a:r>
            <a:r>
              <a:rPr lang="en-US" sz="790">
                <a:solidFill>
                  <a:srgbClr val="8A8A8A"/>
                </a:solidFill>
                <a:latin typeface="微软雅黑" panose="020B0503020204020204" charset="-122"/>
                <a:ea typeface="微软雅黑" panose="020B0503020204020204" charset="-122"/>
              </a:rPr>
              <a:t> · </a:t>
            </a:r>
            <a:r>
              <a:rPr lang="zh-CN" sz="790">
                <a:solidFill>
                  <a:srgbClr val="8A8A8A"/>
                </a:solidFill>
                <a:latin typeface="微软雅黑" panose="020B0503020204020204" charset="-122"/>
                <a:ea typeface="微软雅黑" panose="020B0503020204020204" charset="-122"/>
              </a:rPr>
              <a:t>结论续页与脚注</a:t>
            </a:r>
            <a:r>
              <a:rPr lang="en-US" sz="790">
                <a:solidFill>
                  <a:srgbClr val="8A8A8A"/>
                </a:solidFill>
                <a:latin typeface="微软雅黑" panose="020B0503020204020204" charset="-122"/>
                <a:ea typeface="微软雅黑" panose="020B0503020204020204" charset="-122"/>
              </a:rPr>
              <a:t>12</a:t>
            </a:r>
            <a:r>
              <a:rPr lang="zh-CN" sz="790">
                <a:solidFill>
                  <a:srgbClr val="8A8A8A"/>
                </a:solidFill>
                <a:latin typeface="微软雅黑" panose="020B0503020204020204" charset="-122"/>
                <a:ea typeface="微软雅黑" panose="020B0503020204020204" charset="-122"/>
              </a:rPr>
              <a:t>（第</a:t>
            </a:r>
            <a:r>
              <a:rPr lang="en-US" sz="790">
                <a:solidFill>
                  <a:srgbClr val="8A8A8A"/>
                </a:solidFill>
                <a:latin typeface="微软雅黑" panose="020B0503020204020204" charset="-122"/>
                <a:ea typeface="微软雅黑" panose="020B0503020204020204" charset="-122"/>
              </a:rPr>
              <a:t>204–205</a:t>
            </a:r>
            <a:r>
              <a:rPr lang="zh-CN" sz="790">
                <a:solidFill>
                  <a:srgbClr val="8A8A8A"/>
                </a:solidFill>
                <a:latin typeface="微软雅黑" panose="020B0503020204020204" charset="-122"/>
                <a:ea typeface="微软雅黑" panose="020B0503020204020204" charset="-122"/>
              </a:rPr>
              <a:t>页）</a:t>
            </a:r>
            <a:endParaRPr lang="zh-CN" sz="790">
              <a:solidFill>
                <a:srgbClr val="8A8A8A"/>
              </a:solidFill>
              <a:latin typeface="微软雅黑" panose="020B0503020204020204" charset="-122"/>
              <a:ea typeface="微软雅黑" panose="020B0503020204020204" charset="-122"/>
            </a:endParaRPr>
          </a:p>
        </p:txBody>
      </p:sp>
      <p:sp>
        <p:nvSpPr>
          <p:cNvPr id="179" name="Rectangle 178"/>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82" name="TextBox 181"/>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183" name="TextBox 182"/>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84" name="TextBox 183"/>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85" name="TextBox 184"/>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86" name="TextBox 185"/>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87" name="Rectangle 186"/>
          <p:cNvSpPr/>
          <p:nvPr/>
        </p:nvSpPr>
        <p:spPr>
          <a:xfrm>
            <a:off x="9144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9189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结论与反思</a:t>
            </a:r>
          </a:p>
        </p:txBody>
      </p:sp>
      <p:sp>
        <p:nvSpPr>
          <p:cNvPr id="189" name="TextBox 188"/>
          <p:cNvSpPr txBox="1"/>
          <p:nvPr/>
        </p:nvSpPr>
        <p:spPr>
          <a:xfrm>
            <a:off x="1071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方法论与SOP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161288" y="2340864"/>
            <a:ext cx="1984248" cy="1984248"/>
          </a:xfrm>
          <a:prstGeom prst="rect">
            <a:avLst/>
          </a:prstGeom>
          <a:no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61288" y="2340864"/>
            <a:ext cx="1984248" cy="1984248"/>
          </a:xfrm>
          <a:prstGeom prst="rect">
            <a:avLst/>
          </a:prstGeom>
          <a:noFill/>
        </p:spPr>
        <p:txBody>
          <a:bodyPr wrap="square" anchor="ctr" lIns="0" rIns="0" tIns="0" bIns="0">
            <a:spAutoFit/>
          </a:bodyPr>
          <a:lstStyle/>
          <a:p>
            <a:pPr algn="ctr">
              <a:lnSpc>
                <a:spcPct val="125000"/>
              </a:lnSpc>
            </a:pPr>
            <a:r>
              <a:rPr sz="5400" b="1">
                <a:solidFill>
                  <a:srgbClr val="FFFFFF"/>
                </a:solidFill>
                <a:latin typeface="微软雅黑"/>
                <a:ea typeface="微软雅黑"/>
              </a:rPr>
              <a:t>07</a:t>
            </a:r>
          </a:p>
        </p:txBody>
      </p:sp>
      <p:sp>
        <p:nvSpPr>
          <p:cNvPr id="5" name="TextBox 4"/>
          <p:cNvSpPr txBox="1"/>
          <p:nvPr/>
        </p:nvSpPr>
        <p:spPr>
          <a:xfrm>
            <a:off x="4151376" y="2724912"/>
            <a:ext cx="7223760" cy="822960"/>
          </a:xfrm>
          <a:prstGeom prst="rect">
            <a:avLst/>
          </a:prstGeom>
          <a:noFill/>
        </p:spPr>
        <p:txBody>
          <a:bodyPr wrap="square" anchor="t" lIns="0" rIns="0" tIns="0" bIns="0">
            <a:spAutoFit/>
          </a:bodyPr>
          <a:lstStyle/>
          <a:p>
            <a:pPr algn="l">
              <a:lnSpc>
                <a:spcPct val="125000"/>
              </a:lnSpc>
            </a:pPr>
            <a:r>
              <a:rPr sz="3400" b="1">
                <a:solidFill>
                  <a:srgbClr val="1F1F1F"/>
                </a:solidFill>
                <a:latin typeface="微软雅黑"/>
                <a:ea typeface="微软雅黑"/>
              </a:rPr>
              <a:t>方法论提炼与论文 SOP</a:t>
            </a:r>
          </a:p>
        </p:txBody>
      </p:sp>
      <p:sp>
        <p:nvSpPr>
          <p:cNvPr id="6" name="Rectangle 5"/>
          <p:cNvSpPr/>
          <p:nvPr/>
        </p:nvSpPr>
        <p:spPr>
          <a:xfrm>
            <a:off x="4151376" y="3639312"/>
            <a:ext cx="841248" cy="54864"/>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51376" y="3913632"/>
            <a:ext cx="7040880" cy="1188720"/>
          </a:xfrm>
          <a:prstGeom prst="rect">
            <a:avLst/>
          </a:prstGeom>
          <a:noFill/>
        </p:spPr>
        <p:txBody>
          <a:bodyPr wrap="square" anchor="t" lIns="0" rIns="0" tIns="0" bIns="0">
            <a:spAutoFit/>
          </a:bodyPr>
          <a:lstStyle/>
          <a:p>
            <a:pPr algn="l">
              <a:lnSpc>
                <a:spcPct val="125000"/>
              </a:lnSpc>
            </a:pPr>
            <a:r>
              <a:rPr sz="1500" b="0">
                <a:solidFill>
                  <a:srgbClr val="5A5A5A"/>
                </a:solidFill>
                <a:latin typeface="微软雅黑"/>
                <a:ea typeface="微软雅黑"/>
              </a:rPr>
              <a:t>把文献拆解的产出沉淀为团队资产：三维结构法逆向拆解</a:t>
            </a:r>
          </a:p>
          <a:p>
            <a:pPr algn="l">
              <a:lnSpc>
                <a:spcPct val="125000"/>
              </a:lnSpc>
            </a:pPr>
            <a:r>
              <a:rPr sz="1500" b="0">
                <a:solidFill>
                  <a:srgbClr val="5A5A5A"/>
                </a:solidFill>
                <a:latin typeface="微软雅黑"/>
                <a:ea typeface="微软雅黑"/>
              </a:rPr>
              <a:t>的方法论，以及从检索到归档的六步论文 SOP 标准操作流程。</a:t>
            </a:r>
          </a:p>
        </p:txBody>
      </p:sp>
      <p:sp>
        <p:nvSpPr>
          <p:cNvPr id="8" name="Rectangle 7"/>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1" name="TextBox 10"/>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12" name="TextBox 11"/>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3" name="TextBox 12"/>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4" name="TextBox 13"/>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5" name="TextBox 14"/>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16" name="TextBox 15"/>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17" name="Rectangle 16"/>
          <p:cNvSpPr/>
          <p:nvPr/>
        </p:nvSpPr>
        <p:spPr>
          <a:xfrm>
            <a:off x="1066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1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方法论与SOP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56032"/>
            <a:ext cx="10607040" cy="548640"/>
          </a:xfrm>
          <a:prstGeom prst="rect">
            <a:avLst/>
          </a:prstGeom>
          <a:noFill/>
        </p:spPr>
        <p:txBody>
          <a:bodyPr wrap="square" anchor="t" lIns="0" rIns="0" tIns="0" bIns="0">
            <a:spAutoFit/>
          </a:bodyPr>
          <a:lstStyle/>
          <a:p>
            <a:pPr algn="l">
              <a:lnSpc>
                <a:spcPct val="125000"/>
              </a:lnSpc>
            </a:pPr>
            <a:r>
              <a:rPr sz="2200" b="1">
                <a:solidFill>
                  <a:srgbClr val="1F1F1F"/>
                </a:solidFill>
                <a:latin typeface="微软雅黑"/>
                <a:ea typeface="微软雅黑"/>
              </a:rPr>
              <a:t>7.1 团队方法论：三维结构法逆向拆解</a:t>
            </a:r>
          </a:p>
        </p:txBody>
      </p:sp>
      <p:sp>
        <p:nvSpPr>
          <p:cNvPr id="4" name="Rectangle 3"/>
          <p:cNvSpPr/>
          <p:nvPr/>
        </p:nvSpPr>
        <p:spPr>
          <a:xfrm>
            <a:off x="512064" y="896112"/>
            <a:ext cx="11173968" cy="1481328"/>
          </a:xfrm>
          <a:prstGeom prst="rect">
            <a:avLst/>
          </a:prstGeom>
          <a:solidFill>
            <a:srgbClr val="F5FBFB"/>
          </a:solidFill>
          <a:ln w="12700">
            <a:solidFill>
              <a:srgbClr val="DD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64" y="896112"/>
            <a:ext cx="1188720" cy="148132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896112"/>
            <a:ext cx="1115568" cy="1481328"/>
          </a:xfrm>
          <a:prstGeom prst="rect">
            <a:avLst/>
          </a:prstGeom>
          <a:noFill/>
        </p:spPr>
        <p:txBody>
          <a:bodyPr wrap="square" anchor="ctr" lIns="0" rIns="0" tIns="0" bIns="0">
            <a:spAutoFit/>
          </a:bodyPr>
          <a:lstStyle/>
          <a:p>
            <a:pPr algn="ctr">
              <a:lnSpc>
                <a:spcPct val="125000"/>
              </a:lnSpc>
            </a:pPr>
            <a:r>
              <a:rPr sz="1400" b="1">
                <a:solidFill>
                  <a:srgbClr val="FFFFFF"/>
                </a:solidFill>
                <a:latin typeface="微软雅黑"/>
                <a:ea typeface="微软雅黑"/>
              </a:rPr>
              <a:t>步骤一</a:t>
            </a:r>
          </a:p>
        </p:txBody>
      </p:sp>
      <p:sp>
        <p:nvSpPr>
          <p:cNvPr id="7" name="TextBox 6"/>
          <p:cNvSpPr txBox="1"/>
          <p:nvPr/>
        </p:nvSpPr>
        <p:spPr>
          <a:xfrm>
            <a:off x="1847088" y="987552"/>
            <a:ext cx="9646920" cy="1325880"/>
          </a:xfrm>
          <a:prstGeom prst="rect">
            <a:avLst/>
          </a:prstGeom>
          <a:noFill/>
        </p:spPr>
        <p:txBody>
          <a:bodyPr wrap="square" anchor="t" lIns="0" rIns="0" tIns="0" bIns="0">
            <a:spAutoFit/>
          </a:bodyPr>
          <a:lstStyle/>
          <a:p>
            <a:pPr algn="l">
              <a:lnSpc>
                <a:spcPct val="125000"/>
              </a:lnSpc>
            </a:pPr>
            <a:r>
              <a:rPr sz="1450" b="1">
                <a:solidFill>
                  <a:srgbClr val="0B7C86"/>
                </a:solidFill>
                <a:latin typeface="微软雅黑"/>
                <a:ea typeface="微软雅黑"/>
              </a:rPr>
              <a:t>Trace the line · 摸清学术家谱</a:t>
            </a:r>
          </a:p>
          <a:p>
            <a:pPr algn="l">
              <a:lnSpc>
                <a:spcPct val="125000"/>
              </a:lnSpc>
            </a:pPr>
            <a:r>
              <a:rPr sz="1250" b="0">
                <a:solidFill>
                  <a:srgbClr val="444444"/>
                </a:solidFill>
                <a:latin typeface="微软雅黑"/>
                <a:ea typeface="微软雅黑"/>
              </a:rPr>
              <a:t>不读公式先拉时间轴：到 GitHub / Papers with Code 把细分赛道近 3 年的进化链条拉出来，看原作者遇到了什么瓶颈、后来者用什么组件查漏补缺——看懂进化套路，选题就成功了一半。</a:t>
            </a:r>
          </a:p>
          <a:p>
            <a:pPr algn="l">
              <a:lnSpc>
                <a:spcPct val="125000"/>
              </a:lnSpc>
            </a:pPr>
            <a:r>
              <a:rPr sz="1200" b="0">
                <a:solidFill>
                  <a:srgbClr val="777777"/>
                </a:solidFill>
                <a:latin typeface="微软雅黑"/>
                <a:ea typeface="微软雅黑"/>
              </a:rPr>
              <a:t>本篇实操：画出母模型主线＋本土支线双行家谱，锁定三条裂缝——体系内 CMA 被判冗余、同市场三种相反结论、体系外 LSY 指出壳污染与 E/P 口径。</a:t>
            </a:r>
          </a:p>
        </p:txBody>
      </p:sp>
      <p:sp>
        <p:nvSpPr>
          <p:cNvPr id="8" name="Rectangle 7"/>
          <p:cNvSpPr/>
          <p:nvPr/>
        </p:nvSpPr>
        <p:spPr>
          <a:xfrm>
            <a:off x="512064" y="2487168"/>
            <a:ext cx="11173968" cy="1481328"/>
          </a:xfrm>
          <a:prstGeom prst="rect">
            <a:avLst/>
          </a:prstGeom>
          <a:solidFill>
            <a:srgbClr val="F5FBFB"/>
          </a:solidFill>
          <a:ln w="12700">
            <a:solidFill>
              <a:srgbClr val="DD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2064" y="2487168"/>
            <a:ext cx="1188720" cy="148132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87168"/>
            <a:ext cx="1115568" cy="1481328"/>
          </a:xfrm>
          <a:prstGeom prst="rect">
            <a:avLst/>
          </a:prstGeom>
          <a:noFill/>
        </p:spPr>
        <p:txBody>
          <a:bodyPr wrap="square" anchor="ctr" lIns="0" rIns="0" tIns="0" bIns="0">
            <a:spAutoFit/>
          </a:bodyPr>
          <a:lstStyle/>
          <a:p>
            <a:pPr algn="ctr">
              <a:lnSpc>
                <a:spcPct val="125000"/>
              </a:lnSpc>
            </a:pPr>
            <a:r>
              <a:rPr sz="1400" b="1">
                <a:solidFill>
                  <a:srgbClr val="FFFFFF"/>
                </a:solidFill>
                <a:latin typeface="微软雅黑"/>
                <a:ea typeface="微软雅黑"/>
              </a:rPr>
              <a:t>步骤二</a:t>
            </a:r>
          </a:p>
        </p:txBody>
      </p:sp>
      <p:sp>
        <p:nvSpPr>
          <p:cNvPr id="11" name="TextBox 10"/>
          <p:cNvSpPr txBox="1"/>
          <p:nvPr/>
        </p:nvSpPr>
        <p:spPr>
          <a:xfrm>
            <a:off x="1847088" y="2578608"/>
            <a:ext cx="9646920" cy="1325880"/>
          </a:xfrm>
          <a:prstGeom prst="rect">
            <a:avLst/>
          </a:prstGeom>
          <a:noFill/>
        </p:spPr>
        <p:txBody>
          <a:bodyPr wrap="square" anchor="t" lIns="0" rIns="0" tIns="0" bIns="0">
            <a:spAutoFit/>
          </a:bodyPr>
          <a:lstStyle/>
          <a:p>
            <a:pPr algn="l">
              <a:lnSpc>
                <a:spcPct val="125000"/>
              </a:lnSpc>
            </a:pPr>
            <a:r>
              <a:rPr sz="1450" b="1">
                <a:solidFill>
                  <a:srgbClr val="0B7C86"/>
                </a:solidFill>
                <a:latin typeface="微软雅黑"/>
                <a:ea typeface="微软雅黑"/>
              </a:rPr>
              <a:t>Extract narrative · 提取高阶语料</a:t>
            </a:r>
          </a:p>
          <a:p>
            <a:pPr algn="l">
              <a:lnSpc>
                <a:spcPct val="125000"/>
              </a:lnSpc>
            </a:pPr>
            <a:r>
              <a:rPr sz="1250" b="0">
                <a:solidFill>
                  <a:srgbClr val="444444"/>
                </a:solidFill>
                <a:latin typeface="微软雅黑"/>
                <a:ea typeface="微软雅黑"/>
              </a:rPr>
              <a:t>高级转折句、精妙因果推导、把魔改代码包装成经典数学框架的描述，直接标黄摘录——这就是未来的专属语料库，写论文时不必憋初级简单句。</a:t>
            </a:r>
          </a:p>
          <a:p>
            <a:pPr algn="l">
              <a:lnSpc>
                <a:spcPct val="125000"/>
              </a:lnSpc>
            </a:pPr>
            <a:r>
              <a:rPr sz="1200" b="0">
                <a:solidFill>
                  <a:srgbClr val="777777"/>
                </a:solidFill>
                <a:latin typeface="微软雅黑"/>
                <a:ea typeface="微软雅黑"/>
              </a:rPr>
              <a:t>本篇实操：摘录五类语料，含 P205 结论段「某些分组下仍无法通过 GRS 检验」的自我设限句——作者亲手留下的空白任务单。</a:t>
            </a:r>
          </a:p>
        </p:txBody>
      </p:sp>
      <p:sp>
        <p:nvSpPr>
          <p:cNvPr id="12" name="Rectangle 11"/>
          <p:cNvSpPr/>
          <p:nvPr/>
        </p:nvSpPr>
        <p:spPr>
          <a:xfrm>
            <a:off x="512064" y="4078224"/>
            <a:ext cx="11173968" cy="1481328"/>
          </a:xfrm>
          <a:prstGeom prst="rect">
            <a:avLst/>
          </a:prstGeom>
          <a:solidFill>
            <a:srgbClr val="F5FBFB"/>
          </a:solidFill>
          <a:ln w="12700">
            <a:solidFill>
              <a:srgbClr val="DD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2064" y="4078224"/>
            <a:ext cx="1188720" cy="148132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078224"/>
            <a:ext cx="1115568" cy="1481328"/>
          </a:xfrm>
          <a:prstGeom prst="rect">
            <a:avLst/>
          </a:prstGeom>
          <a:noFill/>
        </p:spPr>
        <p:txBody>
          <a:bodyPr wrap="square" anchor="ctr" lIns="0" rIns="0" tIns="0" bIns="0">
            <a:spAutoFit/>
          </a:bodyPr>
          <a:lstStyle/>
          <a:p>
            <a:pPr algn="ctr">
              <a:lnSpc>
                <a:spcPct val="125000"/>
              </a:lnSpc>
            </a:pPr>
            <a:r>
              <a:rPr sz="1400" b="1">
                <a:solidFill>
                  <a:srgbClr val="FFFFFF"/>
                </a:solidFill>
                <a:latin typeface="微软雅黑"/>
                <a:ea typeface="微软雅黑"/>
              </a:rPr>
              <a:t>步骤三</a:t>
            </a:r>
          </a:p>
        </p:txBody>
      </p:sp>
      <p:sp>
        <p:nvSpPr>
          <p:cNvPr id="15" name="TextBox 14"/>
          <p:cNvSpPr txBox="1"/>
          <p:nvPr/>
        </p:nvSpPr>
        <p:spPr>
          <a:xfrm>
            <a:off x="1847088" y="4169663"/>
            <a:ext cx="9646920" cy="1325880"/>
          </a:xfrm>
          <a:prstGeom prst="rect">
            <a:avLst/>
          </a:prstGeom>
          <a:noFill/>
        </p:spPr>
        <p:txBody>
          <a:bodyPr wrap="square" anchor="t" lIns="0" rIns="0" tIns="0" bIns="0">
            <a:spAutoFit/>
          </a:bodyPr>
          <a:lstStyle/>
          <a:p>
            <a:pPr algn="l">
              <a:lnSpc>
                <a:spcPct val="125000"/>
              </a:lnSpc>
            </a:pPr>
            <a:r>
              <a:rPr sz="1450" b="1">
                <a:solidFill>
                  <a:srgbClr val="0B7C86"/>
                </a:solidFill>
                <a:latin typeface="微软雅黑"/>
                <a:ea typeface="微软雅黑"/>
              </a:rPr>
              <a:t>Run the code · 跑通灵魂代码</a:t>
            </a:r>
          </a:p>
          <a:p>
            <a:pPr algn="l">
              <a:lnSpc>
                <a:spcPct val="125000"/>
              </a:lnSpc>
            </a:pPr>
            <a:r>
              <a:rPr sz="1250" b="0">
                <a:solidFill>
                  <a:srgbClr val="444444"/>
                </a:solidFill>
                <a:latin typeface="微软雅黑"/>
                <a:ea typeface="微软雅黑"/>
              </a:rPr>
              <a:t>克隆开源仓库、逐行精简写注释：公式与代码之间的实现 Gap，往往就是发高分 SCI 的最佳创新点——这是最关键、最拉开差距的一步。</a:t>
            </a:r>
          </a:p>
          <a:p>
            <a:pPr algn="l">
              <a:lnSpc>
                <a:spcPct val="125000"/>
              </a:lnSpc>
            </a:pPr>
            <a:r>
              <a:rPr sz="1200" b="0">
                <a:solidFill>
                  <a:srgbClr val="777777"/>
                </a:solidFill>
                <a:latin typeface="微软雅黑"/>
                <a:ea typeface="微软雅黑"/>
              </a:rPr>
              <a:t>本篇实操：复现骨架跑通「2×3 分组 → GRS 检验 → 邹至庄断点检验」全链路，产出 8 条可立项的 Gap 清单。</a:t>
            </a:r>
          </a:p>
        </p:txBody>
      </p:sp>
      <p:sp>
        <p:nvSpPr>
          <p:cNvPr id="16" name="Rectangle 15"/>
          <p:cNvSpPr/>
          <p:nvPr/>
        </p:nvSpPr>
        <p:spPr>
          <a:xfrm>
            <a:off x="512064" y="5687568"/>
            <a:ext cx="11173968" cy="658368"/>
          </a:xfrm>
          <a:prstGeom prst="rect">
            <a:avLst/>
          </a:prstGeom>
          <a:solidFill>
            <a:srgbClr val="FF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2064" y="5687568"/>
            <a:ext cx="54864" cy="658368"/>
          </a:xfrm>
          <a:prstGeom prst="rect">
            <a:avLst/>
          </a:prstGeom>
          <a:solidFill>
            <a:srgbClr val="D89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5687568"/>
            <a:ext cx="10789920" cy="658368"/>
          </a:xfrm>
          <a:prstGeom prst="rect">
            <a:avLst/>
          </a:prstGeom>
          <a:noFill/>
        </p:spPr>
        <p:txBody>
          <a:bodyPr wrap="square" anchor="ctr" lIns="0" rIns="0" tIns="0" bIns="0">
            <a:spAutoFit/>
          </a:bodyPr>
          <a:lstStyle/>
          <a:p>
            <a:pPr algn="l">
              <a:lnSpc>
                <a:spcPct val="125000"/>
              </a:lnSpc>
            </a:pPr>
            <a:r>
              <a:rPr sz="1400" b="1">
                <a:solidFill>
                  <a:srgbClr val="9A6A12"/>
                </a:solidFill>
                <a:latin typeface="微软雅黑"/>
                <a:ea typeface="微软雅黑"/>
              </a:rPr>
              <a:t>读文献的产出不是一个「理解」，而是一个「选题」——三维结构法把每一篇论文都变成下一步研究的入口。</a:t>
            </a:r>
          </a:p>
        </p:txBody>
      </p:sp>
      <p:sp>
        <p:nvSpPr>
          <p:cNvPr id="19" name="Rectangle 18"/>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22" name="TextBox 21"/>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23" name="TextBox 22"/>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24" name="TextBox 23"/>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25" name="TextBox 24"/>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26" name="TextBox 25"/>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27" name="TextBox 26"/>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28" name="Rectangle 27"/>
          <p:cNvSpPr/>
          <p:nvPr/>
        </p:nvSpPr>
        <p:spPr>
          <a:xfrm>
            <a:off x="1066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1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方法论与SOP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56032"/>
            <a:ext cx="10607040" cy="548640"/>
          </a:xfrm>
          <a:prstGeom prst="rect">
            <a:avLst/>
          </a:prstGeom>
          <a:noFill/>
        </p:spPr>
        <p:txBody>
          <a:bodyPr wrap="square" anchor="t" lIns="0" rIns="0" tIns="0" bIns="0">
            <a:spAutoFit/>
          </a:bodyPr>
          <a:lstStyle/>
          <a:p>
            <a:pPr algn="l">
              <a:lnSpc>
                <a:spcPct val="125000"/>
              </a:lnSpc>
            </a:pPr>
            <a:r>
              <a:rPr sz="2200" b="1">
                <a:solidFill>
                  <a:srgbClr val="1F1F1F"/>
                </a:solidFill>
                <a:latin typeface="微软雅黑"/>
                <a:ea typeface="微软雅黑"/>
              </a:rPr>
              <a:t>7.2 论文 SOP：从检索到归档的六步标准操作流程</a:t>
            </a:r>
          </a:p>
        </p:txBody>
      </p:sp>
      <p:sp>
        <p:nvSpPr>
          <p:cNvPr id="4" name="Rectangle 3"/>
          <p:cNvSpPr/>
          <p:nvPr/>
        </p:nvSpPr>
        <p:spPr>
          <a:xfrm>
            <a:off x="512064" y="914400"/>
            <a:ext cx="3639312" cy="1920240"/>
          </a:xfrm>
          <a:prstGeom prst="rect">
            <a:avLst/>
          </a:prstGeom>
          <a:solidFill>
            <a:srgbClr val="FFFFFF"/>
          </a:solidFill>
          <a:ln w="1270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64" y="914400"/>
            <a:ext cx="3639312" cy="91440"/>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115568"/>
            <a:ext cx="3346704" cy="1645920"/>
          </a:xfrm>
          <a:prstGeom prst="rect">
            <a:avLst/>
          </a:prstGeom>
          <a:noFill/>
        </p:spPr>
        <p:txBody>
          <a:bodyPr wrap="square" anchor="t" lIns="0" rIns="0" tIns="0" bIns="0">
            <a:spAutoFit/>
          </a:bodyPr>
          <a:lstStyle/>
          <a:p>
            <a:pPr algn="l">
              <a:lnSpc>
                <a:spcPct val="125000"/>
              </a:lnSpc>
            </a:pPr>
            <a:r>
              <a:rPr sz="1500" b="1">
                <a:solidFill>
                  <a:srgbClr val="0B7C86"/>
                </a:solidFill>
                <a:latin typeface="微软雅黑"/>
                <a:ea typeface="微软雅黑"/>
              </a:rPr>
              <a:t>01　检索定篇</a:t>
            </a:r>
          </a:p>
          <a:p>
            <a:pPr algn="l">
              <a:lnSpc>
                <a:spcPct val="125000"/>
              </a:lnSpc>
            </a:pPr>
            <a:r>
              <a:rPr sz="1200" b="0">
                <a:solidFill>
                  <a:srgbClr val="444444"/>
                </a:solidFill>
                <a:latin typeface="微软雅黑"/>
                <a:ea typeface="微软雅黑"/>
              </a:rPr>
              <a:t>知网专业检索 LY='金融研究' AND SU='因子'，共 105 条；按被引量降序锁定精读对象（本文被引 1036、下载 27287）。</a:t>
            </a:r>
          </a:p>
        </p:txBody>
      </p:sp>
      <p:sp>
        <p:nvSpPr>
          <p:cNvPr id="7" name="Rectangle 6"/>
          <p:cNvSpPr/>
          <p:nvPr/>
        </p:nvSpPr>
        <p:spPr>
          <a:xfrm>
            <a:off x="4434840" y="914400"/>
            <a:ext cx="3639312" cy="1920240"/>
          </a:xfrm>
          <a:prstGeom prst="rect">
            <a:avLst/>
          </a:prstGeom>
          <a:solidFill>
            <a:srgbClr val="FFFFFF"/>
          </a:solidFill>
          <a:ln w="1270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34840" y="914400"/>
            <a:ext cx="3639312" cy="91440"/>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81144" y="1115568"/>
            <a:ext cx="3346704" cy="1645920"/>
          </a:xfrm>
          <a:prstGeom prst="rect">
            <a:avLst/>
          </a:prstGeom>
          <a:noFill/>
        </p:spPr>
        <p:txBody>
          <a:bodyPr wrap="square" anchor="t" lIns="0" rIns="0" tIns="0" bIns="0">
            <a:spAutoFit/>
          </a:bodyPr>
          <a:lstStyle/>
          <a:p>
            <a:pPr algn="l">
              <a:lnSpc>
                <a:spcPct val="125000"/>
              </a:lnSpc>
            </a:pPr>
            <a:r>
              <a:rPr sz="1500" b="1">
                <a:solidFill>
                  <a:srgbClr val="0B7C86"/>
                </a:solidFill>
                <a:latin typeface="微软雅黑"/>
                <a:ea typeface="微软雅黑"/>
              </a:rPr>
              <a:t>02　三维拆解</a:t>
            </a:r>
          </a:p>
          <a:p>
            <a:pPr algn="l">
              <a:lnSpc>
                <a:spcPct val="125000"/>
              </a:lnSpc>
            </a:pPr>
            <a:r>
              <a:rPr sz="1200" b="0">
                <a:solidFill>
                  <a:srgbClr val="444444"/>
                </a:solidFill>
                <a:latin typeface="微软雅黑"/>
                <a:ea typeface="微软雅黑"/>
              </a:rPr>
              <a:t>家谱 → 语料 → 代码三步走，产出三份中间产物：裂缝清单、专属语料库、Gap 清单。</a:t>
            </a:r>
          </a:p>
        </p:txBody>
      </p:sp>
      <p:sp>
        <p:nvSpPr>
          <p:cNvPr id="10" name="Rectangle 9"/>
          <p:cNvSpPr/>
          <p:nvPr/>
        </p:nvSpPr>
        <p:spPr>
          <a:xfrm>
            <a:off x="8357616" y="914400"/>
            <a:ext cx="3639312" cy="1920240"/>
          </a:xfrm>
          <a:prstGeom prst="rect">
            <a:avLst/>
          </a:prstGeom>
          <a:solidFill>
            <a:srgbClr val="FFFFFF"/>
          </a:solidFill>
          <a:ln w="1270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357616" y="914400"/>
            <a:ext cx="3639312" cy="91440"/>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1115568"/>
            <a:ext cx="3346704" cy="1645920"/>
          </a:xfrm>
          <a:prstGeom prst="rect">
            <a:avLst/>
          </a:prstGeom>
          <a:noFill/>
        </p:spPr>
        <p:txBody>
          <a:bodyPr wrap="square" anchor="t" lIns="0" rIns="0" tIns="0" bIns="0">
            <a:spAutoFit/>
          </a:bodyPr>
          <a:lstStyle/>
          <a:p>
            <a:pPr algn="l">
              <a:lnSpc>
                <a:spcPct val="125000"/>
              </a:lnSpc>
            </a:pPr>
            <a:r>
              <a:rPr sz="1500" b="1">
                <a:solidFill>
                  <a:srgbClr val="0B7C86"/>
                </a:solidFill>
                <a:latin typeface="微软雅黑"/>
                <a:ea typeface="微软雅黑"/>
              </a:rPr>
              <a:t>03　选题立项</a:t>
            </a:r>
          </a:p>
          <a:p>
            <a:pPr algn="l">
              <a:lnSpc>
                <a:spcPct val="125000"/>
              </a:lnSpc>
            </a:pPr>
            <a:r>
              <a:rPr sz="1200" b="0">
                <a:solidFill>
                  <a:srgbClr val="444444"/>
                </a:solidFill>
                <a:latin typeface="微软雅黑"/>
                <a:ea typeface="微软雅黑"/>
              </a:rPr>
              <a:t>从 Gap 中筛「前人没做但可证伪」的改写方向：如壳污染修正口径、E/P 替代 B/M、未知断点扫描。</a:t>
            </a:r>
          </a:p>
        </p:txBody>
      </p:sp>
      <p:sp>
        <p:nvSpPr>
          <p:cNvPr id="13" name="Rectangle 12"/>
          <p:cNvSpPr/>
          <p:nvPr/>
        </p:nvSpPr>
        <p:spPr>
          <a:xfrm>
            <a:off x="512064" y="2999232"/>
            <a:ext cx="3639312" cy="1920240"/>
          </a:xfrm>
          <a:prstGeom prst="rect">
            <a:avLst/>
          </a:prstGeom>
          <a:solidFill>
            <a:srgbClr val="FFFFFF"/>
          </a:solidFill>
          <a:ln w="1270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2064" y="2999232"/>
            <a:ext cx="3639312" cy="91440"/>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200400"/>
            <a:ext cx="3346704" cy="1645920"/>
          </a:xfrm>
          <a:prstGeom prst="rect">
            <a:avLst/>
          </a:prstGeom>
          <a:noFill/>
        </p:spPr>
        <p:txBody>
          <a:bodyPr wrap="square" anchor="t" lIns="0" rIns="0" tIns="0" bIns="0">
            <a:spAutoFit/>
          </a:bodyPr>
          <a:lstStyle/>
          <a:p>
            <a:pPr algn="l">
              <a:lnSpc>
                <a:spcPct val="125000"/>
              </a:lnSpc>
            </a:pPr>
            <a:r>
              <a:rPr sz="1500" b="1">
                <a:solidFill>
                  <a:srgbClr val="0B7C86"/>
                </a:solidFill>
                <a:latin typeface="微软雅黑"/>
                <a:ea typeface="微软雅黑"/>
              </a:rPr>
              <a:t>04　实验设计</a:t>
            </a:r>
          </a:p>
          <a:p>
            <a:pPr algn="l">
              <a:lnSpc>
                <a:spcPct val="125000"/>
              </a:lnSpc>
            </a:pPr>
            <a:r>
              <a:rPr sz="1200" b="0">
                <a:solidFill>
                  <a:srgbClr val="444444"/>
                </a:solidFill>
                <a:latin typeface="微软雅黑"/>
                <a:ea typeface="微软雅黑"/>
              </a:rPr>
              <a:t>设对照实验与稳健性检验；所有口径标注原文页码与表号，杜绝「想当然」。</a:t>
            </a:r>
          </a:p>
        </p:txBody>
      </p:sp>
      <p:sp>
        <p:nvSpPr>
          <p:cNvPr id="16" name="Rectangle 15"/>
          <p:cNvSpPr/>
          <p:nvPr/>
        </p:nvSpPr>
        <p:spPr>
          <a:xfrm>
            <a:off x="4434840" y="2999232"/>
            <a:ext cx="3639312" cy="1920240"/>
          </a:xfrm>
          <a:prstGeom prst="rect">
            <a:avLst/>
          </a:prstGeom>
          <a:solidFill>
            <a:srgbClr val="FFFFFF"/>
          </a:solidFill>
          <a:ln w="1270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34840" y="2999232"/>
            <a:ext cx="3639312" cy="91440"/>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81144" y="3200400"/>
            <a:ext cx="3346704" cy="1645920"/>
          </a:xfrm>
          <a:prstGeom prst="rect">
            <a:avLst/>
          </a:prstGeom>
          <a:noFill/>
        </p:spPr>
        <p:txBody>
          <a:bodyPr wrap="square" anchor="t" lIns="0" rIns="0" tIns="0" bIns="0">
            <a:spAutoFit/>
          </a:bodyPr>
          <a:lstStyle/>
          <a:p>
            <a:pPr algn="l">
              <a:lnSpc>
                <a:spcPct val="125000"/>
              </a:lnSpc>
            </a:pPr>
            <a:r>
              <a:rPr sz="1500" b="1">
                <a:solidFill>
                  <a:srgbClr val="0B7C86"/>
                </a:solidFill>
                <a:latin typeface="微软雅黑"/>
                <a:ea typeface="微软雅黑"/>
              </a:rPr>
              <a:t>05　写作成稿</a:t>
            </a:r>
          </a:p>
          <a:p>
            <a:pPr algn="l">
              <a:lnSpc>
                <a:spcPct val="125000"/>
              </a:lnSpc>
            </a:pPr>
            <a:r>
              <a:rPr sz="1200" b="0">
                <a:solidFill>
                  <a:srgbClr val="444444"/>
                </a:solidFill>
                <a:latin typeface="微软雅黑"/>
                <a:ea typeface="微软雅黑"/>
              </a:rPr>
              <a:t>用语料库升级表达，方法—数据—结论逐环对应；讲稿与实际能力对齐，不夸大。</a:t>
            </a:r>
          </a:p>
        </p:txBody>
      </p:sp>
      <p:sp>
        <p:nvSpPr>
          <p:cNvPr id="19" name="Rectangle 18"/>
          <p:cNvSpPr/>
          <p:nvPr/>
        </p:nvSpPr>
        <p:spPr>
          <a:xfrm>
            <a:off x="8357616" y="2999232"/>
            <a:ext cx="3639312" cy="1920240"/>
          </a:xfrm>
          <a:prstGeom prst="rect">
            <a:avLst/>
          </a:prstGeom>
          <a:solidFill>
            <a:srgbClr val="FFFFFF"/>
          </a:solidFill>
          <a:ln w="1270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57616" y="2999232"/>
            <a:ext cx="3639312" cy="91440"/>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0" y="3200400"/>
            <a:ext cx="3346704" cy="1645920"/>
          </a:xfrm>
          <a:prstGeom prst="rect">
            <a:avLst/>
          </a:prstGeom>
          <a:noFill/>
        </p:spPr>
        <p:txBody>
          <a:bodyPr wrap="square" anchor="t" lIns="0" rIns="0" tIns="0" bIns="0">
            <a:spAutoFit/>
          </a:bodyPr>
          <a:lstStyle/>
          <a:p>
            <a:pPr algn="l">
              <a:lnSpc>
                <a:spcPct val="125000"/>
              </a:lnSpc>
            </a:pPr>
            <a:r>
              <a:rPr sz="1500" b="1">
                <a:solidFill>
                  <a:srgbClr val="0B7C86"/>
                </a:solidFill>
                <a:latin typeface="微软雅黑"/>
                <a:ea typeface="微软雅黑"/>
              </a:rPr>
              <a:t>06　归档复用</a:t>
            </a:r>
          </a:p>
          <a:p>
            <a:pPr algn="l">
              <a:lnSpc>
                <a:spcPct val="125000"/>
              </a:lnSpc>
            </a:pPr>
            <a:r>
              <a:rPr sz="1200" b="0">
                <a:solidFill>
                  <a:srgbClr val="444444"/>
                </a:solidFill>
                <a:latin typeface="微软雅黑"/>
                <a:ea typeface="微软雅黑"/>
              </a:rPr>
              <a:t>演示稿、复现脚本、运行日志、语料库、Gap 清单打包上传 GitHub 仓库；SOP 随每次精读迭代更新。</a:t>
            </a:r>
          </a:p>
        </p:txBody>
      </p:sp>
      <p:sp>
        <p:nvSpPr>
          <p:cNvPr id="22" name="Rectangle 21"/>
          <p:cNvSpPr/>
          <p:nvPr/>
        </p:nvSpPr>
        <p:spPr>
          <a:xfrm>
            <a:off x="512064" y="5138928"/>
            <a:ext cx="11173968" cy="1170432"/>
          </a:xfrm>
          <a:prstGeom prst="rect">
            <a:avLst/>
          </a:prstGeom>
          <a:solidFill>
            <a:srgbClr val="FF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064" y="5138928"/>
            <a:ext cx="54864" cy="1170432"/>
          </a:xfrm>
          <a:prstGeom prst="rect">
            <a:avLst/>
          </a:prstGeom>
          <a:solidFill>
            <a:srgbClr val="D89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138928"/>
            <a:ext cx="10789920" cy="1170432"/>
          </a:xfrm>
          <a:prstGeom prst="rect">
            <a:avLst/>
          </a:prstGeom>
          <a:noFill/>
        </p:spPr>
        <p:txBody>
          <a:bodyPr wrap="square" anchor="ctr" lIns="0" rIns="0" tIns="0" bIns="0">
            <a:spAutoFit/>
          </a:bodyPr>
          <a:lstStyle/>
          <a:p>
            <a:pPr algn="l">
              <a:lnSpc>
                <a:spcPct val="125000"/>
              </a:lnSpc>
            </a:pPr>
            <a:r>
              <a:rPr sz="1450" b="1">
                <a:solidFill>
                  <a:srgbClr val="9A6A12"/>
                </a:solidFill>
                <a:latin typeface="微软雅黑"/>
                <a:ea typeface="微软雅黑"/>
              </a:rPr>
              <a:t>◆ 收尾呼应开场：本次分享的全部交付物已按第 06 步归档至团队 GitHub 项目仓库</a:t>
            </a:r>
          </a:p>
          <a:p>
            <a:pPr algn="l">
              <a:lnSpc>
                <a:spcPct val="125000"/>
              </a:lnSpc>
            </a:pPr>
            <a:r>
              <a:rPr sz="1300" b="0">
                <a:solidFill>
                  <a:srgbClr val="4A4A4A"/>
                </a:solidFill>
                <a:latin typeface="微软雅黑"/>
                <a:ea typeface="微软雅黑"/>
              </a:rPr>
              <a:t>文献解读的终点不是一份 PPT，而是一套可复用的 SOP——下一篇论文，按流程再跑一遍。</a:t>
            </a:r>
          </a:p>
        </p:txBody>
      </p:sp>
      <p:sp>
        <p:nvSpPr>
          <p:cNvPr id="25" name="Rectangle 24"/>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28" name="TextBox 27"/>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29" name="TextBox 28"/>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30" name="TextBox 29"/>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31" name="TextBox 30"/>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32" name="TextBox 31"/>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33" name="TextBox 32"/>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34" name="Rectangle 33"/>
          <p:cNvSpPr/>
          <p:nvPr/>
        </p:nvSpPr>
        <p:spPr>
          <a:xfrm>
            <a:off x="1066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71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方法论与SOP</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56032"/>
            <a:ext cx="10607040" cy="548640"/>
          </a:xfrm>
          <a:prstGeom prst="rect">
            <a:avLst/>
          </a:prstGeom>
          <a:noFill/>
        </p:spPr>
        <p:txBody>
          <a:bodyPr wrap="square" anchor="t" lIns="0" rIns="0" tIns="0" bIns="0">
            <a:spAutoFit/>
          </a:bodyPr>
          <a:lstStyle/>
          <a:p>
            <a:pPr algn="l">
              <a:lnSpc>
                <a:spcPct val="125000"/>
              </a:lnSpc>
            </a:pPr>
            <a:r>
              <a:rPr sz="2200" b="1">
                <a:solidFill>
                  <a:srgbClr val="1F1F1F"/>
                </a:solidFill>
                <a:latin typeface="微软雅黑"/>
                <a:ea typeface="微软雅黑"/>
              </a:rPr>
              <a:t>7.3 交付归档：GitHub 项目仓库上线</a:t>
            </a:r>
          </a:p>
        </p:txBody>
      </p:sp>
      <p:pic>
        <p:nvPicPr>
          <p:cNvPr id="4" name="Picture 3" descr="gh_repo.png"/>
          <p:cNvPicPr>
            <a:picLocks noChangeAspect="1"/>
          </p:cNvPicPr>
          <p:nvPr/>
        </p:nvPicPr>
        <p:blipFill>
          <a:blip r:embed="rId2"/>
          <a:stretch>
            <a:fillRect/>
          </a:stretch>
        </p:blipFill>
        <p:spPr>
          <a:xfrm>
            <a:off x="512064" y="914400"/>
            <a:ext cx="6949440" cy="3728008"/>
          </a:xfrm>
          <a:prstGeom prst="rect">
            <a:avLst/>
          </a:prstGeom>
        </p:spPr>
      </p:pic>
      <p:sp>
        <p:nvSpPr>
          <p:cNvPr id="5" name="Rectangle 4"/>
          <p:cNvSpPr/>
          <p:nvPr/>
        </p:nvSpPr>
        <p:spPr>
          <a:xfrm>
            <a:off x="512064" y="914400"/>
            <a:ext cx="6949440" cy="4818888"/>
          </a:xfrm>
          <a:prstGeom prst="rect">
            <a:avLst/>
          </a:prstGeom>
          <a:noFill/>
          <a:ln w="12700">
            <a:solidFill>
              <a:srgbClr val="E2E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17536" y="914400"/>
            <a:ext cx="3959352" cy="1298448"/>
          </a:xfrm>
          <a:prstGeom prst="rect">
            <a:avLst/>
          </a:prstGeom>
          <a:solidFill>
            <a:srgbClr val="F5FBFB"/>
          </a:solidFill>
          <a:ln w="12700">
            <a:solidFill>
              <a:srgbClr val="DD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45552" y="1005840"/>
            <a:ext cx="3703320" cy="1133856"/>
          </a:xfrm>
          <a:prstGeom prst="rect">
            <a:avLst/>
          </a:prstGeom>
          <a:noFill/>
        </p:spPr>
        <p:txBody>
          <a:bodyPr wrap="square" anchor="t" lIns="0" rIns="0" tIns="0" bIns="0">
            <a:spAutoFit/>
          </a:bodyPr>
          <a:lstStyle/>
          <a:p>
            <a:pPr algn="l">
              <a:lnSpc>
                <a:spcPct val="125000"/>
              </a:lnSpc>
            </a:pPr>
            <a:r>
              <a:rPr sz="1400" b="1">
                <a:solidFill>
                  <a:srgbClr val="0B7C86"/>
                </a:solidFill>
                <a:latin typeface="微软雅黑"/>
                <a:ea typeface="微软雅黑"/>
              </a:rPr>
              <a:t>仓库地址</a:t>
            </a:r>
          </a:p>
          <a:p>
            <a:pPr algn="l">
              <a:lnSpc>
                <a:spcPct val="125000"/>
              </a:lnSpc>
            </a:pPr>
            <a:r>
              <a:rPr sz="1250" b="1">
                <a:solidFill>
                  <a:srgbClr val="1F1F1F"/>
                </a:solidFill>
                <a:latin typeface="微软雅黑"/>
                <a:ea typeface="微软雅黑"/>
              </a:rPr>
              <a:t>github.com/Liukun800/ff5-paper-decoding</a:t>
            </a:r>
          </a:p>
          <a:p>
            <a:pPr algn="l">
              <a:lnSpc>
                <a:spcPct val="125000"/>
              </a:lnSpc>
            </a:pPr>
            <a:r>
              <a:rPr sz="1150" b="0">
                <a:solidFill>
                  <a:srgbClr val="777777"/>
                </a:solidFill>
                <a:latin typeface="微软雅黑"/>
                <a:ea typeface="微软雅黑"/>
              </a:rPr>
              <a:t>Public 仓库 · main 分支 · 已含全部六步交付物</a:t>
            </a:r>
          </a:p>
        </p:txBody>
      </p:sp>
      <p:sp>
        <p:nvSpPr>
          <p:cNvPr id="8" name="Rectangle 7"/>
          <p:cNvSpPr/>
          <p:nvPr/>
        </p:nvSpPr>
        <p:spPr>
          <a:xfrm>
            <a:off x="7717536" y="2340864"/>
            <a:ext cx="3959352" cy="1920240"/>
          </a:xfrm>
          <a:prstGeom prst="rect">
            <a:avLst/>
          </a:prstGeom>
          <a:solidFill>
            <a:srgbClr val="F5FBFB"/>
          </a:solidFill>
          <a:ln w="12700">
            <a:solidFill>
              <a:srgbClr val="DDEE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45552" y="2432304"/>
            <a:ext cx="3703320" cy="1755648"/>
          </a:xfrm>
          <a:prstGeom prst="rect">
            <a:avLst/>
          </a:prstGeom>
          <a:noFill/>
        </p:spPr>
        <p:txBody>
          <a:bodyPr wrap="square" anchor="t" lIns="0" rIns="0" tIns="0" bIns="0">
            <a:spAutoFit/>
          </a:bodyPr>
          <a:lstStyle/>
          <a:p>
            <a:pPr algn="l">
              <a:lnSpc>
                <a:spcPct val="125000"/>
              </a:lnSpc>
            </a:pPr>
            <a:r>
              <a:rPr sz="1400" b="1">
                <a:solidFill>
                  <a:srgbClr val="0B7C86"/>
                </a:solidFill>
                <a:latin typeface="微软雅黑"/>
                <a:ea typeface="微软雅黑"/>
              </a:rPr>
              <a:t>目录 = SOP 六步</a:t>
            </a:r>
          </a:p>
          <a:p>
            <a:pPr algn="l">
              <a:lnSpc>
                <a:spcPct val="125000"/>
              </a:lnSpc>
            </a:pPr>
            <a:r>
              <a:rPr sz="1200" b="0">
                <a:solidFill>
                  <a:srgbClr val="444444"/>
                </a:solidFill>
                <a:latin typeface="微软雅黑"/>
                <a:ea typeface="微软雅黑"/>
              </a:rPr>
              <a:t>01_检索定篇 → 02_三维拆解（裂缝/语料/Gap 清单+49 张截图素材）→ 03_选题立项 → 04_实验与复现 → 05_成稿演示 → 06_归档工具，外加 README.md。</a:t>
            </a:r>
          </a:p>
        </p:txBody>
      </p:sp>
      <p:sp>
        <p:nvSpPr>
          <p:cNvPr id="10" name="Rectangle 9"/>
          <p:cNvSpPr/>
          <p:nvPr/>
        </p:nvSpPr>
        <p:spPr>
          <a:xfrm>
            <a:off x="7717536" y="4389120"/>
            <a:ext cx="3959352" cy="1737360"/>
          </a:xfrm>
          <a:prstGeom prst="rect">
            <a:avLst/>
          </a:prstGeom>
          <a:solidFill>
            <a:srgbClr val="FF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45552" y="4480560"/>
            <a:ext cx="3703320" cy="1572768"/>
          </a:xfrm>
          <a:prstGeom prst="rect">
            <a:avLst/>
          </a:prstGeom>
          <a:noFill/>
        </p:spPr>
        <p:txBody>
          <a:bodyPr wrap="square" anchor="t" lIns="0" rIns="0" tIns="0" bIns="0">
            <a:spAutoFit/>
          </a:bodyPr>
          <a:lstStyle/>
          <a:p>
            <a:pPr algn="l">
              <a:lnSpc>
                <a:spcPct val="125000"/>
              </a:lnSpc>
            </a:pPr>
            <a:r>
              <a:rPr sz="1400" b="1">
                <a:solidFill>
                  <a:srgbClr val="9A6A12"/>
                </a:solidFill>
                <a:latin typeface="微软雅黑"/>
                <a:ea typeface="微软雅黑"/>
              </a:rPr>
              <a:t>组员协作方式</a:t>
            </a:r>
          </a:p>
          <a:p>
            <a:pPr algn="l">
              <a:lnSpc>
                <a:spcPct val="125000"/>
              </a:lnSpc>
            </a:pPr>
            <a:r>
              <a:rPr sz="1100" b="1">
                <a:solidFill>
                  <a:srgbClr val="1F1F1F"/>
                </a:solidFill>
                <a:latin typeface="微软雅黑"/>
                <a:ea typeface="微软雅黑"/>
              </a:rPr>
              <a:t>git clone git@github.com:Liukun800/ff5-paper-decoding.git</a:t>
            </a:r>
          </a:p>
          <a:p>
            <a:pPr algn="l">
              <a:lnSpc>
                <a:spcPct val="125000"/>
              </a:lnSpc>
            </a:pPr>
            <a:r>
              <a:rPr sz="1150" b="0">
                <a:solidFill>
                  <a:srgbClr val="4A4A4A"/>
                </a:solidFill>
                <a:latin typeface="微软雅黑"/>
                <a:ea typeface="微软雅黑"/>
              </a:rPr>
              <a:t>后续选题产出按 SOP 第 06 步持续入库；复现脚本已验证可运行（exit=0）。</a:t>
            </a:r>
          </a:p>
        </p:txBody>
      </p:sp>
      <p:sp>
        <p:nvSpPr>
          <p:cNvPr id="12" name="Rectangle 11"/>
          <p:cNvSpPr/>
          <p:nvPr/>
        </p:nvSpPr>
        <p:spPr>
          <a:xfrm>
            <a:off x="0" y="6565392"/>
            <a:ext cx="1219200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6565392"/>
            <a:ext cx="12192000" cy="9525"/>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开场与检索</a:t>
            </a:r>
          </a:p>
        </p:txBody>
      </p:sp>
      <p:sp>
        <p:nvSpPr>
          <p:cNvPr id="15" name="TextBox 14"/>
          <p:cNvSpPr txBox="1"/>
          <p:nvPr/>
        </p:nvSpPr>
        <p:spPr>
          <a:xfrm>
            <a:off x="156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引言与文献回顾</a:t>
            </a:r>
          </a:p>
        </p:txBody>
      </p:sp>
      <p:sp>
        <p:nvSpPr>
          <p:cNvPr id="16" name="TextBox 15"/>
          <p:cNvSpPr txBox="1"/>
          <p:nvPr/>
        </p:nvSpPr>
        <p:spPr>
          <a:xfrm>
            <a:off x="3093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研究方法</a:t>
            </a:r>
          </a:p>
        </p:txBody>
      </p:sp>
      <p:sp>
        <p:nvSpPr>
          <p:cNvPr id="17" name="TextBox 16"/>
          <p:cNvSpPr txBox="1"/>
          <p:nvPr/>
        </p:nvSpPr>
        <p:spPr>
          <a:xfrm>
            <a:off x="4617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适用性检验</a:t>
            </a:r>
          </a:p>
        </p:txBody>
      </p:sp>
      <p:sp>
        <p:nvSpPr>
          <p:cNvPr id="18" name="TextBox 17"/>
          <p:cNvSpPr txBox="1"/>
          <p:nvPr/>
        </p:nvSpPr>
        <p:spPr>
          <a:xfrm>
            <a:off x="6141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分时期检验</a:t>
            </a:r>
          </a:p>
        </p:txBody>
      </p:sp>
      <p:sp>
        <p:nvSpPr>
          <p:cNvPr id="19" name="TextBox 18"/>
          <p:cNvSpPr txBox="1"/>
          <p:nvPr/>
        </p:nvSpPr>
        <p:spPr>
          <a:xfrm>
            <a:off x="7665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动量因子</a:t>
            </a:r>
          </a:p>
        </p:txBody>
      </p:sp>
      <p:sp>
        <p:nvSpPr>
          <p:cNvPr id="20" name="TextBox 19"/>
          <p:cNvSpPr txBox="1"/>
          <p:nvPr/>
        </p:nvSpPr>
        <p:spPr>
          <a:xfrm>
            <a:off x="9189720" y="6565392"/>
            <a:ext cx="1432560" cy="292608"/>
          </a:xfrm>
          <a:prstGeom prst="rect">
            <a:avLst/>
          </a:prstGeom>
          <a:noFill/>
        </p:spPr>
        <p:txBody>
          <a:bodyPr wrap="none" lIns="0" rIns="0" tIns="0" bIns="0" anchor="ctr">
            <a:spAutoFit/>
          </a:bodyPr>
          <a:lstStyle/>
          <a:p>
            <a:pPr algn="ctr"/>
            <a:r>
              <a:rPr sz="1100" b="0">
                <a:solidFill>
                  <a:srgbClr val="8A8A8A"/>
                </a:solidFill>
                <a:latin typeface="微软雅黑"/>
                <a:ea typeface="微软雅黑"/>
              </a:rPr>
              <a:t>结论与反思</a:t>
            </a:r>
          </a:p>
        </p:txBody>
      </p:sp>
      <p:sp>
        <p:nvSpPr>
          <p:cNvPr id="21" name="Rectangle 20"/>
          <p:cNvSpPr/>
          <p:nvPr/>
        </p:nvSpPr>
        <p:spPr>
          <a:xfrm>
            <a:off x="10668000" y="6565392"/>
            <a:ext cx="1524000" cy="292608"/>
          </a:xfrm>
          <a:prstGeom prst="rect">
            <a:avLst/>
          </a:prstGeom>
          <a:solidFill>
            <a:srgbClr val="01A5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13720" y="6565392"/>
            <a:ext cx="1432560" cy="292608"/>
          </a:xfrm>
          <a:prstGeom prst="rect">
            <a:avLst/>
          </a:prstGeom>
          <a:noFill/>
        </p:spPr>
        <p:txBody>
          <a:bodyPr wrap="none" lIns="0" rIns="0" tIns="0" bIns="0" anchor="ctr">
            <a:spAutoFit/>
          </a:bodyPr>
          <a:lstStyle/>
          <a:p>
            <a:pPr algn="ctr"/>
            <a:r>
              <a:rPr sz="1100" b="1">
                <a:solidFill>
                  <a:srgbClr val="FFFFFF"/>
                </a:solidFill>
                <a:latin typeface="微软雅黑"/>
                <a:ea typeface="微软雅黑"/>
              </a:rPr>
              <a:t>方法论与SOP</a:t>
            </a:r>
          </a:p>
        </p:txBody>
      </p:sp>
    </p:spTree>
  </p:cSld>
  <p:clrMapOvr>
    <a:masterClrMapping/>
  </p:clrMapOvr>
</p:sld>
</file>

<file path=ppt/tags/tag1.xml><?xml version="1.0" encoding="utf-8"?>
<p:tagLst xmlns:p="http://schemas.openxmlformats.org/presentationml/2006/main">
  <p:tag name="KSO_WM_UNIT_TABLE_BEAUTIFY" val="smartTable{5439cb24-af01-4755-9fca-8d5d8e72f3c1}"/>
</p:tagLst>
</file>

<file path=ppt/tags/tag2.xml><?xml version="1.0" encoding="utf-8"?>
<p:tagLst xmlns:p="http://schemas.openxmlformats.org/presentationml/2006/main">
  <p:tag name="KSO_WM_UNIT_TABLE_BEAUTIFY" val="smartTable{f9f22c5d-ecfe-4306-a6bc-df73999c92a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14579</Words>
  <Application>WPS 演示</Application>
  <PresentationFormat/>
  <Paragraphs>1003</Paragraphs>
  <Slides>41</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41</vt:i4>
      </vt:variant>
    </vt:vector>
  </HeadingPairs>
  <TitlesOfParts>
    <vt:vector size="52" baseType="lpstr">
      <vt:lpstr>Arial</vt:lpstr>
      <vt:lpstr>宋体</vt:lpstr>
      <vt:lpstr>Wingdings</vt:lpstr>
      <vt:lpstr>微软雅黑</vt:lpstr>
      <vt:lpstr>Calibri</vt:lpstr>
      <vt:lpstr>Arial Unicode MS</vt:lpstr>
      <vt:lpstr>Noto Serif SC</vt:lpstr>
      <vt:lpstr>等线</vt:lpstr>
      <vt:lpstr>Office Theme</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cp:lastModifiedBy>
  <cp:revision>3</cp:revision>
  <dcterms:created xsi:type="dcterms:W3CDTF">2026-09-16T23:19:00Z</dcterms:created>
  <dcterms:modified xsi:type="dcterms:W3CDTF">2026-09-16T23:35:07Z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ies>
</file>